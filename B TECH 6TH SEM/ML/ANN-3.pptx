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73" r:id="rId4"/>
    <p:sldId id="274" r:id="rId5"/>
    <p:sldId id="258" r:id="rId6"/>
    <p:sldId id="272" r:id="rId7"/>
    <p:sldId id="275" r:id="rId8"/>
    <p:sldId id="276" r:id="rId9"/>
    <p:sldId id="277" r:id="rId10"/>
    <p:sldId id="259" r:id="rId11"/>
    <p:sldId id="260" r:id="rId12"/>
    <p:sldId id="261" r:id="rId13"/>
    <p:sldId id="271" r:id="rId14"/>
    <p:sldId id="262" r:id="rId15"/>
    <p:sldId id="278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2CAB1-DAD6-41BA-89F5-03D6820FC53B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92AF0-5F0F-43E0-99B9-112AD4B6DE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292AF0-5F0F-43E0-99B9-112AD4B6DE8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D7D8B-5EB3-4C9B-893A-EADE55400307}" type="datetime1">
              <a:rPr lang="en-US" smtClean="0"/>
              <a:t>4/26/2022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DB2F-9BF4-4EC9-A1DF-7787BB516C64}" type="datetime1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5E4F-F352-4520-983C-C16C44B2B422}" type="datetime1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7BE78-E9B3-47C3-8B3A-B50C45D68398}" type="datetime1">
              <a:rPr lang="en-US" smtClean="0"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569C-C031-416A-9906-6FFF14F1DB65}" type="datetime1">
              <a:rPr lang="en-US" smtClean="0"/>
              <a:t>4/26/2022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8745-5013-4B3D-A6A5-C6DA3296675A}" type="datetime1">
              <a:rPr lang="en-US" smtClean="0"/>
              <a:t>4/26/2022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3D5A5-4399-4BD5-A60D-A80670D87899}" type="datetime1">
              <a:rPr lang="en-US" smtClean="0"/>
              <a:t>4/26/2022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E08F0-5C4C-4A59-89A8-7F476512B234}" type="datetime1">
              <a:rPr lang="en-US" smtClean="0"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E4FF-34DB-4A62-9E57-35324D1E8F89}" type="datetime1">
              <a:rPr lang="en-US" smtClean="0"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41A4F-CE8F-4C26-9E2A-056F329B9C74}" type="datetime1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A8E34-6326-4870-824C-EFB11BB21E2B}" type="datetime1">
              <a:rPr lang="en-US" smtClean="0"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4550FDC-C884-4C90-9C21-F8F056FD6527}" type="datetime1">
              <a:rPr lang="en-US" smtClean="0"/>
              <a:t>4/26/2022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Artificial Intelligence  UNIT:4 Learning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3A9B4BE1-8553-425D-84B3-B5041D0FCD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343400"/>
            <a:ext cx="5791200" cy="12954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By: </a:t>
            </a:r>
            <a:r>
              <a:rPr lang="en-US" sz="2000" dirty="0" err="1" smtClean="0"/>
              <a:t>Er</a:t>
            </a:r>
            <a:r>
              <a:rPr lang="en-US" sz="2000" smtClean="0"/>
              <a:t>. Aarti</a:t>
            </a:r>
            <a:r>
              <a:rPr lang="en-US" sz="2000" dirty="0" smtClean="0"/>
              <a:t> Sharma</a:t>
            </a:r>
          </a:p>
          <a:p>
            <a:r>
              <a:rPr lang="en-US" sz="2000" dirty="0" smtClean="0"/>
              <a:t>Associate Professor</a:t>
            </a:r>
          </a:p>
          <a:p>
            <a:r>
              <a:rPr lang="en-US" sz="2000" dirty="0" smtClean="0"/>
              <a:t>Department :CSE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2800" smtClean="0">
                <a:solidFill>
                  <a:schemeClr val="tx1"/>
                </a:solidFill>
              </a:rPr>
              <a:t/>
            </a:r>
            <a:br>
              <a:rPr sz="2800" smtClean="0">
                <a:solidFill>
                  <a:schemeClr val="tx1"/>
                </a:solidFill>
              </a:rPr>
            </a:br>
            <a:r>
              <a:rPr sz="2800" smtClean="0">
                <a:solidFill>
                  <a:schemeClr val="tx1"/>
                </a:solidFill>
              </a:rPr>
              <a:t>Neural Network</a:t>
            </a:r>
            <a:br>
              <a:rPr sz="2800" smtClean="0">
                <a:solidFill>
                  <a:schemeClr val="tx1"/>
                </a:solidFill>
              </a:rPr>
            </a:br>
            <a:r>
              <a:rPr sz="2800" smtClean="0">
                <a:solidFill>
                  <a:schemeClr val="tx1"/>
                </a:solidFill>
              </a:rPr>
              <a:t>Perceptron</a:t>
            </a:r>
            <a:br>
              <a:rPr sz="2800" smtClean="0">
                <a:solidFill>
                  <a:schemeClr val="tx1"/>
                </a:solidFill>
              </a:rPr>
            </a:br>
            <a:r>
              <a:rPr sz="2800" smtClean="0">
                <a:solidFill>
                  <a:schemeClr val="tx1"/>
                </a:solidFill>
              </a:rPr>
              <a:t> 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4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Topics Covered: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How Artificial Neural Network Works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Introduction to </a:t>
            </a:r>
            <a:r>
              <a:rPr lang="en-US" dirty="0" err="1" smtClean="0"/>
              <a:t>Perceptron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Single Layer </a:t>
            </a:r>
            <a:r>
              <a:rPr lang="en-US" dirty="0" err="1" smtClean="0"/>
              <a:t>Perceptron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Multilayer </a:t>
            </a:r>
            <a:r>
              <a:rPr lang="en-US" dirty="0" err="1" smtClean="0"/>
              <a:t>Perceptron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pic>
        <p:nvPicPr>
          <p:cNvPr id="6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How Artificial neural network works:</a:t>
            </a:r>
            <a:endParaRPr lang="en-US" dirty="0" smtClean="0"/>
          </a:p>
          <a:p>
            <a:r>
              <a:rPr lang="en-US" dirty="0" smtClean="0"/>
              <a:t>Artificial Neural Network can be best represented as a weighted directed graph, where the artificial neurons form the nodes. </a:t>
            </a:r>
          </a:p>
          <a:p>
            <a:r>
              <a:rPr lang="en-US" dirty="0" smtClean="0"/>
              <a:t>The association between the neurons outputs and neuron inputs can be viewed as the directed edges with weights. </a:t>
            </a:r>
          </a:p>
          <a:p>
            <a:r>
              <a:rPr lang="en-US" dirty="0" smtClean="0"/>
              <a:t>The Artificial Neural Network receives the input signal from the external source in the form of a pattern and image in the form of a vector. </a:t>
            </a:r>
          </a:p>
          <a:p>
            <a:r>
              <a:rPr lang="en-US" dirty="0" smtClean="0"/>
              <a:t>These inputs are then mathematically assigned by the notations x(n) for every n number of inputs.</a:t>
            </a:r>
          </a:p>
          <a:p>
            <a:endParaRPr lang="en-US" dirty="0"/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What is Artificial Neural Network"/>
          <p:cNvPicPr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5257800" y="3505200"/>
            <a:ext cx="3444875" cy="239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62000" y="1676400"/>
            <a:ext cx="7772400" cy="441960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1800" dirty="0" smtClean="0"/>
              <a:t>Each of the input is multiplied by its corresponding weights.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/>
              <a:t>These weights normally represent the strength of the interconnection between neurons.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/>
              <a:t>All the weighted inputs are summarized inside the computing unit.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/>
              <a:t>If the weighted sum = 0,then bias is added to make the output non-zero . Bias has the same input, and weight equals to 1.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/>
              <a:t>Weighted inputs can be in the range of 0 to positive infinity.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/>
              <a:t>The total of weighted inputs is passed through </a:t>
            </a:r>
          </a:p>
          <a:p>
            <a:pPr>
              <a:buNone/>
            </a:pPr>
            <a:r>
              <a:rPr lang="en-US" sz="1800" dirty="0" smtClean="0"/>
              <a:t>	the activation function.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/>
              <a:t>The activation function refers to the set of transfer</a:t>
            </a:r>
          </a:p>
          <a:p>
            <a:pPr>
              <a:buNone/>
            </a:pPr>
            <a:r>
              <a:rPr lang="en-US" sz="1800" dirty="0" smtClean="0"/>
              <a:t> 	functions used to achieve the desired output. 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Font typeface="Arial" pitchFamily="34" charset="0"/>
              <a:buChar char="•"/>
            </a:pPr>
            <a:endParaRPr lang="en-US" sz="1800" dirty="0" smtClean="0"/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>
              <a:buNone/>
            </a:pPr>
            <a:r>
              <a:rPr lang="en-US" sz="1800" dirty="0" err="1" smtClean="0">
                <a:solidFill>
                  <a:srgbClr val="FF0000"/>
                </a:solidFill>
              </a:rPr>
              <a:t>Perceptron</a:t>
            </a:r>
            <a:endParaRPr lang="en-US" sz="1800" dirty="0" smtClean="0">
              <a:solidFill>
                <a:srgbClr val="FF0000"/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800" b="1" dirty="0" smtClean="0"/>
              <a:t>Neural Network</a:t>
            </a:r>
            <a:r>
              <a:rPr lang="en-US" sz="1800" dirty="0" smtClean="0"/>
              <a:t> is based on the </a:t>
            </a:r>
            <a:r>
              <a:rPr lang="en-US" sz="1800" dirty="0" err="1" smtClean="0"/>
              <a:t>Perceptron</a:t>
            </a:r>
            <a:r>
              <a:rPr lang="en-US" sz="1800" dirty="0" smtClean="0"/>
              <a:t>.</a:t>
            </a:r>
            <a:endParaRPr lang="en-US" sz="1800" dirty="0" smtClean="0">
              <a:solidFill>
                <a:srgbClr val="FF0000"/>
              </a:solidFill>
            </a:endParaRPr>
          </a:p>
          <a:p>
            <a:r>
              <a:rPr lang="en-US" sz="1800" dirty="0" smtClean="0"/>
              <a:t>A simple model of a biological neuron in an artificial neural network is known as </a:t>
            </a:r>
            <a:r>
              <a:rPr lang="en-US" sz="1800" b="1" dirty="0" err="1" smtClean="0"/>
              <a:t>Perceptron</a:t>
            </a:r>
            <a:r>
              <a:rPr lang="en-US" sz="1800" b="1" dirty="0" smtClean="0"/>
              <a:t>.</a:t>
            </a:r>
          </a:p>
          <a:p>
            <a:r>
              <a:rPr lang="en-US" sz="1800" b="1" dirty="0" err="1" smtClean="0"/>
              <a:t>Perceptron</a:t>
            </a:r>
            <a:r>
              <a:rPr lang="en-US" sz="1800" dirty="0" smtClean="0"/>
              <a:t> is a </a:t>
            </a:r>
            <a:r>
              <a:rPr lang="en-US" sz="1800" b="1" dirty="0" smtClean="0"/>
              <a:t>single layer neural </a:t>
            </a:r>
            <a:r>
              <a:rPr lang="en-US" sz="1800" b="1" dirty="0" err="1" smtClean="0"/>
              <a:t>network</a:t>
            </a:r>
            <a:r>
              <a:rPr lang="en-US" sz="1800" dirty="0" err="1" smtClean="0"/>
              <a:t>,or</a:t>
            </a:r>
            <a:r>
              <a:rPr lang="en-US" sz="1800" dirty="0" smtClean="0"/>
              <a:t> a neural network is a multi-layer </a:t>
            </a:r>
            <a:r>
              <a:rPr lang="en-US" sz="1800" dirty="0" err="1" smtClean="0"/>
              <a:t>perceptron</a:t>
            </a:r>
            <a:r>
              <a:rPr lang="en-US" sz="1800" dirty="0" smtClean="0"/>
              <a:t>. </a:t>
            </a:r>
          </a:p>
          <a:p>
            <a:r>
              <a:rPr lang="en-US" sz="1800" dirty="0" err="1" smtClean="0"/>
              <a:t>Perceptron</a:t>
            </a:r>
            <a:r>
              <a:rPr lang="en-US" sz="1800" dirty="0" smtClean="0"/>
              <a:t> is a binary classifier, and it is used in supervised learning. </a:t>
            </a:r>
          </a:p>
          <a:p>
            <a:r>
              <a:rPr lang="en-US" sz="1800" dirty="0" smtClean="0"/>
              <a:t>A function that can decide whether or not an input which is represented by a vector of number belongs to some specific class is known as binary classifiers.</a:t>
            </a:r>
          </a:p>
          <a:p>
            <a:r>
              <a:rPr lang="en-US" sz="1800" dirty="0" smtClean="0"/>
              <a:t> The binary classifier is a type of linear classifier. </a:t>
            </a:r>
          </a:p>
          <a:p>
            <a:r>
              <a:rPr lang="en-US" sz="1800" dirty="0" smtClean="0"/>
              <a:t>A linear classifier is a classification algorithm which makes its predictions based on a linear predictor function combining a set of weight with the feature vector.</a:t>
            </a:r>
          </a:p>
          <a:p>
            <a:r>
              <a:rPr lang="en-US" sz="1800" dirty="0" smtClean="0"/>
              <a:t>The </a:t>
            </a:r>
            <a:r>
              <a:rPr lang="en-US" sz="1800" dirty="0" err="1" smtClean="0"/>
              <a:t>perceptron</a:t>
            </a:r>
            <a:r>
              <a:rPr lang="en-US" sz="1800" dirty="0" smtClean="0"/>
              <a:t> algorithm was designed to categorizing subjects into one of two types, classify visual input and separating groups with a line. </a:t>
            </a:r>
          </a:p>
          <a:p>
            <a:r>
              <a:rPr lang="en-US" sz="1800" dirty="0" smtClean="0"/>
              <a:t>Classification is a key part of </a:t>
            </a:r>
            <a:r>
              <a:rPr lang="en-US" sz="1800" b="1" dirty="0" smtClean="0"/>
              <a:t>image processing</a:t>
            </a:r>
            <a:r>
              <a:rPr lang="en-US" sz="1800" dirty="0" smtClean="0"/>
              <a:t> and </a:t>
            </a:r>
            <a:r>
              <a:rPr lang="en-US" sz="1800" b="1" dirty="0" smtClean="0"/>
              <a:t>machine learning</a:t>
            </a:r>
            <a:r>
              <a:rPr lang="en-US" sz="1800" dirty="0" smtClean="0"/>
              <a:t>. </a:t>
            </a:r>
            <a:endParaRPr lang="en-US" sz="1800" dirty="0" smtClean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1800" dirty="0" smtClean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err="1" smtClean="0">
                <a:solidFill>
                  <a:srgbClr val="FF0000"/>
                </a:solidFill>
              </a:rPr>
              <a:t>Perceptron</a:t>
            </a:r>
            <a:endParaRPr lang="en-US" sz="1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800" b="1" dirty="0" smtClean="0"/>
              <a:t>The </a:t>
            </a:r>
            <a:r>
              <a:rPr lang="en-US" sz="1800" b="1" dirty="0" err="1" smtClean="0"/>
              <a:t>Perceptron</a:t>
            </a:r>
            <a:r>
              <a:rPr lang="en-US" sz="1800" b="1" dirty="0" smtClean="0"/>
              <a:t> works on three simple steps which are as follows:</a:t>
            </a:r>
            <a:endParaRPr lang="en-US" sz="1800" dirty="0" smtClean="0"/>
          </a:p>
          <a:p>
            <a:r>
              <a:rPr lang="en-US" sz="1800" dirty="0" smtClean="0"/>
              <a:t>a) In the first step, all the input x are multiplied with their weights denoted as K. This step is essential because the output of this step will be input for the next step.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sz="1800" dirty="0" smtClean="0"/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  <p:pic>
        <p:nvPicPr>
          <p:cNvPr id="6" name="Picture 5" descr="Perceptron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3429000"/>
            <a:ext cx="4762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 smtClean="0"/>
              <a:t>b) Next step is to add all the multiplied value from K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 to K</a:t>
            </a:r>
            <a:r>
              <a:rPr lang="en-US" sz="2800" baseline="-25000" dirty="0" smtClean="0"/>
              <a:t>n</a:t>
            </a:r>
            <a:r>
              <a:rPr lang="en-US" sz="2800" dirty="0" smtClean="0"/>
              <a:t>. It is known as the weighted sum. This weighted sum will be treated as an input for the next step.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Perceptron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2895600"/>
            <a:ext cx="4267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/>
              <a:t>c) In the next step, the weighted sum, which is calculated from the previous step, is applied to the correct activation function.</a:t>
            </a:r>
          </a:p>
          <a:p>
            <a:r>
              <a:rPr lang="en-US" sz="2400" b="1" dirty="0" smtClean="0"/>
              <a:t>For example</a:t>
            </a:r>
            <a:endParaRPr lang="en-US" sz="2400" dirty="0" smtClean="0"/>
          </a:p>
          <a:p>
            <a:r>
              <a:rPr lang="en-US" sz="2400" dirty="0" smtClean="0"/>
              <a:t>A unit step activation function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  <p:pic>
        <p:nvPicPr>
          <p:cNvPr id="6" name="Picture 5" descr="Perceptron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3276600"/>
            <a:ext cx="323469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sz="quarter" idx="1"/>
          </p:nvPr>
        </p:nvSpPr>
        <p:spPr bwMode="auto">
          <a:xfrm>
            <a:off x="914400" y="1447800"/>
            <a:ext cx="7405232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imes New Roman" pitchFamily="18" charset="0"/>
              </a:rPr>
              <a:t>There are two types of architecture.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Verdana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Verdana" pitchFamily="34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imes New Roman" pitchFamily="18" charset="0"/>
              </a:rPr>
              <a:t>he functionality of artificial neural networks as follows-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imes New Roman" pitchFamily="18" charset="0"/>
              </a:rPr>
              <a:t> Single Layer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imes New Roman" pitchFamily="18" charset="0"/>
              </a:rPr>
              <a:t>Perceptron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Verdana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imes New Roman" pitchFamily="18" charset="0"/>
              </a:rPr>
              <a:t> Multi-Layer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imes New Roman" pitchFamily="18" charset="0"/>
              </a:rPr>
              <a:t>Perceptron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219200"/>
            <a:ext cx="7772400" cy="4800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Single Layer  </a:t>
            </a:r>
            <a:r>
              <a:rPr lang="en-US" sz="2000" dirty="0" err="1" smtClean="0">
                <a:solidFill>
                  <a:srgbClr val="FF0000"/>
                </a:solidFill>
              </a:rPr>
              <a:t>Perceptron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000" dirty="0" smtClean="0"/>
              <a:t>The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is a single processing unit of any neural network.</a:t>
            </a:r>
          </a:p>
          <a:p>
            <a:r>
              <a:rPr lang="en-US" sz="2000" dirty="0" smtClean="0"/>
              <a:t>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is a linear classifier, and is used in supervised learning. It helps to organize the given input data.</a:t>
            </a:r>
          </a:p>
          <a:p>
            <a:r>
              <a:rPr lang="en-US" sz="2000" dirty="0" smtClean="0"/>
              <a:t>A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is a neural network unit that does a precise computation to detect features in the input data.</a:t>
            </a:r>
          </a:p>
          <a:p>
            <a:r>
              <a:rPr lang="en-US" sz="2000" dirty="0" smtClean="0"/>
              <a:t>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is mainly used to classify the data into two parts. Therefore, it is also known as </a:t>
            </a:r>
            <a:r>
              <a:rPr lang="en-US" sz="2000" b="1" dirty="0" smtClean="0"/>
              <a:t>Linear Binary Classifier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Our goal is to find a linear decision function measured by the weight vector w and the bias parameter b.</a:t>
            </a:r>
          </a:p>
          <a:p>
            <a:endParaRPr lang="en-US" sz="2000" dirty="0" smtClean="0"/>
          </a:p>
          <a:p>
            <a:pPr algn="just"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6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The single vector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is calculated by :</a:t>
            </a:r>
          </a:p>
          <a:p>
            <a:r>
              <a:rPr lang="en-US" sz="2000" dirty="0" smtClean="0"/>
              <a:t>Calculating the sum of the input vector multiplied by the corresponding element of the vector, with each increasing the amount of the corresponding component of the vector by weight. </a:t>
            </a:r>
          </a:p>
          <a:p>
            <a:r>
              <a:rPr lang="en-US" sz="2000" dirty="0" smtClean="0"/>
              <a:t>The value that is displayed in the output is the input of an activation function.</a:t>
            </a:r>
          </a:p>
          <a:p>
            <a:r>
              <a:rPr lang="en-US" sz="2000" dirty="0" smtClean="0"/>
              <a:t>It is limited to perform a pattern classification with two  classes.</a:t>
            </a:r>
          </a:p>
          <a:p>
            <a:r>
              <a:rPr lang="en-US" sz="2000" dirty="0" smtClean="0"/>
              <a:t>The goal of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model is to classify correctly the set of input into any one of the two classes. </a:t>
            </a:r>
          </a:p>
          <a:p>
            <a:r>
              <a:rPr lang="en-US" sz="2000" dirty="0" smtClean="0"/>
              <a:t>The decision rule for classification:</a:t>
            </a:r>
          </a:p>
          <a:p>
            <a:r>
              <a:rPr lang="en-US" sz="2000" dirty="0" smtClean="0"/>
              <a:t>If y= +1 </a:t>
            </a:r>
          </a:p>
          <a:p>
            <a:pPr>
              <a:buNone/>
            </a:pPr>
            <a:r>
              <a:rPr lang="en-US" sz="2000" dirty="0" smtClean="0"/>
              <a:t>Then assign points represented by </a:t>
            </a:r>
            <a:r>
              <a:rPr lang="en-US" sz="2000" dirty="0" err="1" smtClean="0"/>
              <a:t>i</a:t>
            </a:r>
            <a:r>
              <a:rPr lang="en-US" sz="2000" dirty="0" smtClean="0"/>
              <a:t>/p</a:t>
            </a:r>
          </a:p>
          <a:p>
            <a:pPr>
              <a:buNone/>
            </a:pPr>
            <a:r>
              <a:rPr lang="en-US" sz="2000" dirty="0" smtClean="0"/>
              <a:t>(X1…</a:t>
            </a:r>
            <a:r>
              <a:rPr lang="en-US" sz="2000" dirty="0" err="1" smtClean="0"/>
              <a:t>Xn</a:t>
            </a:r>
            <a:r>
              <a:rPr lang="en-US" sz="2000" dirty="0" smtClean="0"/>
              <a:t>) to class1.</a:t>
            </a:r>
          </a:p>
          <a:p>
            <a:r>
              <a:rPr lang="en-US" sz="2000" dirty="0" smtClean="0"/>
              <a:t>If y= -1 </a:t>
            </a:r>
          </a:p>
          <a:p>
            <a:pPr>
              <a:buNone/>
            </a:pPr>
            <a:r>
              <a:rPr lang="en-US" sz="2000" dirty="0" smtClean="0"/>
              <a:t>Then assign points represented by </a:t>
            </a:r>
            <a:r>
              <a:rPr lang="en-US" sz="2000" dirty="0" err="1" smtClean="0"/>
              <a:t>i</a:t>
            </a:r>
            <a:r>
              <a:rPr lang="en-US" sz="2000" dirty="0" smtClean="0"/>
              <a:t>/p</a:t>
            </a:r>
          </a:p>
          <a:p>
            <a:pPr>
              <a:buNone/>
            </a:pPr>
            <a:r>
              <a:rPr lang="en-US" sz="2000" dirty="0" smtClean="0"/>
              <a:t>(X1…</a:t>
            </a:r>
            <a:r>
              <a:rPr lang="en-US" sz="2000" dirty="0" err="1" smtClean="0"/>
              <a:t>Xn</a:t>
            </a:r>
            <a:r>
              <a:rPr lang="en-US" sz="2000" dirty="0" smtClean="0"/>
              <a:t>) to class2.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endParaRPr lang="en-US" sz="2000" dirty="0"/>
          </a:p>
        </p:txBody>
      </p:sp>
      <p:pic>
        <p:nvPicPr>
          <p:cNvPr id="6" name="Picture 5" descr="Single Layer Perceptron in TensorFlow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3505200"/>
            <a:ext cx="4114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Limitation of Single Layer </a:t>
            </a:r>
            <a:r>
              <a:rPr lang="en-US" sz="2000" dirty="0" err="1" smtClean="0">
                <a:solidFill>
                  <a:srgbClr val="FF0000"/>
                </a:solidFill>
              </a:rPr>
              <a:t>Perceptron</a:t>
            </a:r>
            <a:endParaRPr lang="en-US" sz="2000" dirty="0" smtClean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2000" dirty="0" smtClean="0"/>
              <a:t>In case of two dimensional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the two classes are sufficiently separated from each other to draw a hyper plane as a decision boundary.</a:t>
            </a:r>
          </a:p>
          <a:p>
            <a:pPr algn="just">
              <a:buNone/>
            </a:pPr>
            <a:r>
              <a:rPr lang="en-US" sz="2000" dirty="0" smtClean="0"/>
              <a:t>But if  the two classes are allowed to move too close to each other then the become non linearly </a:t>
            </a:r>
            <a:r>
              <a:rPr lang="en-US" sz="2000" dirty="0" err="1" smtClean="0"/>
              <a:t>seperable</a:t>
            </a:r>
            <a:r>
              <a:rPr lang="en-US" sz="2000" dirty="0" smtClean="0"/>
              <a:t> in such situation it not computable by single layer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.</a:t>
            </a:r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Multi layer  </a:t>
            </a:r>
            <a:r>
              <a:rPr lang="en-US" dirty="0" err="1" smtClean="0">
                <a:solidFill>
                  <a:srgbClr val="FF0000"/>
                </a:solidFill>
              </a:rPr>
              <a:t>perceptron</a:t>
            </a:r>
            <a:endParaRPr lang="en-US" dirty="0" smtClean="0">
              <a:solidFill>
                <a:srgbClr val="FF0000"/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It is defined as the most complex architecture of artificial neural networks.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 It is formed from multiple layers of the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MLP networks are used for supervised learning format.  </a:t>
            </a:r>
            <a:endParaRPr lang="en-US" sz="2000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A multilayer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(MLP) is a feed forward artificial neural network that generates a set of outputs from a set of inputs.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An MLP is characterized by several layers of input nodes connected as a directed graph between  the input and output layers.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MLP uses </a:t>
            </a:r>
            <a:r>
              <a:rPr lang="en-US" sz="2000" dirty="0" err="1" smtClean="0"/>
              <a:t>backpropagation</a:t>
            </a:r>
            <a:r>
              <a:rPr lang="en-US" sz="2000" dirty="0" smtClean="0"/>
              <a:t> for training the network.</a:t>
            </a:r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endParaRPr lang="en-US" sz="2000" dirty="0" smtClean="0"/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20675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These network are called multilayer </a:t>
            </a:r>
            <a:r>
              <a:rPr lang="en-US" sz="2400" dirty="0" err="1" smtClean="0"/>
              <a:t>perceptrons</a:t>
            </a:r>
            <a:r>
              <a:rPr lang="en-US" sz="2400" dirty="0" smtClean="0"/>
              <a:t> 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They are fully connected.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Signal flow in forward direction from left to right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The signal propagation in this network: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 smtClean="0"/>
              <a:t>Function signal: Input signal propagated in forward n/w and produces output signal . (left to right)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400" dirty="0" smtClean="0"/>
              <a:t>Error signal :propagates backward (right to left) originates from output layer propagate for error correction.</a:t>
            </a:r>
          </a:p>
          <a:p>
            <a:pPr>
              <a:buFont typeface="Arial" pitchFamily="34" charset="0"/>
              <a:buChar char="•"/>
            </a:pPr>
            <a:endParaRPr lang="en-US" sz="2400" dirty="0"/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Characteristics of MLP: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Single layer </a:t>
            </a:r>
            <a:r>
              <a:rPr lang="en-US" sz="2000" dirty="0" err="1" smtClean="0"/>
              <a:t>perceptron</a:t>
            </a:r>
            <a:r>
              <a:rPr lang="en-US" sz="2000" dirty="0" smtClean="0"/>
              <a:t> is hard limiting , but MLP is smooth due to non linearity (sigmoid function).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Due to presence of multiple hidden layers n/w can able to learn complex task by supervised learning .</a:t>
            </a:r>
          </a:p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Limitations of MLP: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Need large theoretical analysis which is difficult due to non linearity and high degree of connections (hidden layers).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Difficult to decide input patterns represented by hidden neurons.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/>
              <a:t>Due to use of back propagation algorithm , it is difficult , complex to use in supervised method in MLP.</a:t>
            </a:r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		THANK YOU!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2" descr="C:\Users\rahul\Desktop\AI NOTES\WhatsApp Image 2020-04-04 at 1.10.4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04800"/>
            <a:ext cx="8861425" cy="822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563</TotalTime>
  <Words>844</Words>
  <Application>Microsoft Office PowerPoint</Application>
  <PresentationFormat>On-screen Show (4:3)</PresentationFormat>
  <Paragraphs>106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Equity</vt:lpstr>
      <vt:lpstr> Neural Network Perceptron 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</dc:title>
  <dc:creator>Windows User</dc:creator>
  <cp:lastModifiedBy>arya</cp:lastModifiedBy>
  <cp:revision>109</cp:revision>
  <dcterms:created xsi:type="dcterms:W3CDTF">2020-04-07T07:05:45Z</dcterms:created>
  <dcterms:modified xsi:type="dcterms:W3CDTF">2022-04-26T10:03:33Z</dcterms:modified>
</cp:coreProperties>
</file>