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tags/tag6.xml" ContentType="application/vnd.openxmlformats-officedocument.presentationml.tags+xml"/>
  <Override PartName="/ppt/tags/tag8.xml" ContentType="application/vnd.openxmlformats-officedocument.presentationml.tags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tags/tag4.xml" ContentType="application/vnd.openxmlformats-officedocument.presentationml.tag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Override PartName="/ppt/tags/tag2.xml" ContentType="application/vnd.openxmlformats-officedocument.presentationml.tags+xml"/>
  <Override PartName="/ppt/tags/tag3.xml" ContentType="application/vnd.openxmlformats-officedocument.presentationml.tags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tags/tag1.xml" ContentType="application/vnd.openxmlformats-officedocument.presentationml.tags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commentAuthors.xml" ContentType="application/vnd.openxmlformats-officedocument.presentationml.commentAuthors+xml"/>
  <Override PartName="/ppt/slideLayouts/slideLayout10.xml" ContentType="application/vnd.openxmlformats-officedocument.presentationml.slideLayout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tags/tag7.xml" ContentType="application/vnd.openxmlformats-officedocument.presentationml.tags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ags/tag5.xml" ContentType="application/vnd.openxmlformats-officedocument.presentationml.tag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8"/>
  </p:notesMasterIdLst>
  <p:sldIdLst>
    <p:sldId id="472" r:id="rId2"/>
    <p:sldId id="528" r:id="rId3"/>
    <p:sldId id="494" r:id="rId4"/>
    <p:sldId id="513" r:id="rId5"/>
    <p:sldId id="514" r:id="rId6"/>
    <p:sldId id="527" r:id="rId7"/>
    <p:sldId id="525" r:id="rId8"/>
    <p:sldId id="515" r:id="rId9"/>
    <p:sldId id="516" r:id="rId10"/>
    <p:sldId id="526" r:id="rId11"/>
    <p:sldId id="517" r:id="rId12"/>
    <p:sldId id="518" r:id="rId13"/>
    <p:sldId id="519" r:id="rId14"/>
    <p:sldId id="520" r:id="rId15"/>
    <p:sldId id="521" r:id="rId16"/>
    <p:sldId id="522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Piyush Rai" initials="PR" lastIdx="1" clrIdx="0">
    <p:extLst>
      <p:ext uri="{19B8F6BF-5375-455C-9EA6-DF929625EA0E}">
        <p15:presenceInfo xmlns:p15="http://schemas.microsoft.com/office/powerpoint/2012/main" xmlns="" userId="S-1-5-21-1815594393-203851566-323931515-1001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 xmlns="">
          <a:srgbClr val="FF0000"/>
        </p14:laserClr>
      </p:ext>
      <p:ext uri="{2FDB2607-1784-4EEB-B798-7EB5836EED8A}">
        <p14:showMediaCtrls xmlns:p14="http://schemas.microsoft.com/office/powerpoint/2010/main" xmlns="" val="1"/>
      </p:ext>
    </p:extLst>
  </p:showPr>
  <p:clrMru>
    <a:srgbClr val="0000FF"/>
    <a:srgbClr val="B806AB"/>
    <a:srgbClr val="A21C8C"/>
    <a:srgbClr val="33CC33"/>
    <a:srgbClr val="FF66FF"/>
    <a:srgbClr val="060AB2"/>
  </p:clrMru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32767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3208" autoAdjust="0"/>
    <p:restoredTop sz="94660"/>
  </p:normalViewPr>
  <p:slideViewPr>
    <p:cSldViewPr snapToGrid="0">
      <p:cViewPr varScale="1">
        <p:scale>
          <a:sx n="65" d="100"/>
          <a:sy n="65" d="100"/>
        </p:scale>
        <p:origin x="-126" y="-28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commentAuthors" Target="commentAuthor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2D079FB-1158-44A5-81BA-70742E8B8B87}" type="datetimeFigureOut">
              <a:rPr lang="en-IN" smtClean="0"/>
              <a:pPr/>
              <a:t>09-04-2024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0AC2274-7721-4180-95CA-BE03DFC6FB35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33383262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92502E8B-E765-4F58-A257-0E1E2EC1E10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4FB0D9F0-86A6-48DF-B30E-B84487765E3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D67E9CD7-9DDA-4CF9-AA93-4DE94EF05F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A9955A-2DC5-4511-A53D-598F496EDEEE}" type="datetime1">
              <a:rPr lang="en-IN" smtClean="0"/>
              <a:pPr/>
              <a:t>09-04-2024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1C5422E9-1D05-4AD0-BFC0-2527F71217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6DBFB85C-0DA1-4C64-8F01-7A91FEF105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ED9D3-AF84-488D-8A6A-726D5349CDAB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27214592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995BDEA5-031B-494A-B467-EFFEB2766D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8BAD22B5-97C1-4FAC-9285-AA741BFE1F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10778516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664027FE-0F44-497F-BF33-83303D147F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496ABBA3-F0E8-4C36-916A-E54529F140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26A16D18-BB11-4BFD-9E7A-8DFB408A75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FD7B4F-85E2-411C-AFB6-1A374A5D39B8}" type="datetime1">
              <a:rPr lang="en-IN" smtClean="0"/>
              <a:pPr/>
              <a:t>09-04-2024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8533F1CC-7685-4FAD-B5F7-982834C412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6E65F9D9-79E8-4C23-9200-19A6857E3D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ED9D3-AF84-488D-8A6A-726D5349CDAB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16131955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D95A6550-E91F-4D00-83FE-9437519949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7A4E5A4F-9318-4630-A9C7-16E2FD6AF77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D795E241-2474-417E-B544-69CF2861124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37344997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6BF0B88-78D9-4019-8BFF-8F7C0DCD4F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3960B707-0551-48AD-BAF3-CE20FCE94C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9A6066B9-A417-4624-91D6-6D6295C2100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xmlns="" id="{EB5A6971-440D-4631-80F7-B3123104A60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xmlns="" id="{4D684CD4-B32C-429C-8FDB-C3993DE51CF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xmlns="" id="{22C11BC8-FB4C-4B9C-8A71-BB4D1F6A2D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C471E0-72C8-4CC8-AE53-DCEAAFB58B8B}" type="datetime1">
              <a:rPr lang="en-IN" smtClean="0"/>
              <a:pPr/>
              <a:t>09-04-2024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xmlns="" id="{3783E117-C4A9-4FF3-9C91-FFD40695E5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xmlns="" id="{5B29C272-E75C-4778-96BF-8B2BC996BA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ED9D3-AF84-488D-8A6A-726D5349CDAB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41616067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BDBDEF5-DE48-45E6-AB10-8EDCE19D9B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0E021AE6-4821-4359-BA0A-71E21BF0BC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899225-93B0-4D75-98A5-1AA74F5D545B}" type="datetime1">
              <a:rPr lang="en-IN" smtClean="0"/>
              <a:pPr/>
              <a:t>09-04-2024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7C427195-022D-4F59-91AC-F6EF60F074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9ABCDE4F-8C95-4584-8FBF-AF73E2F5BF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ED9D3-AF84-488D-8A6A-726D5349CDAB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3878329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xmlns="" id="{CF937068-89ED-42F9-9A72-92111C5A53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2F8A65-8968-44A1-8A19-3117F08B5A38}" type="datetime1">
              <a:rPr lang="en-IN" smtClean="0"/>
              <a:pPr/>
              <a:t>09-04-2024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xmlns="" id="{CFD62B2C-1FE1-496D-9296-45C99FB44B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0FBFDE75-9B7A-49B3-9B56-4758899992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ED9D3-AF84-488D-8A6A-726D5349CDAB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21720411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CD1639A8-6449-4746-8F81-EF24B31227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F688EEFD-9C86-41A8-9E20-FB51AE3652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2C7D5B7E-7597-4AD6-A029-CB20B9FBF17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510E2B30-B4F2-4EC2-B501-40677FFA11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D3029C-FE30-49AA-946C-8160924AD21C}" type="datetime1">
              <a:rPr lang="en-IN" smtClean="0"/>
              <a:pPr/>
              <a:t>09-04-2024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EFD346B0-D5A7-4730-8667-0678E78485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FB353FD6-F916-41FC-BA8C-069D6DA07B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ED9D3-AF84-488D-8A6A-726D5349CDAB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22585358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8409521F-28F4-406E-9485-88EB85F4DD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xmlns="" id="{1B4819DE-9E94-437E-8A68-6E165BAA961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5C872149-A870-4DC0-8F9C-DDB1FD58261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1FF4BED7-7934-4480-A6EE-DA8954235B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CCF262-89E0-4714-A1CF-8A83C222FB9B}" type="datetime1">
              <a:rPr lang="en-IN" smtClean="0"/>
              <a:pPr/>
              <a:t>09-04-2024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BC7CB16A-A6D8-4778-B7F0-21B6BFD28B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0C254C42-23E8-4F2C-AC3E-A5BBDF4E66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ED9D3-AF84-488D-8A6A-726D5349CDAB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41231783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AB99F842-6D8B-4C86-8F39-4F97C9A089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6B19E737-F70E-42FA-A4AC-876FA6F1635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6611A242-E710-4C98-92C7-184F6C1863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CCAA5C-2D5F-4D58-9A50-D19B643441D4}" type="datetime1">
              <a:rPr lang="en-IN" smtClean="0"/>
              <a:pPr/>
              <a:t>09-04-2024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84C3ABB8-F14F-4280-A105-4070853E67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4CF30805-AFD9-468A-8350-47B0059B70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ED9D3-AF84-488D-8A6A-726D5349CDAB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2118914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xmlns="" id="{553CE3C8-84F1-4290-9648-5C9E9A23246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19CFA146-680D-4C44-80AE-61ACEA18EF2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A12229F1-7D33-4055-BCFB-C0B4E177D5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DF1576-788D-4E35-9930-DF0255718A2B}" type="datetime1">
              <a:rPr lang="en-IN" smtClean="0"/>
              <a:pPr/>
              <a:t>09-04-2024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A958B88A-8C21-46C7-8EDF-2F9AEE5A2A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C161208B-689D-4C89-B6D0-6D893F5C0C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ED9D3-AF84-488D-8A6A-726D5349CDAB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23847021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xmlns="" id="{5BB49AE5-850C-4D68-B1A0-D1411569DCF5}"/>
              </a:ext>
            </a:extLst>
          </p:cNvPr>
          <p:cNvPicPr>
            <a:picLocks noChangeAspect="1"/>
          </p:cNvPicPr>
          <p:nvPr userDrawn="1"/>
        </p:nvPicPr>
        <p:blipFill>
          <a:blip r:embed="rId13" cstate="print">
            <a:lum bright="70000" contrast="-70000"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0741313" y="5372525"/>
            <a:ext cx="1224973" cy="116638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xmlns="" id="{17F7CEE4-2B80-48B3-9B66-3F5A2C62C75F}"/>
              </a:ext>
            </a:extLst>
          </p:cNvPr>
          <p:cNvSpPr txBox="1"/>
          <p:nvPr userDrawn="1"/>
        </p:nvSpPr>
        <p:spPr>
          <a:xfrm>
            <a:off x="10456460" y="6492875"/>
            <a:ext cx="173554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600" dirty="0">
                <a:solidFill>
                  <a:schemeClr val="accent4"/>
                </a:solidFill>
              </a:rPr>
              <a:t>CS771: Intro to ML</a:t>
            </a: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xmlns="" id="{D83DB4A9-B55E-4623-A2D9-A87B7B5582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87CCFFDC-2115-4CD1-967C-545001D0D0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339EF888-538C-4F90-BE4E-FDD77BCBC86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176463-DA8A-478C-9FC8-00C83590963D}" type="datetime1">
              <a:rPr lang="en-IN" smtClean="0"/>
              <a:pPr/>
              <a:t>09-04-2024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A65CDA8E-891B-4E76-B24D-670B7EB4027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FFF6AB6D-2CD0-4185-A303-317BFF965D0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0FED9D3-AF84-488D-8A6A-726D5349CDAB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xmlns="" val="15951291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10" Type="http://schemas.openxmlformats.org/officeDocument/2006/relationships/image" Target="../media/image16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13" Type="http://schemas.openxmlformats.org/officeDocument/2006/relationships/image" Target="../media/image27.pn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12" Type="http://schemas.openxmlformats.org/officeDocument/2006/relationships/image" Target="../media/image26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Relationship Id="rId6" Type="http://schemas.openxmlformats.org/officeDocument/2006/relationships/image" Target="../media/image20.png"/><Relationship Id="rId11" Type="http://schemas.openxmlformats.org/officeDocument/2006/relationships/image" Target="../media/image25.png"/><Relationship Id="rId5" Type="http://schemas.openxmlformats.org/officeDocument/2006/relationships/image" Target="../media/image19.png"/><Relationship Id="rId10" Type="http://schemas.openxmlformats.org/officeDocument/2006/relationships/image" Target="../media/image24.png"/><Relationship Id="rId4" Type="http://schemas.openxmlformats.org/officeDocument/2006/relationships/image" Target="../media/image18.png"/><Relationship Id="rId9" Type="http://schemas.openxmlformats.org/officeDocument/2006/relationships/image" Target="../media/image23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3" Type="http://schemas.openxmlformats.org/officeDocument/2006/relationships/image" Target="../media/image28.png"/><Relationship Id="rId7" Type="http://schemas.openxmlformats.org/officeDocument/2006/relationships/image" Target="../media/image32.png"/><Relationship Id="rId12" Type="http://schemas.openxmlformats.org/officeDocument/2006/relationships/image" Target="../media/image37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Relationship Id="rId6" Type="http://schemas.openxmlformats.org/officeDocument/2006/relationships/image" Target="../media/image31.png"/><Relationship Id="rId11" Type="http://schemas.openxmlformats.org/officeDocument/2006/relationships/image" Target="../media/image36.png"/><Relationship Id="rId5" Type="http://schemas.openxmlformats.org/officeDocument/2006/relationships/image" Target="../media/image30.png"/><Relationship Id="rId10" Type="http://schemas.openxmlformats.org/officeDocument/2006/relationships/image" Target="../media/image35.png"/><Relationship Id="rId4" Type="http://schemas.openxmlformats.org/officeDocument/2006/relationships/image" Target="../media/image29.png"/><Relationship Id="rId9" Type="http://schemas.openxmlformats.org/officeDocument/2006/relationships/image" Target="../media/image34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38.png"/><Relationship Id="rId7" Type="http://schemas.openxmlformats.org/officeDocument/2006/relationships/image" Target="../media/image42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4" Type="http://schemas.openxmlformats.org/officeDocument/2006/relationships/image" Target="../media/image39.png"/><Relationship Id="rId9" Type="http://schemas.openxmlformats.org/officeDocument/2006/relationships/image" Target="../media/image43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6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png"/><Relationship Id="rId3" Type="http://schemas.openxmlformats.org/officeDocument/2006/relationships/image" Target="../media/image44.png"/><Relationship Id="rId7" Type="http://schemas.openxmlformats.org/officeDocument/2006/relationships/image" Target="../media/image48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7.xml"/><Relationship Id="rId6" Type="http://schemas.openxmlformats.org/officeDocument/2006/relationships/image" Target="../media/image47.png"/><Relationship Id="rId5" Type="http://schemas.openxmlformats.org/officeDocument/2006/relationships/image" Target="../media/image46.png"/><Relationship Id="rId10" Type="http://schemas.openxmlformats.org/officeDocument/2006/relationships/image" Target="../media/image51.png"/><Relationship Id="rId4" Type="http://schemas.openxmlformats.org/officeDocument/2006/relationships/image" Target="../media/image45.png"/><Relationship Id="rId9" Type="http://schemas.openxmlformats.org/officeDocument/2006/relationships/image" Target="../media/image50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52.png"/><Relationship Id="rId7" Type="http://schemas.openxmlformats.org/officeDocument/2006/relationships/image" Target="../media/image56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8.xml"/><Relationship Id="rId6" Type="http://schemas.openxmlformats.org/officeDocument/2006/relationships/image" Target="../media/image55.png"/><Relationship Id="rId5" Type="http://schemas.openxmlformats.org/officeDocument/2006/relationships/image" Target="../media/image54.png"/><Relationship Id="rId10" Type="http://schemas.openxmlformats.org/officeDocument/2006/relationships/image" Target="../media/image58.png"/><Relationship Id="rId4" Type="http://schemas.openxmlformats.org/officeDocument/2006/relationships/image" Target="../media/image53.png"/><Relationship Id="rId9" Type="http://schemas.openxmlformats.org/officeDocument/2006/relationships/image" Target="../media/image57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9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4.png"/><Relationship Id="rId13" Type="http://schemas.openxmlformats.org/officeDocument/2006/relationships/image" Target="../media/image69.png"/><Relationship Id="rId3" Type="http://schemas.openxmlformats.org/officeDocument/2006/relationships/image" Target="../media/image59.png"/><Relationship Id="rId7" Type="http://schemas.openxmlformats.org/officeDocument/2006/relationships/image" Target="../media/image63.png"/><Relationship Id="rId12" Type="http://schemas.openxmlformats.org/officeDocument/2006/relationships/image" Target="../media/image68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0.xml"/><Relationship Id="rId6" Type="http://schemas.openxmlformats.org/officeDocument/2006/relationships/image" Target="../media/image62.png"/><Relationship Id="rId11" Type="http://schemas.openxmlformats.org/officeDocument/2006/relationships/image" Target="../media/image67.png"/><Relationship Id="rId5" Type="http://schemas.openxmlformats.org/officeDocument/2006/relationships/image" Target="../media/image61.png"/><Relationship Id="rId15" Type="http://schemas.openxmlformats.org/officeDocument/2006/relationships/image" Target="../media/image71.png"/><Relationship Id="rId10" Type="http://schemas.openxmlformats.org/officeDocument/2006/relationships/image" Target="../media/image66.png"/><Relationship Id="rId4" Type="http://schemas.openxmlformats.org/officeDocument/2006/relationships/image" Target="../media/image60.png"/><Relationship Id="rId9" Type="http://schemas.openxmlformats.org/officeDocument/2006/relationships/image" Target="../media/image65.png"/><Relationship Id="rId14" Type="http://schemas.openxmlformats.org/officeDocument/2006/relationships/image" Target="../media/image70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7.png"/><Relationship Id="rId3" Type="http://schemas.openxmlformats.org/officeDocument/2006/relationships/image" Target="../media/image72.png"/><Relationship Id="rId7" Type="http://schemas.openxmlformats.org/officeDocument/2006/relationships/image" Target="../media/image76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1.xml"/><Relationship Id="rId6" Type="http://schemas.openxmlformats.org/officeDocument/2006/relationships/image" Target="../media/image75.png"/><Relationship Id="rId5" Type="http://schemas.openxmlformats.org/officeDocument/2006/relationships/image" Target="../media/image74.png"/><Relationship Id="rId4" Type="http://schemas.openxmlformats.org/officeDocument/2006/relationships/image" Target="../media/image73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38.png"/><Relationship Id="rId7" Type="http://schemas.openxmlformats.org/officeDocument/2006/relationships/image" Target="../media/image42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2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4" Type="http://schemas.openxmlformats.org/officeDocument/2006/relationships/image" Target="../media/image39.png"/><Relationship Id="rId9" Type="http://schemas.openxmlformats.org/officeDocument/2006/relationships/image" Target="../media/image4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3.xml"/><Relationship Id="rId6" Type="http://schemas.openxmlformats.org/officeDocument/2006/relationships/image" Target="../media/image81.png"/><Relationship Id="rId5" Type="http://schemas.openxmlformats.org/officeDocument/2006/relationships/image" Target="../media/image80.png"/><Relationship Id="rId4" Type="http://schemas.openxmlformats.org/officeDocument/2006/relationships/image" Target="../media/image7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2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4.xml"/><Relationship Id="rId5" Type="http://schemas.openxmlformats.org/officeDocument/2006/relationships/image" Target="../media/image84.png"/><Relationship Id="rId4" Type="http://schemas.openxmlformats.org/officeDocument/2006/relationships/image" Target="../media/image83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9.png"/><Relationship Id="rId3" Type="http://schemas.openxmlformats.org/officeDocument/2006/relationships/image" Target="../media/image85.png"/><Relationship Id="rId7" Type="http://schemas.openxmlformats.org/officeDocument/2006/relationships/image" Target="../media/image13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5.xml"/><Relationship Id="rId6" Type="http://schemas.openxmlformats.org/officeDocument/2006/relationships/image" Target="../media/image88.png"/><Relationship Id="rId5" Type="http://schemas.openxmlformats.org/officeDocument/2006/relationships/image" Target="../media/image87.png"/><Relationship Id="rId4" Type="http://schemas.openxmlformats.org/officeDocument/2006/relationships/image" Target="../media/image8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71E7AC89-BE04-43C0-8DE4-613238CF26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8624" y="3124199"/>
            <a:ext cx="11701636" cy="609601"/>
          </a:xfrm>
        </p:spPr>
        <p:txBody>
          <a:bodyPr>
            <a:noAutofit/>
          </a:bodyPr>
          <a:lstStyle/>
          <a:p>
            <a:r>
              <a:rPr lang="en-GB" sz="4400" b="1" dirty="0">
                <a:solidFill>
                  <a:schemeClr val="bg1"/>
                </a:solidFill>
                <a:latin typeface="Garamond" panose="02020404030301010803" pitchFamily="18" charset="0"/>
                <a:cs typeface="Aldhabi" panose="020B0604020202020204" pitchFamily="2" charset="-78"/>
              </a:rPr>
              <a:t>Dimensionality Reduction: Principal Component </a:t>
            </a:r>
            <a:r>
              <a:rPr lang="en-GB" sz="4400" b="1" dirty="0" smtClean="0">
                <a:solidFill>
                  <a:schemeClr val="bg1"/>
                </a:solidFill>
                <a:latin typeface="Garamond" panose="02020404030301010803" pitchFamily="18" charset="0"/>
                <a:cs typeface="Aldhabi" panose="020B0604020202020204" pitchFamily="2" charset="-78"/>
              </a:rPr>
              <a:t>Analysis</a:t>
            </a:r>
            <a:endParaRPr lang="en-IN" sz="4000" b="1" dirty="0">
              <a:solidFill>
                <a:schemeClr val="bg1"/>
              </a:solidFill>
              <a:latin typeface="Garamond" panose="02020404030301010803" pitchFamily="18" charset="0"/>
              <a:cs typeface="Aldhabi" panose="020B0604020202020204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307487957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slow" p14:dur="2000" advTm="27641"/>
    </mc:Choice>
    <mc:Fallback>
      <p:transition spd="slow" advTm="2764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D7657946-FC7F-477C-9867-0ED704A858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5245" y="169682"/>
            <a:ext cx="11740617" cy="821500"/>
          </a:xfrm>
        </p:spPr>
        <p:txBody>
          <a:bodyPr>
            <a:normAutofit/>
          </a:bodyPr>
          <a:lstStyle/>
          <a:p>
            <a:r>
              <a:rPr lang="en-GB" dirty="0" smtClean="0">
                <a:solidFill>
                  <a:schemeClr val="accent2">
                    <a:lumMod val="75000"/>
                  </a:schemeClr>
                </a:solidFill>
              </a:rPr>
              <a:t>K-means loss function: recap</a:t>
            </a:r>
            <a:endParaRPr lang="en-GB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12" name="Slide Number Placeholder 11">
            <a:extLst>
              <a:ext uri="{FF2B5EF4-FFF2-40B4-BE49-F238E27FC236}">
                <a16:creationId xmlns="" xmlns:a16="http://schemas.microsoft.com/office/drawing/2014/main" id="{F77B66E3-3803-4788-BC62-221F4919CBCE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323930" y="136939"/>
            <a:ext cx="602825" cy="365125"/>
          </a:xfrm>
        </p:spPr>
        <p:txBody>
          <a:bodyPr/>
          <a:lstStyle/>
          <a:p>
            <a:fld id="{80FED9D3-AF84-488D-8A6A-726D5349CDAB}" type="slidenum">
              <a:rPr lang="en-IN" sz="2800" smtClean="0">
                <a:solidFill>
                  <a:schemeClr val="accent2">
                    <a:lumMod val="40000"/>
                    <a:lumOff val="60000"/>
                  </a:schemeClr>
                </a:solidFill>
              </a:rPr>
              <a:pPr/>
              <a:t>2</a:t>
            </a:fld>
            <a:endParaRPr lang="en-IN" sz="2800" dirty="0"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pic>
        <p:nvPicPr>
          <p:cNvPr id="9220" name="Picture 4">
            <a:extLst>
              <a:ext uri="{FF2B5EF4-FFF2-40B4-BE49-F238E27FC236}">
                <a16:creationId xmlns="" xmlns:a16="http://schemas.microsoft.com/office/drawing/2014/main" id="{FE50A4BE-B0AE-44E7-87D2-888E863FC7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89865" y="2545646"/>
            <a:ext cx="4639167" cy="1047275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222" name="Picture 6">
            <a:extLst>
              <a:ext uri="{FF2B5EF4-FFF2-40B4-BE49-F238E27FC236}">
                <a16:creationId xmlns="" xmlns:a16="http://schemas.microsoft.com/office/drawing/2014/main" id="{84CF2A48-2C60-4521-8C79-C0F271CC9C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2402" y="3839244"/>
            <a:ext cx="2774023" cy="964878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2">
            <a:extLst>
              <a:ext uri="{FF2B5EF4-FFF2-40B4-BE49-F238E27FC236}">
                <a16:creationId xmlns="" xmlns:a16="http://schemas.microsoft.com/office/drawing/2014/main" id="{D9AF85CF-B522-4A66-9E35-59E1A8012037}"/>
              </a:ext>
            </a:extLst>
          </p:cNvPr>
          <p:cNvSpPr/>
          <p:nvPr/>
        </p:nvSpPr>
        <p:spPr>
          <a:xfrm>
            <a:off x="7725076" y="3692093"/>
            <a:ext cx="934560" cy="1016462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>
                <a:solidFill>
                  <a:schemeClr val="tx1"/>
                </a:solidFill>
              </a:rPr>
              <a:t>X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="" xmlns:a16="http://schemas.microsoft.com/office/drawing/2014/main" id="{FFACFBC5-FD46-4989-A21D-96CB4AFC254A}"/>
              </a:ext>
            </a:extLst>
          </p:cNvPr>
          <p:cNvSpPr/>
          <p:nvPr/>
        </p:nvSpPr>
        <p:spPr>
          <a:xfrm>
            <a:off x="8958817" y="3696805"/>
            <a:ext cx="555150" cy="1016462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>
                <a:solidFill>
                  <a:schemeClr val="tx1"/>
                </a:solidFill>
              </a:rPr>
              <a:t>Z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mc="http://schemas.openxmlformats.org/markup-compatibility/2006" xmlns:a14="http://schemas.microsoft.com/office/drawing/2010/main" xmlns="" xmlns:a16="http://schemas.microsoft.com/office/drawing/2014/main" id="{5FFDBDF7-7C34-46BD-9CC4-67300E215CBE}"/>
              </a:ext>
            </a:extLst>
          </p:cNvPr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10777180" y="4194602"/>
            <a:ext cx="835933" cy="504956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/>
          <a:lstStyle/>
          <a:p>
            <a:r>
              <a:rPr lang="en-IN">
                <a:noFill/>
              </a:rPr>
              <a:t> 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="" xmlns:a16="http://schemas.microsoft.com/office/drawing/2014/main" id="{1C1EAAD3-06BB-4496-883E-C2D26F65D995}"/>
              </a:ext>
            </a:extLst>
          </p:cNvPr>
          <p:cNvSpPr txBox="1"/>
          <p:nvPr/>
        </p:nvSpPr>
        <p:spPr>
          <a:xfrm>
            <a:off x="7416425" y="4037082"/>
            <a:ext cx="3337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N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="" xmlns:a16="http://schemas.microsoft.com/office/drawing/2014/main" id="{FFB8D988-8FF4-494A-A227-0AEF7BD53E07}"/>
              </a:ext>
            </a:extLst>
          </p:cNvPr>
          <p:cNvSpPr txBox="1"/>
          <p:nvPr/>
        </p:nvSpPr>
        <p:spPr>
          <a:xfrm>
            <a:off x="10369046" y="4384139"/>
            <a:ext cx="3048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K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="" xmlns:a16="http://schemas.microsoft.com/office/drawing/2014/main" id="{2AD24221-EEB1-4750-8CCB-4366D86F1165}"/>
              </a:ext>
            </a:extLst>
          </p:cNvPr>
          <p:cNvSpPr txBox="1"/>
          <p:nvPr/>
        </p:nvSpPr>
        <p:spPr>
          <a:xfrm>
            <a:off x="9072160" y="3306824"/>
            <a:ext cx="3048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K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mc="http://schemas.openxmlformats.org/markup-compatibility/2006" xmlns:a14="http://schemas.microsoft.com/office/drawing/2010/main" xmlns="" xmlns:a16="http://schemas.microsoft.com/office/drawing/2014/main" id="{E5C0F94F-DDD7-494B-9604-0D4E5CA2D87B}"/>
              </a:ext>
            </a:extLst>
          </p:cNvPr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9540546" y="4417814"/>
            <a:ext cx="530915" cy="523220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/>
          <a:lstStyle/>
          <a:p>
            <a:r>
              <a:rPr lang="en-IN">
                <a:noFill/>
              </a:rPr>
              <a:t> 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mc="http://schemas.openxmlformats.org/markup-compatibility/2006" xmlns:a14="http://schemas.microsoft.com/office/drawing/2010/main" xmlns="" xmlns:a16="http://schemas.microsoft.com/office/drawing/2014/main" id="{C42E15D0-C064-4C5F-8936-B0A819CB0857}"/>
              </a:ext>
            </a:extLst>
          </p:cNvPr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9421561" y="5220903"/>
            <a:ext cx="1737515" cy="646331"/>
          </a:xfrm>
          <a:prstGeom prst="rect">
            <a:avLst/>
          </a:prstGeom>
          <a:blipFill>
            <a:blip r:embed="rId7" cstate="print"/>
            <a:stretch>
              <a:fillRect l="-3158" t="-4717" r="-2456" b="-14151"/>
            </a:stretch>
          </a:blipFill>
        </p:spPr>
        <p:txBody>
          <a:bodyPr/>
          <a:lstStyle/>
          <a:p>
            <a:r>
              <a:rPr lang="en-IN">
                <a:noFill/>
              </a:rPr>
              <a:t> 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mc="http://schemas.openxmlformats.org/markup-compatibility/2006" xmlns:a14="http://schemas.microsoft.com/office/drawing/2010/main" xmlns="" xmlns:a16="http://schemas.microsoft.com/office/drawing/2014/main" id="{4A3B16CC-625C-4C1E-AF04-76EB882ACB8C}"/>
              </a:ext>
            </a:extLst>
          </p:cNvPr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10581512" y="4724257"/>
            <a:ext cx="1345243" cy="369332"/>
          </a:xfrm>
          <a:prstGeom prst="rect">
            <a:avLst/>
          </a:prstGeom>
          <a:blipFill>
            <a:blip r:embed="rId8" cstate="print"/>
            <a:stretch>
              <a:fillRect l="-4091" t="-9836" b="-24590"/>
            </a:stretch>
          </a:blipFill>
        </p:spPr>
        <p:txBody>
          <a:bodyPr/>
          <a:lstStyle/>
          <a:p>
            <a:r>
              <a:rPr lang="en-IN">
                <a:noFill/>
              </a:rPr>
              <a:t> </a:t>
            </a:r>
          </a:p>
        </p:txBody>
      </p:sp>
      <mc:AlternateContent xmlns:mc="http://schemas.openxmlformats.org/markup-compatibility/2006">
        <mc:Choice xmlns="" xmlns:a14="http://schemas.microsoft.com/office/drawing/2010/main" Requires="a14">
          <p:sp>
            <p:nvSpPr>
              <p:cNvPr id="18" name="Speech Bubble: Rectangle 17">
                <a:extLst>
                  <a:ext uri="{FF2B5EF4-FFF2-40B4-BE49-F238E27FC236}">
                    <a16:creationId xmlns:a16="http://schemas.microsoft.com/office/drawing/2014/main" id="{B501D098-D71B-4E79-BBEF-FB3D14073D5F}"/>
                  </a:ext>
                </a:extLst>
              </p:cNvPr>
              <p:cNvSpPr/>
              <p:nvPr/>
            </p:nvSpPr>
            <p:spPr>
              <a:xfrm>
                <a:off x="9249012" y="820030"/>
                <a:ext cx="2525209" cy="819150"/>
              </a:xfrm>
              <a:prstGeom prst="wedgeRectCallout">
                <a:avLst>
                  <a:gd name="adj1" fmla="val -83308"/>
                  <a:gd name="adj2" fmla="val 50318"/>
                </a:avLst>
              </a:prstGeom>
              <a:solidFill>
                <a:schemeClr val="bg1"/>
              </a:solidFill>
              <a:ln w="19050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GB" sz="16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600" b="1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𝒛</m:t>
                        </m:r>
                      </m:e>
                      <m:sub>
                        <m:r>
                          <a:rPr lang="en-GB" sz="16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GB" sz="16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= </m:t>
                    </m:r>
                  </m:oMath>
                </a14:m>
                <a:r>
                  <a:rPr lang="en-GB" sz="1600" dirty="0">
                    <a:solidFill>
                      <a:schemeClr val="tx1"/>
                    </a:solidFill>
                    <a:latin typeface="Abadi Extra Light" panose="020B0204020104020204" pitchFamily="34" charset="0"/>
                  </a:rPr>
                  <a:t>[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16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6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GB" sz="16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IN" sz="16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GB" sz="1600" dirty="0">
                    <a:solidFill>
                      <a:schemeClr val="tx1"/>
                    </a:solidFill>
                    <a:latin typeface="Abadi Extra Light" panose="020B0204020104020204" pitchFamily="34" charset="0"/>
                  </a:rPr>
                  <a:t>,</a:t>
                </a:r>
                <a:r>
                  <a:rPr lang="en-IN" sz="1600" dirty="0">
                    <a:solidFill>
                      <a:schemeClr val="tx1"/>
                    </a:solidFill>
                  </a:rPr>
                  <a:t/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16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6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GB" sz="16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IN" sz="16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IN" sz="16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 …, </m:t>
                    </m:r>
                    <m:sSub>
                      <m:sSubPr>
                        <m:ctrlPr>
                          <a:rPr lang="en-IN" sz="16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16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16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𝑛𝐾</m:t>
                        </m:r>
                      </m:sub>
                    </m:sSub>
                  </m:oMath>
                </a14:m>
                <a:r>
                  <a:rPr lang="en-GB" sz="1600" dirty="0">
                    <a:solidFill>
                      <a:schemeClr val="tx1"/>
                    </a:solidFill>
                    <a:latin typeface="Abadi Extra Light" panose="020B0204020104020204" pitchFamily="34" charset="0"/>
                  </a:rPr>
                  <a:t>] denotes a length </a:t>
                </a:r>
                <a14:m>
                  <m:oMath xmlns:m="http://schemas.openxmlformats.org/officeDocument/2006/math">
                    <m:r>
                      <a:rPr lang="en-GB" sz="16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en-GB" sz="1600" dirty="0">
                    <a:solidFill>
                      <a:schemeClr val="tx1"/>
                    </a:solidFill>
                    <a:latin typeface="Abadi Extra Light" panose="020B0204020104020204" pitchFamily="34" charset="0"/>
                  </a:rPr>
                  <a:t> one-hot encoding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16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600" b="1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GB" sz="16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GB" sz="1600" dirty="0">
                    <a:solidFill>
                      <a:schemeClr val="tx1"/>
                    </a:solidFill>
                    <a:latin typeface="Abadi Extra Light" panose="020B0204020104020204" pitchFamily="34" charset="0"/>
                  </a:rPr>
                  <a:t/>
                </a:r>
                <a:endParaRPr lang="en-IN" sz="1600" dirty="0">
                  <a:solidFill>
                    <a:schemeClr val="tx1"/>
                  </a:solidFill>
                  <a:latin typeface="Abadi Extra Light" panose="020B0204020104020204" pitchFamily="34" charset="0"/>
                </a:endParaRPr>
              </a:p>
            </p:txBody>
          </p:sp>
        </mc:Choice>
        <mc:Fallback>
          <p:sp>
            <p:nvSpPr>
              <p:cNvPr id="18" name="Speech Bubble: Rectangle 17">
                <a:extLst>
                  <a:ext uri="{FF2B5EF4-FFF2-40B4-BE49-F238E27FC236}">
                    <a16:creationId xmlns:a14="http://schemas.microsoft.com/office/drawing/2010/main" xmlns="" xmlns:a16="http://schemas.microsoft.com/office/drawing/2014/main" id="{B501D098-D71B-4E79-BBEF-FB3D14073D5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49012" y="820030"/>
                <a:ext cx="2525209" cy="819150"/>
              </a:xfrm>
              <a:prstGeom prst="wedgeRectCallout">
                <a:avLst>
                  <a:gd name="adj1" fmla="val -83308"/>
                  <a:gd name="adj2" fmla="val 50318"/>
                </a:avLst>
              </a:prstGeom>
              <a:blipFill>
                <a:blip r:embed="rId9" cstate="print"/>
                <a:stretch>
                  <a:fillRect t="-2857" b="-5714"/>
                </a:stretch>
              </a:blipFill>
              <a:ln w="19050">
                <a:solidFill>
                  <a:schemeClr val="accent2"/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Content Placeholder 18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 smtClean="0"/>
              <a:t>Remember the matrix factorization view of the k-means loss function?</a:t>
            </a:r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We approximated an N x D matrix with </a:t>
            </a:r>
          </a:p>
          <a:p>
            <a:pPr lvl="1"/>
            <a:r>
              <a:rPr lang="en-US" dirty="0" smtClean="0"/>
              <a:t>An NxK matrix and a</a:t>
            </a:r>
          </a:p>
          <a:p>
            <a:pPr lvl="1"/>
            <a:r>
              <a:rPr lang="en-US" dirty="0" smtClean="0"/>
              <a:t>KXD matrix</a:t>
            </a:r>
          </a:p>
          <a:p>
            <a:r>
              <a:rPr lang="en-US" dirty="0" smtClean="0"/>
              <a:t>This could be storage efficient if K is much smaller than D</a:t>
            </a:r>
            <a:endParaRPr lang="en-GB" dirty="0"/>
          </a:p>
        </p:txBody>
      </p:sp>
      <p:sp>
        <p:nvSpPr>
          <p:cNvPr id="20" name="TextBox 19"/>
          <p:cNvSpPr txBox="1"/>
          <p:nvPr/>
        </p:nvSpPr>
        <p:spPr>
          <a:xfrm>
            <a:off x="8015417" y="3295135"/>
            <a:ext cx="327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D</a:t>
            </a:r>
            <a:endParaRPr lang="en-GB" dirty="0"/>
          </a:p>
        </p:txBody>
      </p:sp>
      <p:sp>
        <p:nvSpPr>
          <p:cNvPr id="21" name="TextBox 20"/>
          <p:cNvSpPr txBox="1"/>
          <p:nvPr/>
        </p:nvSpPr>
        <p:spPr>
          <a:xfrm>
            <a:off x="11009870" y="3859429"/>
            <a:ext cx="327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D</a:t>
            </a:r>
            <a:endParaRPr lang="en-GB" dirty="0"/>
          </a:p>
        </p:txBody>
      </p:sp>
    </p:spTree>
    <p:custDataLst>
      <p:tags r:id="rId1"/>
    </p:custDataLst>
    <p:extLst>
      <p:ext uri="{BB962C8B-B14F-4D97-AF65-F5344CB8AC3E}">
        <p14:creationId xmlns="" xmlns:p14="http://schemas.microsoft.com/office/powerpoint/2010/main" val="2167549560"/>
      </p:ext>
    </p:extLst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spd="slow" p14:dur="2000" advTm="461643"/>
    </mc:Choice>
    <mc:Fallback>
      <p:transition spd="slow" advTm="461643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92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92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9" grpId="0" animBg="1"/>
      <p:bldP spid="10" grpId="0" animBg="1"/>
      <p:bldP spid="5" grpId="0"/>
      <p:bldP spid="14" grpId="0"/>
      <p:bldP spid="15" grpId="0"/>
      <p:bldP spid="6" grpId="0" animBg="1"/>
      <p:bldP spid="7" grpId="0" animBg="1"/>
      <p:bldP spid="17" grpId="0" animBg="1"/>
      <p:bldP spid="18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D7657946-FC7F-477C-9867-0ED704A858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5245" y="169682"/>
            <a:ext cx="11740617" cy="821500"/>
          </a:xfrm>
        </p:spPr>
        <p:txBody>
          <a:bodyPr>
            <a:normAutofit/>
          </a:bodyPr>
          <a:lstStyle/>
          <a:p>
            <a:r>
              <a:rPr lang="en-IN" dirty="0">
                <a:solidFill>
                  <a:schemeClr val="accent2">
                    <a:lumMod val="75000"/>
                  </a:schemeClr>
                </a:solidFill>
              </a:rPr>
              <a:t>Dimensionality Reduction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xmlns="" id="{F77B66E3-3803-4788-BC62-221F4919CBCE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323930" y="136939"/>
            <a:ext cx="602825" cy="365125"/>
          </a:xfrm>
        </p:spPr>
        <p:txBody>
          <a:bodyPr/>
          <a:lstStyle/>
          <a:p>
            <a:fld id="{80FED9D3-AF84-488D-8A6A-726D5349CDAB}" type="slidenum">
              <a:rPr lang="en-IN" sz="2800" smtClean="0">
                <a:solidFill>
                  <a:schemeClr val="accent2">
                    <a:lumMod val="40000"/>
                    <a:lumOff val="60000"/>
                  </a:schemeClr>
                </a:solidFill>
              </a:rPr>
              <a:pPr/>
              <a:t>3</a:t>
            </a:fld>
            <a:endParaRPr lang="en-IN" sz="2800" dirty="0"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xmlns="" Requires="a14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314819C9-D576-44D5-A1AF-875A21D5EF7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65245" y="1130786"/>
                <a:ext cx="11740617" cy="5557532"/>
              </a:xfrm>
            </p:spPr>
            <p:txBody>
              <a:bodyPr>
                <a:noAutofit/>
              </a:bodyPr>
              <a:lstStyle/>
              <a:p>
                <a:pPr>
                  <a:buFont typeface="Wingdings" panose="05000000000000000000" pitchFamily="2" charset="2"/>
                  <a:buChar char="§"/>
                </a:pPr>
                <a:r>
                  <a:rPr lang="en-IN" dirty="0">
                    <a:latin typeface="Abadi Extra Light" panose="020B0204020104020204" pitchFamily="34" charset="0"/>
                  </a:rPr>
                  <a:t>A broad class of techniques</a:t>
                </a:r>
              </a:p>
              <a:p>
                <a:pPr>
                  <a:buFont typeface="Wingdings" panose="05000000000000000000" pitchFamily="2" charset="2"/>
                  <a:buChar char="§"/>
                </a:pPr>
                <a:endParaRPr lang="en-IN" sz="100" dirty="0">
                  <a:latin typeface="Abadi Extra Light" panose="020B0204020104020204" pitchFamily="34" charset="0"/>
                </a:endParaRPr>
              </a:p>
              <a:p>
                <a:pPr>
                  <a:buFont typeface="Wingdings" panose="05000000000000000000" pitchFamily="2" charset="2"/>
                  <a:buChar char="§"/>
                </a:pPr>
                <a:r>
                  <a:rPr lang="en-IN" dirty="0">
                    <a:latin typeface="Abadi Extra Light" panose="020B0204020104020204" pitchFamily="34" charset="0"/>
                  </a:rPr>
                  <a:t>Goal is to compress the original representation of the inputs</a:t>
                </a:r>
              </a:p>
              <a:p>
                <a:pPr>
                  <a:buFont typeface="Wingdings" panose="05000000000000000000" pitchFamily="2" charset="2"/>
                  <a:buChar char="§"/>
                </a:pPr>
                <a:endParaRPr lang="en-IN" sz="100" dirty="0">
                  <a:latin typeface="Abadi Extra Light" panose="020B0204020104020204" pitchFamily="34" charset="0"/>
                </a:endParaRPr>
              </a:p>
              <a:p>
                <a:pPr>
                  <a:buFont typeface="Wingdings" panose="05000000000000000000" pitchFamily="2" charset="2"/>
                  <a:buChar char="§"/>
                </a:pPr>
                <a:r>
                  <a:rPr lang="en-IN" dirty="0">
                    <a:latin typeface="Abadi Extra Light" panose="020B0204020104020204" pitchFamily="34" charset="0"/>
                  </a:rPr>
                  <a:t>Example: Approximate each input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IN" b="0" i="1" smtClean="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I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I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𝐷</m:t>
                        </m:r>
                      </m:sup>
                    </m:sSup>
                  </m:oMath>
                </a14:m>
                <a:r>
                  <a:rPr lang="en-IN" dirty="0">
                    <a:latin typeface="Abadi Extra Light" panose="020B0204020104020204" pitchFamily="34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IN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IN" i="1" dirty="0" smtClean="0">
                        <a:latin typeface="Cambria Math" panose="02040503050406030204" pitchFamily="18" charset="0"/>
                      </a:rPr>
                      <m:t>=1,2,…,</m:t>
                    </m:r>
                    <m:r>
                      <a:rPr lang="en-IN" i="1" dirty="0" err="1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IN" dirty="0">
                    <a:latin typeface="Abadi Extra Light" panose="020B0204020104020204" pitchFamily="34" charset="0"/>
                  </a:rPr>
                  <a:t> as a linear combination of </a:t>
                </a:r>
                <a14:m>
                  <m:oMath xmlns:m="http://schemas.openxmlformats.org/officeDocument/2006/math">
                    <m:r>
                      <a:rPr lang="en-IN" i="1" dirty="0" smtClean="0"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IN" b="0" i="1" dirty="0" smtClean="0">
                        <a:latin typeface="Cambria Math" panose="02040503050406030204" pitchFamily="18" charset="0"/>
                      </a:rPr>
                      <m:t>&lt; </m:t>
                    </m:r>
                    <m:r>
                      <m:rPr>
                        <m:sty m:val="p"/>
                      </m:rPr>
                      <a:rPr lang="en-IN" b="0" i="1" dirty="0" smtClean="0">
                        <a:latin typeface="Cambria Math" panose="02040503050406030204" pitchFamily="18" charset="0"/>
                      </a:rPr>
                      <m:t>min</m:t>
                    </m:r>
                    <m:r>
                      <a:rPr lang="en-IN" b="0" i="1" dirty="0" smtClean="0"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b="0" i="1" dirty="0" smtClean="0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IN" b="0" i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b="0" i="1" dirty="0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IN" b="0" i="1" dirty="0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en-IN" dirty="0">
                    <a:latin typeface="Abadi Extra Light" panose="020B0204020104020204" pitchFamily="34" charset="0"/>
                  </a:rPr>
                  <a:t> “basis” vectors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1" i="1" smtClean="0">
                            <a:latin typeface="Cambria Math" panose="02040503050406030204" pitchFamily="18" charset="0"/>
                          </a:rPr>
                          <m:t>𝒘</m:t>
                        </m:r>
                      </m:e>
                      <m:sub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IN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1" i="1" smtClean="0">
                            <a:latin typeface="Cambria Math" panose="02040503050406030204" pitchFamily="18" charset="0"/>
                          </a:rPr>
                          <m:t>𝒘</m:t>
                        </m:r>
                      </m:e>
                      <m:sub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IN" b="0" i="1" smtClean="0">
                        <a:latin typeface="Cambria Math" panose="02040503050406030204" pitchFamily="18" charset="0"/>
                      </a:rPr>
                      <m:t>,…, </m:t>
                    </m:r>
                    <m:sSub>
                      <m:sSub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1" i="1" smtClean="0">
                            <a:latin typeface="Cambria Math" panose="02040503050406030204" pitchFamily="18" charset="0"/>
                          </a:rPr>
                          <m:t>𝒘</m:t>
                        </m:r>
                      </m:e>
                      <m:sub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</m:sub>
                    </m:sSub>
                  </m:oMath>
                </a14:m>
                <a:r>
                  <a:rPr lang="en-IN" dirty="0">
                    <a:latin typeface="Abadi Extra Light" panose="020B0204020104020204" pitchFamily="34" charset="0"/>
                  </a:rPr>
                  <a:t>, each also 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I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I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𝐷</m:t>
                        </m:r>
                      </m:sup>
                    </m:sSup>
                  </m:oMath>
                </a14:m>
                <a:endParaRPr lang="en-IN" dirty="0">
                  <a:latin typeface="Abadi Extra Light" panose="020B0204020104020204" pitchFamily="34" charset="0"/>
                </a:endParaRPr>
              </a:p>
              <a:p>
                <a:pPr marL="0" indent="0">
                  <a:buNone/>
                </a:pPr>
                <a:endParaRPr lang="en-IN" dirty="0">
                  <a:latin typeface="Abadi Extra Light" panose="020B0204020104020204" pitchFamily="34" charset="0"/>
                </a:endParaRPr>
              </a:p>
              <a:p>
                <a:pPr marL="0" indent="0">
                  <a:buNone/>
                </a:pPr>
                <a:endParaRPr lang="en-IN" dirty="0">
                  <a:latin typeface="Abadi Extra Light" panose="020B0204020104020204" pitchFamily="34" charset="0"/>
                </a:endParaRPr>
              </a:p>
              <a:p>
                <a:pPr>
                  <a:buFont typeface="Wingdings" panose="05000000000000000000" pitchFamily="2" charset="2"/>
                  <a:buChar char="§"/>
                </a:pPr>
                <a:r>
                  <a:rPr lang="en-IN" dirty="0">
                    <a:latin typeface="Abadi Extra Light" panose="020B0204020104020204" pitchFamily="34" charset="0"/>
                  </a:rPr>
                  <a:t>We have represented each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IN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IN" i="1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I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I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𝐷</m:t>
                        </m:r>
                      </m:sup>
                    </m:sSup>
                    <m:r>
                      <a:rPr lang="en-I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dirty="0">
                    <a:latin typeface="Abadi Extra Light" panose="020B0204020104020204" pitchFamily="34" charset="0"/>
                  </a:rPr>
                  <a:t>by a </a:t>
                </a:r>
                <a14:m>
                  <m:oMath xmlns:m="http://schemas.openxmlformats.org/officeDocument/2006/math">
                    <m:r>
                      <a:rPr lang="en-IN" i="1" dirty="0" smtClean="0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en-IN" dirty="0">
                    <a:latin typeface="Abadi Extra Light" panose="020B0204020104020204" pitchFamily="34" charset="0"/>
                  </a:rPr>
                  <a:t>-dim vector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1" i="1" dirty="0" smtClean="0">
                            <a:latin typeface="Cambria Math" panose="02040503050406030204" pitchFamily="18" charset="0"/>
                          </a:rPr>
                          <m:t>𝒛</m:t>
                        </m:r>
                      </m:e>
                      <m:sub>
                        <m:r>
                          <a:rPr lang="en-IN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IN" dirty="0">
                    <a:latin typeface="Abadi Extra Light" panose="020B0204020104020204" pitchFamily="34" charset="0"/>
                  </a:rPr>
                  <a:t> (a new feat. rep)</a:t>
                </a:r>
              </a:p>
              <a:p>
                <a:pPr marL="0" indent="0">
                  <a:buNone/>
                </a:pPr>
                <a:endParaRPr lang="en-IN" sz="100" dirty="0">
                  <a:latin typeface="Abadi Extra Light" panose="020B0204020104020204" pitchFamily="34" charset="0"/>
                </a:endParaRPr>
              </a:p>
              <a:p>
                <a:pPr>
                  <a:buFont typeface="Wingdings" panose="05000000000000000000" pitchFamily="2" charset="2"/>
                  <a:buChar char="§"/>
                </a:pPr>
                <a:r>
                  <a:rPr lang="en-IN" dirty="0">
                    <a:latin typeface="Abadi Extra Light" panose="020B0204020104020204" pitchFamily="34" charset="0"/>
                  </a:rPr>
                  <a:t>To store </a:t>
                </a:r>
                <a14:m>
                  <m:oMath xmlns:m="http://schemas.openxmlformats.org/officeDocument/2006/math">
                    <m:r>
                      <a:rPr lang="en-IN" i="1" dirty="0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IN" dirty="0">
                    <a:latin typeface="Abadi Extra Light" panose="020B0204020104020204" pitchFamily="34" charset="0"/>
                  </a:rPr>
                  <a:t> such inputs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IN" i="1" smtClean="0">
                            <a:solidFill>
                              <a:srgbClr val="B806AB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IN" b="0" i="1" smtClean="0">
                            <a:solidFill>
                              <a:srgbClr val="B806AB"/>
                            </a:solidFill>
                            <a:latin typeface="Cambria Math" panose="02040503050406030204" pitchFamily="18" charset="0"/>
                          </a:rPr>
                          <m:t>{</m:t>
                        </m:r>
                        <m:sSub>
                          <m:sSubPr>
                            <m:ctrlPr>
                              <a:rPr lang="en-IN" i="1">
                                <a:solidFill>
                                  <a:srgbClr val="B806AB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b="1" i="1">
                                <a:solidFill>
                                  <a:srgbClr val="B806AB"/>
                                </a:solidFill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en-IN" i="1">
                                <a:solidFill>
                                  <a:srgbClr val="B806AB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  <m:r>
                          <a:rPr lang="en-IN" b="0" i="1" smtClean="0">
                            <a:solidFill>
                              <a:srgbClr val="B806AB"/>
                            </a:solidFill>
                            <a:latin typeface="Cambria Math" panose="02040503050406030204" pitchFamily="18" charset="0"/>
                          </a:rPr>
                          <m:t>}</m:t>
                        </m:r>
                      </m:e>
                      <m:sub>
                        <m:r>
                          <a:rPr lang="en-IN" b="0" i="1" smtClean="0">
                            <a:solidFill>
                              <a:srgbClr val="B806AB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IN" b="0" i="1" smtClean="0">
                            <a:solidFill>
                              <a:srgbClr val="B806AB"/>
                            </a:solidFill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IN" b="0" i="1" smtClean="0">
                            <a:solidFill>
                              <a:srgbClr val="B806AB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sup>
                    </m:sSubSup>
                  </m:oMath>
                </a14:m>
                <a:r>
                  <a:rPr lang="en-IN" dirty="0">
                    <a:latin typeface="Abadi Extra Light" panose="020B0204020104020204" pitchFamily="34" charset="0"/>
                  </a:rPr>
                  <a:t>, we need to keep </a:t>
                </a:r>
                <a14:m>
                  <m:oMath xmlns:m="http://schemas.openxmlformats.org/officeDocument/2006/math">
                    <m:r>
                      <a:rPr lang="en-IN" b="1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𝐖</m:t>
                    </m:r>
                  </m:oMath>
                </a14:m>
                <a:r>
                  <a:rPr lang="en-IN" dirty="0">
                    <a:latin typeface="Abadi Extra Light" panose="020B0204020104020204" pitchFamily="34" charset="0"/>
                  </a:rPr>
                  <a:t> and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IN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IN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{</m:t>
                        </m:r>
                        <m:sSub>
                          <m:sSubPr>
                            <m:ctrlPr>
                              <a:rPr lang="en-IN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b="1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𝒛</m:t>
                            </m:r>
                          </m:e>
                          <m:sub>
                            <m:r>
                              <a:rPr lang="en-IN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  <m:r>
                          <a:rPr lang="en-IN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}</m:t>
                        </m:r>
                      </m:e>
                      <m:sub>
                        <m:r>
                          <a:rPr lang="en-IN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IN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IN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sup>
                    </m:sSubSup>
                  </m:oMath>
                </a14:m>
                <a:endParaRPr lang="en-IN" dirty="0">
                  <a:latin typeface="Abadi Extra Light" panose="020B0204020104020204" pitchFamily="34" charset="0"/>
                </a:endParaRPr>
              </a:p>
              <a:p>
                <a:pPr lvl="1">
                  <a:buFont typeface="Wingdings" panose="05000000000000000000" pitchFamily="2" charset="2"/>
                  <a:buChar char="§"/>
                </a:pPr>
                <a:r>
                  <a:rPr lang="en-IN" dirty="0">
                    <a:latin typeface="Abadi Extra Light" panose="020B0204020104020204" pitchFamily="34" charset="0"/>
                  </a:rPr>
                  <a:t>Originally we required </a:t>
                </a:r>
                <a14:m>
                  <m:oMath xmlns:m="http://schemas.openxmlformats.org/officeDocument/2006/math">
                    <m:r>
                      <a:rPr lang="en-IN" b="0" i="1" dirty="0" smtClean="0">
                        <a:solidFill>
                          <a:srgbClr val="B806AB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IN" i="1" dirty="0" smtClean="0">
                        <a:solidFill>
                          <a:srgbClr val="B806AB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b="0" i="1" dirty="0" smtClean="0">
                        <a:solidFill>
                          <a:srgbClr val="B806AB"/>
                        </a:solidFill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en-IN" dirty="0">
                    <a:solidFill>
                      <a:srgbClr val="B806AB"/>
                    </a:solidFill>
                    <a:latin typeface="Abadi Extra Light" panose="020B0204020104020204" pitchFamily="34" charset="0"/>
                  </a:rPr>
                  <a:t/>
                </a:r>
                <a:r>
                  <a:rPr lang="en-IN" dirty="0">
                    <a:latin typeface="Abadi Extra Light" panose="020B0204020104020204" pitchFamily="34" charset="0"/>
                  </a:rPr>
                  <a:t>storage, now </a:t>
                </a:r>
                <a14:m>
                  <m:oMath xmlns:m="http://schemas.openxmlformats.org/officeDocument/2006/math">
                    <m:r>
                      <a:rPr lang="en-IN" b="0" i="1" dirty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IN" b="0" i="1" dirty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b="0" i="1" dirty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IN" b="0" i="1" dirty="0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IN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b="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IN" b="0" i="1" dirty="0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IN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b="0" i="1" dirty="0" smtClean="0"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a:rPr lang="en-IN" b="0" i="1" dirty="0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b="0" i="1" dirty="0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</m:d>
                    <m:r>
                      <a:rPr lang="en-IN" b="0" i="1" dirty="0" smtClean="0"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b="0" i="1" dirty="0" smtClean="0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en-IN" dirty="0">
                    <a:latin typeface="Abadi Extra Light" panose="020B0204020104020204" pitchFamily="34" charset="0"/>
                  </a:rPr>
                  <a:t> storage</a:t>
                </a:r>
              </a:p>
              <a:p>
                <a:pPr lvl="1">
                  <a:buFont typeface="Wingdings" panose="05000000000000000000" pitchFamily="2" charset="2"/>
                  <a:buChar char="§"/>
                </a:pPr>
                <a:r>
                  <a:rPr lang="en-IN" dirty="0">
                    <a:latin typeface="Abadi Extra Light" panose="020B0204020104020204" pitchFamily="34" charset="0"/>
                  </a:rPr>
                  <a:t>If</a:t>
                </a:r>
                <a:r>
                  <a:rPr lang="en-IN" dirty="0"/>
                  <a:t/>
                </a:r>
                <a14:m>
                  <m:oMath xmlns:m="http://schemas.openxmlformats.org/officeDocument/2006/math">
                    <m:r>
                      <a:rPr lang="en-IN" i="1" dirty="0" smtClean="0"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IN" i="1" dirty="0" smtClean="0">
                        <a:latin typeface="Cambria Math" panose="02040503050406030204" pitchFamily="18" charset="0"/>
                      </a:rPr>
                      <m:t>≪ </m:t>
                    </m:r>
                    <m:r>
                      <m:rPr>
                        <m:sty m:val="p"/>
                      </m:rPr>
                      <a:rPr lang="en-IN" i="1" dirty="0" smtClean="0">
                        <a:latin typeface="Cambria Math" panose="02040503050406030204" pitchFamily="18" charset="0"/>
                      </a:rPr>
                      <m:t>min</m:t>
                    </m:r>
                    <m:r>
                      <a:rPr lang="en-IN" i="1" dirty="0" smtClean="0">
                        <a:latin typeface="Cambria Math" panose="02040503050406030204" pitchFamily="18" charset="0"/>
                      </a:rPr>
                      <m:t>⁡{</m:t>
                    </m:r>
                    <m:r>
                      <a:rPr lang="en-IN" i="1" dirty="0" smtClean="0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IN" i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i="1" dirty="0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IN" i="1" dirty="0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en-IN" dirty="0">
                    <a:latin typeface="Abadi Extra Light" panose="020B0204020104020204" pitchFamily="34" charset="0"/>
                  </a:rPr>
                  <a:t>, this yields substantial storage saving, hence good compression</a:t>
                </a:r>
              </a:p>
              <a:p>
                <a:pPr>
                  <a:buFont typeface="Wingdings" panose="05000000000000000000" pitchFamily="2" charset="2"/>
                  <a:buChar char="§"/>
                </a:pPr>
                <a:endParaRPr lang="en-IN" dirty="0">
                  <a:latin typeface="Abadi Extra Light" panose="020B0204020104020204" pitchFamily="34" charset="0"/>
                </a:endParaRPr>
              </a:p>
              <a:p>
                <a:pPr>
                  <a:buFont typeface="Wingdings" panose="05000000000000000000" pitchFamily="2" charset="2"/>
                  <a:buChar char="§"/>
                </a:pPr>
                <a:endParaRPr lang="en-GB" sz="2600" dirty="0">
                  <a:latin typeface="Abadi Extra Light" panose="020B0204020104020204" pitchFamily="34" charset="0"/>
                </a:endParaRPr>
              </a:p>
              <a:p>
                <a:pPr>
                  <a:buFont typeface="Wingdings" panose="05000000000000000000" pitchFamily="2" charset="2"/>
                  <a:buChar char="§"/>
                </a:pPr>
                <a:endParaRPr lang="en-GB" sz="2600" dirty="0">
                  <a:latin typeface="Abadi Extra Light" panose="020B0204020104020204" pitchFamily="34" charset="0"/>
                </a:endParaRPr>
              </a:p>
              <a:p>
                <a:pPr>
                  <a:buFont typeface="Wingdings" panose="05000000000000000000" pitchFamily="2" charset="2"/>
                  <a:buChar char="§"/>
                </a:pPr>
                <a:endParaRPr lang="en-GB" sz="2600" dirty="0">
                  <a:latin typeface="Abadi Extra Light" panose="020B0204020104020204" pitchFamily="34" charset="0"/>
                </a:endParaRPr>
              </a:p>
              <a:p>
                <a:pPr marL="0" indent="0">
                  <a:buNone/>
                </a:pPr>
                <a:endParaRPr lang="en-GB" sz="2600" dirty="0">
                  <a:latin typeface="Abadi Extra Light" panose="020B0204020104020204" pitchFamily="34" charset="0"/>
                </a:endParaRPr>
              </a:p>
              <a:p>
                <a:pPr marL="0" indent="0">
                  <a:buNone/>
                </a:pPr>
                <a:endParaRPr lang="en-GB" sz="800" dirty="0">
                  <a:latin typeface="Abadi Extra Light" panose="020B0204020104020204" pitchFamily="34" charset="0"/>
                </a:endParaRPr>
              </a:p>
            </p:txBody>
          </p:sp>
        </mc:Choice>
        <mc:Fallback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xmlns="" xmlns:a14="http://schemas.microsoft.com/office/drawing/2010/main" id="{314819C9-D576-44D5-A1AF-875A21D5EF7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65245" y="1130786"/>
                <a:ext cx="11740617" cy="5557532"/>
              </a:xfrm>
              <a:blipFill>
                <a:blip r:embed="rId3" cstate="print"/>
                <a:stretch>
                  <a:fillRect l="-935" t="-186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xmlns="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51DEE6EE-5131-4EE3-A223-DFEBC7ACA5F5}"/>
                  </a:ext>
                </a:extLst>
              </p:cNvPr>
              <p:cNvSpPr txBox="1"/>
              <p:nvPr/>
            </p:nvSpPr>
            <p:spPr>
              <a:xfrm>
                <a:off x="4171325" y="3429000"/>
                <a:ext cx="3512372" cy="75591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4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IN" sz="24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IN" sz="2400" b="0" i="1" smtClean="0">
                          <a:latin typeface="Cambria Math" panose="02040503050406030204" pitchFamily="18" charset="0"/>
                        </a:rPr>
                        <m:t>≈</m:t>
                      </m:r>
                      <m:nary>
                        <m:naryPr>
                          <m:chr m:val="∑"/>
                          <m:limLoc m:val="subSup"/>
                          <m:ctrlPr>
                            <a:rPr lang="en-IN" sz="24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5"/>
                            </m:rPr>
                            <a:rPr lang="en-IN" sz="24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IN" sz="2400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IN" sz="2400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sup>
                        <m:e>
                          <m:sSub>
                            <m:sSubPr>
                              <m:ctrlP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  <m:t>𝑛𝑘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400" b="1" i="1" smtClean="0">
                                  <a:latin typeface="Cambria Math" panose="02040503050406030204" pitchFamily="18" charset="0"/>
                                </a:rPr>
                                <m:t>𝒘</m:t>
                              </m:r>
                            </m:e>
                            <m:sub>
                              <m: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e>
                      </m:nary>
                      <m:r>
                        <a:rPr lang="en-IN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2400" b="1" i="0" smtClean="0">
                          <a:latin typeface="Cambria Math" panose="02040503050406030204" pitchFamily="18" charset="0"/>
                        </a:rPr>
                        <m:t>𝐖</m:t>
                      </m:r>
                      <m:sSub>
                        <m:sSubPr>
                          <m:ctrlPr>
                            <a:rPr lang="en-IN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400" b="1" i="1" smtClean="0">
                              <a:latin typeface="Cambria Math" panose="02040503050406030204" pitchFamily="18" charset="0"/>
                            </a:rPr>
                            <m:t>𝒛</m:t>
                          </m:r>
                        </m:e>
                        <m:sub>
                          <m:r>
                            <a:rPr lang="en-IN" sz="24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lang="en-IN" sz="2400" dirty="0"/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xmlns="" xmlns:a14="http://schemas.microsoft.com/office/drawing/2010/main" id="{51DEE6EE-5131-4EE3-A223-DFEBC7ACA5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71325" y="3429000"/>
                <a:ext cx="3512372" cy="755913"/>
              </a:xfrm>
              <a:prstGeom prst="rect">
                <a:avLst/>
              </a:prstGeom>
              <a:blipFill>
                <a:blip r:embed="rId4" cstate="print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DA80DA78-2961-447E-A091-3E4BE248AFB0}"/>
              </a:ext>
            </a:extLst>
          </p:cNvPr>
          <p:cNvSpPr txBox="1"/>
          <p:nvPr/>
        </p:nvSpPr>
        <p:spPr>
          <a:xfrm>
            <a:off x="7586148" y="3328567"/>
            <a:ext cx="2375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 </a:t>
            </a:r>
          </a:p>
        </p:txBody>
      </p:sp>
      <mc:AlternateContent xmlns:mc="http://schemas.openxmlformats.org/markup-compatibility/2006">
        <mc:Choice xmlns:a14="http://schemas.microsoft.com/office/drawing/2010/main" xmlns="" Requires="a14">
          <p:sp>
            <p:nvSpPr>
              <p:cNvPr id="11" name="Speech Bubble: Rectangle 10">
                <a:extLst>
                  <a:ext uri="{FF2B5EF4-FFF2-40B4-BE49-F238E27FC236}">
                    <a16:creationId xmlns:a16="http://schemas.microsoft.com/office/drawing/2014/main" id="{26B5AB30-1BB0-45BB-903A-EA29FC59F224}"/>
                  </a:ext>
                </a:extLst>
              </p:cNvPr>
              <p:cNvSpPr/>
              <p:nvPr/>
            </p:nvSpPr>
            <p:spPr>
              <a:xfrm>
                <a:off x="7660311" y="3326705"/>
                <a:ext cx="3181451" cy="369332"/>
              </a:xfrm>
              <a:prstGeom prst="wedgeRectCallout">
                <a:avLst>
                  <a:gd name="adj1" fmla="val -65125"/>
                  <a:gd name="adj2" fmla="val 43096"/>
                </a:avLst>
              </a:prstGeom>
              <a:solidFill>
                <a:schemeClr val="bg1"/>
              </a:solidFill>
              <a:ln w="19050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14:m>
                  <m:oMath xmlns:m="http://schemas.openxmlformats.org/officeDocument/2006/math">
                    <m:r>
                      <a:rPr lang="en-IN" b="1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𝐖</m:t>
                    </m:r>
                    <m:r>
                      <a:rPr lang="en-IN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I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IN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𝒘</m:t>
                            </m:r>
                          </m:e>
                          <m:sub>
                            <m:r>
                              <a:rPr lang="en-IN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I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IN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𝒘</m:t>
                            </m:r>
                          </m:e>
                          <m:sub>
                            <m:r>
                              <a:rPr lang="en-IN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I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,…, </m:t>
                        </m:r>
                        <m:sSub>
                          <m:sSubPr>
                            <m:ctrlPr>
                              <a:rPr lang="en-IN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𝒘</m:t>
                            </m:r>
                          </m:e>
                          <m:sub>
                            <m:r>
                              <a:rPr lang="en-IN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𝐾</m:t>
                            </m:r>
                          </m:sub>
                        </m:sSub>
                      </m:e>
                    </m:d>
                  </m:oMath>
                </a14:m>
                <a:r>
                  <a:rPr lang="en-IN" dirty="0">
                    <a:solidFill>
                      <a:schemeClr val="tx1"/>
                    </a:solidFill>
                  </a:rPr>
                  <a:t> is </a:t>
                </a:r>
                <a14:m>
                  <m:oMath xmlns:m="http://schemas.openxmlformats.org/officeDocument/2006/math">
                    <m:r>
                      <a:rPr lang="en-IN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IN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endParaRPr lang="en-IN" dirty="0">
                  <a:solidFill>
                    <a:schemeClr val="tx1"/>
                  </a:solidFill>
                  <a:latin typeface="Abadi Extra Light" panose="020B0204020104020204" pitchFamily="34" charset="0"/>
                </a:endParaRPr>
              </a:p>
            </p:txBody>
          </p:sp>
        </mc:Choice>
        <mc:Fallback>
          <p:sp>
            <p:nvSpPr>
              <p:cNvPr id="11" name="Speech Bubble: Rectangle 10">
                <a:extLst>
                  <a:ext uri="{FF2B5EF4-FFF2-40B4-BE49-F238E27FC236}">
                    <a16:creationId xmlns:a16="http://schemas.microsoft.com/office/drawing/2014/main" xmlns="" xmlns:a14="http://schemas.microsoft.com/office/drawing/2010/main" id="{26B5AB30-1BB0-45BB-903A-EA29FC59F22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60311" y="3326705"/>
                <a:ext cx="3181451" cy="369332"/>
              </a:xfrm>
              <a:prstGeom prst="wedgeRectCallout">
                <a:avLst>
                  <a:gd name="adj1" fmla="val -65125"/>
                  <a:gd name="adj2" fmla="val 43096"/>
                </a:avLst>
              </a:prstGeom>
              <a:blipFill>
                <a:blip r:embed="rId5" cstate="print"/>
                <a:stretch>
                  <a:fillRect t="-6349" b="-22222"/>
                </a:stretch>
              </a:blipFill>
              <a:ln w="19050">
                <a:solidFill>
                  <a:schemeClr val="accent2"/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xmlns="" Requires="a14">
          <p:sp>
            <p:nvSpPr>
              <p:cNvPr id="13" name="Speech Bubble: Rectangle 12">
                <a:extLst>
                  <a:ext uri="{FF2B5EF4-FFF2-40B4-BE49-F238E27FC236}">
                    <a16:creationId xmlns:a16="http://schemas.microsoft.com/office/drawing/2014/main" id="{A80BC074-F13E-4BE8-9521-3897B7447528}"/>
                  </a:ext>
                </a:extLst>
              </p:cNvPr>
              <p:cNvSpPr/>
              <p:nvPr/>
            </p:nvSpPr>
            <p:spPr>
              <a:xfrm>
                <a:off x="7929264" y="3858670"/>
                <a:ext cx="3181452" cy="369332"/>
              </a:xfrm>
              <a:prstGeom prst="wedgeRectCallout">
                <a:avLst>
                  <a:gd name="adj1" fmla="val -57949"/>
                  <a:gd name="adj2" fmla="val -20503"/>
                </a:avLst>
              </a:prstGeom>
              <a:solidFill>
                <a:schemeClr val="bg1"/>
              </a:solidFill>
              <a:ln w="19050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IN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𝒛</m:t>
                        </m:r>
                      </m:e>
                      <m:sub>
                        <m:r>
                          <a:rPr lang="en-I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IN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I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IN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I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IN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I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IN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I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IN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I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,…, </m:t>
                        </m:r>
                        <m:sSub>
                          <m:sSubPr>
                            <m:ctrlPr>
                              <a:rPr lang="en-IN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I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IN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𝐾</m:t>
                            </m:r>
                          </m:sub>
                        </m:sSub>
                      </m:e>
                    </m:d>
                  </m:oMath>
                </a14:m>
                <a:r>
                  <a:rPr lang="en-IN" dirty="0">
                    <a:solidFill>
                      <a:schemeClr val="tx1"/>
                    </a:solidFill>
                  </a:rPr>
                  <a:t> is </a:t>
                </a:r>
                <a14:m>
                  <m:oMath xmlns:m="http://schemas.openxmlformats.org/officeDocument/2006/math">
                    <m:r>
                      <a:rPr lang="en-IN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IN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lang="en-IN" dirty="0">
                  <a:solidFill>
                    <a:schemeClr val="tx1"/>
                  </a:solidFill>
                  <a:latin typeface="Abadi Extra Light" panose="020B0204020104020204" pitchFamily="34" charset="0"/>
                </a:endParaRPr>
              </a:p>
            </p:txBody>
          </p:sp>
        </mc:Choice>
        <mc:Fallback>
          <p:sp>
            <p:nvSpPr>
              <p:cNvPr id="13" name="Speech Bubble: Rectangle 12">
                <a:extLst>
                  <a:ext uri="{FF2B5EF4-FFF2-40B4-BE49-F238E27FC236}">
                    <a16:creationId xmlns:a16="http://schemas.microsoft.com/office/drawing/2014/main" xmlns="" xmlns:a14="http://schemas.microsoft.com/office/drawing/2010/main" id="{A80BC074-F13E-4BE8-9521-3897B744752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29264" y="3858670"/>
                <a:ext cx="3181452" cy="369332"/>
              </a:xfrm>
              <a:prstGeom prst="wedgeRectCallout">
                <a:avLst>
                  <a:gd name="adj1" fmla="val -57949"/>
                  <a:gd name="adj2" fmla="val -20503"/>
                </a:avLst>
              </a:prstGeom>
              <a:blipFill>
                <a:blip r:embed="rId6" cstate="print"/>
                <a:stretch>
                  <a:fillRect t="-6250" b="-20313"/>
                </a:stretch>
              </a:blipFill>
              <a:ln w="19050">
                <a:solidFill>
                  <a:schemeClr val="accent2"/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Speech Bubble: Rectangle 13">
            <a:extLst>
              <a:ext uri="{FF2B5EF4-FFF2-40B4-BE49-F238E27FC236}">
                <a16:creationId xmlns:a16="http://schemas.microsoft.com/office/drawing/2014/main" xmlns="" id="{3D0EFDF7-228F-4B31-9576-7D766D98C4D3}"/>
              </a:ext>
            </a:extLst>
          </p:cNvPr>
          <p:cNvSpPr/>
          <p:nvPr/>
        </p:nvSpPr>
        <p:spPr>
          <a:xfrm>
            <a:off x="333481" y="3511371"/>
            <a:ext cx="3354442" cy="880844"/>
          </a:xfrm>
          <a:prstGeom prst="wedgeRectCallout">
            <a:avLst>
              <a:gd name="adj1" fmla="val 44075"/>
              <a:gd name="adj2" fmla="val -75661"/>
            </a:avLst>
          </a:prstGeom>
          <a:solidFill>
            <a:schemeClr val="bg1"/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1400" dirty="0">
                <a:solidFill>
                  <a:schemeClr val="tx1"/>
                </a:solidFill>
                <a:latin typeface="Abadi Extra Light" panose="020B0204020104020204" pitchFamily="34" charset="0"/>
              </a:rPr>
              <a:t>Note: These “basis” vectors need not necessarily be linearly independent. But for some dim. red. techniques, e.g., classic principal component analysis (PCA), they are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xmlns="" id="{15E25AF0-2F6A-49BE-9B70-F2A09A8E096A}"/>
              </a:ext>
            </a:extLst>
          </p:cNvPr>
          <p:cNvPicPr>
            <a:picLocks noChangeAspect="1"/>
          </p:cNvPicPr>
          <p:nvPr/>
        </p:nvPicPr>
        <p:blipFill>
          <a:blip r:embed="rId7" cstate="print"/>
          <a:stretch>
            <a:fillRect/>
          </a:stretch>
        </p:blipFill>
        <p:spPr>
          <a:xfrm>
            <a:off x="11110716" y="882194"/>
            <a:ext cx="1010687" cy="965223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xmlns="" Requires="a14">
          <p:sp>
            <p:nvSpPr>
              <p:cNvPr id="16" name="Speech Bubble: Rectangle 15">
                <a:extLst>
                  <a:ext uri="{FF2B5EF4-FFF2-40B4-BE49-F238E27FC236}">
                    <a16:creationId xmlns:a16="http://schemas.microsoft.com/office/drawing/2014/main" id="{A73D2A74-766A-4653-A654-EA8CE3F78CAB}"/>
                  </a:ext>
                </a:extLst>
              </p:cNvPr>
              <p:cNvSpPr/>
              <p:nvPr/>
            </p:nvSpPr>
            <p:spPr>
              <a:xfrm>
                <a:off x="7394683" y="486833"/>
                <a:ext cx="3569728" cy="558920"/>
              </a:xfrm>
              <a:prstGeom prst="wedgeRectCallout">
                <a:avLst>
                  <a:gd name="adj1" fmla="val 59909"/>
                  <a:gd name="adj2" fmla="val 52451"/>
                </a:avLst>
              </a:prstGeom>
              <a:solidFill>
                <a:schemeClr val="bg1"/>
              </a:solidFill>
              <a:ln w="19050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IN" sz="1600" dirty="0">
                    <a:solidFill>
                      <a:schemeClr val="tx1"/>
                    </a:solidFill>
                    <a:latin typeface="Abadi Extra Light" panose="020B0204020104020204" pitchFamily="34" charset="0"/>
                  </a:rPr>
                  <a:t>Can think of </a:t>
                </a:r>
                <a:r>
                  <a:rPr lang="en-IN" sz="1600" b="1" dirty="0">
                    <a:solidFill>
                      <a:schemeClr val="tx1"/>
                    </a:solidFill>
                    <a:latin typeface="Abadi Extra Light" panose="020B0204020104020204" pitchFamily="34" charset="0"/>
                  </a:rPr>
                  <a:t>W</a:t>
                </a:r>
                <a:r>
                  <a:rPr lang="en-IN" sz="1600" dirty="0">
                    <a:solidFill>
                      <a:schemeClr val="tx1"/>
                    </a:solidFill>
                    <a:latin typeface="Abadi Extra Light" panose="020B0204020104020204" pitchFamily="34" charset="0"/>
                  </a:rPr>
                  <a:t> as a </a:t>
                </a:r>
                <a:r>
                  <a:rPr lang="en-IN" sz="1600" dirty="0">
                    <a:solidFill>
                      <a:srgbClr val="FF0000"/>
                    </a:solidFill>
                    <a:latin typeface="Abadi Extra Light" panose="020B0204020104020204" pitchFamily="34" charset="0"/>
                  </a:rPr>
                  <a:t>linear</a:t>
                </a:r>
                <a:r>
                  <a:rPr lang="en-IN" sz="1600" dirty="0">
                    <a:solidFill>
                      <a:schemeClr val="tx1"/>
                    </a:solidFill>
                    <a:latin typeface="Abadi Extra Light" panose="020B0204020104020204" pitchFamily="34" charset="0"/>
                  </a:rPr>
                  <a:t> mapping that transforms low-dim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16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1600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𝒛</m:t>
                        </m:r>
                      </m:e>
                      <m:sub>
                        <m:r>
                          <a:rPr lang="en-IN" sz="16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IN" sz="1600" dirty="0">
                    <a:solidFill>
                      <a:schemeClr val="tx1"/>
                    </a:solidFill>
                    <a:latin typeface="Abadi Extra Light" panose="020B0204020104020204" pitchFamily="34" charset="0"/>
                  </a:rPr>
                  <a:t> to high-dim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16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1600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IN" sz="16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IN" sz="1600" dirty="0">
                    <a:solidFill>
                      <a:schemeClr val="tx1"/>
                    </a:solidFill>
                    <a:latin typeface="Abadi Extra Light" panose="020B0204020104020204" pitchFamily="34" charset="0"/>
                  </a:rPr>
                  <a:t/>
                </a:r>
                <a:endParaRPr lang="en-IN" sz="1600" dirty="0">
                  <a:solidFill>
                    <a:srgbClr val="0000FF"/>
                  </a:solidFill>
                  <a:latin typeface="Abadi Extra Light" panose="020B0204020104020204" pitchFamily="34" charset="0"/>
                </a:endParaRPr>
              </a:p>
            </p:txBody>
          </p:sp>
        </mc:Choice>
        <mc:Fallback>
          <p:sp>
            <p:nvSpPr>
              <p:cNvPr id="16" name="Speech Bubble: Rectangle 15">
                <a:extLst>
                  <a:ext uri="{FF2B5EF4-FFF2-40B4-BE49-F238E27FC236}">
                    <a16:creationId xmlns:a16="http://schemas.microsoft.com/office/drawing/2014/main" xmlns="" xmlns:a14="http://schemas.microsoft.com/office/drawing/2010/main" id="{A73D2A74-766A-4653-A654-EA8CE3F78CA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94683" y="486833"/>
                <a:ext cx="3569728" cy="558920"/>
              </a:xfrm>
              <a:prstGeom prst="wedgeRectCallout">
                <a:avLst>
                  <a:gd name="adj1" fmla="val 59909"/>
                  <a:gd name="adj2" fmla="val 52451"/>
                </a:avLst>
              </a:prstGeom>
              <a:blipFill>
                <a:blip r:embed="rId8" cstate="print"/>
                <a:stretch>
                  <a:fillRect l="-611" t="-4000" b="-7000"/>
                </a:stretch>
              </a:blipFill>
              <a:ln w="19050">
                <a:solidFill>
                  <a:schemeClr val="accent2"/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xmlns="" Requires="a14">
          <p:sp>
            <p:nvSpPr>
              <p:cNvPr id="17" name="Speech Bubble: Rectangle 16">
                <a:extLst>
                  <a:ext uri="{FF2B5EF4-FFF2-40B4-BE49-F238E27FC236}">
                    <a16:creationId xmlns:a16="http://schemas.microsoft.com/office/drawing/2014/main" id="{0CB6CAB5-1587-4CE0-98E2-C025B9F43D8A}"/>
                  </a:ext>
                </a:extLst>
              </p:cNvPr>
              <p:cNvSpPr/>
              <p:nvPr/>
            </p:nvSpPr>
            <p:spPr>
              <a:xfrm>
                <a:off x="6811861" y="1208386"/>
                <a:ext cx="3902278" cy="558920"/>
              </a:xfrm>
              <a:prstGeom prst="wedgeRectCallout">
                <a:avLst>
                  <a:gd name="adj1" fmla="val -722"/>
                  <a:gd name="adj2" fmla="val -82633"/>
                </a:avLst>
              </a:prstGeom>
              <a:solidFill>
                <a:schemeClr val="bg1"/>
              </a:solidFill>
              <a:ln w="19050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IN" sz="1600" dirty="0">
                    <a:solidFill>
                      <a:schemeClr val="tx1"/>
                    </a:solidFill>
                    <a:latin typeface="Abadi Extra Light" panose="020B0204020104020204" pitchFamily="34" charset="0"/>
                  </a:rPr>
                  <a:t>Some dim-red techniques assume a nonlinear mapping function </a:t>
                </a:r>
                <a14:m>
                  <m:oMath xmlns:m="http://schemas.openxmlformats.org/officeDocument/2006/math">
                    <m:r>
                      <a:rPr lang="en-IN" sz="16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IN" sz="1600" dirty="0">
                    <a:solidFill>
                      <a:schemeClr val="tx1"/>
                    </a:solidFill>
                    <a:latin typeface="Abadi Extra Light" panose="020B0204020104020204" pitchFamily="34" charset="0"/>
                  </a:rPr>
                  <a:t> such that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16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1600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IN" sz="16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IN" sz="16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16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IN" sz="16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IN" sz="16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1600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𝒛</m:t>
                        </m:r>
                      </m:e>
                      <m:sub>
                        <m:r>
                          <a:rPr lang="en-IN" sz="16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IN" sz="16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IN" sz="1600" dirty="0">
                    <a:solidFill>
                      <a:schemeClr val="tx1"/>
                    </a:solidFill>
                    <a:latin typeface="Abadi Extra Light" panose="020B0204020104020204" pitchFamily="34" charset="0"/>
                  </a:rPr>
                  <a:t/>
                </a:r>
                <a:endParaRPr lang="en-IN" sz="1600" dirty="0">
                  <a:solidFill>
                    <a:srgbClr val="0000FF"/>
                  </a:solidFill>
                  <a:latin typeface="Abadi Extra Light" panose="020B0204020104020204" pitchFamily="34" charset="0"/>
                </a:endParaRPr>
              </a:p>
            </p:txBody>
          </p:sp>
        </mc:Choice>
        <mc:Fallback>
          <p:sp>
            <p:nvSpPr>
              <p:cNvPr id="17" name="Speech Bubble: Rectangle 16">
                <a:extLst>
                  <a:ext uri="{FF2B5EF4-FFF2-40B4-BE49-F238E27FC236}">
                    <a16:creationId xmlns:a16="http://schemas.microsoft.com/office/drawing/2014/main" xmlns="" xmlns:a14="http://schemas.microsoft.com/office/drawing/2010/main" id="{0CB6CAB5-1587-4CE0-98E2-C025B9F43D8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11861" y="1208386"/>
                <a:ext cx="3902278" cy="558920"/>
              </a:xfrm>
              <a:prstGeom prst="wedgeRectCallout">
                <a:avLst>
                  <a:gd name="adj1" fmla="val -722"/>
                  <a:gd name="adj2" fmla="val -82633"/>
                </a:avLst>
              </a:prstGeom>
              <a:blipFill>
                <a:blip r:embed="rId9" cstate="print"/>
                <a:stretch>
                  <a:fillRect l="-621" b="-10236"/>
                </a:stretch>
              </a:blipFill>
              <a:ln w="19050">
                <a:solidFill>
                  <a:schemeClr val="accent2"/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xmlns="" Requires="a14">
          <p:sp>
            <p:nvSpPr>
              <p:cNvPr id="18" name="Speech Bubble: Rectangle 17">
                <a:extLst>
                  <a:ext uri="{FF2B5EF4-FFF2-40B4-BE49-F238E27FC236}">
                    <a16:creationId xmlns:a16="http://schemas.microsoft.com/office/drawing/2014/main" id="{D859DD70-E98D-454D-AA22-6817CA93EB20}"/>
                  </a:ext>
                </a:extLst>
              </p:cNvPr>
              <p:cNvSpPr/>
              <p:nvPr/>
            </p:nvSpPr>
            <p:spPr>
              <a:xfrm>
                <a:off x="9075180" y="1969561"/>
                <a:ext cx="2778463" cy="558920"/>
              </a:xfrm>
              <a:prstGeom prst="wedgeRectCallout">
                <a:avLst>
                  <a:gd name="adj1" fmla="val -1628"/>
                  <a:gd name="adj2" fmla="val -91639"/>
                </a:avLst>
              </a:prstGeom>
              <a:solidFill>
                <a:schemeClr val="bg1"/>
              </a:solidFill>
              <a:ln w="19050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IN" sz="1600" dirty="0">
                    <a:solidFill>
                      <a:schemeClr val="tx1"/>
                    </a:solidFill>
                    <a:latin typeface="Abadi Extra Light" panose="020B0204020104020204" pitchFamily="34" charset="0"/>
                  </a:rPr>
                  <a:t>For example, </a:t>
                </a:r>
                <a14:m>
                  <m:oMath xmlns:m="http://schemas.openxmlformats.org/officeDocument/2006/math">
                    <m:r>
                      <a:rPr lang="en-IN" sz="16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IN" sz="1600" dirty="0">
                    <a:solidFill>
                      <a:schemeClr val="tx1"/>
                    </a:solidFill>
                    <a:latin typeface="Abadi Extra Light" panose="020B0204020104020204" pitchFamily="34" charset="0"/>
                  </a:rPr>
                  <a:t> can be modeled by a kernel or a deep neural net</a:t>
                </a:r>
                <a:endParaRPr lang="en-IN" sz="1600" dirty="0">
                  <a:solidFill>
                    <a:srgbClr val="0000FF"/>
                  </a:solidFill>
                  <a:latin typeface="Abadi Extra Light" panose="020B0204020104020204" pitchFamily="34" charset="0"/>
                </a:endParaRPr>
              </a:p>
            </p:txBody>
          </p:sp>
        </mc:Choice>
        <mc:Fallback>
          <p:sp>
            <p:nvSpPr>
              <p:cNvPr id="18" name="Speech Bubble: Rectangle 17">
                <a:extLst>
                  <a:ext uri="{FF2B5EF4-FFF2-40B4-BE49-F238E27FC236}">
                    <a16:creationId xmlns:a16="http://schemas.microsoft.com/office/drawing/2014/main" xmlns="" xmlns:a14="http://schemas.microsoft.com/office/drawing/2010/main" id="{D859DD70-E98D-454D-AA22-6817CA93EB2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75180" y="1969561"/>
                <a:ext cx="2778463" cy="558920"/>
              </a:xfrm>
              <a:prstGeom prst="wedgeRectCallout">
                <a:avLst>
                  <a:gd name="adj1" fmla="val -1628"/>
                  <a:gd name="adj2" fmla="val -91639"/>
                </a:avLst>
              </a:prstGeom>
              <a:blipFill>
                <a:blip r:embed="rId10" cstate="print"/>
                <a:stretch>
                  <a:fillRect l="-1092" r="-218" b="-8889"/>
                </a:stretch>
              </a:blipFill>
              <a:ln w="19050">
                <a:solidFill>
                  <a:schemeClr val="accent2"/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xmlns="" val="316567786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slow" p14:dur="2000" advTm="367045"/>
    </mc:Choice>
    <mc:Fallback>
      <p:transition spd="slow" advTm="367045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11" grpId="0" animBg="1"/>
      <p:bldP spid="13" grpId="0" animBg="1"/>
      <p:bldP spid="14" grpId="0" animBg="1"/>
      <p:bldP spid="16" grpId="0" animBg="1"/>
      <p:bldP spid="17" grpId="0" animBg="1"/>
      <p:bldP spid="18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D7657946-FC7F-477C-9867-0ED704A858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5245" y="169682"/>
            <a:ext cx="11740617" cy="821500"/>
          </a:xfrm>
        </p:spPr>
        <p:txBody>
          <a:bodyPr>
            <a:normAutofit/>
          </a:bodyPr>
          <a:lstStyle/>
          <a:p>
            <a:r>
              <a:rPr lang="en-IN" dirty="0">
                <a:solidFill>
                  <a:schemeClr val="accent2">
                    <a:lumMod val="75000"/>
                  </a:schemeClr>
                </a:solidFill>
              </a:rPr>
              <a:t>Dimensionality Reduction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xmlns="" id="{F77B66E3-3803-4788-BC62-221F4919CBCE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323930" y="136939"/>
            <a:ext cx="602825" cy="365125"/>
          </a:xfrm>
        </p:spPr>
        <p:txBody>
          <a:bodyPr/>
          <a:lstStyle/>
          <a:p>
            <a:fld id="{80FED9D3-AF84-488D-8A6A-726D5349CDAB}" type="slidenum">
              <a:rPr lang="en-IN" sz="2800" smtClean="0">
                <a:solidFill>
                  <a:schemeClr val="accent2">
                    <a:lumMod val="40000"/>
                    <a:lumOff val="60000"/>
                  </a:schemeClr>
                </a:solidFill>
              </a:rPr>
              <a:pPr/>
              <a:t>4</a:t>
            </a:fld>
            <a:endParaRPr lang="en-IN" sz="2800" dirty="0"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xmlns="" Requires="a14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314819C9-D576-44D5-A1AF-875A21D5EF7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65245" y="1130786"/>
                <a:ext cx="11740617" cy="5557532"/>
              </a:xfrm>
            </p:spPr>
            <p:txBody>
              <a:bodyPr>
                <a:noAutofit/>
              </a:bodyPr>
              <a:lstStyle/>
              <a:p>
                <a:pPr>
                  <a:buFont typeface="Wingdings" panose="05000000000000000000" pitchFamily="2" charset="2"/>
                  <a:buChar char="§"/>
                </a:pPr>
                <a:r>
                  <a:rPr lang="en-IN" dirty="0">
                    <a:latin typeface="Abadi Extra Light" panose="020B0204020104020204" pitchFamily="34" charset="0"/>
                  </a:rPr>
                  <a:t>Dim-red for face images</a:t>
                </a:r>
              </a:p>
              <a:p>
                <a:pPr>
                  <a:buFont typeface="Wingdings" panose="05000000000000000000" pitchFamily="2" charset="2"/>
                  <a:buChar char="§"/>
                </a:pPr>
                <a:endParaRPr lang="en-IN" dirty="0">
                  <a:latin typeface="Abadi Extra Light" panose="020B0204020104020204" pitchFamily="34" charset="0"/>
                </a:endParaRPr>
              </a:p>
              <a:p>
                <a:pPr>
                  <a:buFont typeface="Wingdings" panose="05000000000000000000" pitchFamily="2" charset="2"/>
                  <a:buChar char="§"/>
                </a:pPr>
                <a:endParaRPr lang="en-IN" dirty="0">
                  <a:latin typeface="Abadi Extra Light" panose="020B0204020104020204" pitchFamily="34" charset="0"/>
                </a:endParaRPr>
              </a:p>
              <a:p>
                <a:pPr>
                  <a:buFont typeface="Wingdings" panose="05000000000000000000" pitchFamily="2" charset="2"/>
                  <a:buChar char="§"/>
                </a:pPr>
                <a:endParaRPr lang="en-IN" dirty="0">
                  <a:latin typeface="Abadi Extra Light" panose="020B0204020104020204" pitchFamily="34" charset="0"/>
                </a:endParaRPr>
              </a:p>
              <a:p>
                <a:pPr>
                  <a:buFont typeface="Wingdings" panose="05000000000000000000" pitchFamily="2" charset="2"/>
                  <a:buChar char="§"/>
                </a:pPr>
                <a:endParaRPr lang="en-IN" dirty="0">
                  <a:latin typeface="Abadi Extra Light" panose="020B0204020104020204" pitchFamily="34" charset="0"/>
                </a:endParaRPr>
              </a:p>
              <a:p>
                <a:pPr>
                  <a:buFont typeface="Wingdings" panose="05000000000000000000" pitchFamily="2" charset="2"/>
                  <a:buChar char="§"/>
                </a:pPr>
                <a:endParaRPr lang="en-IN" dirty="0">
                  <a:latin typeface="Abadi Extra Light" panose="020B0204020104020204" pitchFamily="34" charset="0"/>
                </a:endParaRPr>
              </a:p>
              <a:p>
                <a:pPr>
                  <a:buFont typeface="Wingdings" panose="05000000000000000000" pitchFamily="2" charset="2"/>
                  <a:buChar char="§"/>
                </a:pPr>
                <a:endParaRPr lang="en-IN" dirty="0">
                  <a:latin typeface="Abadi Extra Light" panose="020B0204020104020204" pitchFamily="34" charset="0"/>
                </a:endParaRPr>
              </a:p>
              <a:p>
                <a:pPr>
                  <a:buFont typeface="Wingdings" panose="05000000000000000000" pitchFamily="2" charset="2"/>
                  <a:buChar char="§"/>
                </a:pPr>
                <a:r>
                  <a:rPr lang="en-IN" dirty="0">
                    <a:latin typeface="Abadi Extra Light" panose="020B0204020104020204" pitchFamily="34" charset="0"/>
                  </a:rPr>
                  <a:t>In this example,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1" i="1" smtClean="0">
                            <a:latin typeface="Cambria Math" panose="02040503050406030204" pitchFamily="18" charset="0"/>
                          </a:rPr>
                          <m:t>𝒛</m:t>
                        </m:r>
                      </m:e>
                      <m:sub>
                        <m:r>
                          <a:rPr lang="en-IN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IN" i="1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I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I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𝐾</m:t>
                        </m:r>
                      </m:sup>
                    </m:sSup>
                    <m:r>
                      <a:rPr lang="en-I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(</m:t>
                    </m:r>
                    <m:r>
                      <a:rPr lang="en-I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𝐾</m:t>
                    </m:r>
                    <m:r>
                      <a:rPr lang="en-I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=4)</m:t>
                    </m:r>
                  </m:oMath>
                </a14:m>
                <a:r>
                  <a:rPr lang="en-GB" sz="2600" dirty="0">
                    <a:latin typeface="Abadi Extra Light" panose="020B0204020104020204" pitchFamily="34" charset="0"/>
                  </a:rPr>
                  <a:t> is a low-dim feature rep. 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400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IN" sz="240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IN" sz="2400" i="1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I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I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𝐷</m:t>
                        </m:r>
                      </m:sup>
                    </m:sSup>
                  </m:oMath>
                </a14:m>
                <a:endParaRPr lang="en-GB" sz="2600" dirty="0">
                  <a:latin typeface="Abadi Extra Light" panose="020B0204020104020204" pitchFamily="34" charset="0"/>
                </a:endParaRPr>
              </a:p>
              <a:p>
                <a:pPr>
                  <a:buFont typeface="Wingdings" panose="05000000000000000000" pitchFamily="2" charset="2"/>
                  <a:buChar char="§"/>
                </a:pPr>
                <a:r>
                  <a:rPr lang="en-GB" sz="2600" dirty="0">
                    <a:latin typeface="Abadi Extra Light" panose="020B0204020104020204" pitchFamily="34" charset="0"/>
                  </a:rPr>
                  <a:t>Essentially, each face image in the dataset now represented by just 4 real numbers </a:t>
                </a:r>
                <a:r>
                  <a:rPr lang="en-GB" sz="2600" dirty="0">
                    <a:latin typeface="Abadi Extra Light" panose="020B0204020104020204" pitchFamily="34" charset="0"/>
                    <a:sym typeface="Wingdings" panose="05000000000000000000" pitchFamily="2" charset="2"/>
                  </a:rPr>
                  <a:t></a:t>
                </a:r>
              </a:p>
              <a:p>
                <a:pPr>
                  <a:buFont typeface="Wingdings" panose="05000000000000000000" pitchFamily="2" charset="2"/>
                  <a:buChar char="§"/>
                </a:pPr>
                <a:r>
                  <a:rPr lang="en-GB" sz="2600" dirty="0">
                    <a:latin typeface="Abadi Extra Light" panose="020B0204020104020204" pitchFamily="34" charset="0"/>
                    <a:sym typeface="Wingdings" panose="05000000000000000000" pitchFamily="2" charset="2"/>
                  </a:rPr>
                  <a:t>Different dim-red algos differ in terms of how the basis vectors are defined/learned</a:t>
                </a:r>
              </a:p>
              <a:p>
                <a:pPr lvl="1">
                  <a:buFont typeface="Wingdings" panose="05000000000000000000" pitchFamily="2" charset="2"/>
                  <a:buChar char="§"/>
                </a:pPr>
                <a:r>
                  <a:rPr lang="en-GB" sz="2200" dirty="0">
                    <a:latin typeface="Abadi Extra Light" panose="020B0204020104020204" pitchFamily="34" charset="0"/>
                    <a:sym typeface="Wingdings" panose="05000000000000000000" pitchFamily="2" charset="2"/>
                  </a:rPr>
                  <a:t>.. And in general, how the function </a:t>
                </a:r>
                <a14:m>
                  <m:oMath xmlns:m="http://schemas.openxmlformats.org/officeDocument/2006/math">
                    <m:r>
                      <a:rPr lang="en-GB" sz="2200" i="1" dirty="0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𝑓</m:t>
                    </m:r>
                  </m:oMath>
                </a14:m>
                <a:r>
                  <a:rPr lang="en-GB" sz="2200" dirty="0">
                    <a:latin typeface="Abadi Extra Light" panose="020B0204020104020204" pitchFamily="34" charset="0"/>
                    <a:sym typeface="Wingdings" panose="05000000000000000000" pitchFamily="2" charset="2"/>
                  </a:rPr>
                  <a:t> in the mapping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2200" i="1" dirty="0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n-GB" sz="2200" b="1" i="1" dirty="0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𝒙</m:t>
                        </m:r>
                      </m:e>
                      <m:sub>
                        <m:r>
                          <a:rPr lang="en-GB" sz="2200" i="1" dirty="0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𝑛</m:t>
                        </m:r>
                      </m:sub>
                    </m:sSub>
                    <m:r>
                      <a:rPr lang="en-GB" sz="2200" i="1" dirty="0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= </m:t>
                    </m:r>
                    <m:r>
                      <a:rPr lang="en-GB" sz="2200" i="1" dirty="0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𝑓</m:t>
                    </m:r>
                    <m:r>
                      <a:rPr lang="en-GB" sz="2200" i="1" dirty="0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(</m:t>
                    </m:r>
                    <m:sSub>
                      <m:sSubPr>
                        <m:ctrlPr>
                          <a:rPr lang="en-GB" sz="2200" i="1" dirty="0" err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n-GB" sz="2200" b="1" i="1" dirty="0" err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𝒛</m:t>
                        </m:r>
                      </m:e>
                      <m:sub>
                        <m:r>
                          <a:rPr lang="en-GB" sz="2200" i="1" dirty="0" err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𝑛</m:t>
                        </m:r>
                      </m:sub>
                    </m:sSub>
                    <m:r>
                      <a:rPr lang="en-GB" sz="2200" i="1" dirty="0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) </m:t>
                    </m:r>
                  </m:oMath>
                </a14:m>
                <a:r>
                  <a:rPr lang="en-GB" sz="2200" dirty="0">
                    <a:latin typeface="Abadi Extra Light" panose="020B0204020104020204" pitchFamily="34" charset="0"/>
                    <a:sym typeface="Wingdings" panose="05000000000000000000" pitchFamily="2" charset="2"/>
                  </a:rPr>
                  <a:t>is defined</a:t>
                </a:r>
                <a:endParaRPr lang="en-GB" sz="2200" dirty="0">
                  <a:latin typeface="Abadi Extra Light" panose="020B0204020104020204" pitchFamily="34" charset="0"/>
                </a:endParaRPr>
              </a:p>
              <a:p>
                <a:pPr marL="0" indent="0">
                  <a:buNone/>
                </a:pPr>
                <a:endParaRPr lang="en-GB" sz="2600" dirty="0">
                  <a:latin typeface="Abadi Extra Light" panose="020B0204020104020204" pitchFamily="34" charset="0"/>
                </a:endParaRPr>
              </a:p>
              <a:p>
                <a:pPr marL="0" indent="0">
                  <a:buNone/>
                </a:pPr>
                <a:endParaRPr lang="en-GB" sz="800" dirty="0">
                  <a:latin typeface="Abadi Extra Light" panose="020B0204020104020204" pitchFamily="34" charset="0"/>
                </a:endParaRPr>
              </a:p>
            </p:txBody>
          </p:sp>
        </mc:Choice>
        <mc:Fallback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xmlns="" xmlns:a14="http://schemas.microsoft.com/office/drawing/2010/main" id="{314819C9-D576-44D5-A1AF-875A21D5EF7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65245" y="1130786"/>
                <a:ext cx="11740617" cy="5557532"/>
              </a:xfrm>
              <a:blipFill>
                <a:blip r:embed="rId3" cstate="print"/>
                <a:stretch>
                  <a:fillRect l="-935" t="-186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26" name="Picture 2">
            <a:extLst>
              <a:ext uri="{FF2B5EF4-FFF2-40B4-BE49-F238E27FC236}">
                <a16:creationId xmlns:a16="http://schemas.microsoft.com/office/drawing/2014/main" xmlns="" id="{6DA7983B-2B2E-4447-AE1B-75B2FBDBDB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1685543" y="1720630"/>
            <a:ext cx="9067800" cy="2552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>
        <mc:Choice xmlns:a14="http://schemas.microsoft.com/office/drawing/2010/main" xmlns="" Requires="a14">
          <p:sp>
            <p:nvSpPr>
              <p:cNvPr id="6" name="Speech Bubble: Rectangle 5">
                <a:extLst>
                  <a:ext uri="{FF2B5EF4-FFF2-40B4-BE49-F238E27FC236}">
                    <a16:creationId xmlns:a16="http://schemas.microsoft.com/office/drawing/2014/main" id="{166C7D5A-0D5F-4792-99EB-42E6B40FA73F}"/>
                  </a:ext>
                </a:extLst>
              </p:cNvPr>
              <p:cNvSpPr/>
              <p:nvPr/>
            </p:nvSpPr>
            <p:spPr>
              <a:xfrm>
                <a:off x="4019503" y="4038292"/>
                <a:ext cx="1349451" cy="528772"/>
              </a:xfrm>
              <a:prstGeom prst="wedgeRectCallout">
                <a:avLst>
                  <a:gd name="adj1" fmla="val 54404"/>
                  <a:gd name="adj2" fmla="val -77071"/>
                </a:avLst>
              </a:prstGeom>
              <a:solidFill>
                <a:schemeClr val="bg1"/>
              </a:solidFill>
              <a:ln w="19050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IN" dirty="0">
                    <a:solidFill>
                      <a:schemeClr val="tx1"/>
                    </a:solidFill>
                    <a:latin typeface="Abadi Extra Light" panose="020B0204020104020204" pitchFamily="34" charset="0"/>
                  </a:rPr>
                  <a:t>A face image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I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IN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I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I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𝐷</m:t>
                        </m:r>
                      </m:sup>
                    </m:sSup>
                  </m:oMath>
                </a14:m>
                <a:r>
                  <a:rPr lang="en-IN" dirty="0">
                    <a:solidFill>
                      <a:schemeClr val="tx1"/>
                    </a:solidFill>
                    <a:latin typeface="Abadi Extra Light" panose="020B0204020104020204" pitchFamily="34" charset="0"/>
                  </a:rPr>
                  <a:t/>
                </a:r>
              </a:p>
            </p:txBody>
          </p:sp>
        </mc:Choice>
        <mc:Fallback>
          <p:sp>
            <p:nvSpPr>
              <p:cNvPr id="6" name="Speech Bubble: Rectangle 5">
                <a:extLst>
                  <a:ext uri="{FF2B5EF4-FFF2-40B4-BE49-F238E27FC236}">
                    <a16:creationId xmlns:a16="http://schemas.microsoft.com/office/drawing/2014/main" xmlns="" xmlns:a14="http://schemas.microsoft.com/office/drawing/2010/main" id="{166C7D5A-0D5F-4792-99EB-42E6B40FA73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19503" y="4038292"/>
                <a:ext cx="1349451" cy="528772"/>
              </a:xfrm>
              <a:prstGeom prst="wedgeRectCallout">
                <a:avLst>
                  <a:gd name="adj1" fmla="val 54404"/>
                  <a:gd name="adj2" fmla="val -77071"/>
                </a:avLst>
              </a:prstGeom>
              <a:blipFill>
                <a:blip r:embed="rId5" cstate="print"/>
                <a:stretch>
                  <a:fillRect l="-2857" b="-5128"/>
                </a:stretch>
              </a:blipFill>
              <a:ln w="19050">
                <a:solidFill>
                  <a:schemeClr val="accent2"/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Speech Bubble: Rectangle 6">
            <a:extLst>
              <a:ext uri="{FF2B5EF4-FFF2-40B4-BE49-F238E27FC236}">
                <a16:creationId xmlns:a16="http://schemas.microsoft.com/office/drawing/2014/main" xmlns="" id="{B9151429-F9E2-4C8F-9DF5-18EF990BF369}"/>
              </a:ext>
            </a:extLst>
          </p:cNvPr>
          <p:cNvSpPr/>
          <p:nvPr/>
        </p:nvSpPr>
        <p:spPr>
          <a:xfrm>
            <a:off x="9172158" y="1351298"/>
            <a:ext cx="2681486" cy="369332"/>
          </a:xfrm>
          <a:prstGeom prst="wedgeRectCallout">
            <a:avLst>
              <a:gd name="adj1" fmla="val -48601"/>
              <a:gd name="adj2" fmla="val 97610"/>
            </a:avLst>
          </a:prstGeom>
          <a:solidFill>
            <a:schemeClr val="bg1"/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dirty="0">
                <a:solidFill>
                  <a:schemeClr val="tx1"/>
                </a:solidFill>
                <a:latin typeface="Abadi Extra Light" panose="020B0204020104020204" pitchFamily="34" charset="0"/>
              </a:rPr>
              <a:t>K=4 “basis” face images</a:t>
            </a:r>
          </a:p>
        </p:txBody>
      </p:sp>
      <p:sp>
        <p:nvSpPr>
          <p:cNvPr id="8" name="Speech Bubble: Rectangle 7">
            <a:extLst>
              <a:ext uri="{FF2B5EF4-FFF2-40B4-BE49-F238E27FC236}">
                <a16:creationId xmlns:a16="http://schemas.microsoft.com/office/drawing/2014/main" xmlns="" id="{8AC40B30-D755-45BB-9161-8C2765456A34}"/>
              </a:ext>
            </a:extLst>
          </p:cNvPr>
          <p:cNvSpPr/>
          <p:nvPr/>
        </p:nvSpPr>
        <p:spPr>
          <a:xfrm>
            <a:off x="5530791" y="890517"/>
            <a:ext cx="3422469" cy="751362"/>
          </a:xfrm>
          <a:prstGeom prst="wedgeRectCallout">
            <a:avLst>
              <a:gd name="adj1" fmla="val 58973"/>
              <a:gd name="adj2" fmla="val 32883"/>
            </a:avLst>
          </a:prstGeom>
          <a:solidFill>
            <a:schemeClr val="bg1"/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1600" dirty="0">
                <a:solidFill>
                  <a:schemeClr val="tx1"/>
                </a:solidFill>
                <a:latin typeface="Abadi Extra Light" panose="020B0204020104020204" pitchFamily="34" charset="0"/>
              </a:rPr>
              <a:t>Each “basis” image is like a “template” that captures the common properties of face images in the dataset</a:t>
            </a:r>
          </a:p>
        </p:txBody>
      </p:sp>
      <mc:AlternateContent xmlns:mc="http://schemas.openxmlformats.org/markup-compatibility/2006">
        <mc:Choice xmlns:a14="http://schemas.microsoft.com/office/drawing/2010/main" xmlns="" Requires="a14">
          <p:sp>
            <p:nvSpPr>
              <p:cNvPr id="9" name="Speech Bubble: Rectangle 8">
                <a:extLst>
                  <a:ext uri="{FF2B5EF4-FFF2-40B4-BE49-F238E27FC236}">
                    <a16:creationId xmlns:a16="http://schemas.microsoft.com/office/drawing/2014/main" id="{B864F53D-4B28-455A-AA3B-5B954151C6F1}"/>
                  </a:ext>
                </a:extLst>
              </p:cNvPr>
              <p:cNvSpPr/>
              <p:nvPr/>
            </p:nvSpPr>
            <p:spPr>
              <a:xfrm>
                <a:off x="6169127" y="4126072"/>
                <a:ext cx="446640" cy="353212"/>
              </a:xfrm>
              <a:prstGeom prst="wedgeRectCallout">
                <a:avLst>
                  <a:gd name="adj1" fmla="val -39467"/>
                  <a:gd name="adj2" fmla="val -94523"/>
                </a:avLst>
              </a:prstGeom>
              <a:solidFill>
                <a:schemeClr val="bg1"/>
              </a:solidFill>
              <a:ln w="19050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IN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IN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IN" dirty="0">
                  <a:solidFill>
                    <a:schemeClr val="tx1"/>
                  </a:solidFill>
                  <a:latin typeface="Abadi Extra Light" panose="020B0204020104020204" pitchFamily="34" charset="0"/>
                </a:endParaRPr>
              </a:p>
            </p:txBody>
          </p:sp>
        </mc:Choice>
        <mc:Fallback>
          <p:sp>
            <p:nvSpPr>
              <p:cNvPr id="9" name="Speech Bubble: Rectangle 8">
                <a:extLst>
                  <a:ext uri="{FF2B5EF4-FFF2-40B4-BE49-F238E27FC236}">
                    <a16:creationId xmlns:a16="http://schemas.microsoft.com/office/drawing/2014/main" xmlns="" xmlns:a14="http://schemas.microsoft.com/office/drawing/2010/main" id="{B864F53D-4B28-455A-AA3B-5B954151C6F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69127" y="4126072"/>
                <a:ext cx="446640" cy="353212"/>
              </a:xfrm>
              <a:prstGeom prst="wedgeRectCallout">
                <a:avLst>
                  <a:gd name="adj1" fmla="val -39467"/>
                  <a:gd name="adj2" fmla="val -94523"/>
                </a:avLst>
              </a:prstGeom>
              <a:blipFill>
                <a:blip r:embed="rId6" cstate="print"/>
                <a:stretch>
                  <a:fillRect/>
                </a:stretch>
              </a:blipFill>
              <a:ln w="19050">
                <a:solidFill>
                  <a:schemeClr val="accent2"/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xmlns="" Requires="a14">
          <p:sp>
            <p:nvSpPr>
              <p:cNvPr id="14" name="Speech Bubble: Rectangle 13">
                <a:extLst>
                  <a:ext uri="{FF2B5EF4-FFF2-40B4-BE49-F238E27FC236}">
                    <a16:creationId xmlns:a16="http://schemas.microsoft.com/office/drawing/2014/main" id="{ACC44062-8D45-4B9E-BD24-0F65616D2F07}"/>
                  </a:ext>
                </a:extLst>
              </p:cNvPr>
              <p:cNvSpPr/>
              <p:nvPr/>
            </p:nvSpPr>
            <p:spPr>
              <a:xfrm>
                <a:off x="7479594" y="4129406"/>
                <a:ext cx="446640" cy="353212"/>
              </a:xfrm>
              <a:prstGeom prst="wedgeRectCallout">
                <a:avLst>
                  <a:gd name="adj1" fmla="val -39467"/>
                  <a:gd name="adj2" fmla="val -94523"/>
                </a:avLst>
              </a:prstGeom>
              <a:solidFill>
                <a:schemeClr val="bg1"/>
              </a:solidFill>
              <a:ln w="19050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IN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IN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IN" dirty="0">
                  <a:solidFill>
                    <a:schemeClr val="tx1"/>
                  </a:solidFill>
                  <a:latin typeface="Abadi Extra Light" panose="020B0204020104020204" pitchFamily="34" charset="0"/>
                </a:endParaRPr>
              </a:p>
            </p:txBody>
          </p:sp>
        </mc:Choice>
        <mc:Fallback>
          <p:sp>
            <p:nvSpPr>
              <p:cNvPr id="14" name="Speech Bubble: Rectangle 13">
                <a:extLst>
                  <a:ext uri="{FF2B5EF4-FFF2-40B4-BE49-F238E27FC236}">
                    <a16:creationId xmlns:a16="http://schemas.microsoft.com/office/drawing/2014/main" xmlns="" xmlns:a14="http://schemas.microsoft.com/office/drawing/2010/main" id="{ACC44062-8D45-4B9E-BD24-0F65616D2F0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79594" y="4129406"/>
                <a:ext cx="446640" cy="353212"/>
              </a:xfrm>
              <a:prstGeom prst="wedgeRectCallout">
                <a:avLst>
                  <a:gd name="adj1" fmla="val -39467"/>
                  <a:gd name="adj2" fmla="val -94523"/>
                </a:avLst>
              </a:prstGeom>
              <a:blipFill>
                <a:blip r:embed="rId7" cstate="print"/>
                <a:stretch>
                  <a:fillRect/>
                </a:stretch>
              </a:blipFill>
              <a:ln w="19050">
                <a:solidFill>
                  <a:schemeClr val="accent2"/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xmlns="" Requires="a14">
          <p:sp>
            <p:nvSpPr>
              <p:cNvPr id="15" name="Speech Bubble: Rectangle 14">
                <a:extLst>
                  <a:ext uri="{FF2B5EF4-FFF2-40B4-BE49-F238E27FC236}">
                    <a16:creationId xmlns:a16="http://schemas.microsoft.com/office/drawing/2014/main" id="{AECE4C98-1DEE-4D26-8764-BCC379AEF0F2}"/>
                  </a:ext>
                </a:extLst>
              </p:cNvPr>
              <p:cNvSpPr/>
              <p:nvPr/>
            </p:nvSpPr>
            <p:spPr>
              <a:xfrm>
                <a:off x="8566741" y="4126072"/>
                <a:ext cx="446640" cy="353212"/>
              </a:xfrm>
              <a:prstGeom prst="wedgeRectCallout">
                <a:avLst>
                  <a:gd name="adj1" fmla="val -39467"/>
                  <a:gd name="adj2" fmla="val -94523"/>
                </a:avLst>
              </a:prstGeom>
              <a:solidFill>
                <a:schemeClr val="bg1"/>
              </a:solidFill>
              <a:ln w="19050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IN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IN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IN" dirty="0">
                  <a:solidFill>
                    <a:schemeClr val="tx1"/>
                  </a:solidFill>
                  <a:latin typeface="Abadi Extra Light" panose="020B0204020104020204" pitchFamily="34" charset="0"/>
                </a:endParaRPr>
              </a:p>
            </p:txBody>
          </p:sp>
        </mc:Choice>
        <mc:Fallback>
          <p:sp>
            <p:nvSpPr>
              <p:cNvPr id="15" name="Speech Bubble: Rectangle 14">
                <a:extLst>
                  <a:ext uri="{FF2B5EF4-FFF2-40B4-BE49-F238E27FC236}">
                    <a16:creationId xmlns:a16="http://schemas.microsoft.com/office/drawing/2014/main" xmlns="" xmlns:a14="http://schemas.microsoft.com/office/drawing/2010/main" id="{AECE4C98-1DEE-4D26-8764-BCC379AEF0F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66741" y="4126072"/>
                <a:ext cx="446640" cy="353212"/>
              </a:xfrm>
              <a:prstGeom prst="wedgeRectCallout">
                <a:avLst>
                  <a:gd name="adj1" fmla="val -39467"/>
                  <a:gd name="adj2" fmla="val -94523"/>
                </a:avLst>
              </a:prstGeom>
              <a:blipFill>
                <a:blip r:embed="rId8" cstate="print"/>
                <a:stretch>
                  <a:fillRect/>
                </a:stretch>
              </a:blipFill>
              <a:ln w="19050">
                <a:solidFill>
                  <a:schemeClr val="accent2"/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xmlns="" Requires="a14">
          <p:sp>
            <p:nvSpPr>
              <p:cNvPr id="16" name="Speech Bubble: Rectangle 15">
                <a:extLst>
                  <a:ext uri="{FF2B5EF4-FFF2-40B4-BE49-F238E27FC236}">
                    <a16:creationId xmlns:a16="http://schemas.microsoft.com/office/drawing/2014/main" id="{E4DE4A67-A2CB-42E9-AF20-37E6FFE15132}"/>
                  </a:ext>
                </a:extLst>
              </p:cNvPr>
              <p:cNvSpPr/>
              <p:nvPr/>
            </p:nvSpPr>
            <p:spPr>
              <a:xfrm>
                <a:off x="9747970" y="4126072"/>
                <a:ext cx="446640" cy="353212"/>
              </a:xfrm>
              <a:prstGeom prst="wedgeRectCallout">
                <a:avLst>
                  <a:gd name="adj1" fmla="val -39467"/>
                  <a:gd name="adj2" fmla="val -94523"/>
                </a:avLst>
              </a:prstGeom>
              <a:solidFill>
                <a:schemeClr val="bg1"/>
              </a:solidFill>
              <a:ln w="19050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IN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IN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IN" dirty="0">
                  <a:solidFill>
                    <a:schemeClr val="tx1"/>
                  </a:solidFill>
                  <a:latin typeface="Abadi Extra Light" panose="020B0204020104020204" pitchFamily="34" charset="0"/>
                </a:endParaRPr>
              </a:p>
            </p:txBody>
          </p:sp>
        </mc:Choice>
        <mc:Fallback>
          <p:sp>
            <p:nvSpPr>
              <p:cNvPr id="16" name="Speech Bubble: Rectangle 15">
                <a:extLst>
                  <a:ext uri="{FF2B5EF4-FFF2-40B4-BE49-F238E27FC236}">
                    <a16:creationId xmlns:a16="http://schemas.microsoft.com/office/drawing/2014/main" xmlns="" xmlns:a14="http://schemas.microsoft.com/office/drawing/2010/main" id="{E4DE4A67-A2CB-42E9-AF20-37E6FFE1513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47970" y="4126072"/>
                <a:ext cx="446640" cy="353212"/>
              </a:xfrm>
              <a:prstGeom prst="wedgeRectCallout">
                <a:avLst>
                  <a:gd name="adj1" fmla="val -39467"/>
                  <a:gd name="adj2" fmla="val -94523"/>
                </a:avLst>
              </a:prstGeom>
              <a:blipFill>
                <a:blip r:embed="rId9" cstate="print"/>
                <a:stretch>
                  <a:fillRect r="-1316"/>
                </a:stretch>
              </a:blipFill>
              <a:ln w="19050">
                <a:solidFill>
                  <a:schemeClr val="accent2"/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xmlns="" Requires="a14">
          <p:sp>
            <p:nvSpPr>
              <p:cNvPr id="17" name="Speech Bubble: Rectangle 16">
                <a:extLst>
                  <a:ext uri="{FF2B5EF4-FFF2-40B4-BE49-F238E27FC236}">
                    <a16:creationId xmlns:a16="http://schemas.microsoft.com/office/drawing/2014/main" id="{BC39B209-B25A-4DBD-93BF-72A3FBCAD3C0}"/>
                  </a:ext>
                </a:extLst>
              </p:cNvPr>
              <p:cNvSpPr/>
              <p:nvPr/>
            </p:nvSpPr>
            <p:spPr>
              <a:xfrm>
                <a:off x="6795386" y="4199701"/>
                <a:ext cx="446640" cy="353212"/>
              </a:xfrm>
              <a:prstGeom prst="wedgeRectCallout">
                <a:avLst>
                  <a:gd name="adj1" fmla="val -39467"/>
                  <a:gd name="adj2" fmla="val -94523"/>
                </a:avLst>
              </a:prstGeom>
              <a:solidFill>
                <a:schemeClr val="bg1"/>
              </a:solidFill>
              <a:ln w="19050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  <m:sub>
                          <m:r>
                            <a:rPr lang="en-IN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IN" dirty="0">
                  <a:solidFill>
                    <a:schemeClr val="tx1"/>
                  </a:solidFill>
                  <a:latin typeface="Abadi Extra Light" panose="020B0204020104020204" pitchFamily="34" charset="0"/>
                </a:endParaRPr>
              </a:p>
            </p:txBody>
          </p:sp>
        </mc:Choice>
        <mc:Fallback>
          <p:sp>
            <p:nvSpPr>
              <p:cNvPr id="17" name="Speech Bubble: Rectangle 16">
                <a:extLst>
                  <a:ext uri="{FF2B5EF4-FFF2-40B4-BE49-F238E27FC236}">
                    <a16:creationId xmlns:a16="http://schemas.microsoft.com/office/drawing/2014/main" xmlns="" xmlns:a14="http://schemas.microsoft.com/office/drawing/2010/main" id="{BC39B209-B25A-4DBD-93BF-72A3FBCAD3C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95386" y="4199701"/>
                <a:ext cx="446640" cy="353212"/>
              </a:xfrm>
              <a:prstGeom prst="wedgeRectCallout">
                <a:avLst>
                  <a:gd name="adj1" fmla="val -39467"/>
                  <a:gd name="adj2" fmla="val -94523"/>
                </a:avLst>
              </a:prstGeom>
              <a:blipFill>
                <a:blip r:embed="rId10" cstate="print"/>
                <a:stretch>
                  <a:fillRect/>
                </a:stretch>
              </a:blipFill>
              <a:ln w="19050">
                <a:solidFill>
                  <a:schemeClr val="accent2"/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xmlns="" Requires="a14">
          <p:sp>
            <p:nvSpPr>
              <p:cNvPr id="18" name="Speech Bubble: Rectangle 17">
                <a:extLst>
                  <a:ext uri="{FF2B5EF4-FFF2-40B4-BE49-F238E27FC236}">
                    <a16:creationId xmlns:a16="http://schemas.microsoft.com/office/drawing/2014/main" id="{C4DF9FA7-344F-4DBF-95CF-6DC5C62085CF}"/>
                  </a:ext>
                </a:extLst>
              </p:cNvPr>
              <p:cNvSpPr/>
              <p:nvPr/>
            </p:nvSpPr>
            <p:spPr>
              <a:xfrm>
                <a:off x="8036065" y="4199701"/>
                <a:ext cx="446640" cy="353212"/>
              </a:xfrm>
              <a:prstGeom prst="wedgeRectCallout">
                <a:avLst>
                  <a:gd name="adj1" fmla="val -39467"/>
                  <a:gd name="adj2" fmla="val -94523"/>
                </a:avLst>
              </a:prstGeom>
              <a:solidFill>
                <a:schemeClr val="bg1"/>
              </a:solidFill>
              <a:ln w="19050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  <m:sub>
                          <m:r>
                            <a:rPr lang="en-IN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IN" dirty="0">
                  <a:solidFill>
                    <a:schemeClr val="tx1"/>
                  </a:solidFill>
                  <a:latin typeface="Abadi Extra Light" panose="020B0204020104020204" pitchFamily="34" charset="0"/>
                </a:endParaRPr>
              </a:p>
            </p:txBody>
          </p:sp>
        </mc:Choice>
        <mc:Fallback>
          <p:sp>
            <p:nvSpPr>
              <p:cNvPr id="18" name="Speech Bubble: Rectangle 17">
                <a:extLst>
                  <a:ext uri="{FF2B5EF4-FFF2-40B4-BE49-F238E27FC236}">
                    <a16:creationId xmlns:a16="http://schemas.microsoft.com/office/drawing/2014/main" xmlns="" xmlns:a14="http://schemas.microsoft.com/office/drawing/2010/main" id="{C4DF9FA7-344F-4DBF-95CF-6DC5C62085C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36065" y="4199701"/>
                <a:ext cx="446640" cy="353212"/>
              </a:xfrm>
              <a:prstGeom prst="wedgeRectCallout">
                <a:avLst>
                  <a:gd name="adj1" fmla="val -39467"/>
                  <a:gd name="adj2" fmla="val -94523"/>
                </a:avLst>
              </a:prstGeom>
              <a:blipFill>
                <a:blip r:embed="rId11" cstate="print"/>
                <a:stretch>
                  <a:fillRect/>
                </a:stretch>
              </a:blipFill>
              <a:ln w="19050">
                <a:solidFill>
                  <a:schemeClr val="accent2"/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xmlns="" Requires="a14">
          <p:sp>
            <p:nvSpPr>
              <p:cNvPr id="19" name="Speech Bubble: Rectangle 18">
                <a:extLst>
                  <a:ext uri="{FF2B5EF4-FFF2-40B4-BE49-F238E27FC236}">
                    <a16:creationId xmlns:a16="http://schemas.microsoft.com/office/drawing/2014/main" id="{83381AD9-2340-4F16-9B8C-B81FD7562B4A}"/>
                  </a:ext>
                </a:extLst>
              </p:cNvPr>
              <p:cNvSpPr/>
              <p:nvPr/>
            </p:nvSpPr>
            <p:spPr>
              <a:xfrm>
                <a:off x="9172158" y="4199701"/>
                <a:ext cx="446640" cy="353212"/>
              </a:xfrm>
              <a:prstGeom prst="wedgeRectCallout">
                <a:avLst>
                  <a:gd name="adj1" fmla="val -39467"/>
                  <a:gd name="adj2" fmla="val -94523"/>
                </a:avLst>
              </a:prstGeom>
              <a:solidFill>
                <a:schemeClr val="bg1"/>
              </a:solidFill>
              <a:ln w="19050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  <m:sub>
                          <m:r>
                            <a:rPr lang="en-IN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IN" dirty="0">
                  <a:solidFill>
                    <a:schemeClr val="tx1"/>
                  </a:solidFill>
                  <a:latin typeface="Abadi Extra Light" panose="020B0204020104020204" pitchFamily="34" charset="0"/>
                </a:endParaRPr>
              </a:p>
            </p:txBody>
          </p:sp>
        </mc:Choice>
        <mc:Fallback>
          <p:sp>
            <p:nvSpPr>
              <p:cNvPr id="19" name="Speech Bubble: Rectangle 18">
                <a:extLst>
                  <a:ext uri="{FF2B5EF4-FFF2-40B4-BE49-F238E27FC236}">
                    <a16:creationId xmlns:a16="http://schemas.microsoft.com/office/drawing/2014/main" xmlns="" xmlns:a14="http://schemas.microsoft.com/office/drawing/2010/main" id="{83381AD9-2340-4F16-9B8C-B81FD7562B4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72158" y="4199701"/>
                <a:ext cx="446640" cy="353212"/>
              </a:xfrm>
              <a:prstGeom prst="wedgeRectCallout">
                <a:avLst>
                  <a:gd name="adj1" fmla="val -39467"/>
                  <a:gd name="adj2" fmla="val -94523"/>
                </a:avLst>
              </a:prstGeom>
              <a:blipFill>
                <a:blip r:embed="rId12" cstate="print"/>
                <a:stretch>
                  <a:fillRect/>
                </a:stretch>
              </a:blipFill>
              <a:ln w="19050">
                <a:solidFill>
                  <a:schemeClr val="accent2"/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xmlns="" Requires="a14">
          <p:sp>
            <p:nvSpPr>
              <p:cNvPr id="20" name="Speech Bubble: Rectangle 19">
                <a:extLst>
                  <a:ext uri="{FF2B5EF4-FFF2-40B4-BE49-F238E27FC236}">
                    <a16:creationId xmlns:a16="http://schemas.microsoft.com/office/drawing/2014/main" id="{4AC9E662-FD13-4004-84BE-ADF6922BBCB0}"/>
                  </a:ext>
                </a:extLst>
              </p:cNvPr>
              <p:cNvSpPr/>
              <p:nvPr/>
            </p:nvSpPr>
            <p:spPr>
              <a:xfrm>
                <a:off x="10379904" y="4131715"/>
                <a:ext cx="446640" cy="353212"/>
              </a:xfrm>
              <a:prstGeom prst="wedgeRectCallout">
                <a:avLst>
                  <a:gd name="adj1" fmla="val -39467"/>
                  <a:gd name="adj2" fmla="val -94523"/>
                </a:avLst>
              </a:prstGeom>
              <a:solidFill>
                <a:schemeClr val="bg1"/>
              </a:solidFill>
              <a:ln w="19050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  <m:sub>
                          <m:r>
                            <a:rPr lang="en-IN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IN" dirty="0">
                  <a:solidFill>
                    <a:schemeClr val="tx1"/>
                  </a:solidFill>
                  <a:latin typeface="Abadi Extra Light" panose="020B0204020104020204" pitchFamily="34" charset="0"/>
                </a:endParaRPr>
              </a:p>
            </p:txBody>
          </p:sp>
        </mc:Choice>
        <mc:Fallback>
          <p:sp>
            <p:nvSpPr>
              <p:cNvPr id="20" name="Speech Bubble: Rectangle 19">
                <a:extLst>
                  <a:ext uri="{FF2B5EF4-FFF2-40B4-BE49-F238E27FC236}">
                    <a16:creationId xmlns:a16="http://schemas.microsoft.com/office/drawing/2014/main" xmlns="" xmlns:a14="http://schemas.microsoft.com/office/drawing/2010/main" id="{4AC9E662-FD13-4004-84BE-ADF6922BBCB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79904" y="4131715"/>
                <a:ext cx="446640" cy="353212"/>
              </a:xfrm>
              <a:prstGeom prst="wedgeRectCallout">
                <a:avLst>
                  <a:gd name="adj1" fmla="val -39467"/>
                  <a:gd name="adj2" fmla="val -94523"/>
                </a:avLst>
              </a:prstGeom>
              <a:blipFill>
                <a:blip r:embed="rId13" cstate="print"/>
                <a:stretch>
                  <a:fillRect/>
                </a:stretch>
              </a:blipFill>
              <a:ln w="19050">
                <a:solidFill>
                  <a:schemeClr val="accent2"/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A9ADE2B5-8A8F-4FE9-A107-A7B9E8745DA9}"/>
              </a:ext>
            </a:extLst>
          </p:cNvPr>
          <p:cNvSpPr txBox="1"/>
          <p:nvPr/>
        </p:nvSpPr>
        <p:spPr>
          <a:xfrm>
            <a:off x="9395478" y="3704772"/>
            <a:ext cx="25519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100" b="1" dirty="0"/>
              <a:t>+</a:t>
            </a:r>
          </a:p>
        </p:txBody>
      </p:sp>
      <p:sp>
        <p:nvSpPr>
          <p:cNvPr id="21" name="Speech Bubble: Rectangle 20">
            <a:extLst>
              <a:ext uri="{FF2B5EF4-FFF2-40B4-BE49-F238E27FC236}">
                <a16:creationId xmlns:a16="http://schemas.microsoft.com/office/drawing/2014/main" xmlns="" id="{3AD01500-2996-497A-9726-28D8156B767F}"/>
              </a:ext>
            </a:extLst>
          </p:cNvPr>
          <p:cNvSpPr/>
          <p:nvPr/>
        </p:nvSpPr>
        <p:spPr>
          <a:xfrm>
            <a:off x="10379904" y="4708321"/>
            <a:ext cx="1625957" cy="353212"/>
          </a:xfrm>
          <a:prstGeom prst="wedgeRectCallout">
            <a:avLst>
              <a:gd name="adj1" fmla="val -49450"/>
              <a:gd name="adj2" fmla="val 105643"/>
            </a:avLst>
          </a:prstGeom>
          <a:solidFill>
            <a:schemeClr val="bg1"/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1400" dirty="0">
                <a:solidFill>
                  <a:schemeClr val="tx1"/>
                </a:solidFill>
                <a:latin typeface="Abadi Extra Light" panose="020B0204020104020204" pitchFamily="34" charset="0"/>
              </a:rPr>
              <a:t>Like 4 new features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xmlns="" val="138974894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slow" p14:dur="2000" advTm="283100"/>
    </mc:Choice>
    <mc:Fallback>
      <p:transition spd="slow" advTm="2831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5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0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0" dur="5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5" dur="500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3" grpId="0"/>
      <p:bldP spid="21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D7657946-FC7F-477C-9867-0ED704A858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5245" y="169682"/>
            <a:ext cx="11740617" cy="821500"/>
          </a:xfrm>
        </p:spPr>
        <p:txBody>
          <a:bodyPr>
            <a:normAutofit/>
          </a:bodyPr>
          <a:lstStyle/>
          <a:p>
            <a:r>
              <a:rPr lang="en-IN" dirty="0">
                <a:solidFill>
                  <a:schemeClr val="accent2">
                    <a:lumMod val="75000"/>
                  </a:schemeClr>
                </a:solidFill>
              </a:rPr>
              <a:t>Principal Component Analysis (PCA)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xmlns="" id="{F77B66E3-3803-4788-BC62-221F4919CBCE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323930" y="136939"/>
            <a:ext cx="602825" cy="365125"/>
          </a:xfrm>
        </p:spPr>
        <p:txBody>
          <a:bodyPr/>
          <a:lstStyle/>
          <a:p>
            <a:fld id="{80FED9D3-AF84-488D-8A6A-726D5349CDAB}" type="slidenum">
              <a:rPr lang="en-IN" sz="2800" smtClean="0">
                <a:solidFill>
                  <a:schemeClr val="accent2">
                    <a:lumMod val="40000"/>
                    <a:lumOff val="60000"/>
                  </a:schemeClr>
                </a:solidFill>
              </a:rPr>
              <a:pPr/>
              <a:t>5</a:t>
            </a:fld>
            <a:endParaRPr lang="en-IN" sz="2800" dirty="0"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xmlns="" id="{314819C9-D576-44D5-A1AF-875A21D5EF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5245" y="1130786"/>
            <a:ext cx="11740617" cy="5557532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GB" dirty="0">
                <a:latin typeface="Abadi Extra Light" panose="020B0204020104020204" pitchFamily="34" charset="0"/>
              </a:rPr>
              <a:t>A classic linear dim. reduction method (Pearson, 1901; Hotelling, 1930)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GB" sz="2600" dirty="0">
                <a:latin typeface="Abadi Extra Light" panose="020B0204020104020204" pitchFamily="34" charset="0"/>
              </a:rPr>
              <a:t>Can be seen as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GB" sz="2200" dirty="0">
                <a:latin typeface="Abadi Extra Light" panose="020B0204020104020204" pitchFamily="34" charset="0"/>
              </a:rPr>
              <a:t>Learning directions (co-ordinate axes) that capture maximum variance in data</a:t>
            </a:r>
          </a:p>
          <a:p>
            <a:pPr lvl="1">
              <a:buFont typeface="Wingdings" panose="05000000000000000000" pitchFamily="2" charset="2"/>
              <a:buChar char="§"/>
            </a:pPr>
            <a:endParaRPr lang="en-GB" sz="2200" dirty="0">
              <a:latin typeface="Abadi Extra Light" panose="020B0204020104020204" pitchFamily="34" charset="0"/>
            </a:endParaRPr>
          </a:p>
          <a:p>
            <a:pPr lvl="1">
              <a:buFont typeface="Wingdings" panose="05000000000000000000" pitchFamily="2" charset="2"/>
              <a:buChar char="§"/>
            </a:pPr>
            <a:endParaRPr lang="en-GB" sz="2200" dirty="0">
              <a:latin typeface="Abadi Extra Light" panose="020B0204020104020204" pitchFamily="34" charset="0"/>
            </a:endParaRPr>
          </a:p>
          <a:p>
            <a:pPr lvl="1">
              <a:buFont typeface="Wingdings" panose="05000000000000000000" pitchFamily="2" charset="2"/>
              <a:buChar char="§"/>
            </a:pPr>
            <a:endParaRPr lang="en-GB" sz="2200" dirty="0">
              <a:latin typeface="Abadi Extra Light" panose="020B0204020104020204" pitchFamily="34" charset="0"/>
            </a:endParaRPr>
          </a:p>
          <a:p>
            <a:pPr lvl="1">
              <a:buFont typeface="Wingdings" panose="05000000000000000000" pitchFamily="2" charset="2"/>
              <a:buChar char="§"/>
            </a:pPr>
            <a:endParaRPr lang="en-GB" sz="2200" dirty="0">
              <a:latin typeface="Abadi Extra Light" panose="020B0204020104020204" pitchFamily="34" charset="0"/>
            </a:endParaRPr>
          </a:p>
          <a:p>
            <a:pPr lvl="1">
              <a:buFont typeface="Wingdings" panose="05000000000000000000" pitchFamily="2" charset="2"/>
              <a:buChar char="§"/>
            </a:pPr>
            <a:endParaRPr lang="en-GB" sz="2200" dirty="0">
              <a:latin typeface="Abadi Extra Light" panose="020B0204020104020204" pitchFamily="34" charset="0"/>
            </a:endParaRPr>
          </a:p>
          <a:p>
            <a:pPr lvl="1">
              <a:buFont typeface="Wingdings" panose="05000000000000000000" pitchFamily="2" charset="2"/>
              <a:buChar char="§"/>
            </a:pPr>
            <a:endParaRPr lang="en-GB" sz="2200" dirty="0">
              <a:latin typeface="Abadi Extra Light" panose="020B0204020104020204" pitchFamily="34" charset="0"/>
            </a:endParaRPr>
          </a:p>
          <a:p>
            <a:pPr lvl="1">
              <a:buFont typeface="Wingdings" panose="05000000000000000000" pitchFamily="2" charset="2"/>
              <a:buChar char="§"/>
            </a:pPr>
            <a:endParaRPr lang="en-GB" sz="2200" dirty="0">
              <a:latin typeface="Abadi Extra Light" panose="020B0204020104020204" pitchFamily="34" charset="0"/>
            </a:endParaRPr>
          </a:p>
          <a:p>
            <a:pPr lvl="1">
              <a:buFont typeface="Wingdings" panose="05000000000000000000" pitchFamily="2" charset="2"/>
              <a:buChar char="§"/>
            </a:pPr>
            <a:r>
              <a:rPr lang="en-GB" sz="2200" dirty="0">
                <a:latin typeface="Abadi Extra Light" panose="020B0204020104020204" pitchFamily="34" charset="0"/>
              </a:rPr>
              <a:t>Learning projection directions that result in smallest reconstruction error</a:t>
            </a:r>
          </a:p>
          <a:p>
            <a:pPr lvl="1">
              <a:buFont typeface="Wingdings" panose="05000000000000000000" pitchFamily="2" charset="2"/>
              <a:buChar char="§"/>
            </a:pPr>
            <a:endParaRPr lang="en-GB" sz="2200" dirty="0">
              <a:latin typeface="Abadi Extra Light" panose="020B0204020104020204" pitchFamily="34" charset="0"/>
            </a:endParaRPr>
          </a:p>
          <a:p>
            <a:pPr lvl="1">
              <a:buFont typeface="Wingdings" panose="05000000000000000000" pitchFamily="2" charset="2"/>
              <a:buChar char="§"/>
            </a:pPr>
            <a:endParaRPr lang="en-GB" sz="2200" dirty="0">
              <a:latin typeface="Abadi Extra Light" panose="020B0204020104020204" pitchFamily="34" charset="0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en-GB" sz="2600" dirty="0">
                <a:latin typeface="Abadi Extra Light" panose="020B0204020104020204" pitchFamily="34" charset="0"/>
              </a:rPr>
              <a:t>PCA also assumes that the projection directions are orthonormal</a:t>
            </a:r>
          </a:p>
          <a:p>
            <a:pPr>
              <a:buFont typeface="Wingdings" panose="05000000000000000000" pitchFamily="2" charset="2"/>
              <a:buChar char="§"/>
            </a:pPr>
            <a:endParaRPr lang="en-GB" sz="2600" dirty="0">
              <a:latin typeface="Abadi Extra Light" panose="020B0204020104020204" pitchFamily="34" charset="0"/>
            </a:endParaRPr>
          </a:p>
          <a:p>
            <a:pPr marL="0" indent="0">
              <a:buNone/>
            </a:pPr>
            <a:endParaRPr lang="en-GB" sz="2600" dirty="0">
              <a:latin typeface="Abadi Extra Light" panose="020B0204020104020204" pitchFamily="34" charset="0"/>
            </a:endParaRPr>
          </a:p>
          <a:p>
            <a:pPr marL="0" indent="0">
              <a:buNone/>
            </a:pPr>
            <a:endParaRPr lang="en-GB" sz="800" dirty="0">
              <a:latin typeface="Abadi Extra Light" panose="020B020402010402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xmlns="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C2288B99-BED5-4F23-BDA3-181C33637F03}"/>
                  </a:ext>
                </a:extLst>
              </p:cNvPr>
              <p:cNvSpPr txBox="1"/>
              <p:nvPr/>
            </p:nvSpPr>
            <p:spPr>
              <a:xfrm>
                <a:off x="1428518" y="5328878"/>
                <a:ext cx="6666890" cy="75591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IN" sz="2400" b="0" i="1" smtClean="0">
                          <a:latin typeface="Cambria Math" panose="02040503050406030204" pitchFamily="18" charset="0"/>
                        </a:rPr>
                        <m:t>arg</m:t>
                      </m:r>
                      <m:limLow>
                        <m:limLowPr>
                          <m:ctrlPr>
                            <a:rPr lang="en-IN" sz="2400" b="0" i="1" smtClean="0"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r>
                            <m:rPr>
                              <m:sty m:val="p"/>
                            </m:rPr>
                            <a:rPr lang="en-IN" sz="2400" b="0" i="0" smtClean="0">
                              <a:latin typeface="Cambria Math" panose="02040503050406030204" pitchFamily="18" charset="0"/>
                            </a:rPr>
                            <m:t>min</m:t>
                          </m:r>
                        </m:e>
                        <m:lim>
                          <m:r>
                            <a:rPr lang="en-IN" sz="2400" b="1" i="1" smtClean="0">
                              <a:latin typeface="Cambria Math" panose="02040503050406030204" pitchFamily="18" charset="0"/>
                            </a:rPr>
                            <m:t>𝑾</m:t>
                          </m:r>
                          <m:r>
                            <a:rPr lang="en-IN" sz="24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IN" sz="2400" b="1" i="1" smtClean="0">
                              <a:latin typeface="Cambria Math" panose="02040503050406030204" pitchFamily="18" charset="0"/>
                            </a:rPr>
                            <m:t>𝒁</m:t>
                          </m:r>
                        </m:lim>
                      </m:limLow>
                      <m:nary>
                        <m:naryPr>
                          <m:chr m:val="∑"/>
                          <m:limLoc m:val="subSup"/>
                          <m:ctrlPr>
                            <a:rPr lang="en-IN" sz="24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5"/>
                            </m:rPr>
                            <a:rPr lang="en-IN" sz="24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IN" sz="2400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IN" sz="24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sSup>
                            <m:sSupPr>
                              <m:ctrlPr>
                                <a:rPr lang="en-IN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‖"/>
                                  <m:endChr m:val="‖"/>
                                  <m:ctrlPr>
                                    <a:rPr lang="en-IN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IN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IN" sz="2400" b="1" i="1">
                                          <a:latin typeface="Cambria Math" panose="02040503050406030204" pitchFamily="18" charset="0"/>
                                        </a:rPr>
                                        <m:t>𝒙</m:t>
                                      </m:r>
                                    </m:e>
                                    <m:sub>
                                      <m:r>
                                        <a:rPr lang="en-IN" sz="2400" i="1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sub>
                                  </m:sSub>
                                  <m:r>
                                    <a:rPr lang="en-IN" sz="2400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IN" sz="2400" b="1" i="1">
                                      <a:latin typeface="Cambria Math" panose="02040503050406030204" pitchFamily="18" charset="0"/>
                                    </a:rPr>
                                    <m:t>𝑾</m:t>
                                  </m:r>
                                  <m:sSub>
                                    <m:sSubPr>
                                      <m:ctrlPr>
                                        <a:rPr lang="en-IN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IN" sz="2400" b="1" i="1">
                                          <a:latin typeface="Cambria Math" panose="02040503050406030204" pitchFamily="18" charset="0"/>
                                        </a:rPr>
                                        <m:t>𝒛</m:t>
                                      </m:r>
                                    </m:e>
                                    <m:sub>
                                      <m:r>
                                        <a:rPr lang="en-IN" sz="2400" i="1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en-IN" sz="240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IN" sz="24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m:rPr>
                              <m:sty m:val="p"/>
                            </m:rPr>
                            <a:rPr lang="en-IN" sz="2400" i="1">
                              <a:latin typeface="Cambria Math" panose="02040503050406030204" pitchFamily="18" charset="0"/>
                            </a:rPr>
                            <m:t>arg</m:t>
                          </m:r>
                          <m:limLow>
                            <m:limLowPr>
                              <m:ctrlPr>
                                <a:rPr lang="en-IN" sz="2400" i="1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latin typeface="Cambria Math" panose="02040503050406030204" pitchFamily="18" charset="0"/>
                                </a:rPr>
                                <m:t>min</m:t>
                              </m:r>
                            </m:e>
                            <m:lim>
                              <m:r>
                                <a:rPr lang="en-IN" sz="2400" b="1" i="1">
                                  <a:latin typeface="Cambria Math" panose="02040503050406030204" pitchFamily="18" charset="0"/>
                                </a:rPr>
                                <m:t>𝑾</m:t>
                              </m:r>
                              <m:r>
                                <a:rPr lang="en-IN" sz="2400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IN" sz="2400" b="1" i="1">
                                  <a:latin typeface="Cambria Math" panose="02040503050406030204" pitchFamily="18" charset="0"/>
                                </a:rPr>
                                <m:t>𝒁</m:t>
                              </m:r>
                            </m:lim>
                          </m:limLow>
                          <m:sSup>
                            <m:sSupPr>
                              <m:ctrlPr>
                                <a:rPr lang="en-IN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d>
                                <m:dPr>
                                  <m:begChr m:val="‖"/>
                                  <m:endChr m:val="‖"/>
                                  <m:ctrlPr>
                                    <a:rPr lang="en-IN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IN" sz="2400" b="1" i="1">
                                      <a:latin typeface="Cambria Math" panose="02040503050406030204" pitchFamily="18" charset="0"/>
                                    </a:rPr>
                                    <m:t>𝑿</m:t>
                                  </m:r>
                                  <m:r>
                                    <a:rPr lang="en-IN" sz="2400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IN" sz="2400" b="1" i="1">
                                      <a:latin typeface="Cambria Math" panose="02040503050406030204" pitchFamily="18" charset="0"/>
                                    </a:rPr>
                                    <m:t>𝒁𝑾</m:t>
                                  </m:r>
                                </m:e>
                              </m:d>
                            </m:e>
                            <m:sup>
                              <m:r>
                                <a:rPr lang="en-IN" sz="240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IN" sz="2400" dirty="0"/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xmlns="" xmlns:a14="http://schemas.microsoft.com/office/drawing/2010/main" id="{C2288B99-BED5-4F23-BDA3-181C33637F0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28518" y="5328878"/>
                <a:ext cx="6666890" cy="755913"/>
              </a:xfrm>
              <a:prstGeom prst="rect">
                <a:avLst/>
              </a:prstGeom>
              <a:blipFill>
                <a:blip r:embed="rId3" cstate="print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050" name="Picture 2">
            <a:extLst>
              <a:ext uri="{FF2B5EF4-FFF2-40B4-BE49-F238E27FC236}">
                <a16:creationId xmlns:a16="http://schemas.microsoft.com/office/drawing/2014/main" xmlns="" id="{61562748-DB04-4890-AFA5-BC29F986A4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4807152" y="2610840"/>
            <a:ext cx="1971153" cy="19371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>
        <mc:Choice xmlns:a14="http://schemas.microsoft.com/office/drawing/2010/main" xmlns="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395E8CFB-501D-402E-99DB-871B9D6D2393}"/>
                  </a:ext>
                </a:extLst>
              </p:cNvPr>
              <p:cNvSpPr txBox="1"/>
              <p:nvPr/>
            </p:nvSpPr>
            <p:spPr>
              <a:xfrm>
                <a:off x="5499394" y="3046966"/>
                <a:ext cx="322460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xmlns="" xmlns:a14="http://schemas.microsoft.com/office/drawing/2010/main" id="{395E8CFB-501D-402E-99DB-871B9D6D23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99394" y="3046966"/>
                <a:ext cx="322460" cy="276999"/>
              </a:xfrm>
              <a:prstGeom prst="rect">
                <a:avLst/>
              </a:prstGeom>
              <a:blipFill>
                <a:blip r:embed="rId5" cstate="print"/>
                <a:stretch>
                  <a:fillRect l="-9434" r="-9434" b="-1555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xmlns="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FB25BE94-1ECC-40BC-908F-067C7C16B5FE}"/>
                  </a:ext>
                </a:extLst>
              </p:cNvPr>
              <p:cNvSpPr txBox="1"/>
              <p:nvPr/>
            </p:nvSpPr>
            <p:spPr>
              <a:xfrm>
                <a:off x="6165737" y="2941512"/>
                <a:ext cx="322460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xmlns="" xmlns:a14="http://schemas.microsoft.com/office/drawing/2010/main" id="{FB25BE94-1ECC-40BC-908F-067C7C16B5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65737" y="2941512"/>
                <a:ext cx="322460" cy="276999"/>
              </a:xfrm>
              <a:prstGeom prst="rect">
                <a:avLst/>
              </a:prstGeom>
              <a:blipFill>
                <a:blip r:embed="rId6" cstate="print"/>
                <a:stretch>
                  <a:fillRect l="-9434" r="-7547" b="-1555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Speech Bubble: Rectangle 9">
            <a:extLst>
              <a:ext uri="{FF2B5EF4-FFF2-40B4-BE49-F238E27FC236}">
                <a16:creationId xmlns:a16="http://schemas.microsoft.com/office/drawing/2014/main" xmlns="" id="{D34445E8-233A-47B7-9237-71DFB5040DF5}"/>
              </a:ext>
            </a:extLst>
          </p:cNvPr>
          <p:cNvSpPr/>
          <p:nvPr/>
        </p:nvSpPr>
        <p:spPr>
          <a:xfrm>
            <a:off x="7155112" y="2642485"/>
            <a:ext cx="3634792" cy="437527"/>
          </a:xfrm>
          <a:prstGeom prst="wedgeRectCallout">
            <a:avLst>
              <a:gd name="adj1" fmla="val -63346"/>
              <a:gd name="adj2" fmla="val 39741"/>
            </a:avLst>
          </a:prstGeom>
          <a:solidFill>
            <a:schemeClr val="bg1"/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1600" dirty="0">
                <a:solidFill>
                  <a:schemeClr val="tx1"/>
                </a:solidFill>
                <a:latin typeface="Abadi Extra Light" panose="020B0204020104020204" pitchFamily="34" charset="0"/>
              </a:rPr>
              <a:t>PCA is essentially doing a change of axes in which we are representing the data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xmlns="" id="{605FD4CF-5290-41C3-9020-30EE0262E500}"/>
              </a:ext>
            </a:extLst>
          </p:cNvPr>
          <p:cNvCxnSpPr/>
          <p:nvPr/>
        </p:nvCxnSpPr>
        <p:spPr>
          <a:xfrm>
            <a:off x="4999839" y="4370664"/>
            <a:ext cx="2021746" cy="0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xmlns="" id="{C0435694-D7DA-41CF-9C12-042CFA310C5B}"/>
              </a:ext>
            </a:extLst>
          </p:cNvPr>
          <p:cNvCxnSpPr>
            <a:cxnSpLocks/>
          </p:cNvCxnSpPr>
          <p:nvPr/>
        </p:nvCxnSpPr>
        <p:spPr>
          <a:xfrm flipV="1">
            <a:off x="4999839" y="2533475"/>
            <a:ext cx="0" cy="1874007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xmlns=""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17A47040-B806-4914-9F05-D531FF9E9917}"/>
                  </a:ext>
                </a:extLst>
              </p:cNvPr>
              <p:cNvSpPr txBox="1"/>
              <p:nvPr/>
            </p:nvSpPr>
            <p:spPr>
              <a:xfrm>
                <a:off x="7039619" y="4130483"/>
                <a:ext cx="261995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xmlns="" xmlns:a14="http://schemas.microsoft.com/office/drawing/2010/main" id="{17A47040-B806-4914-9F05-D531FF9E99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39619" y="4130483"/>
                <a:ext cx="261995" cy="276999"/>
              </a:xfrm>
              <a:prstGeom prst="rect">
                <a:avLst/>
              </a:prstGeom>
              <a:blipFill>
                <a:blip r:embed="rId7" cstate="print"/>
                <a:stretch>
                  <a:fillRect l="-11628" r="-9302" b="-1555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xmlns=""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18FE0C13-F5B1-4A2A-9820-CE2537521861}"/>
                  </a:ext>
                </a:extLst>
              </p:cNvPr>
              <p:cNvSpPr txBox="1"/>
              <p:nvPr/>
            </p:nvSpPr>
            <p:spPr>
              <a:xfrm>
                <a:off x="4636178" y="2394975"/>
                <a:ext cx="267317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xmlns="" xmlns:a14="http://schemas.microsoft.com/office/drawing/2010/main" id="{18FE0C13-F5B1-4A2A-9820-CE25375218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36178" y="2394975"/>
                <a:ext cx="267317" cy="276999"/>
              </a:xfrm>
              <a:prstGeom prst="rect">
                <a:avLst/>
              </a:prstGeom>
              <a:blipFill>
                <a:blip r:embed="rId8" cstate="print"/>
                <a:stretch>
                  <a:fillRect l="-13953" r="-9302" b="-1555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xmlns=""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7364BF28-5E9F-4929-A277-C24B09A1F76D}"/>
                  </a:ext>
                </a:extLst>
              </p:cNvPr>
              <p:cNvSpPr txBox="1"/>
              <p:nvPr/>
            </p:nvSpPr>
            <p:spPr>
              <a:xfrm>
                <a:off x="275106" y="2852951"/>
                <a:ext cx="451745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IN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IN" b="0" i="1" smtClean="0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lang="en-IN" dirty="0"/>
                  <a:t> Standard co-ordinate axis (</a:t>
                </a:r>
                <a14:m>
                  <m:oMath xmlns:m="http://schemas.openxmlformats.org/officeDocument/2006/math">
                    <m:r>
                      <a:rPr lang="en-IN" b="1" i="1" dirty="0" smtClean="0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IN" i="1" dirty="0" smtClean="0">
                        <a:latin typeface="Cambria Math" panose="02040503050406030204" pitchFamily="18" charset="0"/>
                      </a:rPr>
                      <m:t>=[</m:t>
                    </m:r>
                    <m:sSub>
                      <m:sSubPr>
                        <m:ctrlPr>
                          <a:rPr lang="en-IN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IN" i="1" dirty="0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IN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IN" i="1" dirty="0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IN" dirty="0"/>
                  <a:t>)</a:t>
                </a:r>
              </a:p>
            </p:txBody>
          </p:sp>
        </mc:Choice>
        <mc:Fallback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xmlns="" xmlns:a14="http://schemas.microsoft.com/office/drawing/2010/main" id="{7364BF28-5E9F-4929-A277-C24B09A1F7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5106" y="2852951"/>
                <a:ext cx="4517455" cy="369332"/>
              </a:xfrm>
              <a:prstGeom prst="rect">
                <a:avLst/>
              </a:prstGeom>
              <a:blipFill>
                <a:blip r:embed="rId9" cstate="print"/>
                <a:stretch>
                  <a:fillRect t="-8197" r="-405" b="-2459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xmlns=""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3317E317-6218-4CD3-9C62-83E46956E1B2}"/>
                  </a:ext>
                </a:extLst>
              </p:cNvPr>
              <p:cNvSpPr txBox="1"/>
              <p:nvPr/>
            </p:nvSpPr>
            <p:spPr>
              <a:xfrm>
                <a:off x="265245" y="3222283"/>
                <a:ext cx="416889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IN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IN" b="0" i="1" smtClean="0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lang="en-IN" dirty="0"/>
                  <a:t> New co-ordinate axis (</a:t>
                </a:r>
                <a14:m>
                  <m:oMath xmlns:m="http://schemas.openxmlformats.org/officeDocument/2006/math">
                    <m:r>
                      <a:rPr lang="en-IN" b="1" i="1" dirty="0" smtClean="0">
                        <a:latin typeface="Cambria Math" panose="02040503050406030204" pitchFamily="18" charset="0"/>
                      </a:rPr>
                      <m:t>𝒛</m:t>
                    </m:r>
                    <m:r>
                      <a:rPr lang="en-IN" i="1" dirty="0" smtClean="0">
                        <a:latin typeface="Cambria Math" panose="02040503050406030204" pitchFamily="18" charset="0"/>
                      </a:rPr>
                      <m:t>=[</m:t>
                    </m:r>
                    <m:sSub>
                      <m:sSubPr>
                        <m:ctrlPr>
                          <a:rPr lang="en-IN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 dirty="0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IN" i="1" dirty="0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IN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 dirty="0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i="1" dirty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IN" i="1" dirty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IN" dirty="0"/>
                  <a:t>)</a:t>
                </a:r>
              </a:p>
            </p:txBody>
          </p:sp>
        </mc:Choice>
        <mc:Fallback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xmlns="" xmlns:a14="http://schemas.microsoft.com/office/drawing/2010/main" id="{3317E317-6218-4CD3-9C62-83E46956E1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5245" y="3222283"/>
                <a:ext cx="4168898" cy="369332"/>
              </a:xfrm>
              <a:prstGeom prst="rect">
                <a:avLst/>
              </a:prstGeom>
              <a:blipFill>
                <a:blip r:embed="rId10" cstate="print"/>
                <a:stretch>
                  <a:fillRect t="-10000" r="-586" b="-2666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Speech Bubble: Rectangle 20">
            <a:extLst>
              <a:ext uri="{FF2B5EF4-FFF2-40B4-BE49-F238E27FC236}">
                <a16:creationId xmlns:a16="http://schemas.microsoft.com/office/drawing/2014/main" xmlns="" id="{FEA5AB5C-21DB-437B-8C50-8071B4942E5D}"/>
              </a:ext>
            </a:extLst>
          </p:cNvPr>
          <p:cNvSpPr/>
          <p:nvPr/>
        </p:nvSpPr>
        <p:spPr>
          <a:xfrm>
            <a:off x="7415537" y="3241195"/>
            <a:ext cx="3755225" cy="797030"/>
          </a:xfrm>
          <a:prstGeom prst="wedgeRectCallout">
            <a:avLst>
              <a:gd name="adj1" fmla="val -38235"/>
              <a:gd name="adj2" fmla="val -69395"/>
            </a:avLst>
          </a:prstGeom>
          <a:solidFill>
            <a:schemeClr val="bg1"/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1600" dirty="0">
                <a:solidFill>
                  <a:schemeClr val="tx1"/>
                </a:solidFill>
                <a:latin typeface="Abadi Extra Light" panose="020B0204020104020204" pitchFamily="34" charset="0"/>
              </a:rPr>
              <a:t>Each input will still have 2 co-ordinates, in the new co-ordinate system, equal to the distances measured from the new origin </a:t>
            </a:r>
          </a:p>
        </p:txBody>
      </p:sp>
      <mc:AlternateContent xmlns:mc="http://schemas.openxmlformats.org/markup-compatibility/2006">
        <mc:Choice xmlns:a14="http://schemas.microsoft.com/office/drawing/2010/main" xmlns="" Requires="a14">
          <p:sp>
            <p:nvSpPr>
              <p:cNvPr id="22" name="Speech Bubble: Rectangle 21">
                <a:extLst>
                  <a:ext uri="{FF2B5EF4-FFF2-40B4-BE49-F238E27FC236}">
                    <a16:creationId xmlns:a16="http://schemas.microsoft.com/office/drawing/2014/main" id="{3660F1A2-74CE-4B87-999D-482072E80772}"/>
                  </a:ext>
                </a:extLst>
              </p:cNvPr>
              <p:cNvSpPr/>
              <p:nvPr/>
            </p:nvSpPr>
            <p:spPr>
              <a:xfrm>
                <a:off x="69149" y="3752943"/>
                <a:ext cx="4652516" cy="1235441"/>
              </a:xfrm>
              <a:prstGeom prst="wedgeRectCallout">
                <a:avLst>
                  <a:gd name="adj1" fmla="val 37735"/>
                  <a:gd name="adj2" fmla="val -63514"/>
                </a:avLst>
              </a:prstGeom>
              <a:solidFill>
                <a:schemeClr val="bg1"/>
              </a:solidFill>
              <a:ln w="19050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IN" sz="1600" dirty="0">
                    <a:solidFill>
                      <a:schemeClr val="tx1"/>
                    </a:solidFill>
                    <a:latin typeface="Abadi Extra Light" panose="020B0204020104020204" pitchFamily="34" charset="0"/>
                  </a:rPr>
                  <a:t>To reduce dimension, can only keep the co-ordinates of those directions that have largest variances (e.g., in this example, if we want to reduce to one-dim, we can keep the co-ordinate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16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16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16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IN" sz="1600" dirty="0">
                    <a:solidFill>
                      <a:schemeClr val="tx1"/>
                    </a:solidFill>
                    <a:latin typeface="Abadi Extra Light" panose="020B0204020104020204" pitchFamily="34" charset="0"/>
                  </a:rPr>
                  <a:t>  of each point along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IN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IN" sz="1600" dirty="0">
                    <a:solidFill>
                      <a:schemeClr val="tx1"/>
                    </a:solidFill>
                    <a:latin typeface="Abadi Extra Light" panose="020B0204020104020204" pitchFamily="34" charset="0"/>
                  </a:rPr>
                  <a:t> and throw away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16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16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16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IN" sz="1600" dirty="0">
                    <a:solidFill>
                      <a:schemeClr val="tx1"/>
                    </a:solidFill>
                    <a:latin typeface="Abadi Extra Light" panose="020B0204020104020204" pitchFamily="34" charset="0"/>
                  </a:rPr>
                  <a:t>). We won’t lose much information</a:t>
                </a:r>
              </a:p>
            </p:txBody>
          </p:sp>
        </mc:Choice>
        <mc:Fallback>
          <p:sp>
            <p:nvSpPr>
              <p:cNvPr id="22" name="Speech Bubble: Rectangle 21">
                <a:extLst>
                  <a:ext uri="{FF2B5EF4-FFF2-40B4-BE49-F238E27FC236}">
                    <a16:creationId xmlns:a16="http://schemas.microsoft.com/office/drawing/2014/main" xmlns="" xmlns:a14="http://schemas.microsoft.com/office/drawing/2010/main" id="{3660F1A2-74CE-4B87-999D-482072E8077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149" y="3752943"/>
                <a:ext cx="4652516" cy="1235441"/>
              </a:xfrm>
              <a:prstGeom prst="wedgeRectCallout">
                <a:avLst>
                  <a:gd name="adj1" fmla="val 37735"/>
                  <a:gd name="adj2" fmla="val -63514"/>
                </a:avLst>
              </a:prstGeom>
              <a:blipFill>
                <a:blip r:embed="rId11" cstate="print"/>
                <a:stretch>
                  <a:fillRect l="-522" r="-522" b="-7296"/>
                </a:stretch>
              </a:blipFill>
              <a:ln w="19050">
                <a:solidFill>
                  <a:schemeClr val="accent2"/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xmlns="" Requires="a14">
          <p:sp>
            <p:nvSpPr>
              <p:cNvPr id="23" name="Speech Bubble: Rectangle 22">
                <a:extLst>
                  <a:ext uri="{FF2B5EF4-FFF2-40B4-BE49-F238E27FC236}">
                    <a16:creationId xmlns:a16="http://schemas.microsoft.com/office/drawing/2014/main" id="{CB13F347-43E6-4D05-B94E-9D916458A2E8}"/>
                  </a:ext>
                </a:extLst>
              </p:cNvPr>
              <p:cNvSpPr/>
              <p:nvPr/>
            </p:nvSpPr>
            <p:spPr>
              <a:xfrm>
                <a:off x="9313773" y="5035100"/>
                <a:ext cx="2386054" cy="819604"/>
              </a:xfrm>
              <a:prstGeom prst="wedgeRectCallout">
                <a:avLst>
                  <a:gd name="adj1" fmla="val -60167"/>
                  <a:gd name="adj2" fmla="val 33010"/>
                </a:avLst>
              </a:prstGeom>
              <a:solidFill>
                <a:schemeClr val="bg1"/>
              </a:solidFill>
              <a:ln w="19050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IN" sz="1600" dirty="0">
                    <a:solidFill>
                      <a:schemeClr val="tx1"/>
                    </a:solidFill>
                    <a:latin typeface="Abadi Extra Light" panose="020B0204020104020204" pitchFamily="34" charset="0"/>
                  </a:rPr>
                  <a:t>Subject to orthonormality constraints: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IN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IN" sz="16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𝒘</m:t>
                        </m:r>
                      </m:e>
                      <m:sub>
                        <m:r>
                          <a:rPr lang="en-IN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IN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⊤</m:t>
                        </m:r>
                      </m:sup>
                    </m:sSubSup>
                    <m:sSub>
                      <m:sSubPr>
                        <m:ctrlPr>
                          <a:rPr lang="en-IN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16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𝒘</m:t>
                        </m:r>
                      </m:e>
                      <m:sub>
                        <m:r>
                          <a:rPr lang="en-IN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IN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=0 </m:t>
                    </m:r>
                  </m:oMath>
                </a14:m>
                <a:r>
                  <a:rPr lang="en-IN" sz="1600" dirty="0">
                    <a:solidFill>
                      <a:schemeClr val="tx1"/>
                    </a:solidFill>
                    <a:latin typeface="Abadi Extra Light" panose="020B0204020104020204" pitchFamily="34" charset="0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16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IN" sz="16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≠ </m:t>
                    </m:r>
                    <m:r>
                      <a:rPr lang="en-IN" sz="16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1600" dirty="0">
                    <a:solidFill>
                      <a:schemeClr val="tx1"/>
                    </a:solidFill>
                    <a:latin typeface="Abadi Extra Light" panose="020B0204020104020204" pitchFamily="34" charset="0"/>
                  </a:rPr>
                  <a:t> and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IN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en-IN" sz="16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IN" sz="16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IN" sz="16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𝒘</m:t>
                                </m:r>
                              </m:e>
                              <m:sub>
                                <m:r>
                                  <a:rPr lang="en-IN" sz="16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en-IN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IN" sz="1600" dirty="0">
                    <a:solidFill>
                      <a:schemeClr val="tx1"/>
                    </a:solidFill>
                    <a:latin typeface="Abadi Extra Light" panose="020B0204020104020204" pitchFamily="34" charset="0"/>
                  </a:rPr>
                  <a:t/>
                </a:r>
              </a:p>
            </p:txBody>
          </p:sp>
        </mc:Choice>
        <mc:Fallback>
          <p:sp>
            <p:nvSpPr>
              <p:cNvPr id="23" name="Speech Bubble: Rectangle 22">
                <a:extLst>
                  <a:ext uri="{FF2B5EF4-FFF2-40B4-BE49-F238E27FC236}">
                    <a16:creationId xmlns:a16="http://schemas.microsoft.com/office/drawing/2014/main" xmlns="" xmlns:a14="http://schemas.microsoft.com/office/drawing/2010/main" id="{CB13F347-43E6-4D05-B94E-9D916458A2E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13773" y="5035100"/>
                <a:ext cx="2386054" cy="819604"/>
              </a:xfrm>
              <a:prstGeom prst="wedgeRectCallout">
                <a:avLst>
                  <a:gd name="adj1" fmla="val -60167"/>
                  <a:gd name="adj2" fmla="val 33010"/>
                </a:avLst>
              </a:prstGeom>
              <a:blipFill>
                <a:blip r:embed="rId12" cstate="print"/>
                <a:stretch>
                  <a:fillRect t="-3650" b="-10219"/>
                </a:stretch>
              </a:blipFill>
              <a:ln w="19050">
                <a:solidFill>
                  <a:schemeClr val="accent2"/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xmlns="" id="{4B6F9619-F0F5-4035-A942-7E2236CF0678}"/>
              </a:ext>
            </a:extLst>
          </p:cNvPr>
          <p:cNvCxnSpPr>
            <a:cxnSpLocks/>
          </p:cNvCxnSpPr>
          <p:nvPr/>
        </p:nvCxnSpPr>
        <p:spPr>
          <a:xfrm flipV="1">
            <a:off x="5165570" y="3222283"/>
            <a:ext cx="1233704" cy="682848"/>
          </a:xfrm>
          <a:prstGeom prst="straightConnector1">
            <a:avLst/>
          </a:prstGeom>
          <a:ln w="38100">
            <a:solidFill>
              <a:srgbClr val="00B05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xmlns="" id="{8CE922A4-7532-4B34-BA6B-55E853090067}"/>
              </a:ext>
            </a:extLst>
          </p:cNvPr>
          <p:cNvCxnSpPr>
            <a:cxnSpLocks/>
          </p:cNvCxnSpPr>
          <p:nvPr/>
        </p:nvCxnSpPr>
        <p:spPr>
          <a:xfrm>
            <a:off x="5699465" y="3352659"/>
            <a:ext cx="222272" cy="360529"/>
          </a:xfrm>
          <a:prstGeom prst="straightConnector1">
            <a:avLst/>
          </a:prstGeom>
          <a:ln w="28575">
            <a:solidFill>
              <a:srgbClr val="7030A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xmlns="" id="{EEF27588-935A-4C6D-8A98-3408A9211974}"/>
              </a:ext>
            </a:extLst>
          </p:cNvPr>
          <p:cNvSpPr txBox="1"/>
          <p:nvPr/>
        </p:nvSpPr>
        <p:spPr>
          <a:xfrm rot="19860892">
            <a:off x="5498776" y="3687054"/>
            <a:ext cx="108151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dirty="0">
                <a:solidFill>
                  <a:srgbClr val="00B050"/>
                </a:solidFill>
              </a:rPr>
              <a:t>Large variance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xmlns="" id="{5E91B104-9161-4EC3-B6E0-FA703BF49905}"/>
              </a:ext>
            </a:extLst>
          </p:cNvPr>
          <p:cNvSpPr txBox="1"/>
          <p:nvPr/>
        </p:nvSpPr>
        <p:spPr>
          <a:xfrm rot="3395506">
            <a:off x="5110116" y="3331428"/>
            <a:ext cx="108331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dirty="0">
                <a:solidFill>
                  <a:srgbClr val="7030A0"/>
                </a:solidFill>
              </a:rPr>
              <a:t>Small variance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xmlns="" val="282044108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slow" p14:dur="2000" advTm="359191"/>
    </mc:Choice>
    <mc:Fallback>
      <p:transition spd="slow" advTm="35919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8" dur="500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8" dur="500"/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 animBg="1"/>
      <p:bldP spid="9" grpId="0" animBg="1"/>
      <p:bldP spid="10" grpId="0" animBg="1"/>
      <p:bldP spid="16" grpId="0" animBg="1"/>
      <p:bldP spid="18" grpId="0" animBg="1"/>
      <p:bldP spid="17" grpId="0" animBg="1"/>
      <p:bldP spid="20" grpId="0" animBg="1"/>
      <p:bldP spid="21" grpId="0" animBg="1"/>
      <p:bldP spid="22" grpId="0" animBg="1"/>
      <p:bldP spid="23" grpId="0" animBg="1"/>
      <p:bldP spid="28" grpId="0"/>
      <p:bldP spid="2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D7657946-FC7F-477C-9867-0ED704A858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5245" y="169682"/>
            <a:ext cx="11740617" cy="821500"/>
          </a:xfrm>
        </p:spPr>
        <p:txBody>
          <a:bodyPr>
            <a:normAutofit/>
          </a:bodyPr>
          <a:lstStyle/>
          <a:p>
            <a:r>
              <a:rPr lang="en-IN" dirty="0">
                <a:solidFill>
                  <a:schemeClr val="accent2">
                    <a:lumMod val="75000"/>
                  </a:schemeClr>
                </a:solidFill>
              </a:rPr>
              <a:t>Principal Component </a:t>
            </a:r>
            <a:r>
              <a:rPr lang="en-IN" dirty="0" smtClean="0">
                <a:solidFill>
                  <a:schemeClr val="accent2">
                    <a:lumMod val="75000"/>
                  </a:schemeClr>
                </a:solidFill>
              </a:rPr>
              <a:t>Analysis: the algorithm</a:t>
            </a:r>
            <a:endParaRPr lang="en-IN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xmlns="" id="{F77B66E3-3803-4788-BC62-221F4919CBCE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323930" y="136939"/>
            <a:ext cx="602825" cy="365125"/>
          </a:xfrm>
        </p:spPr>
        <p:txBody>
          <a:bodyPr/>
          <a:lstStyle/>
          <a:p>
            <a:fld id="{80FED9D3-AF84-488D-8A6A-726D5349CDAB}" type="slidenum">
              <a:rPr lang="en-IN" sz="2800" smtClean="0">
                <a:solidFill>
                  <a:schemeClr val="accent2">
                    <a:lumMod val="40000"/>
                    <a:lumOff val="60000"/>
                  </a:schemeClr>
                </a:solidFill>
              </a:rPr>
              <a:pPr/>
              <a:t>6</a:t>
            </a:fld>
            <a:endParaRPr lang="en-IN" sz="2800" dirty="0"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xmlns="" Requires="a14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314819C9-D576-44D5-A1AF-875A21D5EF7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65245" y="1130786"/>
                <a:ext cx="11740617" cy="5557532"/>
              </a:xfrm>
            </p:spPr>
            <p:txBody>
              <a:bodyPr>
                <a:noAutofit/>
              </a:bodyPr>
              <a:lstStyle/>
              <a:p>
                <a:pPr>
                  <a:buFont typeface="Wingdings" panose="05000000000000000000" pitchFamily="2" charset="2"/>
                  <a:buChar char="§"/>
                </a:pPr>
                <a:r>
                  <a:rPr lang="en-GB" dirty="0">
                    <a:latin typeface="Abadi Extra Light" panose="020B0204020104020204" pitchFamily="34" charset="0"/>
                  </a:rPr>
                  <a:t>Center the data (subtract the mean </a:t>
                </a:r>
                <a14:m>
                  <m:oMath xmlns:m="http://schemas.openxmlformats.org/officeDocument/2006/math">
                    <m:r>
                      <a:rPr lang="en-IN" b="1" i="1" smtClean="0">
                        <a:latin typeface="Cambria Math" panose="02040503050406030204" pitchFamily="18" charset="0"/>
                      </a:rPr>
                      <m:t>𝝁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i="1">
                            <a:latin typeface="Cambria Math" panose="02040503050406030204" pitchFamily="18" charset="0"/>
                          </a:rPr>
                          <m:t>𝑁</m:t>
                        </m:r>
                      </m:den>
                    </m:f>
                    <m:nary>
                      <m:naryPr>
                        <m:chr m:val="∑"/>
                        <m:limLoc m:val="subSup"/>
                        <m:ctrlPr>
                          <a:rPr lang="en-IN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5"/>
                          </m:rPr>
                          <a:rPr lang="en-IN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IN" i="1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IN" i="1">
                            <a:latin typeface="Cambria Math" panose="02040503050406030204" pitchFamily="18" charset="0"/>
                          </a:rPr>
                          <m:t>𝑁</m:t>
                        </m:r>
                      </m:sup>
                      <m:e>
                        <m:sSub>
                          <m:sSubPr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b="1" i="1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nary>
                  </m:oMath>
                </a14:m>
                <a:r>
                  <a:rPr lang="en-GB" sz="2600" dirty="0">
                    <a:latin typeface="Abadi Extra Light" panose="020B0204020104020204" pitchFamily="34" charset="0"/>
                  </a:rPr>
                  <a:t> from each data point)</a:t>
                </a:r>
              </a:p>
              <a:p>
                <a:pPr>
                  <a:buFont typeface="Wingdings" panose="05000000000000000000" pitchFamily="2" charset="2"/>
                  <a:buChar char="§"/>
                </a:pPr>
                <a:r>
                  <a:rPr lang="en-GB" sz="2600" dirty="0">
                    <a:latin typeface="Abadi Extra Light" panose="020B0204020104020204" pitchFamily="34" charset="0"/>
                  </a:rPr>
                  <a:t>Compute the </a:t>
                </a:r>
                <a14:m>
                  <m:oMath xmlns:m="http://schemas.openxmlformats.org/officeDocument/2006/math">
                    <m:r>
                      <a:rPr lang="en-GB" sz="2600" i="1" dirty="0" smtClean="0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GB" sz="2600" i="1" dirty="0" smtClean="0">
                        <a:latin typeface="Cambria Math" panose="02040503050406030204" pitchFamily="18" charset="0"/>
                      </a:rPr>
                      <m:t>×</m:t>
                    </m:r>
                    <m:r>
                      <a:rPr lang="en-GB" sz="2600" i="1" dirty="0" smtClean="0"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en-GB" sz="2600" dirty="0">
                    <a:latin typeface="Abadi Extra Light" panose="020B0204020104020204" pitchFamily="34" charset="0"/>
                  </a:rPr>
                  <a:t> covariance matrix </a:t>
                </a:r>
                <a14:m>
                  <m:oMath xmlns:m="http://schemas.openxmlformats.org/officeDocument/2006/math">
                    <m:r>
                      <a:rPr lang="en-GB" sz="2600" b="1" i="0" dirty="0" smtClean="0">
                        <a:latin typeface="Cambria Math" panose="02040503050406030204" pitchFamily="18" charset="0"/>
                      </a:rPr>
                      <m:t>𝐒</m:t>
                    </m:r>
                  </m:oMath>
                </a14:m>
                <a:r>
                  <a:rPr lang="en-GB" sz="2600" dirty="0">
                    <a:latin typeface="Abadi Extra Light" panose="020B0204020104020204" pitchFamily="34" charset="0"/>
                  </a:rPr>
                  <a:t> using the </a:t>
                </a:r>
                <a:r>
                  <a:rPr lang="en-GB" sz="2600" dirty="0" err="1">
                    <a:latin typeface="Abadi Extra Light" panose="020B0204020104020204" pitchFamily="34" charset="0"/>
                  </a:rPr>
                  <a:t>centered</a:t>
                </a:r>
                <a:r>
                  <a:rPr lang="en-GB" sz="2600" dirty="0">
                    <a:latin typeface="Abadi Extra Light" panose="020B0204020104020204" pitchFamily="34" charset="0"/>
                  </a:rPr>
                  <a:t> data matrix </a:t>
                </a:r>
                <a14:m>
                  <m:oMath xmlns:m="http://schemas.openxmlformats.org/officeDocument/2006/math">
                    <m:r>
                      <a:rPr lang="en-GB" sz="2600" b="1" i="0" dirty="0" smtClean="0">
                        <a:latin typeface="Cambria Math" panose="02040503050406030204" pitchFamily="18" charset="0"/>
                      </a:rPr>
                      <m:t>𝐗</m:t>
                    </m:r>
                  </m:oMath>
                </a14:m>
                <a:r>
                  <a:rPr lang="en-GB" sz="2600" dirty="0">
                    <a:latin typeface="Abadi Extra Light" panose="020B0204020104020204" pitchFamily="34" charset="0"/>
                  </a:rPr>
                  <a:t> as</a:t>
                </a:r>
              </a:p>
              <a:p>
                <a:pPr>
                  <a:buFont typeface="Wingdings" panose="05000000000000000000" pitchFamily="2" charset="2"/>
                  <a:buChar char="§"/>
                </a:pPr>
                <a:endParaRPr lang="en-GB" sz="2600" dirty="0">
                  <a:latin typeface="Abadi Extra Light" panose="020B0204020104020204" pitchFamily="34" charset="0"/>
                </a:endParaRPr>
              </a:p>
              <a:p>
                <a:pPr>
                  <a:buFont typeface="Wingdings" panose="05000000000000000000" pitchFamily="2" charset="2"/>
                  <a:buChar char="§"/>
                </a:pPr>
                <a:endParaRPr lang="en-GB" sz="2600" dirty="0">
                  <a:latin typeface="Abadi Extra Light" panose="020B0204020104020204" pitchFamily="34" charset="0"/>
                </a:endParaRPr>
              </a:p>
              <a:p>
                <a:pPr>
                  <a:buFont typeface="Wingdings" panose="05000000000000000000" pitchFamily="2" charset="2"/>
                  <a:buChar char="§"/>
                </a:pPr>
                <a:r>
                  <a:rPr lang="en-GB" sz="2600" dirty="0">
                    <a:latin typeface="Abadi Extra Light" panose="020B0204020104020204" pitchFamily="34" charset="0"/>
                  </a:rPr>
                  <a:t>Do an </a:t>
                </a:r>
                <a:r>
                  <a:rPr lang="en-GB" sz="2600" dirty="0" err="1">
                    <a:latin typeface="Abadi Extra Light" panose="020B0204020104020204" pitchFamily="34" charset="0"/>
                  </a:rPr>
                  <a:t>eigendecomposition</a:t>
                </a:r>
                <a:r>
                  <a:rPr lang="en-GB" sz="2600" dirty="0">
                    <a:latin typeface="Abadi Extra Light" panose="020B0204020104020204" pitchFamily="34" charset="0"/>
                  </a:rPr>
                  <a:t> of the covariance matrix </a:t>
                </a:r>
                <a14:m>
                  <m:oMath xmlns:m="http://schemas.openxmlformats.org/officeDocument/2006/math">
                    <m:r>
                      <a:rPr lang="en-IN" sz="2400" b="1">
                        <a:latin typeface="Cambria Math" panose="02040503050406030204" pitchFamily="18" charset="0"/>
                      </a:rPr>
                      <m:t>𝐒</m:t>
                    </m:r>
                  </m:oMath>
                </a14:m>
                <a:r>
                  <a:rPr lang="en-GB" sz="2600" dirty="0">
                    <a:latin typeface="Abadi Extra Light" panose="020B0204020104020204" pitchFamily="34" charset="0"/>
                  </a:rPr>
                  <a:t> (many methods exist)</a:t>
                </a:r>
              </a:p>
              <a:p>
                <a:pPr marL="0" indent="0">
                  <a:buNone/>
                </a:pPr>
                <a:endParaRPr lang="en-GB" sz="200" dirty="0">
                  <a:latin typeface="Abadi Extra Light" panose="020B0204020104020204" pitchFamily="34" charset="0"/>
                </a:endParaRPr>
              </a:p>
              <a:p>
                <a:pPr>
                  <a:buFont typeface="Wingdings" panose="05000000000000000000" pitchFamily="2" charset="2"/>
                  <a:buChar char="§"/>
                </a:pPr>
                <a:r>
                  <a:rPr lang="en-GB" sz="2600" dirty="0">
                    <a:latin typeface="Abadi Extra Light" panose="020B0204020104020204" pitchFamily="34" charset="0"/>
                  </a:rPr>
                  <a:t>Take top </a:t>
                </a:r>
                <a14:m>
                  <m:oMath xmlns:m="http://schemas.openxmlformats.org/officeDocument/2006/math">
                    <m:r>
                      <a:rPr lang="en-GB" sz="2600" i="1" dirty="0" smtClean="0"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IN" sz="2600" b="0" i="1" dirty="0" smtClean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600" b="0" i="1" dirty="0" smtClean="0"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en-GB" sz="2600" dirty="0">
                    <a:latin typeface="Abadi Extra Light" panose="020B0204020104020204" pitchFamily="34" charset="0"/>
                  </a:rPr>
                  <a:t> leading eigvectors</a:t>
                </a:r>
                <a14:m>
                  <m:oMath xmlns:m="http://schemas.openxmlformats.org/officeDocument/2006/math">
                    <m:r>
                      <a:rPr lang="en-IN" b="0" i="0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{</m:t>
                        </m:r>
                        <m:r>
                          <a:rPr lang="en-IN" b="1" i="1">
                            <a:latin typeface="Cambria Math" panose="02040503050406030204" pitchFamily="18" charset="0"/>
                          </a:rPr>
                          <m:t>𝒘</m:t>
                        </m:r>
                      </m:e>
                      <m:sub>
                        <m:r>
                          <a:rPr lang="en-IN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IN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1" i="1">
                            <a:latin typeface="Cambria Math" panose="02040503050406030204" pitchFamily="18" charset="0"/>
                          </a:rPr>
                          <m:t>𝒘</m:t>
                        </m:r>
                      </m:e>
                      <m:sub>
                        <m:r>
                          <a:rPr lang="en-IN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IN" i="1">
                        <a:latin typeface="Cambria Math" panose="02040503050406030204" pitchFamily="18" charset="0"/>
                      </a:rPr>
                      <m:t>,…, </m:t>
                    </m:r>
                    <m:sSub>
                      <m:sSub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1" i="1">
                            <a:latin typeface="Cambria Math" panose="02040503050406030204" pitchFamily="18" charset="0"/>
                          </a:rPr>
                          <m:t>𝒘</m:t>
                        </m:r>
                      </m:e>
                      <m:sub>
                        <m:r>
                          <a:rPr lang="en-IN" i="1">
                            <a:latin typeface="Cambria Math" panose="02040503050406030204" pitchFamily="18" charset="0"/>
                          </a:rPr>
                          <m:t>𝐾</m:t>
                        </m:r>
                      </m:sub>
                    </m:sSub>
                    <m:r>
                      <a:rPr lang="en-IN" b="0" i="1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en-GB" sz="2600" dirty="0">
                    <a:latin typeface="Abadi Extra Light" panose="020B0204020104020204" pitchFamily="34" charset="0"/>
                  </a:rPr>
                  <a:t> with </a:t>
                </a:r>
                <a:r>
                  <a:rPr lang="en-GB" sz="2600" dirty="0" err="1">
                    <a:latin typeface="Abadi Extra Light" panose="020B0204020104020204" pitchFamily="34" charset="0"/>
                  </a:rPr>
                  <a:t>eigvalues</a:t>
                </a:r>
                <a:r>
                  <a:rPr lang="en-GB" sz="2600" dirty="0">
                    <a:latin typeface="Abadi Extra Light" panose="020B0204020104020204" pitchFamily="34" charset="0"/>
                  </a:rPr>
                  <a:t/>
                </a:r>
                <a14:m>
                  <m:oMath xmlns:m="http://schemas.openxmlformats.org/officeDocument/2006/math">
                    <m:r>
                      <a:rPr lang="en-IN" sz="2600" b="0" i="1" smtClean="0">
                        <a:latin typeface="Cambria Math" panose="02040503050406030204" pitchFamily="18" charset="0"/>
                      </a:rPr>
                      <m:t>{</m:t>
                    </m:r>
                    <m:sSub>
                      <m:sSubPr>
                        <m:ctrlPr>
                          <a:rPr lang="en-IN" sz="2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600" b="0" i="1" smtClean="0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IN" sz="26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IN" sz="2600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IN" sz="2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600" b="0" i="1" smtClean="0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IN" sz="2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IN" sz="2600" b="0" i="1" smtClean="0">
                        <a:latin typeface="Cambria Math" panose="02040503050406030204" pitchFamily="18" charset="0"/>
                      </a:rPr>
                      <m:t>,…, </m:t>
                    </m:r>
                    <m:sSub>
                      <m:sSubPr>
                        <m:ctrlPr>
                          <a:rPr lang="en-IN" sz="2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600" b="0" i="1" smtClean="0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IN" sz="2600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</m:sub>
                    </m:sSub>
                    <m:r>
                      <a:rPr lang="en-IN" sz="2600" b="0" i="1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lang="en-GB" sz="2600" dirty="0">
                  <a:latin typeface="Abadi Extra Light" panose="020B0204020104020204" pitchFamily="34" charset="0"/>
                </a:endParaRPr>
              </a:p>
              <a:p>
                <a:pPr marL="0" indent="0">
                  <a:buNone/>
                </a:pPr>
                <a:endParaRPr lang="en-GB" sz="200" dirty="0">
                  <a:latin typeface="Abadi Extra Light" panose="020B0204020104020204" pitchFamily="34" charset="0"/>
                </a:endParaRPr>
              </a:p>
              <a:p>
                <a:pPr>
                  <a:buFont typeface="Wingdings" panose="05000000000000000000" pitchFamily="2" charset="2"/>
                  <a:buChar char="§"/>
                </a:pPr>
                <a:r>
                  <a:rPr lang="en-GB" sz="2600" dirty="0">
                    <a:latin typeface="Abadi Extra Light" panose="020B0204020104020204" pitchFamily="34" charset="0"/>
                  </a:rPr>
                  <a:t>The </a:t>
                </a:r>
                <a14:m>
                  <m:oMath xmlns:m="http://schemas.openxmlformats.org/officeDocument/2006/math">
                    <m:r>
                      <a:rPr lang="en-GB" sz="2600" i="1" dirty="0" smtClean="0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en-GB" sz="2600" dirty="0">
                    <a:latin typeface="Abadi Extra Light" panose="020B0204020104020204" pitchFamily="34" charset="0"/>
                  </a:rPr>
                  <a:t>-dimensional projection/embedding of each input is</a:t>
                </a:r>
                <a:br>
                  <a:rPr lang="en-GB" sz="2600" dirty="0">
                    <a:latin typeface="Abadi Extra Light" panose="020B0204020104020204" pitchFamily="34" charset="0"/>
                  </a:rPr>
                </a:br>
                <a:endParaRPr lang="en-GB" sz="2600" dirty="0">
                  <a:latin typeface="Abadi Extra Light" panose="020B0204020104020204" pitchFamily="34" charset="0"/>
                </a:endParaRPr>
              </a:p>
              <a:p>
                <a:pPr>
                  <a:buFont typeface="Wingdings" panose="05000000000000000000" pitchFamily="2" charset="2"/>
                  <a:buChar char="§"/>
                </a:pPr>
                <a:endParaRPr lang="en-GB" sz="2600" dirty="0">
                  <a:latin typeface="Abadi Extra Light" panose="020B0204020104020204" pitchFamily="34" charset="0"/>
                </a:endParaRPr>
              </a:p>
              <a:p>
                <a:pPr>
                  <a:buFont typeface="Wingdings" panose="05000000000000000000" pitchFamily="2" charset="2"/>
                  <a:buChar char="§"/>
                </a:pPr>
                <a:endParaRPr lang="en-GB" sz="2600" dirty="0">
                  <a:latin typeface="Abadi Extra Light" panose="020B0204020104020204" pitchFamily="34" charset="0"/>
                </a:endParaRPr>
              </a:p>
              <a:p>
                <a:pPr>
                  <a:buFont typeface="Wingdings" panose="05000000000000000000" pitchFamily="2" charset="2"/>
                  <a:buChar char="§"/>
                </a:pPr>
                <a:endParaRPr lang="en-GB" sz="2600" dirty="0">
                  <a:latin typeface="Abadi Extra Light" panose="020B0204020104020204" pitchFamily="34" charset="0"/>
                </a:endParaRPr>
              </a:p>
              <a:p>
                <a:pPr>
                  <a:buFont typeface="Wingdings" panose="05000000000000000000" pitchFamily="2" charset="2"/>
                  <a:buChar char="§"/>
                </a:pPr>
                <a:endParaRPr lang="en-GB" sz="2600" dirty="0">
                  <a:latin typeface="Abadi Extra Light" panose="020B0204020104020204" pitchFamily="34" charset="0"/>
                </a:endParaRPr>
              </a:p>
              <a:p>
                <a:pPr marL="0" indent="0">
                  <a:buNone/>
                </a:pPr>
                <a:endParaRPr lang="en-GB" sz="2600" dirty="0">
                  <a:latin typeface="Abadi Extra Light" panose="020B0204020104020204" pitchFamily="34" charset="0"/>
                </a:endParaRPr>
              </a:p>
              <a:p>
                <a:pPr marL="0" indent="0">
                  <a:buNone/>
                </a:pPr>
                <a:endParaRPr lang="en-GB" sz="800" dirty="0">
                  <a:latin typeface="Abadi Extra Light" panose="020B0204020104020204" pitchFamily="34" charset="0"/>
                </a:endParaRPr>
              </a:p>
            </p:txBody>
          </p:sp>
        </mc:Choice>
        <mc:Fallback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xmlns="" xmlns:a14="http://schemas.microsoft.com/office/drawing/2010/main" id="{314819C9-D576-44D5-A1AF-875A21D5EF7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65245" y="1130786"/>
                <a:ext cx="11740617" cy="5557532"/>
              </a:xfrm>
              <a:blipFill>
                <a:blip r:embed="rId3" cstate="print"/>
                <a:stretch>
                  <a:fillRect l="-935" t="-329"/>
                </a:stretch>
              </a:blipFill>
            </p:spPr>
            <p:txBody>
              <a:bodyPr/>
              <a:lstStyle/>
              <a:p>
                <a:r>
                  <a:rPr lang="en-IN" dirty="0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xmlns="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599D3633-927F-427F-8CDC-BB7CA0EB03BE}"/>
                  </a:ext>
                </a:extLst>
              </p:cNvPr>
              <p:cNvSpPr txBox="1"/>
              <p:nvPr/>
            </p:nvSpPr>
            <p:spPr>
              <a:xfrm>
                <a:off x="4708472" y="2262432"/>
                <a:ext cx="1807098" cy="80663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b="1" i="0" smtClean="0">
                          <a:latin typeface="Cambria Math" panose="02040503050406030204" pitchFamily="18" charset="0"/>
                        </a:rPr>
                        <m:t>𝐒</m:t>
                      </m:r>
                      <m:r>
                        <a:rPr lang="en-IN" sz="2800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IN" sz="2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28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IN" sz="2800" i="1">
                              <a:latin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  <m:sSup>
                        <m:sSupPr>
                          <m:ctrlPr>
                            <a:rPr lang="en-IN" sz="2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IN" sz="2800" b="1">
                              <a:latin typeface="Cambria Math" panose="02040503050406030204" pitchFamily="18" charset="0"/>
                            </a:rPr>
                            <m:t>𝐗</m:t>
                          </m:r>
                        </m:e>
                        <m:sup>
                          <m:r>
                            <a:rPr lang="en-IN" sz="2800" i="1">
                              <a:latin typeface="Cambria Math" panose="02040503050406030204" pitchFamily="18" charset="0"/>
                            </a:rPr>
                            <m:t>⊤</m:t>
                          </m:r>
                        </m:sup>
                      </m:sSup>
                      <m:r>
                        <a:rPr lang="en-IN" sz="2800" b="1" i="0" smtClean="0">
                          <a:latin typeface="Cambria Math" panose="02040503050406030204" pitchFamily="18" charset="0"/>
                        </a:rPr>
                        <m:t>𝐗</m:t>
                      </m:r>
                    </m:oMath>
                  </m:oMathPara>
                </a14:m>
                <a:endParaRPr lang="en-IN" sz="2800" dirty="0"/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xmlns="" xmlns:a14="http://schemas.microsoft.com/office/drawing/2010/main" id="{599D3633-927F-427F-8CDC-BB7CA0EB03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08472" y="2262432"/>
                <a:ext cx="1807098" cy="806631"/>
              </a:xfrm>
              <a:prstGeom prst="rect">
                <a:avLst/>
              </a:prstGeom>
              <a:blipFill>
                <a:blip r:embed="rId4" cstate="print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xmlns="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14A0420-311A-4D82-AF17-69CCD7BD48ED}"/>
                  </a:ext>
                </a:extLst>
              </p:cNvPr>
              <p:cNvSpPr txBox="1"/>
              <p:nvPr/>
            </p:nvSpPr>
            <p:spPr>
              <a:xfrm>
                <a:off x="7041823" y="2481082"/>
                <a:ext cx="348294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IN" dirty="0"/>
                  <a:t>(Assuming </a:t>
                </a:r>
                <a14:m>
                  <m:oMath xmlns:m="http://schemas.openxmlformats.org/officeDocument/2006/math">
                    <m:r>
                      <a:rPr lang="en-GB" b="1" dirty="0">
                        <a:latin typeface="Cambria Math" panose="02040503050406030204" pitchFamily="18" charset="0"/>
                      </a:rPr>
                      <m:t>𝐗</m:t>
                    </m:r>
                  </m:oMath>
                </a14:m>
                <a:r>
                  <a:rPr lang="en-IN" dirty="0"/>
                  <a:t> is arranged as </a:t>
                </a:r>
                <a14:m>
                  <m:oMath xmlns:m="http://schemas.openxmlformats.org/officeDocument/2006/math">
                    <m:r>
                      <a:rPr lang="en-IN" b="0" i="1" dirty="0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IN" i="1" dirty="0" smtClean="0"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b="0" i="1" dirty="0" smtClean="0"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en-IN" dirty="0"/>
                  <a:t>) </a:t>
                </a:r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xmlns="" xmlns:a14="http://schemas.microsoft.com/office/drawing/2010/main" id="{514A0420-311A-4D82-AF17-69CCD7BD48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41823" y="2481082"/>
                <a:ext cx="3482941" cy="369332"/>
              </a:xfrm>
              <a:prstGeom prst="rect">
                <a:avLst/>
              </a:prstGeom>
              <a:blipFill>
                <a:blip r:embed="rId5" cstate="print"/>
                <a:stretch>
                  <a:fillRect l="-1399" t="-8197" r="-524" b="-2459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xmlns="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F2D39909-AA02-4DE0-AA51-B9F672034D42}"/>
                  </a:ext>
                </a:extLst>
              </p:cNvPr>
              <p:cNvSpPr txBox="1"/>
              <p:nvPr/>
            </p:nvSpPr>
            <p:spPr>
              <a:xfrm>
                <a:off x="1649926" y="5384480"/>
                <a:ext cx="1958357" cy="44704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800" b="1" i="1" smtClean="0">
                              <a:latin typeface="Cambria Math" panose="02040503050406030204" pitchFamily="18" charset="0"/>
                            </a:rPr>
                            <m:t>𝒛</m:t>
                          </m:r>
                        </m:e>
                        <m:sub>
                          <m:r>
                            <a:rPr lang="en-IN" sz="28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IN" sz="2800" b="0" i="1" smtClean="0">
                          <a:latin typeface="Cambria Math" panose="02040503050406030204" pitchFamily="18" charset="0"/>
                        </a:rPr>
                        <m:t>≈ </m:t>
                      </m:r>
                      <m:sSubSup>
                        <m:sSubSupPr>
                          <m:ctrlPr>
                            <a:rPr lang="en-IN" sz="28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IN" sz="2800" b="1" i="0" smtClean="0">
                              <a:latin typeface="Cambria Math" panose="02040503050406030204" pitchFamily="18" charset="0"/>
                            </a:rPr>
                            <m:t>𝐖</m:t>
                          </m:r>
                        </m:e>
                        <m:sub>
                          <m:r>
                            <a:rPr lang="en-IN" sz="2800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sub>
                        <m:sup>
                          <m:r>
                            <a:rPr lang="en-IN" sz="2800" b="0" i="1" smtClean="0">
                              <a:latin typeface="Cambria Math" panose="02040503050406030204" pitchFamily="18" charset="0"/>
                            </a:rPr>
                            <m:t>⊤</m:t>
                          </m:r>
                        </m:sup>
                      </m:sSubSup>
                      <m:sSub>
                        <m:sSubPr>
                          <m:ctrlPr>
                            <a:rPr lang="en-IN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8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IN" sz="28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lang="en-IN" sz="2800" dirty="0"/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xmlns="" xmlns:a14="http://schemas.microsoft.com/office/drawing/2010/main" id="{F2D39909-AA02-4DE0-AA51-B9F672034D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49926" y="5384480"/>
                <a:ext cx="1958357" cy="447045"/>
              </a:xfrm>
              <a:prstGeom prst="rect">
                <a:avLst/>
              </a:prstGeom>
              <a:blipFill>
                <a:blip r:embed="rId6" cstate="print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xmlns="" Requires="a14">
          <p:sp>
            <p:nvSpPr>
              <p:cNvPr id="9" name="Speech Bubble: Rectangle 8">
                <a:extLst>
                  <a:ext uri="{FF2B5EF4-FFF2-40B4-BE49-F238E27FC236}">
                    <a16:creationId xmlns:a16="http://schemas.microsoft.com/office/drawing/2014/main" id="{2D38C98D-D7A4-4D9F-80E4-035F36889D69}"/>
                  </a:ext>
                </a:extLst>
              </p:cNvPr>
              <p:cNvSpPr/>
              <p:nvPr/>
            </p:nvSpPr>
            <p:spPr>
              <a:xfrm>
                <a:off x="3844389" y="5369501"/>
                <a:ext cx="3287596" cy="739062"/>
              </a:xfrm>
              <a:prstGeom prst="wedgeRectCallout">
                <a:avLst>
                  <a:gd name="adj1" fmla="val -58234"/>
                  <a:gd name="adj2" fmla="val -16863"/>
                </a:avLst>
              </a:prstGeom>
              <a:solidFill>
                <a:schemeClr val="bg1"/>
              </a:solidFill>
              <a:ln w="19050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IN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1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𝐖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IN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K</m:t>
                        </m:r>
                      </m:sub>
                    </m:sSub>
                    <m:r>
                      <a:rPr lang="en-IN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I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IN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𝒘</m:t>
                            </m:r>
                          </m:e>
                          <m:sub>
                            <m:r>
                              <a:rPr lang="en-IN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I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IN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𝒘</m:t>
                            </m:r>
                          </m:e>
                          <m:sub>
                            <m:r>
                              <a:rPr lang="en-IN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I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,…, </m:t>
                        </m:r>
                        <m:sSub>
                          <m:sSubPr>
                            <m:ctrlPr>
                              <a:rPr lang="en-IN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𝒘</m:t>
                            </m:r>
                          </m:e>
                          <m:sub>
                            <m:r>
                              <a:rPr lang="en-IN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𝐾</m:t>
                            </m:r>
                          </m:sub>
                        </m:sSub>
                      </m:e>
                    </m:d>
                  </m:oMath>
                </a14:m>
                <a:r>
                  <a:rPr lang="en-IN" dirty="0">
                    <a:solidFill>
                      <a:schemeClr val="tx1"/>
                    </a:solidFill>
                  </a:rPr>
                  <a:t/>
                </a:r>
                <a:r>
                  <a:rPr lang="en-IN" dirty="0">
                    <a:solidFill>
                      <a:schemeClr val="tx1"/>
                    </a:solidFill>
                    <a:latin typeface="Abadi Extra Light" panose="020B0204020104020204" pitchFamily="34" charset="0"/>
                  </a:rPr>
                  <a:t>is the “projection matrix” of size </a:t>
                </a:r>
                <a14:m>
                  <m:oMath xmlns:m="http://schemas.openxmlformats.org/officeDocument/2006/math">
                    <m:r>
                      <a:rPr lang="en-IN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IN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endParaRPr lang="en-IN" dirty="0">
                  <a:solidFill>
                    <a:schemeClr val="tx1"/>
                  </a:solidFill>
                  <a:latin typeface="Abadi Extra Light" panose="020B0204020104020204" pitchFamily="34" charset="0"/>
                </a:endParaRPr>
              </a:p>
            </p:txBody>
          </p:sp>
        </mc:Choice>
        <mc:Fallback>
          <p:sp>
            <p:nvSpPr>
              <p:cNvPr id="9" name="Speech Bubble: Rectangle 8">
                <a:extLst>
                  <a:ext uri="{FF2B5EF4-FFF2-40B4-BE49-F238E27FC236}">
                    <a16:creationId xmlns:a16="http://schemas.microsoft.com/office/drawing/2014/main" xmlns="" xmlns:a14="http://schemas.microsoft.com/office/drawing/2010/main" id="{2D38C98D-D7A4-4D9F-80E4-035F36889D6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44389" y="5369501"/>
                <a:ext cx="3287596" cy="739062"/>
              </a:xfrm>
              <a:prstGeom prst="wedgeRectCallout">
                <a:avLst>
                  <a:gd name="adj1" fmla="val -58234"/>
                  <a:gd name="adj2" fmla="val -16863"/>
                </a:avLst>
              </a:prstGeom>
              <a:blipFill>
                <a:blip r:embed="rId7" cstate="print"/>
                <a:stretch>
                  <a:fillRect b="-4839"/>
                </a:stretch>
              </a:blipFill>
              <a:ln w="19050">
                <a:solidFill>
                  <a:schemeClr val="accent2"/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Picture 9">
            <a:extLst>
              <a:ext uri="{FF2B5EF4-FFF2-40B4-BE49-F238E27FC236}">
                <a16:creationId xmlns:a16="http://schemas.microsoft.com/office/drawing/2014/main" xmlns="" id="{B26BE6E4-357E-4599-AFBD-1D9478A898C4}"/>
              </a:ext>
            </a:extLst>
          </p:cNvPr>
          <p:cNvPicPr>
            <a:picLocks noChangeAspect="1"/>
          </p:cNvPicPr>
          <p:nvPr/>
        </p:nvPicPr>
        <p:blipFill>
          <a:blip r:embed="rId8" cstate="print"/>
          <a:stretch>
            <a:fillRect/>
          </a:stretch>
        </p:blipFill>
        <p:spPr>
          <a:xfrm>
            <a:off x="10542074" y="5348913"/>
            <a:ext cx="1010687" cy="965223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xmlns="" Requires="a14">
          <p:sp>
            <p:nvSpPr>
              <p:cNvPr id="11" name="Speech Bubble: Rectangle 10">
                <a:extLst>
                  <a:ext uri="{FF2B5EF4-FFF2-40B4-BE49-F238E27FC236}">
                    <a16:creationId xmlns:a16="http://schemas.microsoft.com/office/drawing/2014/main" id="{245FBB44-39CF-492D-9735-BE922D5F8E9A}"/>
                  </a:ext>
                </a:extLst>
              </p:cNvPr>
              <p:cNvSpPr/>
              <p:nvPr/>
            </p:nvSpPr>
            <p:spPr>
              <a:xfrm>
                <a:off x="7569724" y="4937378"/>
                <a:ext cx="2789839" cy="1750940"/>
              </a:xfrm>
              <a:prstGeom prst="wedgeRectCallout">
                <a:avLst>
                  <a:gd name="adj1" fmla="val 71957"/>
                  <a:gd name="adj2" fmla="val 32005"/>
                </a:avLst>
              </a:prstGeom>
              <a:solidFill>
                <a:schemeClr val="bg1"/>
              </a:solidFill>
              <a:ln w="19050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IN" sz="1600" dirty="0">
                    <a:solidFill>
                      <a:schemeClr val="tx1"/>
                    </a:solidFill>
                    <a:latin typeface="Abadi Extra Light" panose="020B0204020104020204" pitchFamily="34" charset="0"/>
                  </a:rPr>
                  <a:t>Note: Can decide how many </a:t>
                </a:r>
                <a:r>
                  <a:rPr lang="en-IN" sz="1600" dirty="0" err="1">
                    <a:solidFill>
                      <a:schemeClr val="tx1"/>
                    </a:solidFill>
                    <a:latin typeface="Abadi Extra Light" panose="020B0204020104020204" pitchFamily="34" charset="0"/>
                  </a:rPr>
                  <a:t>eigvecs</a:t>
                </a:r>
                <a:r>
                  <a:rPr lang="en-IN" sz="1600" dirty="0">
                    <a:solidFill>
                      <a:schemeClr val="tx1"/>
                    </a:solidFill>
                    <a:latin typeface="Abadi Extra Light" panose="020B0204020104020204" pitchFamily="34" charset="0"/>
                  </a:rPr>
                  <a:t> to use based on how much variance we want to </a:t>
                </a:r>
                <a:r>
                  <a:rPr lang="en-IN" sz="1600" dirty="0" err="1">
                    <a:solidFill>
                      <a:schemeClr val="tx1"/>
                    </a:solidFill>
                    <a:latin typeface="Abadi Extra Light" panose="020B0204020104020204" pitchFamily="34" charset="0"/>
                  </a:rPr>
                  <a:t>campure</a:t>
                </a:r>
                <a:r>
                  <a:rPr lang="en-IN" sz="1600" dirty="0">
                    <a:solidFill>
                      <a:schemeClr val="tx1"/>
                    </a:solidFill>
                    <a:latin typeface="Abadi Extra Light" panose="020B0204020104020204" pitchFamily="34" charset="0"/>
                  </a:rPr>
                  <a:t> (recall that each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IN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IN" sz="1600" dirty="0">
                    <a:solidFill>
                      <a:schemeClr val="tx1"/>
                    </a:solidFill>
                    <a:latin typeface="Abadi Extra Light" panose="020B0204020104020204" pitchFamily="34" charset="0"/>
                  </a:rPr>
                  <a:t> gives the variance in the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IN" sz="16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N" sz="16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IN" sz="16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𝑡h</m:t>
                        </m:r>
                      </m:sup>
                    </m:sSup>
                    <m:r>
                      <a:rPr lang="en-IN" sz="16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1600" dirty="0">
                    <a:solidFill>
                      <a:schemeClr val="tx1"/>
                    </a:solidFill>
                    <a:latin typeface="Abadi Extra Light" panose="020B0204020104020204" pitchFamily="34" charset="0"/>
                  </a:rPr>
                  <a:t>direction (and their sum is the total variance)</a:t>
                </a:r>
                <a:endParaRPr lang="en-IN" sz="1600" dirty="0">
                  <a:solidFill>
                    <a:srgbClr val="0000FF"/>
                  </a:solidFill>
                  <a:latin typeface="Abadi Extra Light" panose="020B0204020104020204" pitchFamily="34" charset="0"/>
                </a:endParaRPr>
              </a:p>
            </p:txBody>
          </p:sp>
        </mc:Choice>
        <mc:Fallback>
          <p:sp>
            <p:nvSpPr>
              <p:cNvPr id="11" name="Speech Bubble: Rectangle 10">
                <a:extLst>
                  <a:ext uri="{FF2B5EF4-FFF2-40B4-BE49-F238E27FC236}">
                    <a16:creationId xmlns:a16="http://schemas.microsoft.com/office/drawing/2014/main" xmlns="" xmlns:a14="http://schemas.microsoft.com/office/drawing/2010/main" id="{245FBB44-39CF-492D-9735-BE922D5F8E9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69724" y="4937378"/>
                <a:ext cx="2789839" cy="1750940"/>
              </a:xfrm>
              <a:prstGeom prst="wedgeRectCallout">
                <a:avLst>
                  <a:gd name="adj1" fmla="val 71957"/>
                  <a:gd name="adj2" fmla="val 32005"/>
                </a:avLst>
              </a:prstGeom>
              <a:blipFill>
                <a:blip r:embed="rId9" cstate="print"/>
                <a:stretch>
                  <a:fillRect l="-887" t="-2069" b="-5172"/>
                </a:stretch>
              </a:blipFill>
              <a:ln w="19050">
                <a:solidFill>
                  <a:schemeClr val="accent2"/>
                </a:solidFill>
              </a:ln>
            </p:spPr>
            <p:txBody>
              <a:bodyPr/>
              <a:lstStyle/>
              <a:p>
                <a:r>
                  <a:rPr lang="en-IN" dirty="0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xmlns="" val="60361134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slow" p14:dur="2000" advTm="311539"/>
    </mc:Choice>
    <mc:Fallback>
      <p:transition spd="slow" advTm="311539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char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char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char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char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char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char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char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4">
                                            <p:txEl>
                                              <p:char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5" grpId="0" animBg="1"/>
      <p:bldP spid="8" grpId="0" animBg="1"/>
      <p:bldP spid="9" grpId="0" animBg="1"/>
      <p:bldP spid="11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D7657946-FC7F-477C-9867-0ED704A858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31752" y="2607500"/>
            <a:ext cx="8294293" cy="821500"/>
          </a:xfrm>
        </p:spPr>
        <p:txBody>
          <a:bodyPr>
            <a:normAutofit fontScale="90000"/>
          </a:bodyPr>
          <a:lstStyle/>
          <a:p>
            <a:r>
              <a:rPr lang="en-IN" dirty="0" smtClean="0">
                <a:solidFill>
                  <a:schemeClr val="accent2">
                    <a:lumMod val="75000"/>
                  </a:schemeClr>
                </a:solidFill>
              </a:rPr>
              <a:t>Understanding PCA</a:t>
            </a:r>
            <a:r>
              <a:rPr lang="en-IN" dirty="0">
                <a:solidFill>
                  <a:schemeClr val="accent2">
                    <a:lumMod val="75000"/>
                  </a:schemeClr>
                </a:solidFill>
              </a:rPr>
              <a:t>: </a:t>
            </a:r>
            <a:r>
              <a:rPr lang="en-IN" dirty="0" smtClean="0">
                <a:solidFill>
                  <a:schemeClr val="accent2">
                    <a:lumMod val="75000"/>
                  </a:schemeClr>
                </a:solidFill>
              </a:rPr>
              <a:t>The </a:t>
            </a:r>
            <a:r>
              <a:rPr lang="en-IN" dirty="0">
                <a:solidFill>
                  <a:schemeClr val="accent2">
                    <a:lumMod val="75000"/>
                  </a:schemeClr>
                </a:solidFill>
              </a:rPr>
              <a:t>variance perspective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xmlns="" id="{F77B66E3-3803-4788-BC62-221F4919CBCE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323930" y="136939"/>
            <a:ext cx="602825" cy="365125"/>
          </a:xfrm>
        </p:spPr>
        <p:txBody>
          <a:bodyPr/>
          <a:lstStyle/>
          <a:p>
            <a:fld id="{80FED9D3-AF84-488D-8A6A-726D5349CDAB}" type="slidenum">
              <a:rPr lang="en-IN" sz="2800" smtClean="0">
                <a:solidFill>
                  <a:schemeClr val="accent2">
                    <a:lumMod val="40000"/>
                    <a:lumOff val="60000"/>
                  </a:schemeClr>
                </a:solidFill>
              </a:rPr>
              <a:pPr/>
              <a:t>7</a:t>
            </a:fld>
            <a:endParaRPr lang="en-IN" sz="2800" dirty="0"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xmlns="" val="204708097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slow" p14:dur="2000" advTm="20749"/>
    </mc:Choice>
    <mc:Fallback>
      <p:transition spd="slow" advTm="20749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D7657946-FC7F-477C-9867-0ED704A858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5245" y="169682"/>
            <a:ext cx="11740617" cy="821500"/>
          </a:xfrm>
        </p:spPr>
        <p:txBody>
          <a:bodyPr>
            <a:normAutofit fontScale="90000"/>
          </a:bodyPr>
          <a:lstStyle/>
          <a:p>
            <a:r>
              <a:rPr lang="en-IN" dirty="0">
                <a:solidFill>
                  <a:schemeClr val="accent2">
                    <a:lumMod val="75000"/>
                  </a:schemeClr>
                </a:solidFill>
              </a:rPr>
              <a:t>Solving PCA by Finding Max. Variance Directions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xmlns="" id="{F77B66E3-3803-4788-BC62-221F4919CBCE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323930" y="136939"/>
            <a:ext cx="602825" cy="365125"/>
          </a:xfrm>
        </p:spPr>
        <p:txBody>
          <a:bodyPr/>
          <a:lstStyle/>
          <a:p>
            <a:fld id="{80FED9D3-AF84-488D-8A6A-726D5349CDAB}" type="slidenum">
              <a:rPr lang="en-IN" sz="2800" smtClean="0">
                <a:solidFill>
                  <a:schemeClr val="accent2">
                    <a:lumMod val="40000"/>
                    <a:lumOff val="60000"/>
                  </a:schemeClr>
                </a:solidFill>
              </a:rPr>
              <a:pPr/>
              <a:t>8</a:t>
            </a:fld>
            <a:endParaRPr lang="en-IN" sz="2800" dirty="0"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xmlns="" Requires="a14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314819C9-D576-44D5-A1AF-875A21D5EF7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65245" y="1130786"/>
                <a:ext cx="11740617" cy="5557532"/>
              </a:xfrm>
            </p:spPr>
            <p:txBody>
              <a:bodyPr>
                <a:noAutofit/>
              </a:bodyPr>
              <a:lstStyle/>
              <a:p>
                <a:pPr>
                  <a:buFont typeface="Wingdings" panose="05000000000000000000" pitchFamily="2" charset="2"/>
                  <a:buChar char="§"/>
                </a:pPr>
                <a:r>
                  <a:rPr lang="en-IN" dirty="0">
                    <a:latin typeface="Abadi Extra Light" panose="020B0204020104020204" pitchFamily="34" charset="0"/>
                  </a:rPr>
                  <a:t>Consider projecting an input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IN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IN" i="1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I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I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𝐷</m:t>
                        </m:r>
                      </m:sup>
                    </m:sSup>
                    <m:r>
                      <a:rPr lang="en-I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dirty="0">
                    <a:latin typeface="Abadi Extra Light" panose="020B0204020104020204" pitchFamily="34" charset="0"/>
                  </a:rPr>
                  <a:t>along a direction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1" i="1" dirty="0" smtClean="0">
                            <a:latin typeface="Cambria Math" panose="02040503050406030204" pitchFamily="18" charset="0"/>
                          </a:rPr>
                          <m:t>𝒘</m:t>
                        </m:r>
                      </m:e>
                      <m:sub>
                        <m:r>
                          <a:rPr lang="en-IN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IN" dirty="0"/>
                  <a:t/>
                </a: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I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I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𝐷</m:t>
                        </m:r>
                      </m:sup>
                    </m:sSup>
                  </m:oMath>
                </a14:m>
                <a:endParaRPr lang="en-IN" dirty="0">
                  <a:latin typeface="Abadi Extra Light" panose="020B0204020104020204" pitchFamily="34" charset="0"/>
                </a:endParaRPr>
              </a:p>
              <a:p>
                <a:pPr>
                  <a:buFont typeface="Wingdings" panose="05000000000000000000" pitchFamily="2" charset="2"/>
                  <a:buChar char="§"/>
                </a:pPr>
                <a:endParaRPr lang="en-IN" sz="200" dirty="0">
                  <a:latin typeface="Abadi Extra Light" panose="020B0204020104020204" pitchFamily="34" charset="0"/>
                </a:endParaRPr>
              </a:p>
              <a:p>
                <a:pPr>
                  <a:buFont typeface="Wingdings" panose="05000000000000000000" pitchFamily="2" charset="2"/>
                  <a:buChar char="§"/>
                </a:pPr>
                <a:r>
                  <a:rPr lang="en-IN" dirty="0">
                    <a:latin typeface="Abadi Extra Light" panose="020B0204020104020204" pitchFamily="34" charset="0"/>
                  </a:rPr>
                  <a:t>Projection/</a:t>
                </a:r>
                <a:r>
                  <a:rPr lang="en-IN" dirty="0">
                    <a:solidFill>
                      <a:srgbClr val="0000FF"/>
                    </a:solidFill>
                    <a:latin typeface="Abadi Extra Light" panose="020B0204020104020204" pitchFamily="34" charset="0"/>
                  </a:rPr>
                  <a:t>embedding</a:t>
                </a:r>
                <a:r>
                  <a:rPr lang="en-IN" dirty="0">
                    <a:latin typeface="Abadi Extra Light" panose="020B0204020104020204" pitchFamily="34" charset="0"/>
                  </a:rPr>
                  <a:t>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IN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IN" dirty="0">
                    <a:latin typeface="Abadi Extra Light" panose="020B0204020104020204" pitchFamily="34" charset="0"/>
                  </a:rPr>
                  <a:t> (red points below) will be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IN" b="0" i="1" dirty="0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IN" b="1" i="1" dirty="0">
                            <a:latin typeface="Cambria Math" panose="02040503050406030204" pitchFamily="18" charset="0"/>
                          </a:rPr>
                          <m:t>𝒘</m:t>
                        </m:r>
                      </m:e>
                      <m:sub>
                        <m:r>
                          <a:rPr lang="en-IN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b="0" i="1" dirty="0" smtClean="0">
                            <a:latin typeface="Cambria Math" panose="02040503050406030204" pitchFamily="18" charset="0"/>
                          </a:rPr>
                          <m:t>⊤</m:t>
                        </m:r>
                      </m:sup>
                    </m:sSubSup>
                    <m:sSub>
                      <m:sSub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IN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IN" dirty="0">
                    <a:latin typeface="Abadi Extra Light" panose="020B0204020104020204" pitchFamily="34" charset="0"/>
                  </a:rPr>
                  <a:t> (green pts below)</a:t>
                </a:r>
              </a:p>
              <a:p>
                <a:pPr>
                  <a:buFont typeface="Wingdings" panose="05000000000000000000" pitchFamily="2" charset="2"/>
                  <a:buChar char="§"/>
                </a:pPr>
                <a:endParaRPr lang="en-IN" dirty="0"/>
              </a:p>
              <a:p>
                <a:pPr>
                  <a:buFont typeface="Wingdings" panose="05000000000000000000" pitchFamily="2" charset="2"/>
                  <a:buChar char="§"/>
                </a:pPr>
                <a:endParaRPr lang="en-IN" dirty="0"/>
              </a:p>
              <a:p>
                <a:pPr>
                  <a:buFont typeface="Wingdings" panose="05000000000000000000" pitchFamily="2" charset="2"/>
                  <a:buChar char="§"/>
                </a:pPr>
                <a:endParaRPr lang="en-IN" dirty="0"/>
              </a:p>
              <a:p>
                <a:pPr>
                  <a:buFont typeface="Wingdings" panose="05000000000000000000" pitchFamily="2" charset="2"/>
                  <a:buChar char="§"/>
                </a:pPr>
                <a:endParaRPr lang="en-IN" dirty="0"/>
              </a:p>
              <a:p>
                <a:pPr>
                  <a:buFont typeface="Wingdings" panose="05000000000000000000" pitchFamily="2" charset="2"/>
                  <a:buChar char="§"/>
                </a:pPr>
                <a:endParaRPr lang="en-IN" dirty="0"/>
              </a:p>
              <a:p>
                <a:pPr>
                  <a:buFont typeface="Wingdings" panose="05000000000000000000" pitchFamily="2" charset="2"/>
                  <a:buChar char="§"/>
                </a:pPr>
                <a:endParaRPr lang="en-IN" dirty="0"/>
              </a:p>
              <a:p>
                <a:pPr>
                  <a:buFont typeface="Wingdings" panose="05000000000000000000" pitchFamily="2" charset="2"/>
                  <a:buChar char="§"/>
                </a:pPr>
                <a:r>
                  <a:rPr lang="en-IN" dirty="0">
                    <a:latin typeface="Abadi Extra Light" panose="020B0204020104020204" pitchFamily="34" charset="0"/>
                  </a:rPr>
                  <a:t>Want</a:t>
                </a:r>
                <a:r>
                  <a:rPr lang="en-IN" dirty="0"/>
                  <a:t/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1" i="1" dirty="0">
                            <a:latin typeface="Cambria Math" panose="02040503050406030204" pitchFamily="18" charset="0"/>
                          </a:rPr>
                          <m:t>𝒘</m:t>
                        </m:r>
                      </m:e>
                      <m:sub>
                        <m:r>
                          <a:rPr lang="en-IN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IN" dirty="0"/>
                  <a:t/>
                </a:r>
                <a:r>
                  <a:rPr lang="en-IN" dirty="0">
                    <a:latin typeface="Abadi Extra Light" panose="020B0204020104020204" pitchFamily="34" charset="0"/>
                  </a:rPr>
                  <a:t>such that variance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IN" i="1" dirty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IN" b="1" i="1" dirty="0">
                            <a:latin typeface="Cambria Math" panose="02040503050406030204" pitchFamily="18" charset="0"/>
                          </a:rPr>
                          <m:t>𝒘</m:t>
                        </m:r>
                      </m:e>
                      <m:sub>
                        <m:r>
                          <a:rPr lang="en-IN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i="1" dirty="0">
                            <a:latin typeface="Cambria Math" panose="02040503050406030204" pitchFamily="18" charset="0"/>
                          </a:rPr>
                          <m:t>⊤</m:t>
                        </m:r>
                      </m:sup>
                    </m:sSubSup>
                    <m:r>
                      <a:rPr lang="en-IN" b="1" i="1" dirty="0">
                        <a:latin typeface="Cambria Math" panose="02040503050406030204" pitchFamily="18" charset="0"/>
                      </a:rPr>
                      <m:t>𝑺</m:t>
                    </m:r>
                    <m:sSub>
                      <m:sSubPr>
                        <m:ctrlPr>
                          <a:rPr lang="en-IN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1" i="1" dirty="0">
                            <a:latin typeface="Cambria Math" panose="02040503050406030204" pitchFamily="18" charset="0"/>
                          </a:rPr>
                          <m:t>𝒘</m:t>
                        </m:r>
                      </m:e>
                      <m:sub>
                        <m:r>
                          <a:rPr lang="en-IN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IN" dirty="0">
                    <a:latin typeface="Abadi Extra Light" panose="020B0204020104020204" pitchFamily="34" charset="0"/>
                  </a:rPr>
                  <a:t> is maximized </a:t>
                </a:r>
              </a:p>
              <a:p>
                <a:pPr marL="0" indent="0">
                  <a:buNone/>
                </a:pPr>
                <a:endParaRPr lang="en-GB" sz="2600" dirty="0">
                  <a:latin typeface="Abadi Extra Light" panose="020B0204020104020204" pitchFamily="34" charset="0"/>
                </a:endParaRPr>
              </a:p>
              <a:p>
                <a:pPr>
                  <a:buFont typeface="Wingdings" panose="05000000000000000000" pitchFamily="2" charset="2"/>
                  <a:buChar char="§"/>
                </a:pPr>
                <a:endParaRPr lang="en-GB" sz="2600" dirty="0">
                  <a:latin typeface="Abadi Extra Light" panose="020B0204020104020204" pitchFamily="34" charset="0"/>
                </a:endParaRPr>
              </a:p>
              <a:p>
                <a:pPr marL="0" indent="0">
                  <a:buNone/>
                </a:pPr>
                <a:endParaRPr lang="en-GB" sz="2600" dirty="0">
                  <a:latin typeface="Abadi Extra Light" panose="020B0204020104020204" pitchFamily="34" charset="0"/>
                </a:endParaRPr>
              </a:p>
              <a:p>
                <a:pPr marL="0" indent="0">
                  <a:buNone/>
                </a:pPr>
                <a:endParaRPr lang="en-GB" sz="800" dirty="0">
                  <a:latin typeface="Abadi Extra Light" panose="020B0204020104020204" pitchFamily="34" charset="0"/>
                </a:endParaRPr>
              </a:p>
            </p:txBody>
          </p:sp>
        </mc:Choice>
        <mc:Fallback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xmlns="" xmlns:a14="http://schemas.microsoft.com/office/drawing/2010/main" id="{314819C9-D576-44D5-A1AF-875A21D5EF7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65245" y="1130786"/>
                <a:ext cx="11740617" cy="5557532"/>
              </a:xfrm>
              <a:blipFill>
                <a:blip r:embed="rId3" cstate="print"/>
                <a:stretch>
                  <a:fillRect l="-935" t="-186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xmlns="" id="{359DF28E-34D6-45DF-A823-F537857337CC}"/>
              </a:ext>
            </a:extLst>
          </p:cNvPr>
          <p:cNvCxnSpPr/>
          <p:nvPr/>
        </p:nvCxnSpPr>
        <p:spPr>
          <a:xfrm flipV="1">
            <a:off x="697755" y="3011647"/>
            <a:ext cx="0" cy="2122415"/>
          </a:xfrm>
          <a:prstGeom prst="straightConnector1">
            <a:avLst/>
          </a:prstGeom>
          <a:ln w="28575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xmlns="" id="{CF664C93-4932-4D4C-8B2E-F0AA7A766E47}"/>
              </a:ext>
            </a:extLst>
          </p:cNvPr>
          <p:cNvCxnSpPr>
            <a:cxnSpLocks/>
          </p:cNvCxnSpPr>
          <p:nvPr/>
        </p:nvCxnSpPr>
        <p:spPr>
          <a:xfrm flipV="1">
            <a:off x="697755" y="5134062"/>
            <a:ext cx="2423020" cy="1"/>
          </a:xfrm>
          <a:prstGeom prst="straightConnector1">
            <a:avLst/>
          </a:prstGeom>
          <a:ln w="28575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xmlns="" id="{4C00003F-24C8-4BA7-8432-5DE8E129DF05}"/>
              </a:ext>
            </a:extLst>
          </p:cNvPr>
          <p:cNvCxnSpPr>
            <a:cxnSpLocks/>
          </p:cNvCxnSpPr>
          <p:nvPr/>
        </p:nvCxnSpPr>
        <p:spPr>
          <a:xfrm flipV="1">
            <a:off x="935397" y="3480695"/>
            <a:ext cx="1947735" cy="1255625"/>
          </a:xfrm>
          <a:prstGeom prst="straightConnector1">
            <a:avLst/>
          </a:prstGeom>
          <a:ln w="28575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Oval 12">
            <a:extLst>
              <a:ext uri="{FF2B5EF4-FFF2-40B4-BE49-F238E27FC236}">
                <a16:creationId xmlns:a16="http://schemas.microsoft.com/office/drawing/2014/main" xmlns="" id="{0E4F851A-0F5C-4AA9-B7FA-273802AF48BF}"/>
              </a:ext>
            </a:extLst>
          </p:cNvPr>
          <p:cNvSpPr/>
          <p:nvPr/>
        </p:nvSpPr>
        <p:spPr>
          <a:xfrm>
            <a:off x="1662995" y="3844605"/>
            <a:ext cx="109056" cy="109049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xmlns="" id="{C52A4C43-66C5-4A77-94EC-6560A424C485}"/>
              </a:ext>
            </a:extLst>
          </p:cNvPr>
          <p:cNvSpPr/>
          <p:nvPr/>
        </p:nvSpPr>
        <p:spPr>
          <a:xfrm>
            <a:off x="931398" y="4142641"/>
            <a:ext cx="109056" cy="109049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xmlns="" id="{8BB9348D-39F7-461C-A7BE-6976E95F112D}"/>
              </a:ext>
            </a:extLst>
          </p:cNvPr>
          <p:cNvSpPr/>
          <p:nvPr/>
        </p:nvSpPr>
        <p:spPr>
          <a:xfrm>
            <a:off x="1553433" y="4534535"/>
            <a:ext cx="109056" cy="109049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xmlns="" id="{A537739C-08EC-4FFD-9209-015244AEDA2C}"/>
              </a:ext>
            </a:extLst>
          </p:cNvPr>
          <p:cNvSpPr/>
          <p:nvPr/>
        </p:nvSpPr>
        <p:spPr>
          <a:xfrm>
            <a:off x="2546534" y="3923416"/>
            <a:ext cx="109056" cy="109049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xmlns="" id="{5CEA39F7-1DD6-4ECA-AE40-89971B3872EC}"/>
              </a:ext>
            </a:extLst>
          </p:cNvPr>
          <p:cNvSpPr/>
          <p:nvPr/>
        </p:nvSpPr>
        <p:spPr>
          <a:xfrm>
            <a:off x="1160218" y="4480010"/>
            <a:ext cx="109056" cy="109049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xmlns="" id="{3FB2C56A-1B2E-4C81-95C4-8DE3AB1907E5}"/>
              </a:ext>
            </a:extLst>
          </p:cNvPr>
          <p:cNvSpPr/>
          <p:nvPr/>
        </p:nvSpPr>
        <p:spPr>
          <a:xfrm>
            <a:off x="1401009" y="4332750"/>
            <a:ext cx="109056" cy="109049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xmlns="" id="{AFF92DAA-7A18-4430-9D98-DEC54B1C95FB}"/>
              </a:ext>
            </a:extLst>
          </p:cNvPr>
          <p:cNvSpPr/>
          <p:nvPr/>
        </p:nvSpPr>
        <p:spPr>
          <a:xfrm>
            <a:off x="1800209" y="4072854"/>
            <a:ext cx="109056" cy="109049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xmlns="" id="{E1A59527-6102-4FDA-A46C-59E30265918C}"/>
              </a:ext>
            </a:extLst>
          </p:cNvPr>
          <p:cNvSpPr/>
          <p:nvPr/>
        </p:nvSpPr>
        <p:spPr>
          <a:xfrm>
            <a:off x="2403518" y="3689812"/>
            <a:ext cx="109056" cy="109049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xmlns="" id="{C79451E3-0E2A-4E2F-B808-0612D1D3B540}"/>
              </a:ext>
            </a:extLst>
          </p:cNvPr>
          <p:cNvCxnSpPr>
            <a:cxnSpLocks/>
            <a:stCxn id="14" idx="5"/>
            <a:endCxn id="17" idx="1"/>
          </p:cNvCxnSpPr>
          <p:nvPr/>
        </p:nvCxnSpPr>
        <p:spPr>
          <a:xfrm>
            <a:off x="1024483" y="4235720"/>
            <a:ext cx="151706" cy="260260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xmlns="" id="{71EECC68-5083-47A2-A853-60901B1A2527}"/>
              </a:ext>
            </a:extLst>
          </p:cNvPr>
          <p:cNvCxnSpPr>
            <a:cxnSpLocks/>
            <a:stCxn id="18" idx="5"/>
            <a:endCxn id="15" idx="1"/>
          </p:cNvCxnSpPr>
          <p:nvPr/>
        </p:nvCxnSpPr>
        <p:spPr>
          <a:xfrm>
            <a:off x="1494094" y="4425829"/>
            <a:ext cx="75310" cy="124676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xmlns="" id="{D908BCAF-D82A-4A52-B8A1-158D35FF1FA2}"/>
              </a:ext>
            </a:extLst>
          </p:cNvPr>
          <p:cNvCxnSpPr>
            <a:cxnSpLocks/>
          </p:cNvCxnSpPr>
          <p:nvPr/>
        </p:nvCxnSpPr>
        <p:spPr>
          <a:xfrm>
            <a:off x="1746378" y="3948179"/>
            <a:ext cx="75310" cy="124676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xmlns="" id="{F51A1502-E4BA-4A8D-8A1C-7AE23931FDBE}"/>
              </a:ext>
            </a:extLst>
          </p:cNvPr>
          <p:cNvCxnSpPr>
            <a:cxnSpLocks/>
          </p:cNvCxnSpPr>
          <p:nvPr/>
        </p:nvCxnSpPr>
        <p:spPr>
          <a:xfrm>
            <a:off x="2496897" y="3798385"/>
            <a:ext cx="75310" cy="124676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xmlns=""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60E85F17-E2D8-48CE-AECC-43A177D54038}"/>
                  </a:ext>
                </a:extLst>
              </p:cNvPr>
              <p:cNvSpPr txBox="1"/>
              <p:nvPr/>
            </p:nvSpPr>
            <p:spPr>
              <a:xfrm>
                <a:off x="2887131" y="3219130"/>
                <a:ext cx="33605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1" i="1" smtClean="0"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xmlns="" xmlns:a14="http://schemas.microsoft.com/office/drawing/2010/main" id="{60E85F17-E2D8-48CE-AECC-43A177D540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87131" y="3219130"/>
                <a:ext cx="336053" cy="276999"/>
              </a:xfrm>
              <a:prstGeom prst="rect">
                <a:avLst/>
              </a:prstGeom>
              <a:blipFill>
                <a:blip r:embed="rId4" cstate="print"/>
                <a:stretch>
                  <a:fillRect l="-10909" r="-5455" b="-1521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xmlns=""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C48FA6AE-58DE-4CE1-B1B3-33ADA5318497}"/>
                  </a:ext>
                </a:extLst>
              </p:cNvPr>
              <p:cNvSpPr txBox="1"/>
              <p:nvPr/>
            </p:nvSpPr>
            <p:spPr>
              <a:xfrm>
                <a:off x="1536812" y="3536612"/>
                <a:ext cx="307392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xmlns="" xmlns:a14="http://schemas.microsoft.com/office/drawing/2010/main" id="{C48FA6AE-58DE-4CE1-B1B3-33ADA53184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36812" y="3536612"/>
                <a:ext cx="307392" cy="276999"/>
              </a:xfrm>
              <a:prstGeom prst="rect">
                <a:avLst/>
              </a:prstGeom>
              <a:blipFill>
                <a:blip r:embed="rId5" cstate="print"/>
                <a:stretch>
                  <a:fillRect l="-11765" r="-1961" b="-1087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xmlns=""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F52B5107-B69B-4E15-ADE0-1671A433D57F}"/>
                  </a:ext>
                </a:extLst>
              </p:cNvPr>
              <p:cNvSpPr txBox="1"/>
              <p:nvPr/>
            </p:nvSpPr>
            <p:spPr>
              <a:xfrm rot="19738586">
                <a:off x="1143718" y="4091054"/>
                <a:ext cx="412292" cy="18646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IN" sz="1200" i="1" dirty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IN" sz="1200" b="1" i="1" dirty="0"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  <m:sub>
                          <m:r>
                            <a:rPr lang="en-IN" sz="12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IN" sz="1200" i="1" dirty="0">
                              <a:latin typeface="Cambria Math" panose="02040503050406030204" pitchFamily="18" charset="0"/>
                            </a:rPr>
                            <m:t>⊤</m:t>
                          </m:r>
                        </m:sup>
                      </m:sSubSup>
                      <m:sSub>
                        <m:sSubPr>
                          <m:ctrlPr>
                            <a:rPr lang="en-IN" sz="1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1200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IN" sz="1200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lang="en-IN" sz="1200" dirty="0"/>
              </a:p>
            </p:txBody>
          </p:sp>
        </mc:Choice>
        <mc:Fallback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xmlns="" xmlns:a14="http://schemas.microsoft.com/office/drawing/2010/main" id="{F52B5107-B69B-4E15-ADE0-1671A433D5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9738586">
                <a:off x="1143718" y="4091054"/>
                <a:ext cx="412292" cy="186461"/>
              </a:xfrm>
              <a:prstGeom prst="rect">
                <a:avLst/>
              </a:prstGeom>
              <a:blipFill>
                <a:blip r:embed="rId6" cstate="print"/>
                <a:stretch>
                  <a:fillRect r="-1333" b="-161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xmlns="" id="{F0E65BF1-FDB3-4CFB-AD0C-8C9AA28F4029}"/>
              </a:ext>
            </a:extLst>
          </p:cNvPr>
          <p:cNvCxnSpPr/>
          <p:nvPr/>
        </p:nvCxnSpPr>
        <p:spPr>
          <a:xfrm flipV="1">
            <a:off x="872497" y="4062360"/>
            <a:ext cx="890659" cy="583710"/>
          </a:xfrm>
          <a:prstGeom prst="straightConnector1">
            <a:avLst/>
          </a:prstGeom>
          <a:ln w="28575">
            <a:prstDash val="sysDot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xmlns="" Requires="a14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D4CF7E69-BB5F-4AE1-941A-37E8A882ED4A}"/>
                  </a:ext>
                </a:extLst>
              </p:cNvPr>
              <p:cNvSpPr txBox="1"/>
              <p:nvPr/>
            </p:nvSpPr>
            <p:spPr>
              <a:xfrm>
                <a:off x="3632504" y="2671990"/>
                <a:ext cx="7320466" cy="26287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IN" sz="2400" dirty="0">
                    <a:solidFill>
                      <a:srgbClr val="FF0000"/>
                    </a:solidFill>
                    <a:latin typeface="Abadi Extra Light" panose="020B0204020104020204" pitchFamily="34" charset="0"/>
                  </a:rPr>
                  <a:t>Mean</a:t>
                </a:r>
                <a:r>
                  <a:rPr lang="en-IN" sz="2400" dirty="0">
                    <a:latin typeface="Abadi Extra Light" panose="020B0204020104020204" pitchFamily="34" charset="0"/>
                  </a:rPr>
                  <a:t> of projections of all inputs:</a:t>
                </a:r>
              </a:p>
              <a:p>
                <a:endParaRPr lang="en-IN" dirty="0"/>
              </a:p>
              <a:p>
                <a14:m>
                  <m:oMath xmlns:m="http://schemas.openxmlformats.org/officeDocument/2006/math">
                    <m:f>
                      <m:fPr>
                        <m:ctrlPr>
                          <a:rPr lang="en-IN" sz="24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den>
                    </m:f>
                    <m:nary>
                      <m:naryPr>
                        <m:chr m:val="∑"/>
                        <m:limLoc m:val="subSup"/>
                        <m:ctrlPr>
                          <a:rPr lang="en-IN" sz="240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5"/>
                          </m:rPr>
                          <a:rPr lang="en-IN" sz="2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IN" sz="2400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IN" sz="24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sup>
                      <m:e>
                        <m:sSubSup>
                          <m:sSubSupPr>
                            <m:ctrlPr>
                              <a:rPr lang="en-IN" sz="2400" i="1" dirty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IN" sz="2400" b="1" i="1" dirty="0">
                                <a:latin typeface="Cambria Math" panose="02040503050406030204" pitchFamily="18" charset="0"/>
                              </a:rPr>
                              <m:t>𝒘</m:t>
                            </m:r>
                          </m:e>
                          <m:sub>
                            <m:r>
                              <a:rPr lang="en-IN" sz="2400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IN" sz="2400" i="1" dirty="0">
                                <a:latin typeface="Cambria Math" panose="02040503050406030204" pitchFamily="18" charset="0"/>
                              </a:rPr>
                              <m:t>⊤</m:t>
                            </m:r>
                          </m:sup>
                        </m:sSubSup>
                        <m:sSub>
                          <m:sSubPr>
                            <m:ctrlPr>
                              <a:rPr lang="en-IN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400" b="1" i="1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en-IN" sz="24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  <m:r>
                          <a:rPr lang="en-IN" sz="2400" b="0" i="1" smtClean="0">
                            <a:latin typeface="Cambria Math" panose="02040503050406030204" pitchFamily="18" charset="0"/>
                          </a:rPr>
                          <m:t>= </m:t>
                        </m:r>
                      </m:e>
                    </m:nary>
                  </m:oMath>
                </a14:m>
                <a:r>
                  <a:rPr lang="en-IN" sz="2400" dirty="0"/>
                  <a:t/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IN" sz="2400" i="1" dirty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IN" sz="2400" b="1" i="1" dirty="0">
                            <a:latin typeface="Cambria Math" panose="02040503050406030204" pitchFamily="18" charset="0"/>
                          </a:rPr>
                          <m:t>𝒘</m:t>
                        </m:r>
                      </m:e>
                      <m:sub>
                        <m:r>
                          <a:rPr lang="en-IN" sz="2400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 dirty="0">
                            <a:latin typeface="Cambria Math" panose="02040503050406030204" pitchFamily="18" charset="0"/>
                          </a:rPr>
                          <m:t>⊤</m:t>
                        </m:r>
                      </m:sup>
                    </m:sSubSup>
                    <m:r>
                      <a:rPr lang="en-IN" sz="2400" b="0" i="1" dirty="0" smtClean="0">
                        <a:latin typeface="Cambria Math" panose="02040503050406030204" pitchFamily="18" charset="0"/>
                      </a:rPr>
                      <m:t>(</m:t>
                    </m:r>
                    <m:f>
                      <m:fPr>
                        <m:ctrlPr>
                          <a:rPr lang="en-IN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latin typeface="Cambria Math" panose="02040503050406030204" pitchFamily="18" charset="0"/>
                          </a:rPr>
                          <m:t>𝑁</m:t>
                        </m:r>
                      </m:den>
                    </m:f>
                    <m:nary>
                      <m:naryPr>
                        <m:chr m:val="∑"/>
                        <m:limLoc m:val="subSup"/>
                        <m:ctrlPr>
                          <a:rPr lang="en-IN" sz="24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5"/>
                          </m:rPr>
                          <a:rPr lang="en-IN" sz="2400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IN" sz="2400" i="1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IN" sz="2400" i="1">
                            <a:latin typeface="Cambria Math" panose="02040503050406030204" pitchFamily="18" charset="0"/>
                          </a:rPr>
                          <m:t>𝑁</m:t>
                        </m:r>
                      </m:sup>
                      <m:e>
                        <m:sSub>
                          <m:sSubPr>
                            <m:ctrlPr>
                              <a:rPr lang="en-IN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400" b="1" i="1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en-IN" sz="24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  <m:r>
                          <a:rPr lang="en-IN" sz="2400" b="0" i="1" smtClean="0"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a:rPr lang="en-IN" sz="2400" i="1">
                            <a:latin typeface="Cambria Math" panose="02040503050406030204" pitchFamily="18" charset="0"/>
                          </a:rPr>
                          <m:t>=</m:t>
                        </m:r>
                        <m:sSubSup>
                          <m:sSubSupPr>
                            <m:ctrlPr>
                              <a:rPr lang="en-IN" sz="2400" i="1" dirty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IN" sz="2400" b="1" i="1" dirty="0">
                                <a:latin typeface="Cambria Math" panose="02040503050406030204" pitchFamily="18" charset="0"/>
                              </a:rPr>
                              <m:t>𝒘</m:t>
                            </m:r>
                          </m:e>
                          <m:sub>
                            <m:r>
                              <a:rPr lang="en-IN" sz="2400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IN" sz="2400" i="1" dirty="0">
                                <a:latin typeface="Cambria Math" panose="02040503050406030204" pitchFamily="18" charset="0"/>
                              </a:rPr>
                              <m:t>⊤</m:t>
                            </m:r>
                          </m:sup>
                        </m:sSubSup>
                        <m:r>
                          <a:rPr lang="en-IN" sz="2400" b="1" i="1" dirty="0" smtClean="0">
                            <a:latin typeface="Cambria Math" panose="02040503050406030204" pitchFamily="18" charset="0"/>
                          </a:rPr>
                          <m:t>𝝁</m:t>
                        </m:r>
                      </m:e>
                    </m:nary>
                  </m:oMath>
                </a14:m>
                <a:endParaRPr lang="en-IN" sz="2400" dirty="0"/>
              </a:p>
              <a:p>
                <a:endParaRPr lang="en-IN" sz="2400" dirty="0"/>
              </a:p>
              <a:p>
                <a:r>
                  <a:rPr lang="en-IN" sz="2400" dirty="0">
                    <a:solidFill>
                      <a:srgbClr val="FF0000"/>
                    </a:solidFill>
                    <a:latin typeface="Abadi Extra Light" panose="020B0204020104020204" pitchFamily="34" charset="0"/>
                  </a:rPr>
                  <a:t>Variance</a:t>
                </a:r>
                <a:r>
                  <a:rPr lang="en-IN" sz="2400" dirty="0">
                    <a:latin typeface="Abadi Extra Light" panose="020B0204020104020204" pitchFamily="34" charset="0"/>
                  </a:rPr>
                  <a:t> of the projections: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IN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20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IN" sz="2000" i="1">
                              <a:latin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  <m:nary>
                        <m:naryPr>
                          <m:chr m:val="∑"/>
                          <m:limLoc m:val="subSup"/>
                          <m:ctrlPr>
                            <a:rPr lang="en-IN" sz="20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5"/>
                            </m:rPr>
                            <a:rPr lang="en-IN" sz="2000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IN" sz="2000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IN" sz="2000" i="1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sSup>
                            <m:sSupPr>
                              <m:ctrlPr>
                                <a:rPr lang="en-IN" sz="200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sSubSup>
                                <m:sSubSupPr>
                                  <m:ctrlPr>
                                    <a:rPr lang="en-IN" sz="20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IN" sz="2000" b="1" i="1" dirty="0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IN" sz="2000" b="1" i="1" dirty="0">
                                      <a:latin typeface="Cambria Math" panose="02040503050406030204" pitchFamily="18" charset="0"/>
                                    </a:rPr>
                                    <m:t>𝒘</m:t>
                                  </m:r>
                                </m:e>
                                <m:sub>
                                  <m:r>
                                    <a:rPr lang="en-IN" sz="2000" i="1" dirty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en-IN" sz="2000" i="1" dirty="0">
                                      <a:latin typeface="Cambria Math" panose="02040503050406030204" pitchFamily="18" charset="0"/>
                                    </a:rPr>
                                    <m:t>⊤</m:t>
                                  </m:r>
                                </m:sup>
                              </m:sSubSup>
                              <m:sSub>
                                <m:sSubPr>
                                  <m:ctrlPr>
                                    <a:rPr lang="en-IN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2000" b="1" i="1"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lang="en-IN" sz="20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  <m:r>
                                <a:rPr lang="en-IN" sz="20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Sup>
                                <m:sSubSupPr>
                                  <m:ctrlPr>
                                    <a:rPr lang="en-IN" sz="20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IN" sz="2000" b="1" i="1" dirty="0">
                                      <a:latin typeface="Cambria Math" panose="02040503050406030204" pitchFamily="18" charset="0"/>
                                    </a:rPr>
                                    <m:t>𝒘</m:t>
                                  </m:r>
                                </m:e>
                                <m:sub>
                                  <m:r>
                                    <a:rPr lang="en-IN" sz="2000" i="1" dirty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en-IN" sz="2000" i="1" dirty="0">
                                      <a:latin typeface="Cambria Math" panose="02040503050406030204" pitchFamily="18" charset="0"/>
                                    </a:rPr>
                                    <m:t>⊤</m:t>
                                  </m:r>
                                </m:sup>
                              </m:sSubSup>
                              <m:r>
                                <a:rPr lang="en-IN" sz="2000" b="1" i="1" dirty="0">
                                  <a:latin typeface="Cambria Math" panose="02040503050406030204" pitchFamily="18" charset="0"/>
                                </a:rPr>
                                <m:t>𝝁</m:t>
                              </m:r>
                              <m:r>
                                <a:rPr lang="en-IN" sz="2000" i="1" dirty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IN" sz="20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f>
                            <m:fPr>
                              <m:ctrlPr>
                                <a:rPr lang="en-IN" sz="20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IN" sz="20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IN" sz="2000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den>
                          </m:f>
                          <m:nary>
                            <m:naryPr>
                              <m:chr m:val="∑"/>
                              <m:limLoc m:val="subSup"/>
                              <m:ctrlPr>
                                <a:rPr lang="en-IN" sz="20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5"/>
                                </m:rPr>
                                <a:rPr lang="en-IN" sz="20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IN" sz="2000" i="1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IN" sz="2000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sup>
                            <m:e>
                              <m:sSup>
                                <m:sSupPr>
                                  <m:ctrlPr>
                                    <a:rPr lang="en-IN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sSubSup>
                                    <m:sSubSupPr>
                                      <m:ctrlPr>
                                        <a:rPr lang="en-IN" sz="20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IN" sz="2000" b="1" i="1" dirty="0" smtClean="0">
                                          <a:latin typeface="Cambria Math" panose="02040503050406030204" pitchFamily="18" charset="0"/>
                                        </a:rPr>
                                        <m:t>{</m:t>
                                      </m:r>
                                      <m:r>
                                        <a:rPr lang="en-IN" sz="2000" b="1" i="1" dirty="0">
                                          <a:latin typeface="Cambria Math" panose="02040503050406030204" pitchFamily="18" charset="0"/>
                                        </a:rPr>
                                        <m:t>𝒘</m:t>
                                      </m:r>
                                    </m:e>
                                    <m:sub>
                                      <m:r>
                                        <a:rPr lang="en-IN" sz="2000" i="1" dirty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  <m:sup>
                                      <m:r>
                                        <a:rPr lang="en-IN" sz="2000" i="1" dirty="0">
                                          <a:latin typeface="Cambria Math" panose="02040503050406030204" pitchFamily="18" charset="0"/>
                                        </a:rPr>
                                        <m:t>⊤</m:t>
                                      </m:r>
                                    </m:sup>
                                  </m:sSubSup>
                                  <m:sSub>
                                    <m:sSubPr>
                                      <m:ctrlPr>
                                        <a:rPr lang="en-IN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IN" sz="2000" b="1" i="1" smtClean="0">
                                          <a:latin typeface="Cambria Math" panose="02040503050406030204" pitchFamily="18" charset="0"/>
                                        </a:rPr>
                                        <m:t>(</m:t>
                                      </m:r>
                                      <m:r>
                                        <a:rPr lang="en-IN" sz="2000" b="1" i="1">
                                          <a:latin typeface="Cambria Math" panose="02040503050406030204" pitchFamily="18" charset="0"/>
                                        </a:rPr>
                                        <m:t>𝒙</m:t>
                                      </m:r>
                                    </m:e>
                                    <m:sub>
                                      <m:r>
                                        <a:rPr lang="en-IN" sz="2000" i="1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sub>
                                  </m:sSub>
                                  <m:r>
                                    <a:rPr lang="en-IN" sz="2000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IN" sz="2000" b="1" i="1" dirty="0">
                                      <a:latin typeface="Cambria Math" panose="02040503050406030204" pitchFamily="18" charset="0"/>
                                    </a:rPr>
                                    <m:t>𝝁</m:t>
                                  </m:r>
                                  <m:r>
                                    <a:rPr lang="en-IN" sz="2000" i="1" dirty="0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  <m:r>
                                    <a:rPr lang="en-IN" sz="2000" b="0" i="1" dirty="0" smtClean="0">
                                      <a:latin typeface="Cambria Math" panose="02040503050406030204" pitchFamily="18" charset="0"/>
                                    </a:rPr>
                                    <m:t>}</m:t>
                                  </m:r>
                                </m:e>
                                <m:sup>
                                  <m:r>
                                    <a:rPr lang="en-IN" sz="20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IN" sz="2000" i="1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</m:e>
                          </m:nary>
                        </m:e>
                      </m:nary>
                      <m:sSubSup>
                        <m:sSubSupPr>
                          <m:ctrlPr>
                            <a:rPr lang="en-IN" sz="2000" i="1" dirty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IN" sz="2000" b="1" i="1" dirty="0"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  <m:sub>
                          <m:r>
                            <a:rPr lang="en-IN" sz="20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IN" sz="2000" i="1" dirty="0">
                              <a:latin typeface="Cambria Math" panose="02040503050406030204" pitchFamily="18" charset="0"/>
                            </a:rPr>
                            <m:t>⊤</m:t>
                          </m:r>
                        </m:sup>
                      </m:sSubSup>
                      <m:r>
                        <a:rPr lang="en-IN" sz="2000" b="1" i="1" dirty="0" smtClean="0">
                          <a:latin typeface="Cambria Math" panose="02040503050406030204" pitchFamily="18" charset="0"/>
                        </a:rPr>
                        <m:t>𝑺</m:t>
                      </m:r>
                      <m:sSub>
                        <m:sSubPr>
                          <m:ctrlPr>
                            <a:rPr lang="en-IN" sz="20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000" b="1" i="1" dirty="0" smtClean="0"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  <m:sub>
                          <m:r>
                            <a:rPr lang="en-IN" sz="20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IN" sz="2000" dirty="0"/>
              </a:p>
            </p:txBody>
          </p:sp>
        </mc:Choice>
        <mc:Fallback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xmlns="" xmlns:a14="http://schemas.microsoft.com/office/drawing/2010/main" id="{D4CF7E69-BB5F-4AE1-941A-37E8A882ED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32504" y="2671990"/>
                <a:ext cx="7320466" cy="2628797"/>
              </a:xfrm>
              <a:prstGeom prst="rect">
                <a:avLst/>
              </a:prstGeom>
              <a:blipFill>
                <a:blip r:embed="rId7" cstate="print"/>
                <a:stretch>
                  <a:fillRect l="-1332" t="-208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xmlns="" Requires="a14">
          <p:sp>
            <p:nvSpPr>
              <p:cNvPr id="44" name="Speech Bubble: Rectangle 43">
                <a:extLst>
                  <a:ext uri="{FF2B5EF4-FFF2-40B4-BE49-F238E27FC236}">
                    <a16:creationId xmlns:a16="http://schemas.microsoft.com/office/drawing/2014/main" id="{B56FD281-1EED-44ED-80E7-E4A7E6B924E2}"/>
                  </a:ext>
                </a:extLst>
              </p:cNvPr>
              <p:cNvSpPr/>
              <p:nvPr/>
            </p:nvSpPr>
            <p:spPr>
              <a:xfrm>
                <a:off x="8725398" y="3785595"/>
                <a:ext cx="3410968" cy="764910"/>
              </a:xfrm>
              <a:prstGeom prst="wedgeRectCallout">
                <a:avLst>
                  <a:gd name="adj1" fmla="val -4691"/>
                  <a:gd name="adj2" fmla="val 78731"/>
                </a:avLst>
              </a:prstGeom>
              <a:solidFill>
                <a:schemeClr val="bg1"/>
              </a:solidFill>
              <a:ln w="19050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14:m>
                  <m:oMath xmlns:m="http://schemas.openxmlformats.org/officeDocument/2006/math">
                    <m:r>
                      <a:rPr lang="en-IN" sz="1600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𝑺</m:t>
                    </m:r>
                  </m:oMath>
                </a14:m>
                <a:r>
                  <a:rPr lang="en-IN" sz="1600" dirty="0">
                    <a:solidFill>
                      <a:schemeClr val="tx1"/>
                    </a:solidFill>
                    <a:latin typeface="Abadi Extra Light" panose="020B0204020104020204" pitchFamily="34" charset="0"/>
                  </a:rPr>
                  <a:t> is the </a:t>
                </a:r>
                <a14:m>
                  <m:oMath xmlns:m="http://schemas.openxmlformats.org/officeDocument/2006/math">
                    <m:r>
                      <a:rPr lang="en-IN" sz="16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IN" sz="16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16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IN" sz="16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1600" dirty="0" err="1">
                    <a:solidFill>
                      <a:schemeClr val="tx1"/>
                    </a:solidFill>
                    <a:latin typeface="Abadi Extra Light" panose="020B0204020104020204" pitchFamily="34" charset="0"/>
                  </a:rPr>
                  <a:t>cov</a:t>
                </a:r>
                <a:r>
                  <a:rPr lang="en-IN" sz="1600" dirty="0">
                    <a:solidFill>
                      <a:schemeClr val="tx1"/>
                    </a:solidFill>
                    <a:latin typeface="Abadi Extra Light" panose="020B0204020104020204" pitchFamily="34" charset="0"/>
                  </a:rPr>
                  <a:t> matrix of the data: 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1600" b="1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𝑺</m:t>
                      </m:r>
                      <m:r>
                        <a:rPr lang="en-IN" sz="1600" b="0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IN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  <m:nary>
                        <m:naryPr>
                          <m:chr m:val="∑"/>
                          <m:limLoc m:val="subSup"/>
                          <m:ctrlPr>
                            <a:rPr lang="en-IN" sz="16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5"/>
                            </m:rPr>
                            <a:rPr lang="en-IN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IN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IN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r>
                            <a:rPr lang="en-IN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IN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16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en-IN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r>
                            <a:rPr lang="en-IN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IN" sz="16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𝝁</m:t>
                          </m:r>
                          <m:r>
                            <a:rPr lang="en-IN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  <m:sSup>
                            <m:sSupPr>
                              <m:ctrlPr>
                                <a:rPr lang="en-IN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IN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IN" sz="16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16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lang="en-IN" sz="16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  <m:r>
                                <a:rPr lang="en-IN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16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𝝁</m:t>
                              </m:r>
                              <m:r>
                                <a:rPr lang="en-IN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IN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⊤</m:t>
                              </m:r>
                            </m:sup>
                          </m:sSup>
                          <m:r>
                            <a:rPr lang="en-IN" sz="16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nary>
                    </m:oMath>
                  </m:oMathPara>
                </a14:m>
                <a:endParaRPr lang="en-IN" sz="1600" dirty="0">
                  <a:solidFill>
                    <a:schemeClr val="tx1"/>
                  </a:solidFill>
                  <a:latin typeface="Abadi Extra Light" panose="020B0204020104020204" pitchFamily="34" charset="0"/>
                </a:endParaRPr>
              </a:p>
            </p:txBody>
          </p:sp>
        </mc:Choice>
        <mc:Fallback>
          <p:sp>
            <p:nvSpPr>
              <p:cNvPr id="44" name="Speech Bubble: Rectangle 43">
                <a:extLst>
                  <a:ext uri="{FF2B5EF4-FFF2-40B4-BE49-F238E27FC236}">
                    <a16:creationId xmlns:a16="http://schemas.microsoft.com/office/drawing/2014/main" xmlns="" xmlns:a14="http://schemas.microsoft.com/office/drawing/2010/main" id="{B56FD281-1EED-44ED-80E7-E4A7E6B924E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25398" y="3785595"/>
                <a:ext cx="3410968" cy="764910"/>
              </a:xfrm>
              <a:prstGeom prst="wedgeRectCallout">
                <a:avLst>
                  <a:gd name="adj1" fmla="val -4691"/>
                  <a:gd name="adj2" fmla="val 78731"/>
                </a:avLst>
              </a:prstGeom>
              <a:blipFill>
                <a:blip r:embed="rId8" cstate="print"/>
                <a:stretch>
                  <a:fillRect t="-4848"/>
                </a:stretch>
              </a:blipFill>
              <a:ln w="19050">
                <a:solidFill>
                  <a:schemeClr val="accent2"/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xmlns="" Requires="a14">
          <p:sp>
            <p:nvSpPr>
              <p:cNvPr id="45" name="Speech Bubble: Rectangle 44">
                <a:extLst>
                  <a:ext uri="{FF2B5EF4-FFF2-40B4-BE49-F238E27FC236}">
                    <a16:creationId xmlns:a16="http://schemas.microsoft.com/office/drawing/2014/main" id="{09C9D12E-FBE6-48B8-AC13-A22194407668}"/>
                  </a:ext>
                </a:extLst>
              </p:cNvPr>
              <p:cNvSpPr/>
              <p:nvPr/>
            </p:nvSpPr>
            <p:spPr>
              <a:xfrm>
                <a:off x="8337284" y="5441363"/>
                <a:ext cx="3410968" cy="764910"/>
              </a:xfrm>
              <a:prstGeom prst="wedgeRectCallout">
                <a:avLst>
                  <a:gd name="adj1" fmla="val 3179"/>
                  <a:gd name="adj2" fmla="val -95649"/>
                </a:avLst>
              </a:prstGeom>
              <a:solidFill>
                <a:schemeClr val="bg1"/>
              </a:solidFill>
              <a:ln w="19050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IN" sz="1600" dirty="0">
                    <a:solidFill>
                      <a:schemeClr val="tx1"/>
                    </a:solidFill>
                    <a:latin typeface="Abadi Extra Light" panose="020B0204020104020204" pitchFamily="34" charset="0"/>
                  </a:rPr>
                  <a:t>For already </a:t>
                </a:r>
                <a:r>
                  <a:rPr lang="en-IN" sz="1600" dirty="0" err="1">
                    <a:solidFill>
                      <a:schemeClr val="tx1"/>
                    </a:solidFill>
                    <a:latin typeface="Abadi Extra Light" panose="020B0204020104020204" pitchFamily="34" charset="0"/>
                  </a:rPr>
                  <a:t>centered</a:t>
                </a:r>
                <a:r>
                  <a:rPr lang="en-IN" sz="1600" dirty="0">
                    <a:solidFill>
                      <a:schemeClr val="tx1"/>
                    </a:solidFill>
                    <a:latin typeface="Abadi Extra Light" panose="020B0204020104020204" pitchFamily="34" charset="0"/>
                  </a:rPr>
                  <a:t> data, </a:t>
                </a:r>
                <a14:m>
                  <m:oMath xmlns:m="http://schemas.openxmlformats.org/officeDocument/2006/math">
                    <m:r>
                      <a:rPr lang="en-IN" sz="1600" b="1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𝝁</m:t>
                    </m:r>
                    <m:r>
                      <a:rPr lang="en-IN" sz="1600" b="1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1600" dirty="0">
                    <a:solidFill>
                      <a:schemeClr val="tx1"/>
                    </a:solidFill>
                    <a:latin typeface="Abadi Extra Light" panose="020B0204020104020204" pitchFamily="34" charset="0"/>
                  </a:rPr>
                  <a:t>= </a:t>
                </a:r>
                <a14:m>
                  <m:oMath xmlns:m="http://schemas.openxmlformats.org/officeDocument/2006/math">
                    <m:r>
                      <a:rPr lang="en-IN" sz="1600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r>
                  <a:rPr lang="en-IN" sz="1600" dirty="0">
                    <a:solidFill>
                      <a:schemeClr val="tx1"/>
                    </a:solidFill>
                    <a:latin typeface="Abadi Extra Light" panose="020B0204020104020204" pitchFamily="34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1600" b="1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𝑺</m:t>
                    </m:r>
                    <m:r>
                      <a:rPr lang="en-IN" sz="1600" b="0" i="0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IN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den>
                    </m:f>
                    <m:nary>
                      <m:naryPr>
                        <m:chr m:val="∑"/>
                        <m:limLoc m:val="subSup"/>
                        <m:ctrlPr>
                          <a:rPr lang="en-IN" sz="16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5"/>
                          </m:rPr>
                          <a:rPr lang="en-IN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IN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IN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sup>
                      <m:e>
                        <m:sSub>
                          <m:sSubPr>
                            <m:ctrlPr>
                              <a:rPr lang="en-IN" sz="1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16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en-IN" sz="1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nary>
                    <m:sSubSup>
                      <m:sSubSupPr>
                        <m:ctrlPr>
                          <a:rPr lang="en-IN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IN" sz="16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IN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  <m:sup>
                        <m:r>
                          <a:rPr lang="en-IN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⊤</m:t>
                        </m:r>
                      </m:sup>
                    </m:sSubSup>
                  </m:oMath>
                </a14:m>
                <a:r>
                  <a:rPr lang="en-IN" sz="1600" dirty="0">
                    <a:solidFill>
                      <a:schemeClr val="tx1"/>
                    </a:solidFill>
                    <a:latin typeface="Abadi Extra Light" panose="020B0204020104020204" pitchFamily="34" charset="0"/>
                  </a:rPr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den>
                    </m:f>
                    <m:r>
                      <a:rPr lang="en-IN" sz="16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𝑿</m:t>
                    </m:r>
                    <m:sSup>
                      <m:sSupPr>
                        <m:ctrlPr>
                          <a:rPr lang="en-IN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N" sz="16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𝑿</m:t>
                        </m:r>
                      </m:e>
                      <m:sup>
                        <m:r>
                          <a:rPr lang="en-IN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⊤</m:t>
                        </m:r>
                      </m:sup>
                    </m:sSup>
                  </m:oMath>
                </a14:m>
                <a:endParaRPr lang="en-IN" sz="1600" dirty="0">
                  <a:solidFill>
                    <a:schemeClr val="tx1"/>
                  </a:solidFill>
                  <a:latin typeface="Abadi Extra Light" panose="020B0204020104020204" pitchFamily="34" charset="0"/>
                </a:endParaRPr>
              </a:p>
            </p:txBody>
          </p:sp>
        </mc:Choice>
        <mc:Fallback>
          <p:sp>
            <p:nvSpPr>
              <p:cNvPr id="45" name="Speech Bubble: Rectangle 44">
                <a:extLst>
                  <a:ext uri="{FF2B5EF4-FFF2-40B4-BE49-F238E27FC236}">
                    <a16:creationId xmlns:a16="http://schemas.microsoft.com/office/drawing/2014/main" xmlns="" xmlns:a14="http://schemas.microsoft.com/office/drawing/2010/main" id="{09C9D12E-FBE6-48B8-AC13-A2219440766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37284" y="5441363"/>
                <a:ext cx="3410968" cy="764910"/>
              </a:xfrm>
              <a:prstGeom prst="wedgeRectCallout">
                <a:avLst>
                  <a:gd name="adj1" fmla="val 3179"/>
                  <a:gd name="adj2" fmla="val -95649"/>
                </a:avLst>
              </a:prstGeom>
              <a:blipFill>
                <a:blip r:embed="rId9" cstate="print"/>
                <a:stretch>
                  <a:fillRect l="-890" b="-42246"/>
                </a:stretch>
              </a:blipFill>
              <a:ln w="19050">
                <a:solidFill>
                  <a:schemeClr val="accent2"/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xmlns="" Requires="a14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309D857C-5010-4344-83B8-D33E98F423DD}"/>
                  </a:ext>
                </a:extLst>
              </p:cNvPr>
              <p:cNvSpPr txBox="1"/>
              <p:nvPr/>
            </p:nvSpPr>
            <p:spPr>
              <a:xfrm>
                <a:off x="3120775" y="5968100"/>
                <a:ext cx="4510017" cy="52700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 b="0" i="1" smtClean="0">
                        <a:latin typeface="Cambria Math" panose="02040503050406030204" pitchFamily="18" charset="0"/>
                      </a:rPr>
                      <m:t>arg</m:t>
                    </m:r>
                    <m:limLow>
                      <m:limLowPr>
                        <m:ctrlPr>
                          <a:rPr lang="en-IN" sz="2400" b="0" i="1" smtClean="0">
                            <a:latin typeface="Cambria Math" panose="02040503050406030204" pitchFamily="18" charset="0"/>
                          </a:rPr>
                        </m:ctrlPr>
                      </m:limLowPr>
                      <m:e>
                        <m:r>
                          <m:rPr>
                            <m:sty m:val="p"/>
                          </m:rPr>
                          <a:rPr lang="en-IN" sz="2400" b="0" i="0" smtClean="0">
                            <a:latin typeface="Cambria Math" panose="02040503050406030204" pitchFamily="18" charset="0"/>
                          </a:rPr>
                          <m:t>max</m:t>
                        </m:r>
                      </m:e>
                      <m:lim>
                        <m:sSub>
                          <m:sSubPr>
                            <m:ctrlPr>
                              <a:rPr lang="en-IN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400" b="1" i="1" smtClean="0">
                                <a:latin typeface="Cambria Math" panose="02040503050406030204" pitchFamily="18" charset="0"/>
                              </a:rPr>
                              <m:t>𝒘</m:t>
                            </m:r>
                          </m:e>
                          <m:sub>
                            <m:r>
                              <a:rPr lang="en-IN" sz="2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lim>
                    </m:limLow>
                  </m:oMath>
                </a14:m>
                <a:r>
                  <a:rPr lang="en-IN" sz="2400" dirty="0"/>
                  <a:t/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IN" sz="2400" i="1" dirty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IN" sz="2400" b="1" i="1" dirty="0">
                            <a:latin typeface="Cambria Math" panose="02040503050406030204" pitchFamily="18" charset="0"/>
                          </a:rPr>
                          <m:t>𝒘</m:t>
                        </m:r>
                      </m:e>
                      <m:sub>
                        <m:r>
                          <a:rPr lang="en-IN" sz="2400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 dirty="0">
                            <a:latin typeface="Cambria Math" panose="02040503050406030204" pitchFamily="18" charset="0"/>
                          </a:rPr>
                          <m:t>⊤</m:t>
                        </m:r>
                      </m:sup>
                    </m:sSubSup>
                    <m:r>
                      <a:rPr lang="en-IN" sz="2400" b="1" i="1" dirty="0">
                        <a:latin typeface="Cambria Math" panose="02040503050406030204" pitchFamily="18" charset="0"/>
                      </a:rPr>
                      <m:t>𝑺</m:t>
                    </m:r>
                    <m:sSub>
                      <m:sSubPr>
                        <m:ctrlPr>
                          <a:rPr lang="en-IN" sz="24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400" b="1" i="1" dirty="0">
                            <a:latin typeface="Cambria Math" panose="02040503050406030204" pitchFamily="18" charset="0"/>
                          </a:rPr>
                          <m:t>𝒘</m:t>
                        </m:r>
                      </m:e>
                      <m:sub>
                        <m:r>
                          <a:rPr lang="en-IN" sz="2400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IN" sz="2400" dirty="0"/>
                  <a:t/>
                </a:r>
                <a:r>
                  <a:rPr lang="en-IN" sz="2400" dirty="0" err="1"/>
                  <a:t>s.t.</a:t>
                </a:r>
                <a:r>
                  <a:rPr lang="en-IN" sz="2400" dirty="0"/>
                  <a:t/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IN" sz="2400" i="1" dirty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IN" sz="2400" b="1" i="1" dirty="0">
                            <a:latin typeface="Cambria Math" panose="02040503050406030204" pitchFamily="18" charset="0"/>
                          </a:rPr>
                          <m:t>𝒘</m:t>
                        </m:r>
                      </m:e>
                      <m:sub>
                        <m:r>
                          <a:rPr lang="en-IN" sz="2400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 dirty="0">
                            <a:latin typeface="Cambria Math" panose="02040503050406030204" pitchFamily="18" charset="0"/>
                          </a:rPr>
                          <m:t>⊤</m:t>
                        </m:r>
                      </m:sup>
                    </m:sSubSup>
                    <m:sSub>
                      <m:sSubPr>
                        <m:ctrlPr>
                          <a:rPr lang="en-IN" sz="24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400" b="1" i="1" dirty="0">
                            <a:latin typeface="Cambria Math" panose="02040503050406030204" pitchFamily="18" charset="0"/>
                          </a:rPr>
                          <m:t>𝒘</m:t>
                        </m:r>
                      </m:e>
                      <m:sub>
                        <m:r>
                          <a:rPr lang="en-IN" sz="2400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IN" sz="2400" b="0" i="1" dirty="0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endParaRPr lang="en-IN" sz="2400" dirty="0"/>
              </a:p>
            </p:txBody>
          </p:sp>
        </mc:Choice>
        <mc:Fallback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xmlns="" xmlns:a14="http://schemas.microsoft.com/office/drawing/2010/main" id="{309D857C-5010-4344-83B8-D33E98F423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20775" y="5968100"/>
                <a:ext cx="4510017" cy="527004"/>
              </a:xfrm>
              <a:prstGeom prst="rect">
                <a:avLst/>
              </a:prstGeom>
              <a:blipFill>
                <a:blip r:embed="rId10" cstate="print"/>
                <a:stretch>
                  <a:fillRect l="-2432" t="-16279" r="-1216" b="-9302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8" name="Rectangle 47">
            <a:extLst>
              <a:ext uri="{FF2B5EF4-FFF2-40B4-BE49-F238E27FC236}">
                <a16:creationId xmlns:a16="http://schemas.microsoft.com/office/drawing/2014/main" xmlns="" id="{206D97CD-A88B-41DF-BF65-36FBCD656DB6}"/>
              </a:ext>
            </a:extLst>
          </p:cNvPr>
          <p:cNvSpPr/>
          <p:nvPr/>
        </p:nvSpPr>
        <p:spPr>
          <a:xfrm>
            <a:off x="2955172" y="5852290"/>
            <a:ext cx="4727601" cy="671267"/>
          </a:xfrm>
          <a:prstGeom prst="rect">
            <a:avLst/>
          </a:prstGeom>
          <a:solidFill>
            <a:schemeClr val="accent4">
              <a:lumMod val="20000"/>
              <a:lumOff val="80000"/>
              <a:alpha val="22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7" name="Speech Bubble: Rectangle 46">
            <a:extLst>
              <a:ext uri="{FF2B5EF4-FFF2-40B4-BE49-F238E27FC236}">
                <a16:creationId xmlns:a16="http://schemas.microsoft.com/office/drawing/2014/main" xmlns="" id="{5B91B956-142F-4989-9EAD-1EFF0ED0D867}"/>
              </a:ext>
            </a:extLst>
          </p:cNvPr>
          <p:cNvSpPr/>
          <p:nvPr/>
        </p:nvSpPr>
        <p:spPr>
          <a:xfrm>
            <a:off x="5810986" y="6435492"/>
            <a:ext cx="2472774" cy="383601"/>
          </a:xfrm>
          <a:prstGeom prst="wedgeRectCallout">
            <a:avLst>
              <a:gd name="adj1" fmla="val 4197"/>
              <a:gd name="adj2" fmla="val -71593"/>
            </a:avLst>
          </a:prstGeom>
          <a:solidFill>
            <a:schemeClr val="bg1"/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1200" dirty="0">
                <a:solidFill>
                  <a:schemeClr val="tx1"/>
                </a:solidFill>
                <a:latin typeface="Abadi Extra Light" panose="020B0204020104020204" pitchFamily="34" charset="0"/>
              </a:rPr>
              <a:t>Need this constraint otherwise the objective’s max will be infinity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xmlns="" val="113035007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slow" p14:dur="2000" advTm="367020"/>
    </mc:Choice>
    <mc:Fallback>
      <p:transition spd="slow" advTm="36702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5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8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1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6" dur="500"/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1" dur="500"/>
                                        <p:tgtEl>
                                          <p:spTgt spid="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6" dur="500"/>
                                        <p:tgtEl>
                                          <p:spTgt spid="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1" dur="500"/>
                                        <p:tgtEl>
                                          <p:spTgt spid="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6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1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6" dur="5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1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4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9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33" grpId="0" animBg="1"/>
      <p:bldP spid="34" grpId="0" animBg="1"/>
      <p:bldP spid="40" grpId="0" animBg="1"/>
      <p:bldP spid="44" grpId="0" animBg="1"/>
      <p:bldP spid="45" grpId="0" animBg="1"/>
      <p:bldP spid="46" grpId="0" animBg="1"/>
      <p:bldP spid="48" grpId="0" animBg="1"/>
      <p:bldP spid="47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D7657946-FC7F-477C-9867-0ED704A858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5245" y="169682"/>
            <a:ext cx="11740617" cy="821500"/>
          </a:xfrm>
        </p:spPr>
        <p:txBody>
          <a:bodyPr>
            <a:normAutofit/>
          </a:bodyPr>
          <a:lstStyle/>
          <a:p>
            <a:r>
              <a:rPr lang="en-IN" dirty="0">
                <a:solidFill>
                  <a:schemeClr val="accent2">
                    <a:lumMod val="75000"/>
                  </a:schemeClr>
                </a:solidFill>
              </a:rPr>
              <a:t>Max. Variance Direction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xmlns="" id="{F77B66E3-3803-4788-BC62-221F4919CBCE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323930" y="136939"/>
            <a:ext cx="602825" cy="365125"/>
          </a:xfrm>
        </p:spPr>
        <p:txBody>
          <a:bodyPr/>
          <a:lstStyle/>
          <a:p>
            <a:fld id="{80FED9D3-AF84-488D-8A6A-726D5349CDAB}" type="slidenum">
              <a:rPr lang="en-IN" sz="2800" smtClean="0">
                <a:solidFill>
                  <a:schemeClr val="accent2">
                    <a:lumMod val="40000"/>
                    <a:lumOff val="60000"/>
                  </a:schemeClr>
                </a:solidFill>
              </a:rPr>
              <a:pPr/>
              <a:t>9</a:t>
            </a:fld>
            <a:endParaRPr lang="en-IN" sz="2800" dirty="0"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xmlns="" Requires="a14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314819C9-D576-44D5-A1AF-875A21D5EF7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65245" y="1130786"/>
                <a:ext cx="11740617" cy="5557532"/>
              </a:xfrm>
            </p:spPr>
            <p:txBody>
              <a:bodyPr>
                <a:noAutofit/>
              </a:bodyPr>
              <a:lstStyle/>
              <a:p>
                <a:pPr>
                  <a:buFont typeface="Wingdings" panose="05000000000000000000" pitchFamily="2" charset="2"/>
                  <a:buChar char="§"/>
                </a:pPr>
                <a:r>
                  <a:rPr lang="en-IN" sz="2600" dirty="0">
                    <a:latin typeface="Abadi Extra Light" panose="020B0204020104020204" pitchFamily="34" charset="0"/>
                  </a:rPr>
                  <a:t>Our objective function was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600" i="1">
                        <a:latin typeface="Cambria Math" panose="02040503050406030204" pitchFamily="18" charset="0"/>
                      </a:rPr>
                      <m:t>arg</m:t>
                    </m:r>
                    <m:limLow>
                      <m:limLowPr>
                        <m:ctrlPr>
                          <a:rPr lang="en-IN" sz="2600" i="1">
                            <a:latin typeface="Cambria Math" panose="02040503050406030204" pitchFamily="18" charset="0"/>
                          </a:rPr>
                        </m:ctrlPr>
                      </m:limLowPr>
                      <m:e>
                        <m:r>
                          <m:rPr>
                            <m:sty m:val="p"/>
                          </m:rPr>
                          <a:rPr lang="en-IN" sz="2600">
                            <a:latin typeface="Cambria Math" panose="02040503050406030204" pitchFamily="18" charset="0"/>
                          </a:rPr>
                          <m:t>max</m:t>
                        </m:r>
                      </m:e>
                      <m:lim>
                        <m:sSub>
                          <m:sSubPr>
                            <m:ctrlPr>
                              <a:rPr lang="en-IN" sz="2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600" b="1" i="1">
                                <a:latin typeface="Cambria Math" panose="02040503050406030204" pitchFamily="18" charset="0"/>
                              </a:rPr>
                              <m:t>𝒘</m:t>
                            </m:r>
                          </m:e>
                          <m:sub>
                            <m:r>
                              <a:rPr lang="en-IN" sz="26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lim>
                    </m:limLow>
                  </m:oMath>
                </a14:m>
                <a:r>
                  <a:rPr lang="en-IN" sz="2600" dirty="0"/>
                  <a:t/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IN" sz="2600" i="1" dirty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IN" sz="2600" b="1" i="1" dirty="0">
                            <a:latin typeface="Cambria Math" panose="02040503050406030204" pitchFamily="18" charset="0"/>
                          </a:rPr>
                          <m:t>𝒘</m:t>
                        </m:r>
                      </m:e>
                      <m:sub>
                        <m:r>
                          <a:rPr lang="en-IN" sz="2600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600" i="1" dirty="0">
                            <a:latin typeface="Cambria Math" panose="02040503050406030204" pitchFamily="18" charset="0"/>
                          </a:rPr>
                          <m:t>⊤</m:t>
                        </m:r>
                      </m:sup>
                    </m:sSubSup>
                    <m:r>
                      <a:rPr lang="en-IN" sz="2600" b="1" i="1" dirty="0">
                        <a:latin typeface="Cambria Math" panose="02040503050406030204" pitchFamily="18" charset="0"/>
                      </a:rPr>
                      <m:t>𝑺</m:t>
                    </m:r>
                    <m:sSub>
                      <m:sSubPr>
                        <m:ctrlPr>
                          <a:rPr lang="en-IN" sz="26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600" b="1" i="1" dirty="0">
                            <a:latin typeface="Cambria Math" panose="02040503050406030204" pitchFamily="18" charset="0"/>
                          </a:rPr>
                          <m:t>𝒘</m:t>
                        </m:r>
                      </m:e>
                      <m:sub>
                        <m:r>
                          <a:rPr lang="en-IN" sz="2600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IN" sz="2600" dirty="0"/>
                  <a:t/>
                </a:r>
                <a:r>
                  <a:rPr lang="en-IN" sz="2600" dirty="0">
                    <a:latin typeface="Abadi Extra Light" panose="020B0204020104020204" pitchFamily="34" charset="0"/>
                  </a:rPr>
                  <a:t>s</a:t>
                </a:r>
                <a:r>
                  <a:rPr lang="en-IN" sz="2600" dirty="0" err="1">
                    <a:latin typeface="Abadi Extra Light" panose="020B0204020104020204" pitchFamily="34" charset="0"/>
                  </a:rPr>
                  <a:t>.t.</a:t>
                </a:r>
                <a:r>
                  <a:rPr lang="en-IN" sz="2600" dirty="0"/>
                  <a:t/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IN" sz="2600" i="1" dirty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IN" sz="2600" b="1" i="1" dirty="0">
                            <a:latin typeface="Cambria Math" panose="02040503050406030204" pitchFamily="18" charset="0"/>
                          </a:rPr>
                          <m:t>𝒘</m:t>
                        </m:r>
                      </m:e>
                      <m:sub>
                        <m:r>
                          <a:rPr lang="en-IN" sz="2600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600" i="1" dirty="0">
                            <a:latin typeface="Cambria Math" panose="02040503050406030204" pitchFamily="18" charset="0"/>
                          </a:rPr>
                          <m:t>⊤</m:t>
                        </m:r>
                      </m:sup>
                    </m:sSubSup>
                    <m:sSub>
                      <m:sSubPr>
                        <m:ctrlPr>
                          <a:rPr lang="en-IN" sz="26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600" b="1" i="1" dirty="0">
                            <a:latin typeface="Cambria Math" panose="02040503050406030204" pitchFamily="18" charset="0"/>
                          </a:rPr>
                          <m:t>𝒘</m:t>
                        </m:r>
                      </m:e>
                      <m:sub>
                        <m:r>
                          <a:rPr lang="en-IN" sz="2600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IN" sz="2600" i="1" dirty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endParaRPr lang="en-IN" sz="2600" dirty="0"/>
              </a:p>
              <a:p>
                <a:pPr>
                  <a:buFont typeface="Wingdings" panose="05000000000000000000" pitchFamily="2" charset="2"/>
                  <a:buChar char="§"/>
                </a:pPr>
                <a:r>
                  <a:rPr lang="en-IN" sz="2600" dirty="0">
                    <a:latin typeface="Abadi Extra Light" panose="020B0204020104020204" pitchFamily="34" charset="0"/>
                  </a:rPr>
                  <a:t>Can construct a </a:t>
                </a:r>
                <a:r>
                  <a:rPr lang="en-IN" sz="2600" dirty="0" err="1">
                    <a:latin typeface="Abadi Extra Light" panose="020B0204020104020204" pitchFamily="34" charset="0"/>
                  </a:rPr>
                  <a:t>Lagrangian</a:t>
                </a:r>
                <a:r>
                  <a:rPr lang="en-IN" sz="2600" dirty="0">
                    <a:latin typeface="Abadi Extra Light" panose="020B0204020104020204" pitchFamily="34" charset="0"/>
                  </a:rPr>
                  <a:t> for this problem</a:t>
                </a:r>
              </a:p>
              <a:p>
                <a:pPr>
                  <a:buFont typeface="Wingdings" panose="05000000000000000000" pitchFamily="2" charset="2"/>
                  <a:buChar char="§"/>
                </a:pPr>
                <a:endParaRPr lang="en-IN" dirty="0">
                  <a:latin typeface="Abadi Extra Light" panose="020B0204020104020204" pitchFamily="34" charset="0"/>
                </a:endParaRPr>
              </a:p>
              <a:p>
                <a:pPr>
                  <a:buFont typeface="Wingdings" panose="05000000000000000000" pitchFamily="2" charset="2"/>
                  <a:buChar char="§"/>
                </a:pPr>
                <a:endParaRPr lang="en-IN" sz="100" dirty="0">
                  <a:latin typeface="Abadi Extra Light" panose="020B0204020104020204" pitchFamily="34" charset="0"/>
                </a:endParaRPr>
              </a:p>
              <a:p>
                <a:pPr>
                  <a:buFont typeface="Wingdings" panose="05000000000000000000" pitchFamily="2" charset="2"/>
                  <a:buChar char="§"/>
                </a:pPr>
                <a:r>
                  <a:rPr lang="en-IN" sz="2600" dirty="0">
                    <a:latin typeface="Abadi Extra Light" panose="020B0204020104020204" pitchFamily="34" charset="0"/>
                  </a:rPr>
                  <a:t>Taking derivative </a:t>
                </a:r>
                <a:r>
                  <a:rPr lang="en-IN" sz="2600" dirty="0" err="1">
                    <a:latin typeface="Abadi Extra Light" panose="020B0204020104020204" pitchFamily="34" charset="0"/>
                  </a:rPr>
                  <a:t>w.r.t.</a:t>
                </a:r>
                <a:r>
                  <a:rPr lang="en-IN" sz="2600" dirty="0">
                    <a:latin typeface="Abadi Extra Light" panose="020B0204020104020204" pitchFamily="34" charset="0"/>
                  </a:rPr>
                  <a:t/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6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600" b="1" i="1" dirty="0">
                            <a:latin typeface="Cambria Math" panose="02040503050406030204" pitchFamily="18" charset="0"/>
                          </a:rPr>
                          <m:t>𝒘</m:t>
                        </m:r>
                      </m:e>
                      <m:sub>
                        <m:r>
                          <a:rPr lang="en-IN" sz="2600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IN" sz="2600" dirty="0">
                    <a:latin typeface="Abadi Extra Light" panose="020B0204020104020204" pitchFamily="34" charset="0"/>
                  </a:rPr>
                  <a:t> and setting to zero gives </a:t>
                </a:r>
                <a14:m>
                  <m:oMath xmlns:m="http://schemas.openxmlformats.org/officeDocument/2006/math">
                    <m:r>
                      <a:rPr lang="en-IN" sz="2600" b="1" i="1" dirty="0">
                        <a:latin typeface="Cambria Math" panose="02040503050406030204" pitchFamily="18" charset="0"/>
                      </a:rPr>
                      <m:t>𝑺</m:t>
                    </m:r>
                    <m:sSub>
                      <m:sSubPr>
                        <m:ctrlPr>
                          <a:rPr lang="en-IN" sz="26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600" b="1" i="1" dirty="0">
                            <a:latin typeface="Cambria Math" panose="02040503050406030204" pitchFamily="18" charset="0"/>
                          </a:rPr>
                          <m:t>𝒘</m:t>
                        </m:r>
                      </m:e>
                      <m:sub>
                        <m:r>
                          <a:rPr lang="en-IN" sz="2600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IN" sz="2600" b="0" i="1" dirty="0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IN" sz="26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600" b="0" i="1" dirty="0" smtClean="0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IN" sz="2600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IN" sz="26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600" b="1" i="1" dirty="0" smtClean="0">
                            <a:latin typeface="Cambria Math" panose="02040503050406030204" pitchFamily="18" charset="0"/>
                          </a:rPr>
                          <m:t>𝒘</m:t>
                        </m:r>
                      </m:e>
                      <m:sub>
                        <m:r>
                          <a:rPr lang="en-IN" sz="2600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en-IN" sz="2600" dirty="0">
                  <a:latin typeface="Abadi Extra Light" panose="020B0204020104020204" pitchFamily="34" charset="0"/>
                </a:endParaRPr>
              </a:p>
              <a:p>
                <a:pPr>
                  <a:buFont typeface="Wingdings" panose="05000000000000000000" pitchFamily="2" charset="2"/>
                  <a:buChar char="§"/>
                </a:pPr>
                <a:endParaRPr lang="en-IN" sz="100" dirty="0">
                  <a:latin typeface="Abadi Extra Light" panose="020B0204020104020204" pitchFamily="34" charset="0"/>
                </a:endParaRPr>
              </a:p>
              <a:p>
                <a:pPr>
                  <a:buFont typeface="Wingdings" panose="05000000000000000000" pitchFamily="2" charset="2"/>
                  <a:buChar char="§"/>
                </a:pPr>
                <a:r>
                  <a:rPr lang="en-IN" sz="2600" dirty="0">
                    <a:latin typeface="Abadi Extra Light" panose="020B0204020104020204" pitchFamily="34" charset="0"/>
                  </a:rPr>
                  <a:t>Therefore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6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600" b="1" i="1" dirty="0">
                            <a:latin typeface="Cambria Math" panose="02040503050406030204" pitchFamily="18" charset="0"/>
                          </a:rPr>
                          <m:t>𝒘</m:t>
                        </m:r>
                      </m:e>
                      <m:sub>
                        <m:r>
                          <a:rPr lang="en-IN" sz="2600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IN" sz="2600" dirty="0">
                    <a:latin typeface="Abadi Extra Light" panose="020B0204020104020204" pitchFamily="34" charset="0"/>
                  </a:rPr>
                  <a:t> is an </a:t>
                </a:r>
                <a:r>
                  <a:rPr lang="en-IN" sz="2600" dirty="0">
                    <a:solidFill>
                      <a:srgbClr val="FF0000"/>
                    </a:solidFill>
                    <a:latin typeface="Abadi Extra Light" panose="020B0204020104020204" pitchFamily="34" charset="0"/>
                  </a:rPr>
                  <a:t>eigenvector</a:t>
                </a:r>
                <a:r>
                  <a:rPr lang="en-IN" sz="2600" dirty="0">
                    <a:latin typeface="Abadi Extra Light" panose="020B0204020104020204" pitchFamily="34" charset="0"/>
                  </a:rPr>
                  <a:t> of the </a:t>
                </a:r>
                <a:r>
                  <a:rPr lang="en-IN" sz="2600" dirty="0" err="1">
                    <a:latin typeface="Abadi Extra Light" panose="020B0204020104020204" pitchFamily="34" charset="0"/>
                  </a:rPr>
                  <a:t>cov</a:t>
                </a:r>
                <a:r>
                  <a:rPr lang="en-IN" sz="2600" dirty="0">
                    <a:latin typeface="Abadi Extra Light" panose="020B0204020104020204" pitchFamily="34" charset="0"/>
                  </a:rPr>
                  <a:t> matrix </a:t>
                </a:r>
                <a14:m>
                  <m:oMath xmlns:m="http://schemas.openxmlformats.org/officeDocument/2006/math">
                    <m:r>
                      <a:rPr lang="en-IN" sz="2600" b="1" i="1" dirty="0">
                        <a:latin typeface="Cambria Math" panose="02040503050406030204" pitchFamily="18" charset="0"/>
                      </a:rPr>
                      <m:t>𝑺</m:t>
                    </m:r>
                  </m:oMath>
                </a14:m>
                <a:r>
                  <a:rPr lang="en-IN" sz="2600" dirty="0">
                    <a:latin typeface="Abadi Extra Light" panose="020B0204020104020204" pitchFamily="34" charset="0"/>
                  </a:rPr>
                  <a:t> with eigenvalue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6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600" i="1" dirty="0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IN" sz="2600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IN" sz="2600" dirty="0">
                    <a:latin typeface="Abadi Extra Light" panose="020B0204020104020204" pitchFamily="34" charset="0"/>
                  </a:rPr>
                  <a:t/>
                </a:r>
              </a:p>
              <a:p>
                <a:pPr>
                  <a:buFont typeface="Wingdings" panose="05000000000000000000" pitchFamily="2" charset="2"/>
                  <a:buChar char="§"/>
                </a:pPr>
                <a:endParaRPr lang="en-IN" sz="100" dirty="0">
                  <a:latin typeface="Abadi Extra Light" panose="020B0204020104020204" pitchFamily="34" charset="0"/>
                </a:endParaRPr>
              </a:p>
              <a:p>
                <a:pPr>
                  <a:buFont typeface="Wingdings" panose="05000000000000000000" pitchFamily="2" charset="2"/>
                  <a:buChar char="§"/>
                </a:pPr>
                <a:r>
                  <a:rPr lang="en-IN" sz="2600" dirty="0">
                    <a:solidFill>
                      <a:srgbClr val="0000FF"/>
                    </a:solidFill>
                    <a:latin typeface="Abadi Extra Light" panose="020B0204020104020204" pitchFamily="34" charset="0"/>
                  </a:rPr>
                  <a:t>Claim:</a:t>
                </a:r>
                <a:r>
                  <a:rPr lang="en-IN" sz="2600" dirty="0">
                    <a:latin typeface="Abadi Extra Light" panose="020B0204020104020204" pitchFamily="34" charset="0"/>
                  </a:rPr>
                  <a:t/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6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600" b="1" i="1" dirty="0">
                            <a:latin typeface="Cambria Math" panose="02040503050406030204" pitchFamily="18" charset="0"/>
                          </a:rPr>
                          <m:t>𝒘</m:t>
                        </m:r>
                      </m:e>
                      <m:sub>
                        <m:r>
                          <a:rPr lang="en-IN" sz="2600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IN" sz="2600" dirty="0">
                    <a:latin typeface="Abadi Extra Light" panose="020B0204020104020204" pitchFamily="34" charset="0"/>
                  </a:rPr>
                  <a:t> is the eigenvector of </a:t>
                </a:r>
                <a14:m>
                  <m:oMath xmlns:m="http://schemas.openxmlformats.org/officeDocument/2006/math">
                    <m:r>
                      <a:rPr lang="en-IN" sz="2600" b="1" i="1" dirty="0">
                        <a:latin typeface="Cambria Math" panose="02040503050406030204" pitchFamily="18" charset="0"/>
                      </a:rPr>
                      <m:t>𝑺</m:t>
                    </m:r>
                    <m:r>
                      <a:rPr lang="en-IN" sz="2600" b="1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600" dirty="0">
                    <a:latin typeface="Abadi Extra Light" panose="020B0204020104020204" pitchFamily="34" charset="0"/>
                  </a:rPr>
                  <a:t>with largest eigenvalue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6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600" i="1" dirty="0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IN" sz="2600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IN" sz="2600" dirty="0">
                    <a:latin typeface="Abadi Extra Light" panose="020B0204020104020204" pitchFamily="34" charset="0"/>
                  </a:rPr>
                  <a:t>. Note that</a:t>
                </a:r>
              </a:p>
              <a:p>
                <a:pPr>
                  <a:buFont typeface="Wingdings" panose="05000000000000000000" pitchFamily="2" charset="2"/>
                  <a:buChar char="§"/>
                </a:pPr>
                <a:endParaRPr lang="en-IN" dirty="0">
                  <a:latin typeface="Abadi Extra Light" panose="020B0204020104020204" pitchFamily="34" charset="0"/>
                </a:endParaRPr>
              </a:p>
              <a:p>
                <a:pPr>
                  <a:buFont typeface="Wingdings" panose="05000000000000000000" pitchFamily="2" charset="2"/>
                  <a:buChar char="§"/>
                </a:pPr>
                <a:r>
                  <a:rPr lang="en-IN" sz="2600" dirty="0">
                    <a:latin typeface="Abadi Extra Light" panose="020B0204020104020204" pitchFamily="34" charset="0"/>
                  </a:rPr>
                  <a:t>Thus variance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IN" sz="2600" i="1" dirty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IN" sz="2600" b="1" i="1" dirty="0">
                            <a:latin typeface="Cambria Math" panose="02040503050406030204" pitchFamily="18" charset="0"/>
                          </a:rPr>
                          <m:t>𝒘</m:t>
                        </m:r>
                      </m:e>
                      <m:sub>
                        <m:r>
                          <a:rPr lang="en-IN" sz="2600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600" i="1" dirty="0">
                            <a:latin typeface="Cambria Math" panose="02040503050406030204" pitchFamily="18" charset="0"/>
                          </a:rPr>
                          <m:t>⊤</m:t>
                        </m:r>
                      </m:sup>
                    </m:sSubSup>
                    <m:r>
                      <a:rPr lang="en-IN" sz="2600" b="1" i="1" dirty="0">
                        <a:latin typeface="Cambria Math" panose="02040503050406030204" pitchFamily="18" charset="0"/>
                      </a:rPr>
                      <m:t>𝑺</m:t>
                    </m:r>
                    <m:sSub>
                      <m:sSubPr>
                        <m:ctrlPr>
                          <a:rPr lang="en-IN" sz="26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600" b="1" i="1" dirty="0">
                            <a:latin typeface="Cambria Math" panose="02040503050406030204" pitchFamily="18" charset="0"/>
                          </a:rPr>
                          <m:t>𝒘</m:t>
                        </m:r>
                      </m:e>
                      <m:sub>
                        <m:r>
                          <a:rPr lang="en-IN" sz="2600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IN" sz="2600" dirty="0">
                    <a:latin typeface="Abadi Extra Light" panose="020B0204020104020204" pitchFamily="34" charset="0"/>
                  </a:rPr>
                  <a:t> will be max. 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600" b="0" i="1" smtClean="0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IN" sz="26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IN" sz="2600" dirty="0">
                    <a:latin typeface="Abadi Extra Light" panose="020B0204020104020204" pitchFamily="34" charset="0"/>
                  </a:rPr>
                  <a:t> is the largest eigenvalue (and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6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600" b="1" i="1" dirty="0">
                            <a:latin typeface="Cambria Math" panose="02040503050406030204" pitchFamily="18" charset="0"/>
                          </a:rPr>
                          <m:t>𝒘</m:t>
                        </m:r>
                      </m:e>
                      <m:sub>
                        <m:r>
                          <a:rPr lang="en-IN" sz="2600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IN" sz="2600" dirty="0">
                    <a:latin typeface="Abadi Extra Light" panose="020B0204020104020204" pitchFamily="34" charset="0"/>
                  </a:rPr>
                  <a:t> is the corresponding top eigenvector; also known as the first </a:t>
                </a:r>
                <a:r>
                  <a:rPr lang="en-IN" sz="2600" dirty="0">
                    <a:solidFill>
                      <a:srgbClr val="0000FF"/>
                    </a:solidFill>
                    <a:latin typeface="Abadi Extra Light" panose="020B0204020104020204" pitchFamily="34" charset="0"/>
                  </a:rPr>
                  <a:t>Principal Component</a:t>
                </a:r>
                <a:r>
                  <a:rPr lang="en-IN" sz="2600" dirty="0">
                    <a:latin typeface="Abadi Extra Light" panose="020B0204020104020204" pitchFamily="34" charset="0"/>
                  </a:rPr>
                  <a:t>)</a:t>
                </a:r>
              </a:p>
              <a:p>
                <a:pPr>
                  <a:buFont typeface="Wingdings" panose="05000000000000000000" pitchFamily="2" charset="2"/>
                  <a:buChar char="§"/>
                </a:pPr>
                <a:r>
                  <a:rPr lang="en-GB" sz="2600" dirty="0">
                    <a:latin typeface="Abadi Extra Light" panose="020B0204020104020204" pitchFamily="34" charset="0"/>
                  </a:rPr>
                  <a:t>Other large variance directions can also be found likewise (with each being orthogonal to all others) using the </a:t>
                </a:r>
                <a:r>
                  <a:rPr lang="en-GB" sz="2600" dirty="0" err="1">
                    <a:latin typeface="Abadi Extra Light" panose="020B0204020104020204" pitchFamily="34" charset="0"/>
                  </a:rPr>
                  <a:t>eigendecomposition</a:t>
                </a:r>
                <a:r>
                  <a:rPr lang="en-GB" sz="2600" dirty="0">
                    <a:latin typeface="Abadi Extra Light" panose="020B0204020104020204" pitchFamily="34" charset="0"/>
                  </a:rPr>
                  <a:t> of </a:t>
                </a:r>
                <a:r>
                  <a:rPr lang="en-GB" sz="2600" dirty="0" err="1">
                    <a:latin typeface="Abadi Extra Light" panose="020B0204020104020204" pitchFamily="34" charset="0"/>
                  </a:rPr>
                  <a:t>cov</a:t>
                </a:r>
                <a:r>
                  <a:rPr lang="en-GB" sz="2600" dirty="0">
                    <a:latin typeface="Abadi Extra Light" panose="020B0204020104020204" pitchFamily="34" charset="0"/>
                  </a:rPr>
                  <a:t> matrix </a:t>
                </a:r>
                <a14:m>
                  <m:oMath xmlns:m="http://schemas.openxmlformats.org/officeDocument/2006/math">
                    <m:r>
                      <a:rPr lang="en-GB" sz="2600" b="1" i="1" dirty="0" smtClean="0">
                        <a:latin typeface="Cambria Math" panose="02040503050406030204" pitchFamily="18" charset="0"/>
                      </a:rPr>
                      <m:t>𝑺</m:t>
                    </m:r>
                  </m:oMath>
                </a14:m>
                <a:r>
                  <a:rPr lang="en-GB" sz="2600" dirty="0">
                    <a:latin typeface="Abadi Extra Light" panose="020B0204020104020204" pitchFamily="34" charset="0"/>
                  </a:rPr>
                  <a:t> (this is PCA)</a:t>
                </a:r>
                <a:endParaRPr lang="en-IN" sz="2600" dirty="0">
                  <a:latin typeface="Abadi Extra Light" panose="020B0204020104020204" pitchFamily="34" charset="0"/>
                </a:endParaRPr>
              </a:p>
              <a:p>
                <a:pPr marL="0" indent="0">
                  <a:buNone/>
                </a:pPr>
                <a:endParaRPr lang="en-GB" sz="2600" dirty="0">
                  <a:latin typeface="Abadi Extra Light" panose="020B0204020104020204" pitchFamily="34" charset="0"/>
                </a:endParaRPr>
              </a:p>
              <a:p>
                <a:pPr>
                  <a:buFont typeface="Wingdings" panose="05000000000000000000" pitchFamily="2" charset="2"/>
                  <a:buChar char="§"/>
                </a:pPr>
                <a:endParaRPr lang="en-GB" sz="2600" dirty="0">
                  <a:latin typeface="Abadi Extra Light" panose="020B0204020104020204" pitchFamily="34" charset="0"/>
                </a:endParaRPr>
              </a:p>
              <a:p>
                <a:pPr marL="0" indent="0">
                  <a:buNone/>
                </a:pPr>
                <a:endParaRPr lang="en-GB" sz="2600" dirty="0">
                  <a:latin typeface="Abadi Extra Light" panose="020B0204020104020204" pitchFamily="34" charset="0"/>
                </a:endParaRPr>
              </a:p>
              <a:p>
                <a:pPr marL="0" indent="0">
                  <a:buNone/>
                </a:pPr>
                <a:endParaRPr lang="en-GB" sz="800" dirty="0">
                  <a:latin typeface="Abadi Extra Light" panose="020B0204020104020204" pitchFamily="34" charset="0"/>
                </a:endParaRPr>
              </a:p>
            </p:txBody>
          </p:sp>
        </mc:Choice>
        <mc:Fallback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xmlns="" xmlns:a14="http://schemas.microsoft.com/office/drawing/2010/main" id="{314819C9-D576-44D5-A1AF-875A21D5EF7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65245" y="1130786"/>
                <a:ext cx="11740617" cy="5557532"/>
              </a:xfrm>
              <a:blipFill>
                <a:blip r:embed="rId3" cstate="print"/>
                <a:stretch>
                  <a:fillRect l="-831" t="-1645" r="-52" b="-471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xmlns="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4F9EE2D6-3500-47AF-A9F5-876DCEAF4DCA}"/>
                  </a:ext>
                </a:extLst>
              </p:cNvPr>
              <p:cNvSpPr txBox="1"/>
              <p:nvPr/>
            </p:nvSpPr>
            <p:spPr>
              <a:xfrm>
                <a:off x="3952048" y="2335810"/>
                <a:ext cx="4826899" cy="62882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 i="1" smtClean="0">
                        <a:latin typeface="Cambria Math" panose="02040503050406030204" pitchFamily="18" charset="0"/>
                      </a:rPr>
                      <m:t>arg</m:t>
                    </m:r>
                    <m:limLow>
                      <m:limLowPr>
                        <m:ctrlPr>
                          <a:rPr lang="en-IN" sz="2800" i="1">
                            <a:latin typeface="Cambria Math" panose="02040503050406030204" pitchFamily="18" charset="0"/>
                          </a:rPr>
                        </m:ctrlPr>
                      </m:limLowPr>
                      <m:e>
                        <m:r>
                          <m:rPr>
                            <m:sty m:val="p"/>
                          </m:rPr>
                          <a:rPr lang="en-IN" sz="2800">
                            <a:latin typeface="Cambria Math" panose="02040503050406030204" pitchFamily="18" charset="0"/>
                          </a:rPr>
                          <m:t>max</m:t>
                        </m:r>
                      </m:e>
                      <m:lim>
                        <m:sSub>
                          <m:sSubPr>
                            <m:ctrlPr>
                              <a:rPr lang="en-IN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800" b="1" i="1">
                                <a:latin typeface="Cambria Math" panose="02040503050406030204" pitchFamily="18" charset="0"/>
                              </a:rPr>
                              <m:t>𝒘</m:t>
                            </m:r>
                          </m:e>
                          <m:sub>
                            <m:r>
                              <a:rPr lang="en-IN" sz="28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lim>
                    </m:limLow>
                    <m:r>
                      <m:rPr>
                        <m:nor/>
                      </m:rPr>
                      <a:rPr lang="en-IN" sz="2800" dirty="0"/>
                      <m:t> </m:t>
                    </m:r>
                    <m:sSubSup>
                      <m:sSubSupPr>
                        <m:ctrlPr>
                          <a:rPr lang="en-IN" sz="2800" i="1" dirty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IN" sz="2800" b="1" i="1" dirty="0">
                            <a:latin typeface="Cambria Math" panose="02040503050406030204" pitchFamily="18" charset="0"/>
                          </a:rPr>
                          <m:t>𝒘</m:t>
                        </m:r>
                      </m:e>
                      <m:sub>
                        <m:r>
                          <a:rPr lang="en-IN" sz="2800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800" i="1" dirty="0">
                            <a:latin typeface="Cambria Math" panose="02040503050406030204" pitchFamily="18" charset="0"/>
                          </a:rPr>
                          <m:t>⊤</m:t>
                        </m:r>
                      </m:sup>
                    </m:sSubSup>
                    <m:r>
                      <a:rPr lang="en-IN" sz="2800" b="1" i="1" dirty="0">
                        <a:latin typeface="Cambria Math" panose="02040503050406030204" pitchFamily="18" charset="0"/>
                      </a:rPr>
                      <m:t>𝑺</m:t>
                    </m:r>
                    <m:sSub>
                      <m:sSubPr>
                        <m:ctrlPr>
                          <a:rPr lang="en-IN" sz="28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800" b="1" i="1" dirty="0">
                            <a:latin typeface="Cambria Math" panose="02040503050406030204" pitchFamily="18" charset="0"/>
                          </a:rPr>
                          <m:t>𝒘</m:t>
                        </m:r>
                      </m:e>
                      <m:sub>
                        <m:r>
                          <a:rPr lang="en-IN" sz="2800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IN" sz="2800" b="0" i="0" dirty="0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IN" sz="28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800" b="0" i="1" dirty="0" smtClean="0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IN" sz="2800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IN" sz="2800" b="0" i="1" dirty="0" smtClean="0">
                        <a:latin typeface="Cambria Math" panose="02040503050406030204" pitchFamily="18" charset="0"/>
                      </a:rPr>
                      <m:t>(</m:t>
                    </m:r>
                  </m:oMath>
                </a14:m>
                <a:r>
                  <a:rPr lang="en-IN" sz="2800" dirty="0"/>
                  <a:t>1-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IN" sz="2800" i="1" dirty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IN" sz="2800" b="1" i="1" dirty="0">
                            <a:latin typeface="Cambria Math" panose="02040503050406030204" pitchFamily="18" charset="0"/>
                          </a:rPr>
                          <m:t>𝒘</m:t>
                        </m:r>
                      </m:e>
                      <m:sub>
                        <m:r>
                          <a:rPr lang="en-IN" sz="2800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800" i="1" dirty="0">
                            <a:latin typeface="Cambria Math" panose="02040503050406030204" pitchFamily="18" charset="0"/>
                          </a:rPr>
                          <m:t>⊤</m:t>
                        </m:r>
                      </m:sup>
                    </m:sSubSup>
                    <m:sSub>
                      <m:sSubPr>
                        <m:ctrlPr>
                          <a:rPr lang="en-IN" sz="28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800" b="1" i="1" dirty="0">
                            <a:latin typeface="Cambria Math" panose="02040503050406030204" pitchFamily="18" charset="0"/>
                          </a:rPr>
                          <m:t>𝒘</m:t>
                        </m:r>
                      </m:e>
                      <m:sub>
                        <m:r>
                          <a:rPr lang="en-IN" sz="2800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IN" sz="2800" b="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IN" sz="2800" dirty="0"/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xmlns="" xmlns:a14="http://schemas.microsoft.com/office/drawing/2010/main" id="{4F9EE2D6-3500-47AF-A9F5-876DCEAF4D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2048" y="2335810"/>
                <a:ext cx="4826899" cy="628826"/>
              </a:xfrm>
              <a:prstGeom prst="rect">
                <a:avLst/>
              </a:prstGeom>
              <a:blipFill>
                <a:blip r:embed="rId4" cstate="print"/>
                <a:stretch>
                  <a:fillRect t="-13592" b="-679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xmlns="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A61583C-63F5-43A3-B58F-7255F46BA552}"/>
                  </a:ext>
                </a:extLst>
              </p:cNvPr>
              <p:cNvSpPr txBox="1"/>
              <p:nvPr/>
            </p:nvSpPr>
            <p:spPr>
              <a:xfrm>
                <a:off x="4321217" y="4608981"/>
                <a:ext cx="3760645" cy="43499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Sup>
                      <m:sSubSupPr>
                        <m:ctrlPr>
                          <a:rPr lang="en-IN" sz="2800" i="1" dirty="0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IN" sz="2800" b="1" i="1" dirty="0">
                            <a:latin typeface="Cambria Math" panose="02040503050406030204" pitchFamily="18" charset="0"/>
                          </a:rPr>
                          <m:t>𝒘</m:t>
                        </m:r>
                      </m:e>
                      <m:sub>
                        <m:r>
                          <a:rPr lang="en-IN" sz="2800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800" i="1" dirty="0">
                            <a:latin typeface="Cambria Math" panose="02040503050406030204" pitchFamily="18" charset="0"/>
                          </a:rPr>
                          <m:t>⊤</m:t>
                        </m:r>
                      </m:sup>
                    </m:sSubSup>
                    <m:r>
                      <a:rPr lang="en-IN" sz="2800" b="1" i="1" dirty="0">
                        <a:latin typeface="Cambria Math" panose="02040503050406030204" pitchFamily="18" charset="0"/>
                      </a:rPr>
                      <m:t>𝑺</m:t>
                    </m:r>
                    <m:sSub>
                      <m:sSubPr>
                        <m:ctrlPr>
                          <a:rPr lang="en-IN" sz="28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800" b="1" i="1" dirty="0">
                            <a:latin typeface="Cambria Math" panose="02040503050406030204" pitchFamily="18" charset="0"/>
                          </a:rPr>
                          <m:t>𝒘</m:t>
                        </m:r>
                      </m:e>
                      <m:sub>
                        <m:r>
                          <a:rPr lang="en-IN" sz="2800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IN" sz="2800" b="0" i="0" dirty="0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IN" sz="28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800" b="0" i="1" dirty="0" smtClean="0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IN" sz="2800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Sup>
                      <m:sSubSupPr>
                        <m:ctrlPr>
                          <a:rPr lang="en-IN" sz="2800" i="1" dirty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IN" sz="2800" b="1" i="1" dirty="0">
                            <a:latin typeface="Cambria Math" panose="02040503050406030204" pitchFamily="18" charset="0"/>
                          </a:rPr>
                          <m:t>𝒘</m:t>
                        </m:r>
                      </m:e>
                      <m:sub>
                        <m:r>
                          <a:rPr lang="en-IN" sz="2800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800" i="1" dirty="0">
                            <a:latin typeface="Cambria Math" panose="02040503050406030204" pitchFamily="18" charset="0"/>
                          </a:rPr>
                          <m:t>⊤</m:t>
                        </m:r>
                      </m:sup>
                    </m:sSubSup>
                    <m:sSub>
                      <m:sSubPr>
                        <m:ctrlPr>
                          <a:rPr lang="en-IN" sz="28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800" b="1" i="1" dirty="0">
                            <a:latin typeface="Cambria Math" panose="02040503050406030204" pitchFamily="18" charset="0"/>
                          </a:rPr>
                          <m:t>𝒘</m:t>
                        </m:r>
                      </m:e>
                      <m:sub>
                        <m:r>
                          <a:rPr lang="en-IN" sz="2800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IN" sz="2800" b="0" i="1" dirty="0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IN" sz="28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800" b="0" i="1" dirty="0" smtClean="0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IN" sz="2800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IN" sz="2800" dirty="0"/>
                  <a:t/>
                </a:r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xmlns="" xmlns:a14="http://schemas.microsoft.com/office/drawing/2010/main" id="{8A61583C-63F5-43A3-B58F-7255F46BA5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21217" y="4608981"/>
                <a:ext cx="3760645" cy="434991"/>
              </a:xfrm>
              <a:prstGeom prst="rect">
                <a:avLst/>
              </a:prstGeom>
              <a:blipFill>
                <a:blip r:embed="rId5" cstate="print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xmlns="" Requires="a14">
          <p:sp>
            <p:nvSpPr>
              <p:cNvPr id="7" name="Speech Bubble: Rectangle 6">
                <a:extLst>
                  <a:ext uri="{FF2B5EF4-FFF2-40B4-BE49-F238E27FC236}">
                    <a16:creationId xmlns:a16="http://schemas.microsoft.com/office/drawing/2014/main" id="{8E864EAE-ACD6-4889-A017-F2088AF7B33D}"/>
                  </a:ext>
                </a:extLst>
              </p:cNvPr>
              <p:cNvSpPr/>
              <p:nvPr/>
            </p:nvSpPr>
            <p:spPr>
              <a:xfrm>
                <a:off x="6201540" y="339587"/>
                <a:ext cx="1952646" cy="529598"/>
              </a:xfrm>
              <a:prstGeom prst="wedgeRectCallout">
                <a:avLst>
                  <a:gd name="adj1" fmla="val -48031"/>
                  <a:gd name="adj2" fmla="val 97971"/>
                </a:avLst>
              </a:prstGeom>
              <a:solidFill>
                <a:schemeClr val="bg1"/>
              </a:solidFill>
              <a:ln w="19050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IN" sz="1600" dirty="0">
                    <a:solidFill>
                      <a:schemeClr val="tx1"/>
                    </a:solidFill>
                    <a:latin typeface="Abadi Extra Light" panose="020B0204020104020204" pitchFamily="34" charset="0"/>
                  </a:rPr>
                  <a:t>Variance along the direction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16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𝒘</m:t>
                        </m:r>
                      </m:e>
                      <m:sub>
                        <m:r>
                          <a:rPr lang="en-IN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IN" sz="1600" dirty="0">
                    <a:solidFill>
                      <a:schemeClr val="tx1"/>
                    </a:solidFill>
                    <a:latin typeface="Abadi Extra Light" panose="020B0204020104020204" pitchFamily="34" charset="0"/>
                  </a:rPr>
                  <a:t/>
                </a:r>
              </a:p>
            </p:txBody>
          </p:sp>
        </mc:Choice>
        <mc:Fallback>
          <p:sp>
            <p:nvSpPr>
              <p:cNvPr id="7" name="Speech Bubble: Rectangle 6">
                <a:extLst>
                  <a:ext uri="{FF2B5EF4-FFF2-40B4-BE49-F238E27FC236}">
                    <a16:creationId xmlns:a16="http://schemas.microsoft.com/office/drawing/2014/main" xmlns="" xmlns:a14="http://schemas.microsoft.com/office/drawing/2010/main" id="{8E864EAE-ACD6-4889-A017-F2088AF7B33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01540" y="339587"/>
                <a:ext cx="1952646" cy="529598"/>
              </a:xfrm>
              <a:prstGeom prst="wedgeRectCallout">
                <a:avLst>
                  <a:gd name="adj1" fmla="val -48031"/>
                  <a:gd name="adj2" fmla="val 97971"/>
                </a:avLst>
              </a:prstGeom>
              <a:blipFill>
                <a:blip r:embed="rId6" cstate="print"/>
                <a:stretch>
                  <a:fillRect l="-1235" t="-4478"/>
                </a:stretch>
              </a:blipFill>
              <a:ln w="19050">
                <a:solidFill>
                  <a:schemeClr val="accent2"/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xmlns="" Requires="a14">
          <p:sp>
            <p:nvSpPr>
              <p:cNvPr id="8" name="Speech Bubble: Rectangle 7">
                <a:extLst>
                  <a:ext uri="{FF2B5EF4-FFF2-40B4-BE49-F238E27FC236}">
                    <a16:creationId xmlns:a16="http://schemas.microsoft.com/office/drawing/2014/main" id="{366D48DC-1AB3-44B7-85B8-0D66FE37E4A2}"/>
                  </a:ext>
                </a:extLst>
              </p:cNvPr>
              <p:cNvSpPr/>
              <p:nvPr/>
            </p:nvSpPr>
            <p:spPr>
              <a:xfrm>
                <a:off x="9672696" y="2948276"/>
                <a:ext cx="1952646" cy="529598"/>
              </a:xfrm>
              <a:prstGeom prst="wedgeRectCallout">
                <a:avLst>
                  <a:gd name="adj1" fmla="val -48031"/>
                  <a:gd name="adj2" fmla="val 97971"/>
                </a:avLst>
              </a:prstGeom>
              <a:solidFill>
                <a:schemeClr val="bg1"/>
              </a:solidFill>
              <a:ln w="19050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IN" sz="1600" dirty="0">
                    <a:solidFill>
                      <a:schemeClr val="tx1"/>
                    </a:solidFill>
                    <a:latin typeface="Abadi Extra Light" panose="020B0204020104020204" pitchFamily="34" charset="0"/>
                  </a:rPr>
                  <a:t>Note: In general, </a:t>
                </a:r>
                <a14:m>
                  <m:oMath xmlns:m="http://schemas.openxmlformats.org/officeDocument/2006/math">
                    <m:r>
                      <a:rPr lang="en-IN" sz="1600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𝑺</m:t>
                    </m:r>
                  </m:oMath>
                </a14:m>
                <a:r>
                  <a:rPr lang="en-IN" sz="1600" dirty="0">
                    <a:solidFill>
                      <a:schemeClr val="tx1"/>
                    </a:solidFill>
                    <a:latin typeface="Abadi Extra Light" panose="020B0204020104020204" pitchFamily="34" charset="0"/>
                  </a:rPr>
                  <a:t> will have </a:t>
                </a:r>
                <a14:m>
                  <m:oMath xmlns:m="http://schemas.openxmlformats.org/officeDocument/2006/math">
                    <m:r>
                      <a:rPr lang="en-IN" sz="16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en-IN" sz="1600" dirty="0">
                    <a:solidFill>
                      <a:schemeClr val="tx1"/>
                    </a:solidFill>
                    <a:latin typeface="Abadi Extra Light" panose="020B0204020104020204" pitchFamily="34" charset="0"/>
                  </a:rPr>
                  <a:t/>
                </a:r>
                <a:r>
                  <a:rPr lang="en-IN" sz="1600" dirty="0" err="1">
                    <a:solidFill>
                      <a:schemeClr val="tx1"/>
                    </a:solidFill>
                    <a:latin typeface="Abadi Extra Light" panose="020B0204020104020204" pitchFamily="34" charset="0"/>
                  </a:rPr>
                  <a:t>eigvecs</a:t>
                </a:r>
                <a:endParaRPr lang="en-IN" sz="1600" dirty="0">
                  <a:solidFill>
                    <a:schemeClr val="tx1"/>
                  </a:solidFill>
                  <a:latin typeface="Abadi Extra Light" panose="020B0204020104020204" pitchFamily="34" charset="0"/>
                </a:endParaRPr>
              </a:p>
            </p:txBody>
          </p:sp>
        </mc:Choice>
        <mc:Fallback>
          <p:sp>
            <p:nvSpPr>
              <p:cNvPr id="8" name="Speech Bubble: Rectangle 7">
                <a:extLst>
                  <a:ext uri="{FF2B5EF4-FFF2-40B4-BE49-F238E27FC236}">
                    <a16:creationId xmlns:a16="http://schemas.microsoft.com/office/drawing/2014/main" xmlns="" xmlns:a14="http://schemas.microsoft.com/office/drawing/2010/main" id="{366D48DC-1AB3-44B7-85B8-0D66FE37E4A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72696" y="2948276"/>
                <a:ext cx="1952646" cy="529598"/>
              </a:xfrm>
              <a:prstGeom prst="wedgeRectCallout">
                <a:avLst>
                  <a:gd name="adj1" fmla="val -48031"/>
                  <a:gd name="adj2" fmla="val 97971"/>
                </a:avLst>
              </a:prstGeom>
              <a:blipFill>
                <a:blip r:embed="rId7" cstate="print"/>
                <a:stretch>
                  <a:fillRect l="-1548" t="-4478"/>
                </a:stretch>
              </a:blipFill>
              <a:ln w="19050">
                <a:solidFill>
                  <a:schemeClr val="accent2"/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Picture 8">
            <a:extLst>
              <a:ext uri="{FF2B5EF4-FFF2-40B4-BE49-F238E27FC236}">
                <a16:creationId xmlns:a16="http://schemas.microsoft.com/office/drawing/2014/main" xmlns="" id="{BD17A434-69C1-42FD-81D9-1F6C6560FD4A}"/>
              </a:ext>
            </a:extLst>
          </p:cNvPr>
          <p:cNvPicPr>
            <a:picLocks noChangeAspect="1"/>
          </p:cNvPicPr>
          <p:nvPr/>
        </p:nvPicPr>
        <p:blipFill>
          <a:blip r:embed="rId8" cstate="print"/>
          <a:stretch>
            <a:fillRect/>
          </a:stretch>
        </p:blipFill>
        <p:spPr>
          <a:xfrm>
            <a:off x="11110716" y="882194"/>
            <a:ext cx="1010687" cy="965223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xmlns="" Requires="a14">
          <p:sp>
            <p:nvSpPr>
              <p:cNvPr id="10" name="Speech Bubble: Rectangle 9">
                <a:extLst>
                  <a:ext uri="{FF2B5EF4-FFF2-40B4-BE49-F238E27FC236}">
                    <a16:creationId xmlns:a16="http://schemas.microsoft.com/office/drawing/2014/main" id="{91AE7855-948B-4787-9733-D83A1E4E0169}"/>
                  </a:ext>
                </a:extLst>
              </p:cNvPr>
              <p:cNvSpPr/>
              <p:nvPr/>
            </p:nvSpPr>
            <p:spPr>
              <a:xfrm>
                <a:off x="8815563" y="470659"/>
                <a:ext cx="2112642" cy="1106532"/>
              </a:xfrm>
              <a:prstGeom prst="wedgeRectCallout">
                <a:avLst>
                  <a:gd name="adj1" fmla="val 71957"/>
                  <a:gd name="adj2" fmla="val 32005"/>
                </a:avLst>
              </a:prstGeom>
              <a:solidFill>
                <a:schemeClr val="bg1"/>
              </a:solidFill>
              <a:ln w="19050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IN" sz="1600" dirty="0">
                    <a:solidFill>
                      <a:schemeClr val="tx1"/>
                    </a:solidFill>
                    <a:latin typeface="Abadi Extra Light" panose="020B0204020104020204" pitchFamily="34" charset="0"/>
                  </a:rPr>
                  <a:t>Note: Total variance of the data is equal to the sum of eigenvalues of </a:t>
                </a:r>
                <a14:m>
                  <m:oMath xmlns:m="http://schemas.openxmlformats.org/officeDocument/2006/math">
                    <m:r>
                      <a:rPr lang="en-IN" sz="1600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𝑺</m:t>
                    </m:r>
                  </m:oMath>
                </a14:m>
                <a:r>
                  <a:rPr lang="en-IN" sz="1600" dirty="0">
                    <a:solidFill>
                      <a:schemeClr val="tx1"/>
                    </a:solidFill>
                    <a:latin typeface="Abadi Extra Light" panose="020B0204020104020204" pitchFamily="34" charset="0"/>
                  </a:rPr>
                  <a:t>, i.e.,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subSup"/>
                        <m:ctrlPr>
                          <a:rPr lang="en-IN" sz="16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5"/>
                          </m:rPr>
                          <a:rPr lang="en-IN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IN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sup>
                      <m:e>
                        <m:sSub>
                          <m:sSubPr>
                            <m:ctrlPr>
                              <a:rPr lang="en-IN" sz="1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1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𝜆</m:t>
                            </m:r>
                          </m:e>
                          <m:sub>
                            <m:r>
                              <a:rPr lang="en-IN" sz="1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sub>
                        </m:sSub>
                      </m:e>
                    </m:nary>
                  </m:oMath>
                </a14:m>
                <a:endParaRPr lang="en-IN" sz="1600" dirty="0">
                  <a:solidFill>
                    <a:srgbClr val="0000FF"/>
                  </a:solidFill>
                  <a:latin typeface="Abadi Extra Light" panose="020B0204020104020204" pitchFamily="34" charset="0"/>
                </a:endParaRPr>
              </a:p>
            </p:txBody>
          </p:sp>
        </mc:Choice>
        <mc:Fallback>
          <p:sp>
            <p:nvSpPr>
              <p:cNvPr id="10" name="Speech Bubble: Rectangle 9">
                <a:extLst>
                  <a:ext uri="{FF2B5EF4-FFF2-40B4-BE49-F238E27FC236}">
                    <a16:creationId xmlns:a16="http://schemas.microsoft.com/office/drawing/2014/main" xmlns="" xmlns:a14="http://schemas.microsoft.com/office/drawing/2010/main" id="{91AE7855-948B-4787-9733-D83A1E4E016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15563" y="470659"/>
                <a:ext cx="2112642" cy="1106532"/>
              </a:xfrm>
              <a:prstGeom prst="wedgeRectCallout">
                <a:avLst>
                  <a:gd name="adj1" fmla="val 71957"/>
                  <a:gd name="adj2" fmla="val 32005"/>
                </a:avLst>
              </a:prstGeom>
              <a:blipFill>
                <a:blip r:embed="rId9" cstate="print"/>
                <a:stretch>
                  <a:fillRect l="-928" b="-49189"/>
                </a:stretch>
              </a:blipFill>
              <a:ln w="19050">
                <a:solidFill>
                  <a:schemeClr val="accent2"/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xmlns="" Requires="a14">
          <p:sp>
            <p:nvSpPr>
              <p:cNvPr id="11" name="Speech Bubble: Rectangle 10">
                <a:extLst>
                  <a:ext uri="{FF2B5EF4-FFF2-40B4-BE49-F238E27FC236}">
                    <a16:creationId xmlns:a16="http://schemas.microsoft.com/office/drawing/2014/main" id="{0B73B99E-736A-466C-BECE-DF8B2903151F}"/>
                  </a:ext>
                </a:extLst>
              </p:cNvPr>
              <p:cNvSpPr/>
              <p:nvPr/>
            </p:nvSpPr>
            <p:spPr>
              <a:xfrm>
                <a:off x="8813123" y="1707132"/>
                <a:ext cx="2112642" cy="844310"/>
              </a:xfrm>
              <a:prstGeom prst="wedgeRectCallout">
                <a:avLst>
                  <a:gd name="adj1" fmla="val 39830"/>
                  <a:gd name="adj2" fmla="val -70714"/>
                </a:avLst>
              </a:prstGeom>
              <a:solidFill>
                <a:schemeClr val="bg1"/>
              </a:solidFill>
              <a:ln w="19050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IN" sz="1600" dirty="0">
                    <a:solidFill>
                      <a:schemeClr val="tx1"/>
                    </a:solidFill>
                    <a:latin typeface="Abadi Extra Light" panose="020B0204020104020204" pitchFamily="34" charset="0"/>
                  </a:rPr>
                  <a:t>PCA would keep the top </a:t>
                </a:r>
                <a14:m>
                  <m:oMath xmlns:m="http://schemas.openxmlformats.org/officeDocument/2006/math">
                    <m:r>
                      <a:rPr lang="en-IN" sz="16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IN" sz="16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16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en-IN" sz="1600" dirty="0">
                    <a:solidFill>
                      <a:schemeClr val="tx1"/>
                    </a:solidFill>
                    <a:latin typeface="Abadi Extra Light" panose="020B0204020104020204" pitchFamily="34" charset="0"/>
                  </a:rPr>
                  <a:t> such directions of largest variances</a:t>
                </a:r>
                <a:endParaRPr lang="en-IN" sz="1600" dirty="0">
                  <a:solidFill>
                    <a:srgbClr val="0000FF"/>
                  </a:solidFill>
                  <a:latin typeface="Abadi Extra Light" panose="020B0204020104020204" pitchFamily="34" charset="0"/>
                </a:endParaRPr>
              </a:p>
            </p:txBody>
          </p:sp>
        </mc:Choice>
        <mc:Fallback>
          <p:sp>
            <p:nvSpPr>
              <p:cNvPr id="11" name="Speech Bubble: Rectangle 10">
                <a:extLst>
                  <a:ext uri="{FF2B5EF4-FFF2-40B4-BE49-F238E27FC236}">
                    <a16:creationId xmlns:a16="http://schemas.microsoft.com/office/drawing/2014/main" xmlns="" xmlns:a14="http://schemas.microsoft.com/office/drawing/2010/main" id="{0B73B99E-736A-466C-BECE-DF8B2903151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13123" y="1707132"/>
                <a:ext cx="2112642" cy="844310"/>
              </a:xfrm>
              <a:prstGeom prst="wedgeRectCallout">
                <a:avLst>
                  <a:gd name="adj1" fmla="val 39830"/>
                  <a:gd name="adj2" fmla="val -70714"/>
                </a:avLst>
              </a:prstGeom>
              <a:blipFill>
                <a:blip r:embed="rId10" cstate="print"/>
                <a:stretch>
                  <a:fillRect l="-1433" r="-3152" b="-5233"/>
                </a:stretch>
              </a:blipFill>
              <a:ln w="19050">
                <a:solidFill>
                  <a:schemeClr val="accent2"/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xmlns="" val="360431928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slow" p14:dur="2000" advTm="344933"/>
    </mc:Choice>
    <mc:Fallback>
      <p:transition spd="slow" advTm="344933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 animBg="1"/>
      <p:bldP spid="8" grpId="0" animBg="1"/>
      <p:bldP spid="10" grpId="0" animBg="1"/>
      <p:bldP spid="11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D7657946-FC7F-477C-9867-0ED704A858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96462" y="2814890"/>
            <a:ext cx="9795003" cy="821500"/>
          </a:xfrm>
        </p:spPr>
        <p:txBody>
          <a:bodyPr>
            <a:normAutofit fontScale="90000"/>
          </a:bodyPr>
          <a:lstStyle/>
          <a:p>
            <a:r>
              <a:rPr lang="en-IN" dirty="0" smtClean="0">
                <a:solidFill>
                  <a:schemeClr val="accent2">
                    <a:lumMod val="75000"/>
                  </a:schemeClr>
                </a:solidFill>
              </a:rPr>
              <a:t>Understanding PCA</a:t>
            </a:r>
            <a:r>
              <a:rPr lang="en-IN" dirty="0">
                <a:solidFill>
                  <a:schemeClr val="accent2">
                    <a:lumMod val="75000"/>
                  </a:schemeClr>
                </a:solidFill>
              </a:rPr>
              <a:t>: </a:t>
            </a:r>
            <a:r>
              <a:rPr lang="en-IN" dirty="0" smtClean="0">
                <a:solidFill>
                  <a:schemeClr val="accent2">
                    <a:lumMod val="75000"/>
                  </a:schemeClr>
                </a:solidFill>
              </a:rPr>
              <a:t>The </a:t>
            </a:r>
            <a:r>
              <a:rPr lang="en-IN" dirty="0">
                <a:solidFill>
                  <a:schemeClr val="accent2">
                    <a:lumMod val="75000"/>
                  </a:schemeClr>
                </a:solidFill>
              </a:rPr>
              <a:t>reconstruction perspective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xmlns="" id="{F77B66E3-3803-4788-BC62-221F4919CBCE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323930" y="136939"/>
            <a:ext cx="602825" cy="365125"/>
          </a:xfrm>
        </p:spPr>
        <p:txBody>
          <a:bodyPr/>
          <a:lstStyle/>
          <a:p>
            <a:fld id="{80FED9D3-AF84-488D-8A6A-726D5349CDAB}" type="slidenum">
              <a:rPr lang="en-IN" sz="2800" smtClean="0">
                <a:solidFill>
                  <a:schemeClr val="accent2">
                    <a:lumMod val="40000"/>
                    <a:lumOff val="60000"/>
                  </a:schemeClr>
                </a:solidFill>
              </a:rPr>
              <a:pPr/>
              <a:t>10</a:t>
            </a:fld>
            <a:endParaRPr lang="en-IN" sz="2800" dirty="0"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xmlns="" val="318860275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slow" p14:dur="2000" advTm="22524"/>
    </mc:Choice>
    <mc:Fallback>
      <p:transition spd="slow" advTm="22524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D7657946-FC7F-477C-9867-0ED704A858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5245" y="169682"/>
            <a:ext cx="11740617" cy="821500"/>
          </a:xfrm>
        </p:spPr>
        <p:txBody>
          <a:bodyPr>
            <a:normAutofit/>
          </a:bodyPr>
          <a:lstStyle/>
          <a:p>
            <a:r>
              <a:rPr lang="en-IN" dirty="0">
                <a:solidFill>
                  <a:schemeClr val="accent2">
                    <a:lumMod val="75000"/>
                  </a:schemeClr>
                </a:solidFill>
              </a:rPr>
              <a:t>Alternate Basis and Reconstruction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xmlns="" id="{F77B66E3-3803-4788-BC62-221F4919CBCE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323930" y="136939"/>
            <a:ext cx="602825" cy="365125"/>
          </a:xfrm>
        </p:spPr>
        <p:txBody>
          <a:bodyPr/>
          <a:lstStyle/>
          <a:p>
            <a:fld id="{80FED9D3-AF84-488D-8A6A-726D5349CDAB}" type="slidenum">
              <a:rPr lang="en-IN" sz="2800" smtClean="0">
                <a:solidFill>
                  <a:schemeClr val="accent2">
                    <a:lumMod val="40000"/>
                    <a:lumOff val="60000"/>
                  </a:schemeClr>
                </a:solidFill>
              </a:rPr>
              <a:pPr/>
              <a:t>11</a:t>
            </a:fld>
            <a:endParaRPr lang="en-IN" sz="2800" dirty="0"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xmlns="" Requires="a14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314819C9-D576-44D5-A1AF-875A21D5EF7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65245" y="1130786"/>
                <a:ext cx="11740617" cy="5557532"/>
              </a:xfrm>
            </p:spPr>
            <p:txBody>
              <a:bodyPr>
                <a:noAutofit/>
              </a:bodyPr>
              <a:lstStyle/>
              <a:p>
                <a:pPr>
                  <a:buFont typeface="Wingdings" panose="05000000000000000000" pitchFamily="2" charset="2"/>
                  <a:buChar char="§"/>
                </a:pPr>
                <a:r>
                  <a:rPr lang="en-IN" dirty="0">
                    <a:latin typeface="Abadi Extra Light" panose="020B0204020104020204" pitchFamily="34" charset="0"/>
                  </a:rPr>
                  <a:t>Representing a data point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IN" b="0" i="1" smtClean="0">
                        <a:latin typeface="Cambria Math" panose="02040503050406030204" pitchFamily="18" charset="0"/>
                      </a:rPr>
                      <m:t>= </m:t>
                    </m:r>
                    <m:sSup>
                      <m:sSup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[</m:t>
                        </m:r>
                        <m:sSub>
                          <m:sSubPr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IN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IN" i="1">
                            <a:latin typeface="Cambria Math" panose="02040503050406030204" pitchFamily="18" charset="0"/>
                          </a:rPr>
                          <m:t>,…, </m:t>
                        </m:r>
                        <m:sSub>
                          <m:sSubPr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𝑛𝐷</m:t>
                            </m:r>
                          </m:sub>
                        </m:sSub>
                        <m:r>
                          <a:rPr lang="en-IN" i="1">
                            <a:latin typeface="Cambria Math" panose="02040503050406030204" pitchFamily="18" charset="0"/>
                          </a:rPr>
                          <m:t>]</m:t>
                        </m:r>
                        <m:r>
                          <m:rPr>
                            <m:nor/>
                          </m:rPr>
                          <a:rPr lang="en-GB" sz="2600" dirty="0">
                            <a:latin typeface="Abadi Extra Light" panose="020B0204020104020204" pitchFamily="34" charset="0"/>
                          </a:rPr>
                          <m:t> </m:t>
                        </m:r>
                      </m:e>
                      <m:sup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⊤</m:t>
                        </m:r>
                      </m:sup>
                    </m:sSup>
                  </m:oMath>
                </a14:m>
                <a:r>
                  <a:rPr lang="en-GB" sz="2600" dirty="0">
                    <a:latin typeface="Abadi Extra Light" panose="020B0204020104020204" pitchFamily="34" charset="0"/>
                  </a:rPr>
                  <a:t> in the standard orthonormal basis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GB" sz="26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IN" sz="2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600" b="1" i="1" smtClean="0">
                                <a:latin typeface="Cambria Math" panose="02040503050406030204" pitchFamily="18" charset="0"/>
                              </a:rPr>
                              <m:t>𝒆</m:t>
                            </m:r>
                          </m:e>
                          <m:sub>
                            <m:r>
                              <a:rPr lang="en-IN" sz="26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IN" sz="26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IN" sz="2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600" b="1" i="1" smtClean="0">
                                <a:latin typeface="Cambria Math" panose="02040503050406030204" pitchFamily="18" charset="0"/>
                              </a:rPr>
                              <m:t>𝒆</m:t>
                            </m:r>
                          </m:e>
                          <m:sub>
                            <m:r>
                              <a:rPr lang="en-IN" sz="26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IN" sz="2600" b="0" i="1" smtClean="0">
                            <a:latin typeface="Cambria Math" panose="02040503050406030204" pitchFamily="18" charset="0"/>
                          </a:rPr>
                          <m:t>,…, </m:t>
                        </m:r>
                        <m:sSub>
                          <m:sSubPr>
                            <m:ctrlPr>
                              <a:rPr lang="en-IN" sz="2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600" b="1" i="1" smtClean="0">
                                <a:latin typeface="Cambria Math" panose="02040503050406030204" pitchFamily="18" charset="0"/>
                              </a:rPr>
                              <m:t>𝒆</m:t>
                            </m:r>
                          </m:e>
                          <m:sub>
                            <m:r>
                              <a:rPr lang="en-IN" sz="2600" b="0" i="1" smtClean="0">
                                <a:latin typeface="Cambria Math" panose="02040503050406030204" pitchFamily="18" charset="0"/>
                              </a:rPr>
                              <m:t>𝐷</m:t>
                            </m:r>
                          </m:sub>
                        </m:sSub>
                      </m:e>
                    </m:d>
                  </m:oMath>
                </a14:m>
                <a:endParaRPr lang="en-GB" sz="2600" dirty="0">
                  <a:latin typeface="Abadi Extra Light" panose="020B0204020104020204" pitchFamily="34" charset="0"/>
                </a:endParaRPr>
              </a:p>
              <a:p>
                <a:pPr>
                  <a:buFont typeface="Wingdings" panose="05000000000000000000" pitchFamily="2" charset="2"/>
                  <a:buChar char="§"/>
                </a:pPr>
                <a:endParaRPr lang="en-GB" sz="2600" dirty="0">
                  <a:latin typeface="Abadi Extra Light" panose="020B0204020104020204" pitchFamily="34" charset="0"/>
                </a:endParaRPr>
              </a:p>
              <a:p>
                <a:pPr>
                  <a:buFont typeface="Wingdings" panose="05000000000000000000" pitchFamily="2" charset="2"/>
                  <a:buChar char="§"/>
                </a:pPr>
                <a:endParaRPr lang="en-GB" sz="100" dirty="0">
                  <a:latin typeface="Abadi Extra Light" panose="020B0204020104020204" pitchFamily="34" charset="0"/>
                </a:endParaRPr>
              </a:p>
              <a:p>
                <a:pPr>
                  <a:buFont typeface="Wingdings" panose="05000000000000000000" pitchFamily="2" charset="2"/>
                  <a:buChar char="§"/>
                </a:pPr>
                <a:r>
                  <a:rPr lang="en-GB" sz="2600" dirty="0">
                    <a:latin typeface="Abadi Extra Light" panose="020B0204020104020204" pitchFamily="34" charset="0"/>
                  </a:rPr>
                  <a:t>Let’s represent the same data point in a new orthonormal basis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GB" sz="2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IN" sz="2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600" b="1" i="1" smtClean="0">
                                <a:latin typeface="Cambria Math" panose="02040503050406030204" pitchFamily="18" charset="0"/>
                              </a:rPr>
                              <m:t>𝒘</m:t>
                            </m:r>
                          </m:e>
                          <m:sub>
                            <m:r>
                              <a:rPr lang="en-IN" sz="26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IN" sz="2600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IN" sz="2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600" b="1" i="1" smtClean="0">
                                <a:latin typeface="Cambria Math" panose="02040503050406030204" pitchFamily="18" charset="0"/>
                              </a:rPr>
                              <m:t>𝒘</m:t>
                            </m:r>
                          </m:e>
                          <m:sub>
                            <m:r>
                              <a:rPr lang="en-IN" sz="26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IN" sz="2600" i="1">
                            <a:latin typeface="Cambria Math" panose="02040503050406030204" pitchFamily="18" charset="0"/>
                          </a:rPr>
                          <m:t>,…, </m:t>
                        </m:r>
                        <m:sSub>
                          <m:sSubPr>
                            <m:ctrlPr>
                              <a:rPr lang="en-IN" sz="2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600" b="1" i="1" smtClean="0">
                                <a:latin typeface="Cambria Math" panose="02040503050406030204" pitchFamily="18" charset="0"/>
                              </a:rPr>
                              <m:t>𝒘</m:t>
                            </m:r>
                          </m:e>
                          <m:sub>
                            <m:r>
                              <a:rPr lang="en-IN" sz="2600" i="1">
                                <a:latin typeface="Cambria Math" panose="02040503050406030204" pitchFamily="18" charset="0"/>
                              </a:rPr>
                              <m:t>𝐷</m:t>
                            </m:r>
                          </m:sub>
                        </m:sSub>
                      </m:e>
                    </m:d>
                  </m:oMath>
                </a14:m>
                <a:endParaRPr lang="en-GB" sz="2600" dirty="0">
                  <a:latin typeface="Abadi Extra Light" panose="020B0204020104020204" pitchFamily="34" charset="0"/>
                </a:endParaRPr>
              </a:p>
              <a:p>
                <a:pPr>
                  <a:buFont typeface="Wingdings" panose="05000000000000000000" pitchFamily="2" charset="2"/>
                  <a:buChar char="§"/>
                </a:pPr>
                <a:endParaRPr lang="en-GB" sz="2600" dirty="0">
                  <a:latin typeface="Abadi Extra Light" panose="020B0204020104020204" pitchFamily="34" charset="0"/>
                </a:endParaRPr>
              </a:p>
              <a:p>
                <a:pPr marL="0" indent="0">
                  <a:buNone/>
                </a:pPr>
                <a:endParaRPr lang="en-GB" sz="100" dirty="0">
                  <a:latin typeface="Abadi Extra Light" panose="020B0204020104020204" pitchFamily="34" charset="0"/>
                </a:endParaRPr>
              </a:p>
              <a:p>
                <a:pPr marL="0" indent="0">
                  <a:buNone/>
                </a:pPr>
                <a:endParaRPr lang="en-GB" sz="500" dirty="0">
                  <a:latin typeface="Abadi Extra Light" panose="020B0204020104020204" pitchFamily="34" charset="0"/>
                </a:endParaRPr>
              </a:p>
              <a:p>
                <a:pPr>
                  <a:buFont typeface="Wingdings" panose="05000000000000000000" pitchFamily="2" charset="2"/>
                  <a:buChar char="§"/>
                </a:pPr>
                <a:r>
                  <a:rPr lang="en-GB" sz="2600" dirty="0">
                    <a:latin typeface="Abadi Extra Light" panose="020B0204020104020204" pitchFamily="34" charset="0"/>
                  </a:rPr>
                  <a:t>Ignoring directions along which projection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600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600" b="0" i="1" smtClean="0">
                            <a:latin typeface="Cambria Math" panose="02040503050406030204" pitchFamily="18" charset="0"/>
                          </a:rPr>
                          <m:t>𝑛𝑑</m:t>
                        </m:r>
                      </m:sub>
                    </m:sSub>
                  </m:oMath>
                </a14:m>
                <a:r>
                  <a:rPr lang="en-GB" sz="2600" dirty="0">
                    <a:latin typeface="Abadi Extra Light" panose="020B0204020104020204" pitchFamily="34" charset="0"/>
                  </a:rPr>
                  <a:t> is small, we can approximate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400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IN" sz="240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GB" sz="2600" dirty="0">
                    <a:latin typeface="Abadi Extra Light" panose="020B0204020104020204" pitchFamily="34" charset="0"/>
                  </a:rPr>
                  <a:t> as</a:t>
                </a:r>
              </a:p>
              <a:p>
                <a:pPr>
                  <a:buFont typeface="Wingdings" panose="05000000000000000000" pitchFamily="2" charset="2"/>
                  <a:buChar char="§"/>
                </a:pPr>
                <a:endParaRPr lang="en-GB" sz="2600" dirty="0">
                  <a:latin typeface="Abadi Extra Light" panose="020B0204020104020204" pitchFamily="34" charset="0"/>
                </a:endParaRPr>
              </a:p>
              <a:p>
                <a:pPr>
                  <a:buFont typeface="Wingdings" panose="05000000000000000000" pitchFamily="2" charset="2"/>
                  <a:buChar char="§"/>
                </a:pPr>
                <a:endParaRPr lang="en-GB" sz="2600" dirty="0">
                  <a:latin typeface="Abadi Extra Light" panose="020B0204020104020204" pitchFamily="34" charset="0"/>
                </a:endParaRPr>
              </a:p>
              <a:p>
                <a:pPr>
                  <a:buFont typeface="Wingdings" panose="05000000000000000000" pitchFamily="2" charset="2"/>
                  <a:buChar char="§"/>
                </a:pPr>
                <a:r>
                  <a:rPr lang="en-GB" sz="2600" dirty="0">
                    <a:latin typeface="Abadi Extra Light" panose="020B0204020104020204" pitchFamily="34" charset="0"/>
                  </a:rPr>
                  <a:t>Now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400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IN" sz="240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GB" sz="2600" dirty="0">
                    <a:latin typeface="Abadi Extra Light" panose="020B0204020104020204" pitchFamily="34" charset="0"/>
                  </a:rPr>
                  <a:t> is represented by </a:t>
                </a:r>
                <a14:m>
                  <m:oMath xmlns:m="http://schemas.openxmlformats.org/officeDocument/2006/math">
                    <m:r>
                      <a:rPr lang="en-GB" sz="2600" i="1" dirty="0" smtClean="0"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GB" sz="2600" i="1" dirty="0" smtClean="0">
                        <a:latin typeface="Cambria Math" panose="02040503050406030204" pitchFamily="18" charset="0"/>
                      </a:rPr>
                      <m:t> &lt; </m:t>
                    </m:r>
                    <m:r>
                      <a:rPr lang="en-GB" sz="2600" i="1" dirty="0" smtClean="0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GB" sz="2600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GB" sz="2600" dirty="0">
                    <a:latin typeface="Abadi Extra Light" panose="020B0204020104020204" pitchFamily="34" charset="0"/>
                  </a:rPr>
                  <a:t>dim. rep.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26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600" i="1" dirty="0" smtClean="0">
                            <a:latin typeface="Cambria Math" panose="02040503050406030204" pitchFamily="18" charset="0"/>
                          </a:rPr>
                          <m:t>𝒛</m:t>
                        </m:r>
                      </m:e>
                      <m:sub>
                        <m:r>
                          <a:rPr lang="en-GB" sz="2600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GB" sz="2600" i="1" dirty="0" smtClean="0">
                        <a:latin typeface="Cambria Math" panose="02040503050406030204" pitchFamily="18" charset="0"/>
                      </a:rPr>
                      <m:t> =[</m:t>
                    </m:r>
                    <m:sSub>
                      <m:sSubPr>
                        <m:ctrlPr>
                          <a:rPr lang="en-GB" sz="26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600" i="1" dirty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GB" sz="2600" i="1" dirty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GB" sz="2600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GB" sz="2600" i="1" dirty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GB" sz="26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600" i="1" dirty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GB" sz="2600" i="1" dirty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GB" sz="2600" i="1" dirty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GB" sz="2600" i="1" dirty="0">
                        <a:latin typeface="Cambria Math" panose="02040503050406030204" pitchFamily="18" charset="0"/>
                      </a:rPr>
                      <m:t>,…, </m:t>
                    </m:r>
                    <m:sSub>
                      <m:sSubPr>
                        <m:ctrlPr>
                          <a:rPr lang="en-GB" sz="26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600" i="1" dirty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GB" sz="2600" i="1" dirty="0">
                            <a:latin typeface="Cambria Math" panose="02040503050406030204" pitchFamily="18" charset="0"/>
                          </a:rPr>
                          <m:t>𝑛𝐾</m:t>
                        </m:r>
                      </m:sub>
                    </m:sSub>
                    <m:r>
                      <a:rPr lang="en-GB" sz="2600" i="1" dirty="0">
                        <a:latin typeface="Cambria Math" panose="02040503050406030204" pitchFamily="18" charset="0"/>
                      </a:rPr>
                      <m:t>] </m:t>
                    </m:r>
                  </m:oMath>
                </a14:m>
                <a:r>
                  <a:rPr lang="en-GB" sz="2600" dirty="0">
                    <a:latin typeface="Abadi Extra Light" panose="020B0204020104020204" pitchFamily="34" charset="0"/>
                  </a:rPr>
                  <a:t> and (verify)</a:t>
                </a:r>
              </a:p>
            </p:txBody>
          </p:sp>
        </mc:Choice>
        <mc:Fallback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xmlns="" xmlns:a14="http://schemas.microsoft.com/office/drawing/2010/main" id="{314819C9-D576-44D5-A1AF-875A21D5EF7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65245" y="1130786"/>
                <a:ext cx="11740617" cy="5557532"/>
              </a:xfrm>
              <a:blipFill>
                <a:blip r:embed="rId3" cstate="print"/>
                <a:stretch>
                  <a:fillRect l="-935" t="-1754" r="-26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xmlns="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AE4D67BB-8066-46A8-9F37-FCBDDD5A46E4}"/>
                  </a:ext>
                </a:extLst>
              </p:cNvPr>
              <p:cNvSpPr txBox="1"/>
              <p:nvPr/>
            </p:nvSpPr>
            <p:spPr>
              <a:xfrm>
                <a:off x="4374037" y="1753349"/>
                <a:ext cx="2515112" cy="75591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4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IN" sz="24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IN" sz="2400" b="0" i="1" smtClean="0">
                          <a:latin typeface="Cambria Math" panose="02040503050406030204" pitchFamily="18" charset="0"/>
                        </a:rPr>
                        <m:t>= </m:t>
                      </m:r>
                      <m:nary>
                        <m:naryPr>
                          <m:chr m:val="∑"/>
                          <m:limLoc m:val="subSup"/>
                          <m:ctrlPr>
                            <a:rPr lang="en-IN" sz="24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5"/>
                            </m:rPr>
                            <a:rPr lang="en-IN" sz="24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IN" sz="2400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IN" sz="2400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</m:sup>
                        <m:e>
                          <m:sSub>
                            <m:sSubPr>
                              <m:ctrlP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  <m:t>𝑛𝑑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400" b="1" i="1" smtClean="0">
                                  <a:latin typeface="Cambria Math" panose="02040503050406030204" pitchFamily="18" charset="0"/>
                                </a:rPr>
                                <m:t>𝒆</m:t>
                              </m:r>
                            </m:e>
                            <m:sub>
                              <m: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IN" sz="2400" dirty="0"/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xmlns="" xmlns:a14="http://schemas.microsoft.com/office/drawing/2010/main" id="{AE4D67BB-8066-46A8-9F37-FCBDDD5A46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74037" y="1753349"/>
                <a:ext cx="2515112" cy="755913"/>
              </a:xfrm>
              <a:prstGeom prst="rect">
                <a:avLst/>
              </a:prstGeom>
              <a:blipFill>
                <a:blip r:embed="rId4" cstate="print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xmlns="" Requires="a14">
          <p:sp>
            <p:nvSpPr>
              <p:cNvPr id="6" name="Speech Bubble: Rectangle 5">
                <a:extLst>
                  <a:ext uri="{FF2B5EF4-FFF2-40B4-BE49-F238E27FC236}">
                    <a16:creationId xmlns:a16="http://schemas.microsoft.com/office/drawing/2014/main" id="{DB138636-921E-42DF-A0E3-2151E4EE6462}"/>
                  </a:ext>
                </a:extLst>
              </p:cNvPr>
              <p:cNvSpPr/>
              <p:nvPr/>
            </p:nvSpPr>
            <p:spPr>
              <a:xfrm>
                <a:off x="7174592" y="1866507"/>
                <a:ext cx="4036216" cy="529598"/>
              </a:xfrm>
              <a:prstGeom prst="wedgeRectCallout">
                <a:avLst>
                  <a:gd name="adj1" fmla="val -56504"/>
                  <a:gd name="adj2" fmla="val 37451"/>
                </a:avLst>
              </a:prstGeom>
              <a:solidFill>
                <a:schemeClr val="bg1"/>
              </a:solidFill>
              <a:ln w="19050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IN" sz="16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16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𝒆</m:t>
                        </m:r>
                      </m:e>
                      <m:sub>
                        <m:r>
                          <a:rPr lang="en-IN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sub>
                    </m:sSub>
                  </m:oMath>
                </a14:m>
                <a:r>
                  <a:rPr lang="en-IN" sz="1600" dirty="0">
                    <a:solidFill>
                      <a:schemeClr val="tx1"/>
                    </a:solidFill>
                    <a:latin typeface="Abadi Extra Light" panose="020B0204020104020204" pitchFamily="34" charset="0"/>
                  </a:rPr>
                  <a:t> is a vector of all zeros except a single 1 at the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IN" sz="16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N" sz="16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p>
                        <m:r>
                          <a:rPr lang="en-IN" sz="16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𝑡h</m:t>
                        </m:r>
                      </m:sup>
                    </m:sSup>
                    <m:r>
                      <a:rPr lang="en-IN" sz="16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1600" dirty="0">
                    <a:solidFill>
                      <a:schemeClr val="tx1"/>
                    </a:solidFill>
                    <a:latin typeface="Abadi Extra Light" panose="020B0204020104020204" pitchFamily="34" charset="0"/>
                  </a:rPr>
                  <a:t>position. Also,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IN" sz="16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en-IN" sz="16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16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𝒆</m:t>
                            </m:r>
                          </m:e>
                          <m:sub>
                            <m:r>
                              <a:rPr lang="en-IN" sz="16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sub>
                        </m:sSub>
                      </m:e>
                      <m:sup>
                        <m:r>
                          <a:rPr lang="en-IN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⊤</m:t>
                        </m:r>
                      </m:sup>
                    </m:sSup>
                    <m:sSub>
                      <m:sSubPr>
                        <m:ctrlPr>
                          <a:rPr lang="en-IN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16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𝒆</m:t>
                        </m:r>
                      </m:e>
                      <m:sub>
                        <m:sSup>
                          <m:sSupPr>
                            <m:ctrlPr>
                              <a:rPr lang="en-IN" sz="1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IN" sz="16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p>
                            <m:r>
                              <a:rPr lang="en-IN" sz="1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sub>
                    </m:sSub>
                    <m:r>
                      <a:rPr lang="en-IN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IN" sz="1600" dirty="0">
                    <a:solidFill>
                      <a:schemeClr val="tx1"/>
                    </a:solidFill>
                    <a:latin typeface="Abadi Extra Light" panose="020B0204020104020204" pitchFamily="34" charset="0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16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16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≠ </m:t>
                    </m:r>
                    <m:sSup>
                      <m:sSupPr>
                        <m:ctrlPr>
                          <a:rPr lang="en-IN" sz="16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N" sz="16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p>
                        <m:r>
                          <a:rPr lang="en-IN" sz="16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’</m:t>
                        </m:r>
                      </m:sup>
                    </m:sSup>
                  </m:oMath>
                </a14:m>
                <a:endParaRPr lang="en-IN" sz="1600" dirty="0">
                  <a:solidFill>
                    <a:schemeClr val="tx1"/>
                  </a:solidFill>
                  <a:latin typeface="Abadi Extra Light" panose="020B0204020104020204" pitchFamily="34" charset="0"/>
                </a:endParaRPr>
              </a:p>
            </p:txBody>
          </p:sp>
        </mc:Choice>
        <mc:Fallback>
          <p:sp>
            <p:nvSpPr>
              <p:cNvPr id="6" name="Speech Bubble: Rectangle 5">
                <a:extLst>
                  <a:ext uri="{FF2B5EF4-FFF2-40B4-BE49-F238E27FC236}">
                    <a16:creationId xmlns:a16="http://schemas.microsoft.com/office/drawing/2014/main" xmlns="" xmlns:a14="http://schemas.microsoft.com/office/drawing/2010/main" id="{DB138636-921E-42DF-A0E3-2151E4EE646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74592" y="1866507"/>
                <a:ext cx="4036216" cy="529598"/>
              </a:xfrm>
              <a:prstGeom prst="wedgeRectCallout">
                <a:avLst>
                  <a:gd name="adj1" fmla="val -56504"/>
                  <a:gd name="adj2" fmla="val 37451"/>
                </a:avLst>
              </a:prstGeom>
              <a:blipFill>
                <a:blip r:embed="rId5" cstate="print"/>
                <a:stretch>
                  <a:fillRect t="-7778" b="-16667"/>
                </a:stretch>
              </a:blipFill>
              <a:ln w="19050">
                <a:solidFill>
                  <a:schemeClr val="accent2"/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xmlns="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14A26106-70B4-4C9B-B898-BFFFCC01E4F4}"/>
                  </a:ext>
                </a:extLst>
              </p:cNvPr>
              <p:cNvSpPr txBox="1"/>
              <p:nvPr/>
            </p:nvSpPr>
            <p:spPr>
              <a:xfrm>
                <a:off x="4301774" y="3131825"/>
                <a:ext cx="2587375" cy="75591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4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IN" sz="24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IN" sz="2400" b="0" i="1" smtClean="0">
                          <a:latin typeface="Cambria Math" panose="02040503050406030204" pitchFamily="18" charset="0"/>
                        </a:rPr>
                        <m:t>= </m:t>
                      </m:r>
                      <m:nary>
                        <m:naryPr>
                          <m:chr m:val="∑"/>
                          <m:limLoc m:val="subSup"/>
                          <m:ctrlPr>
                            <a:rPr lang="en-IN" sz="24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5"/>
                            </m:rPr>
                            <a:rPr lang="en-IN" sz="24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IN" sz="2400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IN" sz="2400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</m:sup>
                        <m:e>
                          <m:sSub>
                            <m:sSubPr>
                              <m:ctrlP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  <m:t>𝑛𝑑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400" b="1" i="1" smtClean="0">
                                  <a:latin typeface="Cambria Math" panose="02040503050406030204" pitchFamily="18" charset="0"/>
                                </a:rPr>
                                <m:t>𝒘</m:t>
                              </m:r>
                            </m:e>
                            <m:sub>
                              <m: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IN" sz="2400" dirty="0"/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xmlns="" xmlns:a14="http://schemas.microsoft.com/office/drawing/2010/main" id="{14A26106-70B4-4C9B-B898-BFFFCC01E4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01774" y="3131825"/>
                <a:ext cx="2587375" cy="755913"/>
              </a:xfrm>
              <a:prstGeom prst="rect">
                <a:avLst/>
              </a:prstGeom>
              <a:blipFill>
                <a:blip r:embed="rId6" cstate="print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xmlns="" Requires="a14">
          <p:sp>
            <p:nvSpPr>
              <p:cNvPr id="8" name="Speech Bubble: Rectangle 7">
                <a:extLst>
                  <a:ext uri="{FF2B5EF4-FFF2-40B4-BE49-F238E27FC236}">
                    <a16:creationId xmlns:a16="http://schemas.microsoft.com/office/drawing/2014/main" id="{D1A6F63C-228E-4CB4-83BA-242A0816632F}"/>
                  </a:ext>
                </a:extLst>
              </p:cNvPr>
              <p:cNvSpPr/>
              <p:nvPr/>
            </p:nvSpPr>
            <p:spPr>
              <a:xfrm>
                <a:off x="7174592" y="3131825"/>
                <a:ext cx="3287595" cy="529598"/>
              </a:xfrm>
              <a:prstGeom prst="wedgeRectCallout">
                <a:avLst>
                  <a:gd name="adj1" fmla="val -56504"/>
                  <a:gd name="adj2" fmla="val 37451"/>
                </a:avLst>
              </a:prstGeom>
              <a:solidFill>
                <a:schemeClr val="bg1"/>
              </a:solidFill>
              <a:ln w="19050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IN" sz="16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16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𝒛</m:t>
                        </m:r>
                      </m:e>
                      <m:sub>
                        <m:r>
                          <a:rPr lang="en-IN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IN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IN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N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[</m:t>
                        </m:r>
                        <m:sSub>
                          <m:sSubPr>
                            <m:ctrlPr>
                              <a:rPr lang="en-IN" sz="16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1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IN" sz="16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IN" sz="16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IN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IN" sz="16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1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IN" sz="16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IN" sz="16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IN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,…, </m:t>
                        </m:r>
                        <m:sSub>
                          <m:sSubPr>
                            <m:ctrlPr>
                              <a:rPr lang="en-IN" sz="16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1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IN" sz="16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𝑛𝐷</m:t>
                            </m:r>
                          </m:sub>
                        </m:sSub>
                        <m:r>
                          <a:rPr lang="en-IN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]</m:t>
                        </m:r>
                        <m:r>
                          <m:rPr>
                            <m:nor/>
                          </m:rPr>
                          <a:rPr lang="en-GB" sz="1600" dirty="0">
                            <a:solidFill>
                              <a:schemeClr val="tx1"/>
                            </a:solidFill>
                            <a:latin typeface="Abadi Extra Light" panose="020B0204020104020204" pitchFamily="34" charset="0"/>
                          </a:rPr>
                          <m:t> </m:t>
                        </m:r>
                      </m:e>
                      <m:sup>
                        <m:r>
                          <a:rPr lang="en-IN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⊤</m:t>
                        </m:r>
                      </m:sup>
                    </m:sSup>
                  </m:oMath>
                </a14:m>
                <a:r>
                  <a:rPr lang="en-IN" sz="1600" dirty="0">
                    <a:solidFill>
                      <a:schemeClr val="tx1"/>
                    </a:solidFill>
                    <a:latin typeface="Abadi Extra Light" panose="020B0204020104020204" pitchFamily="34" charset="0"/>
                  </a:rPr>
                  <a:t>denotes the co-ordinates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16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IN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IN" sz="1600" dirty="0">
                    <a:solidFill>
                      <a:schemeClr val="tx1"/>
                    </a:solidFill>
                    <a:latin typeface="Abadi Extra Light" panose="020B0204020104020204" pitchFamily="34" charset="0"/>
                  </a:rPr>
                  <a:t> in the new basis  </a:t>
                </a:r>
              </a:p>
            </p:txBody>
          </p:sp>
        </mc:Choice>
        <mc:Fallback>
          <p:sp>
            <p:nvSpPr>
              <p:cNvPr id="8" name="Speech Bubble: Rectangle 7">
                <a:extLst>
                  <a:ext uri="{FF2B5EF4-FFF2-40B4-BE49-F238E27FC236}">
                    <a16:creationId xmlns:a16="http://schemas.microsoft.com/office/drawing/2014/main" xmlns="" xmlns:a14="http://schemas.microsoft.com/office/drawing/2010/main" id="{D1A6F63C-228E-4CB4-83BA-242A0816632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74592" y="3131825"/>
                <a:ext cx="3287595" cy="529598"/>
              </a:xfrm>
              <a:prstGeom prst="wedgeRectCallout">
                <a:avLst>
                  <a:gd name="adj1" fmla="val -56504"/>
                  <a:gd name="adj2" fmla="val 37451"/>
                </a:avLst>
              </a:prstGeom>
              <a:blipFill>
                <a:blip r:embed="rId7" cstate="print"/>
                <a:stretch>
                  <a:fillRect t="-6667" b="-16667"/>
                </a:stretch>
              </a:blipFill>
              <a:ln w="19050">
                <a:solidFill>
                  <a:schemeClr val="accent2"/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xmlns="" Requires="a14">
          <p:sp>
            <p:nvSpPr>
              <p:cNvPr id="9" name="Speech Bubble: Rectangle 8">
                <a:extLst>
                  <a:ext uri="{FF2B5EF4-FFF2-40B4-BE49-F238E27FC236}">
                    <a16:creationId xmlns:a16="http://schemas.microsoft.com/office/drawing/2014/main" id="{70B7F36B-EBD2-46C6-9DC0-4C11FE4DEC84}"/>
                  </a:ext>
                </a:extLst>
              </p:cNvPr>
              <p:cNvSpPr/>
              <p:nvPr/>
            </p:nvSpPr>
            <p:spPr>
              <a:xfrm>
                <a:off x="265245" y="3164201"/>
                <a:ext cx="3873623" cy="529598"/>
              </a:xfrm>
              <a:prstGeom prst="wedgeRectCallout">
                <a:avLst>
                  <a:gd name="adj1" fmla="val 54341"/>
                  <a:gd name="adj2" fmla="val -1709"/>
                </a:avLst>
              </a:prstGeom>
              <a:solidFill>
                <a:schemeClr val="bg1"/>
              </a:solidFill>
              <a:ln w="19050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IN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16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𝑛𝑑</m:t>
                        </m:r>
                      </m:sub>
                    </m:sSub>
                  </m:oMath>
                </a14:m>
                <a:r>
                  <a:rPr lang="en-IN" sz="1600" dirty="0">
                    <a:solidFill>
                      <a:schemeClr val="tx1"/>
                    </a:solidFill>
                    <a:latin typeface="Abadi Extra Light" panose="020B0204020104020204" pitchFamily="34" charset="0"/>
                  </a:rPr>
                  <a:t> is the projection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16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IN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IN" sz="1600" dirty="0">
                    <a:solidFill>
                      <a:schemeClr val="tx1"/>
                    </a:solidFill>
                    <a:latin typeface="Abadi Extra Light" panose="020B0204020104020204" pitchFamily="34" charset="0"/>
                  </a:rPr>
                  <a:t> along the direction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16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𝒘</m:t>
                        </m:r>
                      </m:e>
                      <m:sub>
                        <m:r>
                          <a:rPr lang="en-IN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sub>
                    </m:sSub>
                  </m:oMath>
                </a14:m>
                <a:r>
                  <a:rPr lang="en-IN" sz="1600" dirty="0">
                    <a:solidFill>
                      <a:schemeClr val="tx1"/>
                    </a:solidFill>
                    <a:latin typeface="Abadi Extra Light" panose="020B0204020104020204" pitchFamily="34" charset="0"/>
                  </a:rPr>
                  <a:t> since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𝑛𝑑</m:t>
                        </m:r>
                      </m:sub>
                    </m:sSub>
                    <m:r>
                      <a:rPr lang="en-IN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en-IN" sz="16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IN" sz="1600" b="1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𝒘</m:t>
                        </m:r>
                      </m:e>
                      <m:sub>
                        <m:r>
                          <a:rPr lang="en-IN" sz="16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sub>
                      <m:sup>
                        <m:r>
                          <a:rPr lang="en-IN" sz="16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⊤</m:t>
                        </m:r>
                      </m:sup>
                    </m:sSubSup>
                    <m:sSub>
                      <m:sSubPr>
                        <m:ctrlPr>
                          <a:rPr lang="en-IN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16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IN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IN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en-IN" sz="16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IN" sz="1600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IN" sz="16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  <m:sup>
                        <m:r>
                          <a:rPr lang="en-IN" sz="16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⊤</m:t>
                        </m:r>
                      </m:sup>
                    </m:sSubSup>
                    <m:sSub>
                      <m:sSubPr>
                        <m:ctrlPr>
                          <a:rPr lang="en-IN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16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𝒘</m:t>
                        </m:r>
                      </m:e>
                      <m:sub>
                        <m:r>
                          <a:rPr lang="en-IN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sub>
                    </m:sSub>
                  </m:oMath>
                </a14:m>
                <a:r>
                  <a:rPr lang="en-IN" sz="1600" dirty="0">
                    <a:solidFill>
                      <a:schemeClr val="tx1"/>
                    </a:solidFill>
                    <a:latin typeface="Abadi Extra Light" panose="020B0204020104020204" pitchFamily="34" charset="0"/>
                  </a:rPr>
                  <a:t>(verify)</a:t>
                </a:r>
              </a:p>
            </p:txBody>
          </p:sp>
        </mc:Choice>
        <mc:Fallback>
          <p:sp>
            <p:nvSpPr>
              <p:cNvPr id="9" name="Speech Bubble: Rectangle 8">
                <a:extLst>
                  <a:ext uri="{FF2B5EF4-FFF2-40B4-BE49-F238E27FC236}">
                    <a16:creationId xmlns:a16="http://schemas.microsoft.com/office/drawing/2014/main" xmlns="" xmlns:a14="http://schemas.microsoft.com/office/drawing/2010/main" id="{70B7F36B-EBD2-46C6-9DC0-4C11FE4DEC8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5245" y="3164201"/>
                <a:ext cx="3873623" cy="529598"/>
              </a:xfrm>
              <a:prstGeom prst="wedgeRectCallout">
                <a:avLst>
                  <a:gd name="adj1" fmla="val 54341"/>
                  <a:gd name="adj2" fmla="val -1709"/>
                </a:avLst>
              </a:prstGeom>
              <a:blipFill>
                <a:blip r:embed="rId8" cstate="print"/>
                <a:stretch>
                  <a:fillRect t="-7778" b="-16667"/>
                </a:stretch>
              </a:blipFill>
              <a:ln w="19050">
                <a:solidFill>
                  <a:schemeClr val="accent2"/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xmlns="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67D2F52A-4281-48FC-90B3-212A6FCD53D9}"/>
                  </a:ext>
                </a:extLst>
              </p:cNvPr>
              <p:cNvSpPr txBox="1"/>
              <p:nvPr/>
            </p:nvSpPr>
            <p:spPr>
              <a:xfrm>
                <a:off x="247653" y="4464632"/>
                <a:ext cx="3257430" cy="75591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4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IN" sz="24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IN" sz="2400" b="0" i="1" smtClean="0">
                          <a:latin typeface="Cambria Math" panose="02040503050406030204" pitchFamily="18" charset="0"/>
                        </a:rPr>
                        <m:t>≈</m:t>
                      </m:r>
                      <m:sSub>
                        <m:sSubPr>
                          <m:ctrlPr>
                            <a:rPr lang="en-IN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IN" sz="24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IN" sz="2400" b="1" i="1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</m:acc>
                        </m:e>
                        <m:sub>
                          <m:r>
                            <a:rPr lang="en-IN" sz="24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IN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subSup"/>
                          <m:ctrlPr>
                            <a:rPr lang="en-IN" sz="24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5"/>
                            </m:rPr>
                            <a:rPr lang="en-IN" sz="24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IN" sz="2400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IN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𝐾</m:t>
                          </m:r>
                        </m:sup>
                        <m:e>
                          <m:sSub>
                            <m:sSubPr>
                              <m:ctrlP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  <m:t>𝑛𝑑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400" b="1" i="1" smtClean="0">
                                  <a:latin typeface="Cambria Math" panose="02040503050406030204" pitchFamily="18" charset="0"/>
                                </a:rPr>
                                <m:t>𝒘</m:t>
                              </m:r>
                            </m:e>
                            <m:sub>
                              <m: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IN" sz="2400" dirty="0"/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xmlns="" xmlns:a14="http://schemas.microsoft.com/office/drawing/2010/main" id="{67D2F52A-4281-48FC-90B3-212A6FCD53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7653" y="4464632"/>
                <a:ext cx="3257430" cy="755913"/>
              </a:xfrm>
              <a:prstGeom prst="rect">
                <a:avLst/>
              </a:prstGeom>
              <a:blipFill>
                <a:blip r:embed="rId9" cstate="print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xmlns=""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1C17256A-9487-455B-8B38-D4C9ACAEF914}"/>
                  </a:ext>
                </a:extLst>
              </p:cNvPr>
              <p:cNvSpPr txBox="1"/>
              <p:nvPr/>
            </p:nvSpPr>
            <p:spPr>
              <a:xfrm>
                <a:off x="3608536" y="4464633"/>
                <a:ext cx="2654637" cy="75591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subSup"/>
                          <m:ctrlPr>
                            <a:rPr lang="en-IN" sz="2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5"/>
                            </m:rPr>
                            <a:rPr lang="en-IN" sz="2400" i="1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IN" sz="2400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IN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𝐾</m:t>
                          </m:r>
                        </m:sup>
                        <m:e>
                          <m:sSubSup>
                            <m:sSubSupPr>
                              <m:ctrlPr>
                                <a:rPr lang="en-IN" sz="2400" i="1" dirty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IN" sz="2400" b="1" i="1" dirty="0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IN" sz="2400" b="1" i="1" dirty="0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en-IN" sz="2400" i="1" dirty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  <m:sup>
                              <m:r>
                                <a:rPr lang="en-IN" sz="2400" i="1" dirty="0">
                                  <a:latin typeface="Cambria Math" panose="02040503050406030204" pitchFamily="18" charset="0"/>
                                </a:rPr>
                                <m:t>⊤</m:t>
                              </m:r>
                            </m:sup>
                          </m:sSubSup>
                          <m:sSub>
                            <m:sSubPr>
                              <m:ctrlPr>
                                <a:rPr lang="en-IN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400" b="1" i="1">
                                  <a:latin typeface="Cambria Math" panose="02040503050406030204" pitchFamily="18" charset="0"/>
                                </a:rPr>
                                <m:t>𝒘</m:t>
                              </m:r>
                            </m:e>
                            <m:sub>
                              <m:r>
                                <a:rPr lang="en-IN" sz="2400" i="1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sub>
                          </m:sSub>
                          <m:r>
                            <a:rPr lang="en-IN" sz="24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  <m:sSub>
                            <m:sSubPr>
                              <m:ctrlPr>
                                <a:rPr lang="en-IN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400" b="1" i="1">
                                  <a:latin typeface="Cambria Math" panose="02040503050406030204" pitchFamily="18" charset="0"/>
                                </a:rPr>
                                <m:t>𝒘</m:t>
                              </m:r>
                            </m:e>
                            <m:sub>
                              <m:r>
                                <a:rPr lang="en-IN" sz="2400" i="1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IN" sz="2400" dirty="0"/>
              </a:p>
            </p:txBody>
          </p:sp>
        </mc:Choice>
        <mc:Fallback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xmlns="" xmlns:a14="http://schemas.microsoft.com/office/drawing/2010/main" id="{1C17256A-9487-455B-8B38-D4C9ACAEF9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8536" y="4464633"/>
                <a:ext cx="2654637" cy="755913"/>
              </a:xfrm>
              <a:prstGeom prst="rect">
                <a:avLst/>
              </a:prstGeom>
              <a:blipFill>
                <a:blip r:embed="rId10" cstate="print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xmlns=""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282E23C4-CD42-4A28-BD61-62F042D847E5}"/>
                  </a:ext>
                </a:extLst>
              </p:cNvPr>
              <p:cNvSpPr txBox="1"/>
              <p:nvPr/>
            </p:nvSpPr>
            <p:spPr>
              <a:xfrm>
                <a:off x="6366626" y="4461896"/>
                <a:ext cx="2652970" cy="75591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subSup"/>
                          <m:ctrlPr>
                            <a:rPr lang="en-IN" sz="2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5"/>
                            </m:rPr>
                            <a:rPr lang="en-IN" sz="2400" i="1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IN" sz="2400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IN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𝐾</m:t>
                          </m:r>
                        </m:sup>
                        <m:e>
                          <m:sSubSup>
                            <m:sSubSupPr>
                              <m:ctrlPr>
                                <a:rPr lang="en-IN" sz="2400" i="1" dirty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IN" sz="2400" b="1" i="1" dirty="0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IN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2400" b="1" i="1">
                                      <a:latin typeface="Cambria Math" panose="02040503050406030204" pitchFamily="18" charset="0"/>
                                    </a:rPr>
                                    <m:t>𝒘</m:t>
                                  </m:r>
                                </m:e>
                                <m:sub>
                                  <m:r>
                                    <a:rPr lang="en-IN" sz="2400" i="1"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</m:sub>
                              </m:sSub>
                              <m:r>
                                <a:rPr lang="en-IN" sz="2400" b="1" i="1" dirty="0" smtClean="0">
                                  <a:latin typeface="Cambria Math" panose="02040503050406030204" pitchFamily="18" charset="0"/>
                                </a:rPr>
                                <m:t>𝒘</m:t>
                              </m:r>
                            </m:e>
                            <m:sub>
                              <m:r>
                                <a:rPr lang="en-IN" sz="2400" b="0" i="1" dirty="0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sub>
                            <m:sup>
                              <m:r>
                                <a:rPr lang="en-IN" sz="2400" i="1" dirty="0">
                                  <a:latin typeface="Cambria Math" panose="02040503050406030204" pitchFamily="18" charset="0"/>
                                </a:rPr>
                                <m:t>⊤</m:t>
                              </m:r>
                            </m:sup>
                          </m:sSubSup>
                          <m:r>
                            <a:rPr lang="en-IN" sz="24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  <m:sSub>
                            <m:sSubPr>
                              <m:ctrlPr>
                                <a:rPr lang="en-IN" sz="24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400" b="1" i="1" smtClean="0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IN" sz="2400" dirty="0"/>
              </a:p>
            </p:txBody>
          </p:sp>
        </mc:Choice>
        <mc:Fallback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xmlns="" xmlns:a14="http://schemas.microsoft.com/office/drawing/2010/main" id="{282E23C4-CD42-4A28-BD61-62F042D847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66626" y="4461896"/>
                <a:ext cx="2652970" cy="755913"/>
              </a:xfrm>
              <a:prstGeom prst="rect">
                <a:avLst/>
              </a:prstGeom>
              <a:blipFill>
                <a:blip r:embed="rId11" cstate="print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xmlns=""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6358B4AD-00AF-43FE-BAC9-E783EA7EDEA3}"/>
                  </a:ext>
                </a:extLst>
              </p:cNvPr>
              <p:cNvSpPr txBox="1"/>
              <p:nvPr/>
            </p:nvSpPr>
            <p:spPr>
              <a:xfrm>
                <a:off x="4789052" y="5976364"/>
                <a:ext cx="1958357" cy="44704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800" b="1" i="1" smtClean="0">
                              <a:latin typeface="Cambria Math" panose="02040503050406030204" pitchFamily="18" charset="0"/>
                            </a:rPr>
                            <m:t>𝒛</m:t>
                          </m:r>
                        </m:e>
                        <m:sub>
                          <m:r>
                            <a:rPr lang="en-IN" sz="28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IN" sz="2800" b="0" i="1" smtClean="0">
                          <a:latin typeface="Cambria Math" panose="02040503050406030204" pitchFamily="18" charset="0"/>
                        </a:rPr>
                        <m:t>≈ </m:t>
                      </m:r>
                      <m:sSubSup>
                        <m:sSubSupPr>
                          <m:ctrlPr>
                            <a:rPr lang="en-IN" sz="28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IN" sz="2800" b="1" i="0" smtClean="0">
                              <a:latin typeface="Cambria Math" panose="02040503050406030204" pitchFamily="18" charset="0"/>
                            </a:rPr>
                            <m:t>𝐖</m:t>
                          </m:r>
                        </m:e>
                        <m:sub>
                          <m:r>
                            <a:rPr lang="en-IN" sz="2800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sub>
                        <m:sup>
                          <m:r>
                            <a:rPr lang="en-IN" sz="2800" b="0" i="1" smtClean="0">
                              <a:latin typeface="Cambria Math" panose="02040503050406030204" pitchFamily="18" charset="0"/>
                            </a:rPr>
                            <m:t>⊤</m:t>
                          </m:r>
                        </m:sup>
                      </m:sSubSup>
                      <m:sSub>
                        <m:sSubPr>
                          <m:ctrlPr>
                            <a:rPr lang="en-IN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8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IN" sz="28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lang="en-IN" sz="2800" dirty="0"/>
              </a:p>
            </p:txBody>
          </p:sp>
        </mc:Choice>
        <mc:Fallback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xmlns="" xmlns:a14="http://schemas.microsoft.com/office/drawing/2010/main" id="{6358B4AD-00AF-43FE-BAC9-E783EA7EDE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89052" y="5976364"/>
                <a:ext cx="1958357" cy="447045"/>
              </a:xfrm>
              <a:prstGeom prst="rect">
                <a:avLst/>
              </a:prstGeom>
              <a:blipFill>
                <a:blip r:embed="rId12" cstate="print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xmlns="" Requires="a14">
          <p:sp>
            <p:nvSpPr>
              <p:cNvPr id="15" name="Speech Bubble: Rectangle 14">
                <a:extLst>
                  <a:ext uri="{FF2B5EF4-FFF2-40B4-BE49-F238E27FC236}">
                    <a16:creationId xmlns:a16="http://schemas.microsoft.com/office/drawing/2014/main" id="{437E73E5-2C3B-431B-B5DC-BA48FDB4A79C}"/>
                  </a:ext>
                </a:extLst>
              </p:cNvPr>
              <p:cNvSpPr/>
              <p:nvPr/>
            </p:nvSpPr>
            <p:spPr>
              <a:xfrm>
                <a:off x="6936381" y="5868680"/>
                <a:ext cx="3287596" cy="739062"/>
              </a:xfrm>
              <a:prstGeom prst="wedgeRectCallout">
                <a:avLst>
                  <a:gd name="adj1" fmla="val -58234"/>
                  <a:gd name="adj2" fmla="val -16863"/>
                </a:avLst>
              </a:prstGeom>
              <a:solidFill>
                <a:schemeClr val="bg1"/>
              </a:solidFill>
              <a:ln w="19050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IN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1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𝐖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IN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K</m:t>
                        </m:r>
                      </m:sub>
                    </m:sSub>
                    <m:r>
                      <a:rPr lang="en-IN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I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IN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𝒘</m:t>
                            </m:r>
                          </m:e>
                          <m:sub>
                            <m:r>
                              <a:rPr lang="en-IN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I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IN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𝒘</m:t>
                            </m:r>
                          </m:e>
                          <m:sub>
                            <m:r>
                              <a:rPr lang="en-IN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I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,…, </m:t>
                        </m:r>
                        <m:sSub>
                          <m:sSubPr>
                            <m:ctrlPr>
                              <a:rPr lang="en-IN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𝒘</m:t>
                            </m:r>
                          </m:e>
                          <m:sub>
                            <m:r>
                              <a:rPr lang="en-IN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𝐾</m:t>
                            </m:r>
                          </m:sub>
                        </m:sSub>
                      </m:e>
                    </m:d>
                  </m:oMath>
                </a14:m>
                <a:r>
                  <a:rPr lang="en-IN" dirty="0">
                    <a:solidFill>
                      <a:schemeClr val="tx1"/>
                    </a:solidFill>
                  </a:rPr>
                  <a:t/>
                </a:r>
                <a:r>
                  <a:rPr lang="en-IN" dirty="0">
                    <a:solidFill>
                      <a:schemeClr val="tx1"/>
                    </a:solidFill>
                    <a:latin typeface="Abadi Extra Light" panose="020B0204020104020204" pitchFamily="34" charset="0"/>
                  </a:rPr>
                  <a:t>is the “projection matrix” of size </a:t>
                </a:r>
                <a14:m>
                  <m:oMath xmlns:m="http://schemas.openxmlformats.org/officeDocument/2006/math">
                    <m:r>
                      <a:rPr lang="en-IN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IN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endParaRPr lang="en-IN" dirty="0">
                  <a:solidFill>
                    <a:schemeClr val="tx1"/>
                  </a:solidFill>
                  <a:latin typeface="Abadi Extra Light" panose="020B0204020104020204" pitchFamily="34" charset="0"/>
                </a:endParaRPr>
              </a:p>
            </p:txBody>
          </p:sp>
        </mc:Choice>
        <mc:Fallback>
          <p:sp>
            <p:nvSpPr>
              <p:cNvPr id="15" name="Speech Bubble: Rectangle 14">
                <a:extLst>
                  <a:ext uri="{FF2B5EF4-FFF2-40B4-BE49-F238E27FC236}">
                    <a16:creationId xmlns:a16="http://schemas.microsoft.com/office/drawing/2014/main" xmlns="" xmlns:a14="http://schemas.microsoft.com/office/drawing/2010/main" id="{437E73E5-2C3B-431B-B5DC-BA48FDB4A79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36381" y="5868680"/>
                <a:ext cx="3287596" cy="739062"/>
              </a:xfrm>
              <a:prstGeom prst="wedgeRectCallout">
                <a:avLst>
                  <a:gd name="adj1" fmla="val -58234"/>
                  <a:gd name="adj2" fmla="val -16863"/>
                </a:avLst>
              </a:prstGeom>
              <a:blipFill>
                <a:blip r:embed="rId13" cstate="print"/>
                <a:stretch>
                  <a:fillRect b="-4839"/>
                </a:stretch>
              </a:blipFill>
              <a:ln w="19050">
                <a:solidFill>
                  <a:schemeClr val="accent2"/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xmlns="" Requires="a14">
          <p:sp>
            <p:nvSpPr>
              <p:cNvPr id="16" name="Speech Bubble: Rectangle 15">
                <a:extLst>
                  <a:ext uri="{FF2B5EF4-FFF2-40B4-BE49-F238E27FC236}">
                    <a16:creationId xmlns:a16="http://schemas.microsoft.com/office/drawing/2014/main" id="{93C5AD14-FF32-4F0B-881A-7C968E20D345}"/>
                  </a:ext>
                </a:extLst>
              </p:cNvPr>
              <p:cNvSpPr/>
              <p:nvPr/>
            </p:nvSpPr>
            <p:spPr>
              <a:xfrm>
                <a:off x="9252653" y="4354302"/>
                <a:ext cx="2856661" cy="977552"/>
              </a:xfrm>
              <a:prstGeom prst="wedgeRectCallout">
                <a:avLst>
                  <a:gd name="adj1" fmla="val -60703"/>
                  <a:gd name="adj2" fmla="val -4606"/>
                </a:avLst>
              </a:prstGeom>
              <a:solidFill>
                <a:schemeClr val="bg1"/>
              </a:solidFill>
              <a:ln w="19050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IN" sz="1400" dirty="0">
                    <a:solidFill>
                      <a:schemeClr val="tx1"/>
                    </a:solidFill>
                    <a:latin typeface="Abadi Extra Light" panose="020B0204020104020204" pitchFamily="34" charset="0"/>
                  </a:rPr>
                  <a:t>Note that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IN" sz="1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en-IN" sz="1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IN" sz="1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IN" sz="1400" b="1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</m:e>
                              <m:sub>
                                <m:r>
                                  <a:rPr lang="en-IN" sz="1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  <m:r>
                              <a:rPr lang="en-IN" sz="1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nary>
                              <m:naryPr>
                                <m:chr m:val="∑"/>
                                <m:limLoc m:val="subSup"/>
                                <m:ctrlPr>
                                  <a:rPr lang="en-IN" sz="1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>
                                <m:r>
                                  <m:rPr>
                                    <m:brk m:alnAt="25"/>
                                  </m:rPr>
                                  <a:rPr lang="en-IN" sz="1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  <m:r>
                                  <a:rPr lang="en-IN" sz="1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=1</m:t>
                                </m:r>
                              </m:sub>
                              <m:sup>
                                <m:r>
                                  <a:rPr lang="en-IN" sz="1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𝐾</m:t>
                                </m:r>
                              </m:sup>
                              <m:e>
                                <m:sSubSup>
                                  <m:sSubSupPr>
                                    <m:ctrlPr>
                                      <a:rPr lang="en-IN" sz="1400" i="1" dirty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IN" sz="1400" b="1" i="1" dirty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sSub>
                                      <m:sSubPr>
                                        <m:ctrlPr>
                                          <a:rPr lang="en-IN" sz="14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IN" sz="1400" b="1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𝒘</m:t>
                                        </m:r>
                                      </m:e>
                                      <m:sub>
                                        <m:r>
                                          <a:rPr lang="en-IN" sz="14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𝑑</m:t>
                                        </m:r>
                                      </m:sub>
                                    </m:sSub>
                                    <m:r>
                                      <a:rPr lang="en-IN" sz="1400" b="1" i="1" dirty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IN" sz="1400" i="1" dirty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𝑑</m:t>
                                    </m:r>
                                  </m:sub>
                                  <m:sup>
                                    <m:r>
                                      <a:rPr lang="en-IN" sz="1400" i="1" dirty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⊤</m:t>
                                    </m:r>
                                  </m:sup>
                                </m:sSubSup>
                                <m:r>
                                  <a:rPr lang="en-IN" sz="1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  <m:sSub>
                                  <m:sSubPr>
                                    <m:ctrlPr>
                                      <a:rPr lang="en-IN" sz="14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N" sz="1400" b="1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IN" sz="14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b>
                                </m:sSub>
                              </m:e>
                            </m:nary>
                          </m:e>
                        </m:d>
                      </m:e>
                      <m:sup>
                        <m:r>
                          <a:rPr lang="en-IN" sz="1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IN" sz="1400" dirty="0">
                    <a:solidFill>
                      <a:schemeClr val="tx1"/>
                    </a:solidFill>
                    <a:latin typeface="Abadi Extra Light" panose="020B0204020104020204" pitchFamily="34" charset="0"/>
                  </a:rPr>
                  <a:t> is the </a:t>
                </a:r>
                <a:r>
                  <a:rPr lang="en-IN" sz="1400" dirty="0">
                    <a:solidFill>
                      <a:srgbClr val="FF0000"/>
                    </a:solidFill>
                    <a:latin typeface="Abadi Extra Light" panose="020B0204020104020204" pitchFamily="34" charset="0"/>
                  </a:rPr>
                  <a:t>reconstruction error</a:t>
                </a:r>
                <a:r>
                  <a:rPr lang="en-IN" sz="1400" dirty="0">
                    <a:solidFill>
                      <a:schemeClr val="tx1"/>
                    </a:solidFill>
                    <a:latin typeface="Abadi Extra Light" panose="020B0204020104020204" pitchFamily="34" charset="0"/>
                  </a:rPr>
                  <a:t> 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14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1400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IN" sz="14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IN" sz="1400" dirty="0">
                    <a:solidFill>
                      <a:schemeClr val="tx1"/>
                    </a:solidFill>
                    <a:latin typeface="Abadi Extra Light" panose="020B0204020104020204" pitchFamily="34" charset="0"/>
                  </a:rPr>
                  <a:t>.  Would like it to minimize </a:t>
                </a:r>
                <a:r>
                  <a:rPr lang="en-IN" sz="1400" dirty="0" err="1">
                    <a:solidFill>
                      <a:schemeClr val="tx1"/>
                    </a:solidFill>
                    <a:latin typeface="Abadi Extra Light" panose="020B0204020104020204" pitchFamily="34" charset="0"/>
                  </a:rPr>
                  <a:t>w.r.t.</a:t>
                </a:r>
                <a:r>
                  <a:rPr lang="en-IN" sz="1400" dirty="0">
                    <a:solidFill>
                      <a:schemeClr val="tx1"/>
                    </a:solidFill>
                    <a:latin typeface="Abadi Extra Light" panose="020B0204020104020204" pitchFamily="34" charset="0"/>
                  </a:rPr>
                  <a:t/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1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1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𝒘</m:t>
                        </m:r>
                      </m:e>
                      <m:sub>
                        <m:r>
                          <a:rPr lang="en-IN" sz="1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IN" sz="1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IN" sz="1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1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𝒘</m:t>
                        </m:r>
                      </m:e>
                      <m:sub>
                        <m:r>
                          <a:rPr lang="en-IN" sz="1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IN" sz="1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,…, </m:t>
                    </m:r>
                    <m:sSub>
                      <m:sSubPr>
                        <m:ctrlPr>
                          <a:rPr lang="en-IN" sz="1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1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𝒘</m:t>
                        </m:r>
                      </m:e>
                      <m:sub>
                        <m:r>
                          <a:rPr lang="en-IN" sz="1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𝐾</m:t>
                        </m:r>
                      </m:sub>
                    </m:sSub>
                  </m:oMath>
                </a14:m>
                <a:r>
                  <a:rPr lang="en-IN" sz="1400" dirty="0">
                    <a:solidFill>
                      <a:schemeClr val="tx1"/>
                    </a:solidFill>
                    <a:latin typeface="Abadi Extra Light" panose="020B0204020104020204" pitchFamily="34" charset="0"/>
                  </a:rPr>
                  <a:t/>
                </a:r>
              </a:p>
            </p:txBody>
          </p:sp>
        </mc:Choice>
        <mc:Fallback>
          <p:sp>
            <p:nvSpPr>
              <p:cNvPr id="16" name="Speech Bubble: Rectangle 15">
                <a:extLst>
                  <a:ext uri="{FF2B5EF4-FFF2-40B4-BE49-F238E27FC236}">
                    <a16:creationId xmlns:a16="http://schemas.microsoft.com/office/drawing/2014/main" xmlns="" id="{93C5AD14-FF32-4F0B-881A-7C968E20D34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52653" y="4354302"/>
                <a:ext cx="2856661" cy="977552"/>
              </a:xfrm>
              <a:prstGeom prst="wedgeRectCallout">
                <a:avLst>
                  <a:gd name="adj1" fmla="val -60703"/>
                  <a:gd name="adj2" fmla="val -4606"/>
                </a:avLst>
              </a:prstGeom>
              <a:blipFill>
                <a:blip r:embed="rId14" cstate="print"/>
                <a:stretch>
                  <a:fillRect t="-26829"/>
                </a:stretch>
              </a:blipFill>
              <a:ln w="19050">
                <a:solidFill>
                  <a:schemeClr val="accent2"/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xmlns="" Requires="a14">
          <p:sp>
            <p:nvSpPr>
              <p:cNvPr id="17" name="Speech Bubble: Rectangle 16">
                <a:extLst>
                  <a:ext uri="{FF2B5EF4-FFF2-40B4-BE49-F238E27FC236}">
                    <a16:creationId xmlns:a16="http://schemas.microsoft.com/office/drawing/2014/main" id="{479F3F65-A996-4DE9-8277-7A940346831B}"/>
                  </a:ext>
                </a:extLst>
              </p:cNvPr>
              <p:cNvSpPr/>
              <p:nvPr/>
            </p:nvSpPr>
            <p:spPr>
              <a:xfrm>
                <a:off x="2482109" y="6160254"/>
                <a:ext cx="1891928" cy="447044"/>
              </a:xfrm>
              <a:prstGeom prst="wedgeRectCallout">
                <a:avLst>
                  <a:gd name="adj1" fmla="val 63917"/>
                  <a:gd name="adj2" fmla="val -20689"/>
                </a:avLst>
              </a:prstGeom>
              <a:solidFill>
                <a:schemeClr val="bg1"/>
              </a:solidFill>
              <a:ln w="19050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IN" dirty="0">
                    <a:solidFill>
                      <a:schemeClr val="tx1"/>
                    </a:solidFill>
                    <a:latin typeface="Abadi Extra Light" panose="020B0204020104020204" pitchFamily="34" charset="0"/>
                  </a:rPr>
                  <a:t>Also,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I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IN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≈</m:t>
                    </m:r>
                    <m:sSub>
                      <m:sSubPr>
                        <m:ctrlPr>
                          <a:rPr lang="en-I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1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𝐖</m:t>
                        </m:r>
                      </m:e>
                      <m:sub>
                        <m:r>
                          <a:rPr lang="en-I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𝐾</m:t>
                        </m:r>
                      </m:sub>
                    </m:sSub>
                    <m:sSub>
                      <m:sSubPr>
                        <m:ctrlPr>
                          <a:rPr lang="en-I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𝒛</m:t>
                        </m:r>
                      </m:e>
                      <m:sub>
                        <m:r>
                          <a:rPr lang="en-I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IN" dirty="0">
                    <a:solidFill>
                      <a:schemeClr val="tx1"/>
                    </a:solidFill>
                    <a:latin typeface="Abadi Extra Light" panose="020B0204020104020204" pitchFamily="34" charset="0"/>
                  </a:rPr>
                  <a:t/>
                </a:r>
              </a:p>
            </p:txBody>
          </p:sp>
        </mc:Choice>
        <mc:Fallback>
          <p:sp>
            <p:nvSpPr>
              <p:cNvPr id="17" name="Speech Bubble: Rectangle 16">
                <a:extLst>
                  <a:ext uri="{FF2B5EF4-FFF2-40B4-BE49-F238E27FC236}">
                    <a16:creationId xmlns:a16="http://schemas.microsoft.com/office/drawing/2014/main" xmlns="" xmlns:a14="http://schemas.microsoft.com/office/drawing/2010/main" id="{479F3F65-A996-4DE9-8277-7A940346831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82109" y="6160254"/>
                <a:ext cx="1891928" cy="447044"/>
              </a:xfrm>
              <a:prstGeom prst="wedgeRectCallout">
                <a:avLst>
                  <a:gd name="adj1" fmla="val 63917"/>
                  <a:gd name="adj2" fmla="val -20689"/>
                </a:avLst>
              </a:prstGeom>
              <a:blipFill>
                <a:blip r:embed="rId15" cstate="print"/>
                <a:stretch>
                  <a:fillRect l="-1923" b="-9211"/>
                </a:stretch>
              </a:blipFill>
              <a:ln w="19050">
                <a:solidFill>
                  <a:schemeClr val="accent2"/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xmlns="" val="172251441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slow" p14:dur="2000" advTm="663985"/>
    </mc:Choice>
    <mc:Fallback>
      <p:transition spd="slow" advTm="663985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7" dur="500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3" grpId="0" animBg="1"/>
      <p:bldP spid="14" grpId="0" animBg="1"/>
      <p:bldP spid="15" grpId="0" animBg="1"/>
      <p:bldP spid="16" grpId="0" animBg="1"/>
      <p:bldP spid="17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D7657946-FC7F-477C-9867-0ED704A858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5245" y="169682"/>
            <a:ext cx="11740617" cy="821500"/>
          </a:xfrm>
        </p:spPr>
        <p:txBody>
          <a:bodyPr>
            <a:normAutofit/>
          </a:bodyPr>
          <a:lstStyle/>
          <a:p>
            <a:r>
              <a:rPr lang="en-IN" dirty="0">
                <a:solidFill>
                  <a:schemeClr val="accent2">
                    <a:lumMod val="75000"/>
                  </a:schemeClr>
                </a:solidFill>
              </a:rPr>
              <a:t>Minimizing Reconstruction Error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xmlns="" id="{F77B66E3-3803-4788-BC62-221F4919CBCE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323930" y="136939"/>
            <a:ext cx="602825" cy="365125"/>
          </a:xfrm>
        </p:spPr>
        <p:txBody>
          <a:bodyPr/>
          <a:lstStyle/>
          <a:p>
            <a:fld id="{80FED9D3-AF84-488D-8A6A-726D5349CDAB}" type="slidenum">
              <a:rPr lang="en-IN" sz="2800" smtClean="0">
                <a:solidFill>
                  <a:schemeClr val="accent2">
                    <a:lumMod val="40000"/>
                    <a:lumOff val="60000"/>
                  </a:schemeClr>
                </a:solidFill>
              </a:rPr>
              <a:pPr/>
              <a:t>12</a:t>
            </a:fld>
            <a:endParaRPr lang="en-IN" sz="2800" dirty="0"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xmlns="" Requires="a14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314819C9-D576-44D5-A1AF-875A21D5EF7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65245" y="1130786"/>
                <a:ext cx="11740617" cy="5557532"/>
              </a:xfrm>
            </p:spPr>
            <p:txBody>
              <a:bodyPr>
                <a:noAutofit/>
              </a:bodyPr>
              <a:lstStyle/>
              <a:p>
                <a:pPr>
                  <a:buFont typeface="Wingdings" panose="05000000000000000000" pitchFamily="2" charset="2"/>
                  <a:buChar char="§"/>
                </a:pPr>
                <a:r>
                  <a:rPr lang="en-IN" dirty="0">
                    <a:latin typeface="Abadi Extra Light" panose="020B0204020104020204" pitchFamily="34" charset="0"/>
                  </a:rPr>
                  <a:t>We plan to use only </a:t>
                </a:r>
                <a14:m>
                  <m:oMath xmlns:m="http://schemas.openxmlformats.org/officeDocument/2006/math">
                    <m:r>
                      <a:rPr lang="en-IN" i="1" dirty="0" smtClean="0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en-IN" dirty="0">
                    <a:latin typeface="Abadi Extra Light" panose="020B0204020104020204" pitchFamily="34" charset="0"/>
                  </a:rPr>
                  <a:t> directions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b="1" i="1">
                                <a:latin typeface="Cambria Math" panose="02040503050406030204" pitchFamily="18" charset="0"/>
                              </a:rPr>
                              <m:t>𝒘</m:t>
                            </m:r>
                          </m:e>
                          <m:sub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IN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b="1" i="1">
                                <a:latin typeface="Cambria Math" panose="02040503050406030204" pitchFamily="18" charset="0"/>
                              </a:rPr>
                              <m:t>𝒘</m:t>
                            </m:r>
                          </m:e>
                          <m:sub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IN" i="1">
                            <a:latin typeface="Cambria Math" panose="02040503050406030204" pitchFamily="18" charset="0"/>
                          </a:rPr>
                          <m:t>,…, </m:t>
                        </m:r>
                        <m:sSub>
                          <m:sSubPr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b="1" i="1">
                                <a:latin typeface="Cambria Math" panose="02040503050406030204" pitchFamily="18" charset="0"/>
                              </a:rPr>
                              <m:t>𝒘</m:t>
                            </m:r>
                          </m:e>
                          <m:sub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𝐾</m:t>
                            </m:r>
                          </m:sub>
                        </m:sSub>
                      </m:e>
                    </m:d>
                    <m:r>
                      <a:rPr lang="en-IN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dirty="0">
                    <a:latin typeface="Abadi Extra Light" panose="020B0204020104020204" pitchFamily="34" charset="0"/>
                  </a:rPr>
                  <a:t>so would like them to be such that the total reconstruction error is minimized</a:t>
                </a:r>
              </a:p>
              <a:p>
                <a:pPr>
                  <a:buFont typeface="Wingdings" panose="05000000000000000000" pitchFamily="2" charset="2"/>
                  <a:buChar char="§"/>
                </a:pPr>
                <a:endParaRPr lang="en-IN" dirty="0">
                  <a:latin typeface="Abadi Extra Light" panose="020B0204020104020204" pitchFamily="34" charset="0"/>
                </a:endParaRPr>
              </a:p>
              <a:p>
                <a:pPr>
                  <a:buFont typeface="Wingdings" panose="05000000000000000000" pitchFamily="2" charset="2"/>
                  <a:buChar char="§"/>
                </a:pPr>
                <a:endParaRPr lang="en-IN" sz="500" dirty="0">
                  <a:latin typeface="Abadi Extra Light" panose="020B0204020104020204" pitchFamily="34" charset="0"/>
                </a:endParaRPr>
              </a:p>
              <a:p>
                <a:pPr>
                  <a:buFont typeface="Wingdings" panose="05000000000000000000" pitchFamily="2" charset="2"/>
                  <a:buChar char="§"/>
                </a:pPr>
                <a:r>
                  <a:rPr lang="en-IN" dirty="0">
                    <a:latin typeface="Abadi Extra Light" panose="020B0204020104020204" pitchFamily="34" charset="0"/>
                  </a:rPr>
                  <a:t>Each optimal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1" i="1" dirty="0" smtClean="0">
                            <a:latin typeface="Cambria Math" panose="02040503050406030204" pitchFamily="18" charset="0"/>
                          </a:rPr>
                          <m:t>𝒘</m:t>
                        </m:r>
                      </m:e>
                      <m:sub>
                        <m:r>
                          <a:rPr lang="en-IN" i="1" dirty="0" smtClean="0">
                            <a:latin typeface="Cambria Math" panose="02040503050406030204" pitchFamily="18" charset="0"/>
                          </a:rPr>
                          <m:t>𝑑</m:t>
                        </m:r>
                      </m:sub>
                    </m:sSub>
                  </m:oMath>
                </a14:m>
                <a:r>
                  <a:rPr lang="en-IN" dirty="0">
                    <a:latin typeface="Abadi Extra Light" panose="020B0204020104020204" pitchFamily="34" charset="0"/>
                  </a:rPr>
                  <a:t> can be found by solving </a:t>
                </a:r>
              </a:p>
              <a:p>
                <a:pPr>
                  <a:buFont typeface="Wingdings" panose="05000000000000000000" pitchFamily="2" charset="2"/>
                  <a:buChar char="§"/>
                </a:pPr>
                <a:endParaRPr lang="en-IN" dirty="0">
                  <a:latin typeface="Abadi Extra Light" panose="020B0204020104020204" pitchFamily="34" charset="0"/>
                </a:endParaRPr>
              </a:p>
              <a:p>
                <a:pPr>
                  <a:buFont typeface="Wingdings" panose="05000000000000000000" pitchFamily="2" charset="2"/>
                  <a:buChar char="§"/>
                </a:pPr>
                <a:endParaRPr lang="en-IN" sz="100" dirty="0">
                  <a:latin typeface="Abadi Extra Light" panose="020B0204020104020204" pitchFamily="34" charset="0"/>
                </a:endParaRPr>
              </a:p>
              <a:p>
                <a:pPr>
                  <a:buFont typeface="Wingdings" panose="05000000000000000000" pitchFamily="2" charset="2"/>
                  <a:buChar char="§"/>
                </a:pPr>
                <a:r>
                  <a:rPr lang="en-IN" dirty="0">
                    <a:latin typeface="Abadi Extra Light" panose="020B0204020104020204" pitchFamily="34" charset="0"/>
                  </a:rPr>
                  <a:t>Thus minimizing the reconstruction error is equivalent to maximizing variance</a:t>
                </a:r>
              </a:p>
              <a:p>
                <a:pPr marL="0" indent="0">
                  <a:buNone/>
                </a:pPr>
                <a:endParaRPr lang="en-IN" sz="100" dirty="0">
                  <a:latin typeface="Abadi Extra Light" panose="020B0204020104020204" pitchFamily="34" charset="0"/>
                </a:endParaRPr>
              </a:p>
              <a:p>
                <a:pPr>
                  <a:buFont typeface="Wingdings" panose="05000000000000000000" pitchFamily="2" charset="2"/>
                  <a:buChar char="§"/>
                </a:pPr>
                <a:r>
                  <a:rPr lang="en-IN" dirty="0">
                    <a:latin typeface="Abadi Extra Light" panose="020B0204020104020204" pitchFamily="34" charset="0"/>
                  </a:rPr>
                  <a:t>The </a:t>
                </a:r>
                <a14:m>
                  <m:oMath xmlns:m="http://schemas.openxmlformats.org/officeDocument/2006/math">
                    <m:r>
                      <a:rPr lang="en-IN" i="1" dirty="0" smtClean="0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en-IN" dirty="0">
                    <a:latin typeface="Abadi Extra Light" panose="020B0204020104020204" pitchFamily="34" charset="0"/>
                  </a:rPr>
                  <a:t> directions can be found by solving the </a:t>
                </a:r>
                <a:r>
                  <a:rPr lang="en-IN" dirty="0" err="1">
                    <a:latin typeface="Abadi Extra Light" panose="020B0204020104020204" pitchFamily="34" charset="0"/>
                  </a:rPr>
                  <a:t>eigendecomposition</a:t>
                </a:r>
                <a:r>
                  <a:rPr lang="en-IN" dirty="0">
                    <a:latin typeface="Abadi Extra Light" panose="020B0204020104020204" pitchFamily="34" charset="0"/>
                  </a:rPr>
                  <a:t> of </a:t>
                </a:r>
                <a14:m>
                  <m:oMath xmlns:m="http://schemas.openxmlformats.org/officeDocument/2006/math">
                    <m:r>
                      <a:rPr lang="en-IN" b="1" i="0" dirty="0" smtClean="0">
                        <a:latin typeface="Cambria Math" panose="02040503050406030204" pitchFamily="18" charset="0"/>
                      </a:rPr>
                      <m:t>𝐒</m:t>
                    </m:r>
                  </m:oMath>
                </a14:m>
                <a:endParaRPr lang="en-IN" b="1" dirty="0">
                  <a:latin typeface="Abadi Extra Light" panose="020B0204020104020204" pitchFamily="34" charset="0"/>
                </a:endParaRPr>
              </a:p>
              <a:p>
                <a:pPr marL="0" indent="0">
                  <a:buNone/>
                </a:pPr>
                <a:endParaRPr lang="en-IN" sz="100" b="1" dirty="0">
                  <a:latin typeface="Abadi Extra Light" panose="020B0204020104020204" pitchFamily="34" charset="0"/>
                </a:endParaRPr>
              </a:p>
              <a:p>
                <a:pPr>
                  <a:buFont typeface="Wingdings" panose="05000000000000000000" pitchFamily="2" charset="2"/>
                  <a:buChar char="§"/>
                </a:pPr>
                <a:r>
                  <a:rPr lang="en-IN" dirty="0">
                    <a:latin typeface="Abadi Extra Light" panose="020B0204020104020204" pitchFamily="34" charset="0"/>
                  </a:rPr>
                  <a:t>Note: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subSup"/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5"/>
                          </m:rPr>
                          <a:rPr lang="en-IN" i="1"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i="1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IN" i="1">
                            <a:latin typeface="Cambria Math" panose="02040503050406030204" pitchFamily="18" charset="0"/>
                          </a:rPr>
                          <m:t>𝐾</m:t>
                        </m:r>
                      </m:sup>
                      <m:e>
                        <m:sSubSup>
                          <m:sSubSupPr>
                            <m:ctrlPr>
                              <a:rPr lang="en-IN" i="1" dirty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IN" b="1" i="1" dirty="0">
                                <a:latin typeface="Cambria Math" panose="02040503050406030204" pitchFamily="18" charset="0"/>
                              </a:rPr>
                              <m:t>𝒘</m:t>
                            </m:r>
                          </m:e>
                          <m:sub>
                            <m:r>
                              <a:rPr lang="en-IN" i="1" dirty="0">
                                <a:latin typeface="Cambria Math" panose="02040503050406030204" pitchFamily="18" charset="0"/>
                              </a:rPr>
                              <m:t>𝑑</m:t>
                            </m:r>
                          </m:sub>
                          <m:sup>
                            <m:r>
                              <a:rPr lang="en-IN" i="1" dirty="0">
                                <a:latin typeface="Cambria Math" panose="02040503050406030204" pitchFamily="18" charset="0"/>
                              </a:rPr>
                              <m:t>⊤</m:t>
                            </m:r>
                          </m:sup>
                        </m:sSubSup>
                        <m:r>
                          <a:rPr lang="en-IN" b="1">
                            <a:latin typeface="Cambria Math" panose="02040503050406030204" pitchFamily="18" charset="0"/>
                          </a:rPr>
                          <m:t>𝐒</m:t>
                        </m:r>
                        <m:sSub>
                          <m:sSubPr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b="1" i="1">
                                <a:latin typeface="Cambria Math" panose="02040503050406030204" pitchFamily="18" charset="0"/>
                              </a:rPr>
                              <m:t>𝒘</m:t>
                            </m:r>
                          </m:e>
                          <m:sub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𝑑</m:t>
                            </m:r>
                          </m:sub>
                        </m:sSub>
                      </m:e>
                    </m:nary>
                    <m:r>
                      <a:rPr lang="en-IN" b="0" i="0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b="0" i="0" smtClean="0">
                        <a:latin typeface="Cambria Math" panose="02040503050406030204" pitchFamily="18" charset="0"/>
                      </a:rPr>
                      <m:t>trace</m:t>
                    </m:r>
                    <m:r>
                      <a:rPr lang="en-IN" b="0" i="0" smtClean="0">
                        <a:latin typeface="Cambria Math" panose="02040503050406030204" pitchFamily="18" charset="0"/>
                      </a:rPr>
                      <m:t>(</m:t>
                    </m:r>
                    <m:sSubSup>
                      <m:sSubSupPr>
                        <m:ctrlPr>
                          <a:rPr lang="en-IN" i="1" dirty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IN" b="1" i="1" dirty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IN" b="1" i="0" dirty="0" smtClean="0">
                            <a:latin typeface="Cambria Math" panose="02040503050406030204" pitchFamily="18" charset="0"/>
                          </a:rPr>
                          <m:t>𝐖</m:t>
                        </m:r>
                      </m:e>
                      <m:sub>
                        <m:r>
                          <a:rPr lang="en-IN" b="0" i="1" dirty="0" smtClean="0">
                            <a:latin typeface="Cambria Math" panose="02040503050406030204" pitchFamily="18" charset="0"/>
                          </a:rPr>
                          <m:t>𝐾</m:t>
                        </m:r>
                      </m:sub>
                      <m:sup>
                        <m:r>
                          <a:rPr lang="en-IN" i="1" dirty="0">
                            <a:latin typeface="Cambria Math" panose="02040503050406030204" pitchFamily="18" charset="0"/>
                          </a:rPr>
                          <m:t>⊤</m:t>
                        </m:r>
                      </m:sup>
                    </m:sSubSup>
                    <m:r>
                      <a:rPr lang="en-IN" b="1">
                        <a:latin typeface="Cambria Math" panose="02040503050406030204" pitchFamily="18" charset="0"/>
                      </a:rPr>
                      <m:t>𝐒</m:t>
                    </m:r>
                    <m:sSub>
                      <m:sSub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1">
                            <a:latin typeface="Cambria Math" panose="02040503050406030204" pitchFamily="18" charset="0"/>
                          </a:rPr>
                          <m:t>𝐖</m:t>
                        </m:r>
                      </m:e>
                      <m:sub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</m:sub>
                    </m:sSub>
                    <m:r>
                      <a:rPr lang="en-IN" b="0" i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IN" dirty="0">
                  <a:latin typeface="Abadi Extra Light" panose="020B0204020104020204" pitchFamily="34" charset="0"/>
                </a:endParaRPr>
              </a:p>
              <a:p>
                <a:pPr lvl="1">
                  <a:buFont typeface="Wingdings" panose="05000000000000000000" pitchFamily="2" charset="2"/>
                  <a:buChar char="§"/>
                </a:pPr>
                <a:r>
                  <a:rPr lang="en-IN" dirty="0">
                    <a:latin typeface="Abadi Extra Light" panose="020B0204020104020204" pitchFamily="34" charset="0"/>
                  </a:rPr>
                  <a:t>Thus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i="1">
                        <a:latin typeface="Cambria Math" panose="02040503050406030204" pitchFamily="18" charset="0"/>
                      </a:rPr>
                      <m:t>arg</m:t>
                    </m:r>
                    <m:r>
                      <m:rPr>
                        <m:sty m:val="p"/>
                      </m:rPr>
                      <a:rPr lang="en-IN" b="0" i="0" smtClean="0">
                        <a:latin typeface="Cambria Math" panose="02040503050406030204" pitchFamily="18" charset="0"/>
                      </a:rPr>
                      <m:t>ma</m:t>
                    </m:r>
                    <m:sSub>
                      <m:sSub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IN" b="0" i="0" smtClean="0"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b>
                        <m:sSub>
                          <m:sSubPr>
                            <m:ctrlPr>
                              <a:rPr lang="en-I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b="1" i="0" smtClean="0">
                                <a:latin typeface="Cambria Math" panose="02040503050406030204" pitchFamily="18" charset="0"/>
                              </a:rPr>
                              <m:t>𝐖</m:t>
                            </m:r>
                          </m:e>
                          <m:sub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𝐾</m:t>
                            </m:r>
                          </m:sub>
                        </m:sSub>
                      </m:sub>
                    </m:sSub>
                  </m:oMath>
                </a14:m>
                <a:r>
                  <a:rPr lang="en-IN" dirty="0">
                    <a:latin typeface="Abadi Extra Light" panose="020B0204020104020204" pitchFamily="34" charset="0"/>
                  </a:rPr>
                  <a:t/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>
                        <a:latin typeface="Cambria Math" panose="02040503050406030204" pitchFamily="18" charset="0"/>
                      </a:rPr>
                      <m:t>trace</m:t>
                    </m:r>
                    <m:r>
                      <a:rPr lang="en-IN">
                        <a:latin typeface="Cambria Math" panose="02040503050406030204" pitchFamily="18" charset="0"/>
                      </a:rPr>
                      <m:t>(</m:t>
                    </m:r>
                    <m:sSubSup>
                      <m:sSubSupPr>
                        <m:ctrlPr>
                          <a:rPr lang="en-IN" i="1" dirty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IN" b="1" i="1" dirty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IN" b="1" i="1" dirty="0">
                            <a:latin typeface="Cambria Math" panose="02040503050406030204" pitchFamily="18" charset="0"/>
                          </a:rPr>
                          <m:t>𝑾</m:t>
                        </m:r>
                      </m:e>
                      <m:sub>
                        <m:r>
                          <a:rPr lang="en-IN" b="0" i="1" dirty="0" smtClean="0">
                            <a:latin typeface="Cambria Math" panose="02040503050406030204" pitchFamily="18" charset="0"/>
                          </a:rPr>
                          <m:t>𝐾</m:t>
                        </m:r>
                      </m:sub>
                      <m:sup>
                        <m:r>
                          <a:rPr lang="en-IN" i="1" dirty="0">
                            <a:latin typeface="Cambria Math" panose="02040503050406030204" pitchFamily="18" charset="0"/>
                          </a:rPr>
                          <m:t>⊤</m:t>
                        </m:r>
                      </m:sup>
                    </m:sSubSup>
                    <m:r>
                      <a:rPr lang="en-IN" b="1">
                        <a:latin typeface="Cambria Math" panose="02040503050406030204" pitchFamily="18" charset="0"/>
                      </a:rPr>
                      <m:t>𝐒</m:t>
                    </m:r>
                    <m:sSub>
                      <m:sSub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1">
                            <a:latin typeface="Cambria Math" panose="02040503050406030204" pitchFamily="18" charset="0"/>
                          </a:rPr>
                          <m:t>𝐖</m:t>
                        </m:r>
                      </m:e>
                      <m:sub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</m:sub>
                    </m:sSub>
                    <m:r>
                      <a:rPr lang="en-IN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IN" dirty="0">
                    <a:latin typeface="Abadi Extra Light" panose="020B0204020104020204" pitchFamily="34" charset="0"/>
                  </a:rPr>
                  <a:t/>
                </a:r>
                <a:r>
                  <a:rPr lang="en-IN" dirty="0" err="1">
                    <a:latin typeface="Abadi Extra Light" panose="020B0204020104020204" pitchFamily="34" charset="0"/>
                  </a:rPr>
                  <a:t>s.t.</a:t>
                </a:r>
                <a:r>
                  <a:rPr lang="en-IN" dirty="0">
                    <a:latin typeface="Abadi Extra Light" panose="020B0204020104020204" pitchFamily="34" charset="0"/>
                  </a:rPr>
                  <a:t> orthonormality on columns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1">
                            <a:latin typeface="Cambria Math" panose="02040503050406030204" pitchFamily="18" charset="0"/>
                          </a:rPr>
                          <m:t>𝐖</m:t>
                        </m:r>
                      </m:e>
                      <m:sub>
                        <m:r>
                          <a:rPr lang="en-IN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IN" dirty="0">
                    <a:latin typeface="Abadi Extra Light" panose="020B0204020104020204" pitchFamily="34" charset="0"/>
                  </a:rPr>
                  <a:t> is the same as solving the </a:t>
                </a:r>
                <a:r>
                  <a:rPr lang="en-IN" dirty="0" err="1">
                    <a:latin typeface="Abadi Extra Light" panose="020B0204020104020204" pitchFamily="34" charset="0"/>
                  </a:rPr>
                  <a:t>eigendec</a:t>
                </a:r>
                <a:r>
                  <a:rPr lang="en-IN" dirty="0">
                    <a:latin typeface="Abadi Extra Light" panose="020B0204020104020204" pitchFamily="34" charset="0"/>
                  </a:rPr>
                  <a:t>. of </a:t>
                </a:r>
                <a14:m>
                  <m:oMath xmlns:m="http://schemas.openxmlformats.org/officeDocument/2006/math">
                    <m:r>
                      <a:rPr lang="en-IN" b="1" i="1" dirty="0" smtClean="0">
                        <a:latin typeface="Cambria Math" panose="02040503050406030204" pitchFamily="18" charset="0"/>
                      </a:rPr>
                      <m:t>𝑺</m:t>
                    </m:r>
                  </m:oMath>
                </a14:m>
                <a:r>
                  <a:rPr lang="en-IN" b="1" dirty="0">
                    <a:latin typeface="Abadi Extra Light" panose="020B0204020104020204" pitchFamily="34" charset="0"/>
                  </a:rPr>
                  <a:t/>
                </a:r>
                <a:r>
                  <a:rPr lang="en-IN" dirty="0">
                    <a:latin typeface="Abadi Extra Light" panose="020B0204020104020204" pitchFamily="34" charset="0"/>
                  </a:rPr>
                  <a:t>(recall that Spectral Clustering also required solving this)</a:t>
                </a:r>
              </a:p>
              <a:p>
                <a:pPr marL="0" indent="0">
                  <a:buNone/>
                </a:pPr>
                <a:endParaRPr lang="en-GB" sz="2600" dirty="0">
                  <a:latin typeface="Abadi Extra Light" panose="020B0204020104020204" pitchFamily="34" charset="0"/>
                </a:endParaRPr>
              </a:p>
              <a:p>
                <a:pPr>
                  <a:buFont typeface="Wingdings" panose="05000000000000000000" pitchFamily="2" charset="2"/>
                  <a:buChar char="§"/>
                </a:pPr>
                <a:endParaRPr lang="en-GB" sz="2600" dirty="0">
                  <a:latin typeface="Abadi Extra Light" panose="020B0204020104020204" pitchFamily="34" charset="0"/>
                </a:endParaRPr>
              </a:p>
              <a:p>
                <a:pPr marL="0" indent="0">
                  <a:buNone/>
                </a:pPr>
                <a:endParaRPr lang="en-GB" sz="2600" dirty="0">
                  <a:latin typeface="Abadi Extra Light" panose="020B0204020104020204" pitchFamily="34" charset="0"/>
                </a:endParaRPr>
              </a:p>
              <a:p>
                <a:pPr marL="0" indent="0">
                  <a:buNone/>
                </a:pPr>
                <a:endParaRPr lang="en-GB" sz="800" dirty="0">
                  <a:latin typeface="Abadi Extra Light" panose="020B0204020104020204" pitchFamily="34" charset="0"/>
                </a:endParaRPr>
              </a:p>
            </p:txBody>
          </p:sp>
        </mc:Choice>
        <mc:Fallback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xmlns="" xmlns:a14="http://schemas.microsoft.com/office/drawing/2010/main" id="{314819C9-D576-44D5-A1AF-875A21D5EF7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65245" y="1130786"/>
                <a:ext cx="11740617" cy="5557532"/>
              </a:xfrm>
              <a:blipFill>
                <a:blip r:embed="rId3" cstate="print"/>
                <a:stretch>
                  <a:fillRect l="-935" t="-1864" r="-98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xmlns="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3CEFAFBB-4A00-4BE5-B588-81A0F1C3BD3D}"/>
                  </a:ext>
                </a:extLst>
              </p:cNvPr>
              <p:cNvSpPr txBox="1"/>
              <p:nvPr/>
            </p:nvSpPr>
            <p:spPr>
              <a:xfrm>
                <a:off x="1150069" y="2073895"/>
                <a:ext cx="7515839" cy="67095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ℒ</m:t>
                      </m:r>
                      <m:d>
                        <m:dPr>
                          <m:ctrlP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b="1" i="1">
                                  <a:latin typeface="Cambria Math" panose="02040503050406030204" pitchFamily="18" charset="0"/>
                                </a:rPr>
                                <m:t>𝒘</m:t>
                              </m:r>
                            </m:e>
                            <m:sub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b="1" i="1">
                                  <a:latin typeface="Cambria Math" panose="02040503050406030204" pitchFamily="18" charset="0"/>
                                </a:rPr>
                                <m:t>𝒘</m:t>
                              </m:r>
                            </m:e>
                            <m:sub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,…, </m:t>
                          </m:r>
                          <m:sSub>
                            <m:sSub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b="1" i="1">
                                  <a:latin typeface="Cambria Math" panose="02040503050406030204" pitchFamily="18" charset="0"/>
                                </a:rPr>
                                <m:t>𝒘</m:t>
                              </m:r>
                            </m:e>
                            <m:sub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sub>
                          </m:sSub>
                        </m:e>
                      </m:d>
                      <m:r>
                        <a:rPr lang="en-I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 </m:t>
                      </m:r>
                      <m:nary>
                        <m:naryPr>
                          <m:chr m:val="∑"/>
                          <m:limLoc m:val="subSup"/>
                          <m:ctrlP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5"/>
                            </m:rP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sSup>
                            <m:sSupPr>
                              <m:ctrlPr>
                                <a:rPr lang="en-I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‖"/>
                                  <m:endChr m:val="‖"/>
                                  <m:ctrlPr>
                                    <a:rPr lang="en-IN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IN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IN" b="1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𝒙</m:t>
                                      </m:r>
                                    </m:e>
                                    <m:sub>
                                      <m:r>
                                        <a:rPr lang="en-IN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𝑛</m:t>
                                      </m:r>
                                    </m:sub>
                                  </m:sSub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I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acc>
                                        <m:accPr>
                                          <m:chr m:val="̂"/>
                                          <m:ctrlPr>
                                            <a:rPr lang="en-IN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IN" b="1" i="1">
                                              <a:latin typeface="Cambria Math" panose="02040503050406030204" pitchFamily="18" charset="0"/>
                                            </a:rPr>
                                            <m:t>𝒙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en-IN" i="1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</m:t>
                          </m:r>
                          <m:nary>
                            <m:naryPr>
                              <m:chr m:val="∑"/>
                              <m:limLoc m:val="subSup"/>
                              <m:ctrlPr>
                                <a:rPr lang="en-I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5"/>
                                </m:rPr>
                                <a:rPr lang="en-I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I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I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𝑁</m:t>
                              </m:r>
                            </m:sup>
                            <m:e>
                              <m:sSup>
                                <m:sSupPr>
                                  <m:ctrlPr>
                                    <a:rPr lang="en-IN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begChr m:val="‖"/>
                                      <m:endChr m:val="‖"/>
                                      <m:ctrlPr>
                                        <a:rPr lang="en-IN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IN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IN" b="1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𝒙</m:t>
                                          </m:r>
                                        </m:e>
                                        <m:sub>
                                          <m:r>
                                            <a:rPr lang="en-IN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𝑛</m:t>
                                          </m:r>
                                        </m:sub>
                                      </m:sSub>
                                      <m:r>
                                        <a:rPr lang="en-IN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−</m:t>
                                      </m:r>
                                      <m:nary>
                                        <m:naryPr>
                                          <m:chr m:val="∑"/>
                                          <m:limLoc m:val="subSup"/>
                                          <m:ctrlPr>
                                            <a:rPr lang="en-IN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naryPr>
                                        <m:sub>
                                          <m:r>
                                            <m:rPr>
                                              <m:brk m:alnAt="25"/>
                                            </m:rPr>
                                            <a:rPr lang="en-IN" i="1">
                                              <a:latin typeface="Cambria Math" panose="02040503050406030204" pitchFamily="18" charset="0"/>
                                            </a:rPr>
                                            <m:t>𝑑</m:t>
                                          </m:r>
                                          <m:r>
                                            <a:rPr lang="en-IN" i="1">
                                              <a:latin typeface="Cambria Math" panose="02040503050406030204" pitchFamily="18" charset="0"/>
                                            </a:rPr>
                                            <m:t>=1</m:t>
                                          </m:r>
                                        </m:sub>
                                        <m:sup>
                                          <m:r>
                                            <a:rPr lang="en-IN" i="1">
                                              <a:latin typeface="Cambria Math" panose="02040503050406030204" pitchFamily="18" charset="0"/>
                                            </a:rPr>
                                            <m:t>𝐾</m:t>
                                          </m:r>
                                        </m:sup>
                                        <m:e>
                                          <m:sSubSup>
                                            <m:sSubSupPr>
                                              <m:ctrlPr>
                                                <a:rPr lang="en-IN" i="1" dirty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SupPr>
                                            <m:e>
                                              <m:r>
                                                <a:rPr lang="en-IN" b="1" i="1" dirty="0">
                                                  <a:latin typeface="Cambria Math" panose="02040503050406030204" pitchFamily="18" charset="0"/>
                                                </a:rPr>
                                                <m:t>(</m:t>
                                              </m:r>
                                              <m:sSub>
                                                <m:sSubPr>
                                                  <m:ctrlPr>
                                                    <a:rPr lang="en-IN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en-IN" b="1" i="1">
                                                      <a:latin typeface="Cambria Math" panose="02040503050406030204" pitchFamily="18" charset="0"/>
                                                    </a:rPr>
                                                    <m:t>𝒘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IN" i="1">
                                                      <a:latin typeface="Cambria Math" panose="02040503050406030204" pitchFamily="18" charset="0"/>
                                                    </a:rPr>
                                                    <m:t>𝑑</m:t>
                                                  </m:r>
                                                </m:sub>
                                              </m:sSub>
                                              <m:r>
                                                <a:rPr lang="en-IN" b="1" i="1" dirty="0">
                                                  <a:latin typeface="Cambria Math" panose="02040503050406030204" pitchFamily="18" charset="0"/>
                                                </a:rPr>
                                                <m:t>𝒘</m:t>
                                              </m:r>
                                            </m:e>
                                            <m:sub>
                                              <m:r>
                                                <a:rPr lang="en-IN" i="1" dirty="0">
                                                  <a:latin typeface="Cambria Math" panose="02040503050406030204" pitchFamily="18" charset="0"/>
                                                </a:rPr>
                                                <m:t>𝑑</m:t>
                                              </m:r>
                                            </m:sub>
                                            <m:sup>
                                              <m:r>
                                                <a:rPr lang="en-IN" i="1" dirty="0">
                                                  <a:latin typeface="Cambria Math" panose="02040503050406030204" pitchFamily="18" charset="0"/>
                                                </a:rPr>
                                                <m:t>⊤</m:t>
                                              </m:r>
                                            </m:sup>
                                          </m:sSubSup>
                                          <m:r>
                                            <a:rPr lang="en-IN" i="1">
                                              <a:latin typeface="Cambria Math" panose="02040503050406030204" pitchFamily="18" charset="0"/>
                                            </a:rPr>
                                            <m:t>)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en-IN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IN" b="1" i="1">
                                                  <a:latin typeface="Cambria Math" panose="02040503050406030204" pitchFamily="18" charset="0"/>
                                                </a:rPr>
                                                <m:t>𝒙</m:t>
                                              </m:r>
                                            </m:e>
                                            <m:sub>
                                              <m:r>
                                                <a:rPr lang="en-IN" i="1">
                                                  <a:latin typeface="Cambria Math" panose="02040503050406030204" pitchFamily="18" charset="0"/>
                                                </a:rPr>
                                                <m:t>𝑛</m:t>
                                              </m:r>
                                            </m:sub>
                                          </m:sSub>
                                        </m:e>
                                      </m:nary>
                                    </m:e>
                                  </m:d>
                                </m:e>
                                <m:sup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nary>
                        </m:e>
                      </m:nary>
                      <m:r>
                        <a:rPr lang="en-I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IN" dirty="0"/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xmlns="" id="{3CEFAFBB-4A00-4BE5-B588-81A0F1C3BD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50069" y="2073895"/>
                <a:ext cx="7515839" cy="670953"/>
              </a:xfrm>
              <a:prstGeom prst="rect">
                <a:avLst/>
              </a:prstGeom>
              <a:blipFill>
                <a:blip r:embed="rId4" cstate="print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xmlns="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C2BF007-3190-4454-97F5-79053A40861A}"/>
                  </a:ext>
                </a:extLst>
              </p:cNvPr>
              <p:cNvSpPr txBox="1"/>
              <p:nvPr/>
            </p:nvSpPr>
            <p:spPr>
              <a:xfrm>
                <a:off x="8612867" y="2213054"/>
                <a:ext cx="2711063" cy="28809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IN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− </m:t>
                    </m:r>
                    <m:nary>
                      <m:naryPr>
                        <m:chr m:val="∑"/>
                        <m:limLoc m:val="subSup"/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5"/>
                          </m:rPr>
                          <a:rPr lang="en-IN" i="1"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i="1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IN" i="1">
                            <a:latin typeface="Cambria Math" panose="02040503050406030204" pitchFamily="18" charset="0"/>
                          </a:rPr>
                          <m:t>𝐾</m:t>
                        </m:r>
                      </m:sup>
                      <m:e>
                        <m:sSubSup>
                          <m:sSubSupPr>
                            <m:ctrlPr>
                              <a:rPr lang="en-IN" i="1" dirty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IN" b="1" i="1" dirty="0">
                                <a:latin typeface="Cambria Math" panose="02040503050406030204" pitchFamily="18" charset="0"/>
                              </a:rPr>
                              <m:t>𝒘</m:t>
                            </m:r>
                          </m:e>
                          <m:sub>
                            <m:r>
                              <a:rPr lang="en-IN" i="1" dirty="0">
                                <a:latin typeface="Cambria Math" panose="02040503050406030204" pitchFamily="18" charset="0"/>
                              </a:rPr>
                              <m:t>𝑑</m:t>
                            </m:r>
                          </m:sub>
                          <m:sup>
                            <m:r>
                              <a:rPr lang="en-IN" i="1" dirty="0">
                                <a:latin typeface="Cambria Math" panose="02040503050406030204" pitchFamily="18" charset="0"/>
                              </a:rPr>
                              <m:t>⊤</m:t>
                            </m:r>
                          </m:sup>
                        </m:sSubSup>
                        <m:r>
                          <a:rPr lang="en-IN" b="1" i="0" smtClean="0">
                            <a:latin typeface="Cambria Math" panose="02040503050406030204" pitchFamily="18" charset="0"/>
                          </a:rPr>
                          <m:t>𝐒</m:t>
                        </m:r>
                        <m:sSub>
                          <m:sSubPr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b="1" i="1">
                                <a:latin typeface="Cambria Math" panose="02040503050406030204" pitchFamily="18" charset="0"/>
                              </a:rPr>
                              <m:t>𝒘</m:t>
                            </m:r>
                          </m:e>
                          <m:sub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𝑑</m:t>
                            </m:r>
                          </m:sub>
                        </m:sSub>
                      </m:e>
                    </m:nary>
                  </m:oMath>
                </a14:m>
                <a:r>
                  <a:rPr lang="en-IN" dirty="0"/>
                  <a:t/>
                </a:r>
                <a:r>
                  <a:rPr lang="en-IN" dirty="0">
                    <a:latin typeface="Abadi Extra Light" panose="020B0204020104020204" pitchFamily="34" charset="0"/>
                  </a:rPr>
                  <a:t>(verify)</a:t>
                </a:r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xmlns="" id="{5C2BF007-3190-4454-97F5-79053A4086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12867" y="2213054"/>
                <a:ext cx="2711063" cy="288092"/>
              </a:xfrm>
              <a:prstGeom prst="rect">
                <a:avLst/>
              </a:prstGeom>
              <a:blipFill>
                <a:blip r:embed="rId5" cstate="print"/>
                <a:stretch>
                  <a:fillRect l="-2022" t="-165957" r="-4045" b="-25744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xmlns="" Requires="a14">
          <p:sp>
            <p:nvSpPr>
              <p:cNvPr id="7" name="Speech Bubble: Rectangle 6">
                <a:extLst>
                  <a:ext uri="{FF2B5EF4-FFF2-40B4-BE49-F238E27FC236}">
                    <a16:creationId xmlns:a16="http://schemas.microsoft.com/office/drawing/2014/main" id="{340CA928-7FFE-427F-87F4-0844D4347954}"/>
                  </a:ext>
                </a:extLst>
              </p:cNvPr>
              <p:cNvSpPr/>
              <p:nvPr/>
            </p:nvSpPr>
            <p:spPr>
              <a:xfrm>
                <a:off x="8734137" y="1671935"/>
                <a:ext cx="1645240" cy="426439"/>
              </a:xfrm>
              <a:prstGeom prst="wedgeRectCallout">
                <a:avLst>
                  <a:gd name="adj1" fmla="val -42419"/>
                  <a:gd name="adj2" fmla="val 77098"/>
                </a:avLst>
              </a:prstGeom>
              <a:solidFill>
                <a:schemeClr val="bg1"/>
              </a:solidFill>
              <a:ln w="19050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IN" sz="1400" dirty="0">
                    <a:solidFill>
                      <a:schemeClr val="tx1"/>
                    </a:solidFill>
                    <a:latin typeface="Abadi Extra Light" panose="020B0204020104020204" pitchFamily="34" charset="0"/>
                  </a:rPr>
                  <a:t>Constant; doesn’t depend on the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14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1400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𝒘</m:t>
                        </m:r>
                      </m:e>
                      <m:sub>
                        <m:r>
                          <a:rPr lang="en-IN" sz="14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sub>
                    </m:sSub>
                  </m:oMath>
                </a14:m>
                <a:r>
                  <a:rPr lang="en-IN" sz="1400" dirty="0" err="1">
                    <a:solidFill>
                      <a:schemeClr val="tx1"/>
                    </a:solidFill>
                    <a:latin typeface="Abadi Extra Light" panose="020B0204020104020204" pitchFamily="34" charset="0"/>
                  </a:rPr>
                  <a:t>’s</a:t>
                </a:r>
                <a:endParaRPr lang="en-IN" sz="1400" dirty="0">
                  <a:solidFill>
                    <a:schemeClr val="tx1"/>
                  </a:solidFill>
                  <a:latin typeface="Abadi Extra Light" panose="020B0204020104020204" pitchFamily="34" charset="0"/>
                </a:endParaRPr>
              </a:p>
            </p:txBody>
          </p:sp>
        </mc:Choice>
        <mc:Fallback>
          <p:sp>
            <p:nvSpPr>
              <p:cNvPr id="7" name="Speech Bubble: Rectangle 6">
                <a:extLst>
                  <a:ext uri="{FF2B5EF4-FFF2-40B4-BE49-F238E27FC236}">
                    <a16:creationId xmlns:a16="http://schemas.microsoft.com/office/drawing/2014/main" xmlns="" xmlns:a14="http://schemas.microsoft.com/office/drawing/2010/main" id="{340CA928-7FFE-427F-87F4-0844D434795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34137" y="1671935"/>
                <a:ext cx="1645240" cy="426439"/>
              </a:xfrm>
              <a:prstGeom prst="wedgeRectCallout">
                <a:avLst>
                  <a:gd name="adj1" fmla="val -42419"/>
                  <a:gd name="adj2" fmla="val 77098"/>
                </a:avLst>
              </a:prstGeom>
              <a:blipFill>
                <a:blip r:embed="rId6" cstate="print"/>
                <a:stretch>
                  <a:fillRect l="-733" t="-8511"/>
                </a:stretch>
              </a:blipFill>
              <a:ln w="19050">
                <a:solidFill>
                  <a:schemeClr val="accent2"/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xmlns="" Requires="a14">
          <p:sp>
            <p:nvSpPr>
              <p:cNvPr id="9" name="Speech Bubble: Rectangle 8">
                <a:extLst>
                  <a:ext uri="{FF2B5EF4-FFF2-40B4-BE49-F238E27FC236}">
                    <a16:creationId xmlns:a16="http://schemas.microsoft.com/office/drawing/2014/main" id="{84A853F9-D2A3-4375-AA3B-5D08CE4C571C}"/>
                  </a:ext>
                </a:extLst>
              </p:cNvPr>
              <p:cNvSpPr/>
              <p:nvPr/>
            </p:nvSpPr>
            <p:spPr>
              <a:xfrm>
                <a:off x="10219311" y="2546107"/>
                <a:ext cx="1645240" cy="288092"/>
              </a:xfrm>
              <a:prstGeom prst="wedgeRectCallout">
                <a:avLst>
                  <a:gd name="adj1" fmla="val -60754"/>
                  <a:gd name="adj2" fmla="val -48906"/>
                </a:avLst>
              </a:prstGeom>
              <a:solidFill>
                <a:schemeClr val="bg1"/>
              </a:solidFill>
              <a:ln w="19050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IN" sz="1400" dirty="0">
                    <a:solidFill>
                      <a:schemeClr val="tx1"/>
                    </a:solidFill>
                    <a:latin typeface="Abadi Extra Light" panose="020B0204020104020204" pitchFamily="34" charset="0"/>
                  </a:rPr>
                  <a:t>Variance along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14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1400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𝒘</m:t>
                        </m:r>
                      </m:e>
                      <m:sub>
                        <m:r>
                          <a:rPr lang="en-IN" sz="14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sub>
                    </m:sSub>
                  </m:oMath>
                </a14:m>
                <a:endParaRPr lang="en-IN" sz="1400" dirty="0">
                  <a:solidFill>
                    <a:schemeClr val="tx1"/>
                  </a:solidFill>
                  <a:latin typeface="Abadi Extra Light" panose="020B0204020104020204" pitchFamily="34" charset="0"/>
                </a:endParaRPr>
              </a:p>
            </p:txBody>
          </p:sp>
        </mc:Choice>
        <mc:Fallback>
          <p:sp>
            <p:nvSpPr>
              <p:cNvPr id="9" name="Speech Bubble: Rectangle 8">
                <a:extLst>
                  <a:ext uri="{FF2B5EF4-FFF2-40B4-BE49-F238E27FC236}">
                    <a16:creationId xmlns:a16="http://schemas.microsoft.com/office/drawing/2014/main" xmlns="" xmlns:a14="http://schemas.microsoft.com/office/drawing/2010/main" id="{84A853F9-D2A3-4375-AA3B-5D08CE4C571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19311" y="2546107"/>
                <a:ext cx="1645240" cy="288092"/>
              </a:xfrm>
              <a:prstGeom prst="wedgeRectCallout">
                <a:avLst>
                  <a:gd name="adj1" fmla="val -60754"/>
                  <a:gd name="adj2" fmla="val -48906"/>
                </a:avLst>
              </a:prstGeom>
              <a:blipFill>
                <a:blip r:embed="rId7" cstate="print"/>
                <a:stretch>
                  <a:fillRect b="-19231"/>
                </a:stretch>
              </a:blipFill>
              <a:ln w="19050">
                <a:solidFill>
                  <a:schemeClr val="accent2"/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xmlns="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D4457EA9-B6DD-407A-97AA-EC6533C3A32E}"/>
                  </a:ext>
                </a:extLst>
              </p:cNvPr>
              <p:cNvSpPr txBox="1"/>
              <p:nvPr/>
            </p:nvSpPr>
            <p:spPr>
              <a:xfrm>
                <a:off x="3095724" y="3278288"/>
                <a:ext cx="5849550" cy="54611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 b="0" i="1" smtClean="0">
                        <a:latin typeface="Cambria Math" panose="02040503050406030204" pitchFamily="18" charset="0"/>
                      </a:rPr>
                      <m:t>arg</m:t>
                    </m:r>
                    <m:limLow>
                      <m:limLowPr>
                        <m:ctrlPr>
                          <a:rPr lang="en-IN" sz="2400" b="0" i="1" smtClean="0">
                            <a:latin typeface="Cambria Math" panose="02040503050406030204" pitchFamily="18" charset="0"/>
                          </a:rPr>
                        </m:ctrlPr>
                      </m:limLowPr>
                      <m:e>
                        <m:r>
                          <m:rPr>
                            <m:sty m:val="p"/>
                          </m:rPr>
                          <a:rPr lang="en-IN" sz="2400" b="0" i="0" smtClean="0">
                            <a:latin typeface="Cambria Math" panose="02040503050406030204" pitchFamily="18" charset="0"/>
                          </a:rPr>
                          <m:t>min</m:t>
                        </m:r>
                      </m:e>
                      <m:lim>
                        <m:sSub>
                          <m:sSubPr>
                            <m:ctrlPr>
                              <a:rPr lang="en-IN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400" b="1" i="1" smtClean="0">
                                <a:latin typeface="Cambria Math" panose="02040503050406030204" pitchFamily="18" charset="0"/>
                              </a:rPr>
                              <m:t>𝒘</m:t>
                            </m:r>
                          </m:e>
                          <m:sub>
                            <m:r>
                              <a:rPr lang="en-IN" sz="2400" b="0" i="1" smtClean="0">
                                <a:latin typeface="Cambria Math" panose="02040503050406030204" pitchFamily="18" charset="0"/>
                              </a:rPr>
                              <m:t>𝑑</m:t>
                            </m:r>
                          </m:sub>
                        </m:sSub>
                      </m:lim>
                    </m:limLow>
                  </m:oMath>
                </a14:m>
                <a:r>
                  <a:rPr lang="en-IN" sz="2400" dirty="0"/>
                  <a:t/>
                </a:r>
                <a14:m>
                  <m:oMath xmlns:m="http://schemas.openxmlformats.org/officeDocument/2006/math">
                    <m:r>
                      <a:rPr lang="en-I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ℒ</m:t>
                    </m:r>
                    <m:d>
                      <m:dPr>
                        <m:ctrlPr>
                          <a:rPr lang="en-I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IN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400" b="1" i="1">
                                <a:latin typeface="Cambria Math" panose="02040503050406030204" pitchFamily="18" charset="0"/>
                              </a:rPr>
                              <m:t>𝒘</m:t>
                            </m:r>
                          </m:e>
                          <m:sub>
                            <m:r>
                              <a:rPr lang="en-IN" sz="24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IN" sz="2400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IN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400" b="1" i="1">
                                <a:latin typeface="Cambria Math" panose="02040503050406030204" pitchFamily="18" charset="0"/>
                              </a:rPr>
                              <m:t>𝒘</m:t>
                            </m:r>
                          </m:e>
                          <m:sub>
                            <m:r>
                              <a:rPr lang="en-IN" sz="24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IN" sz="2400" i="1">
                            <a:latin typeface="Cambria Math" panose="02040503050406030204" pitchFamily="18" charset="0"/>
                          </a:rPr>
                          <m:t>,…, </m:t>
                        </m:r>
                        <m:sSub>
                          <m:sSubPr>
                            <m:ctrlPr>
                              <a:rPr lang="en-IN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400" b="1" i="1">
                                <a:latin typeface="Cambria Math" panose="02040503050406030204" pitchFamily="18" charset="0"/>
                              </a:rPr>
                              <m:t>𝒘</m:t>
                            </m:r>
                          </m:e>
                          <m:sub>
                            <m:r>
                              <a:rPr lang="en-IN" sz="2400" i="1">
                                <a:latin typeface="Cambria Math" panose="02040503050406030204" pitchFamily="18" charset="0"/>
                              </a:rPr>
                              <m:t>𝐾</m:t>
                            </m:r>
                          </m:sub>
                        </m:sSub>
                      </m:e>
                    </m:d>
                    <m:r>
                      <a:rPr lang="en-IN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 i="1">
                        <a:latin typeface="Cambria Math" panose="02040503050406030204" pitchFamily="18" charset="0"/>
                      </a:rPr>
                      <m:t>arg</m:t>
                    </m:r>
                    <m:limLow>
                      <m:limLowPr>
                        <m:ctrlPr>
                          <a:rPr lang="en-IN" sz="2400" i="1">
                            <a:latin typeface="Cambria Math" panose="02040503050406030204" pitchFamily="18" charset="0"/>
                          </a:rPr>
                        </m:ctrlPr>
                      </m:limLowPr>
                      <m:e>
                        <m:r>
                          <m:rPr>
                            <m:sty m:val="p"/>
                          </m:rPr>
                          <a:rPr lang="en-IN" sz="2400">
                            <a:latin typeface="Cambria Math" panose="02040503050406030204" pitchFamily="18" charset="0"/>
                          </a:rPr>
                          <m:t>m</m:t>
                        </m:r>
                        <m:r>
                          <m:rPr>
                            <m:sty m:val="p"/>
                          </m:rPr>
                          <a:rPr lang="en-IN" sz="2400" b="0" i="0" smtClean="0">
                            <a:latin typeface="Cambria Math" panose="02040503050406030204" pitchFamily="18" charset="0"/>
                          </a:rPr>
                          <m:t>ax</m:t>
                        </m:r>
                      </m:e>
                      <m:lim>
                        <m:sSub>
                          <m:sSubPr>
                            <m:ctrlPr>
                              <a:rPr lang="en-IN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400" b="1" i="1">
                                <a:latin typeface="Cambria Math" panose="02040503050406030204" pitchFamily="18" charset="0"/>
                              </a:rPr>
                              <m:t>𝒘</m:t>
                            </m:r>
                          </m:e>
                          <m:sub>
                            <m:r>
                              <a:rPr lang="en-IN" sz="2400" i="1">
                                <a:latin typeface="Cambria Math" panose="02040503050406030204" pitchFamily="18" charset="0"/>
                              </a:rPr>
                              <m:t>𝑑</m:t>
                            </m:r>
                          </m:sub>
                        </m:sSub>
                      </m:lim>
                    </m:limLow>
                    <m:r>
                      <a:rPr lang="en-IN" sz="2400" b="0" i="1" smtClean="0">
                        <a:latin typeface="Cambria Math" panose="02040503050406030204" pitchFamily="18" charset="0"/>
                      </a:rPr>
                      <m:t>  </m:t>
                    </m:r>
                    <m:sSubSup>
                      <m:sSubSupPr>
                        <m:ctrlPr>
                          <a:rPr lang="en-IN" sz="2400" i="1" dirty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IN" sz="2400" b="1" i="1" dirty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IN" sz="2400" b="1" i="1" dirty="0">
                            <a:latin typeface="Cambria Math" panose="02040503050406030204" pitchFamily="18" charset="0"/>
                          </a:rPr>
                          <m:t>𝒘</m:t>
                        </m:r>
                      </m:e>
                      <m:sub>
                        <m:r>
                          <a:rPr lang="en-IN" sz="2400" i="1" dirty="0">
                            <a:latin typeface="Cambria Math" panose="02040503050406030204" pitchFamily="18" charset="0"/>
                          </a:rPr>
                          <m:t>𝑑</m:t>
                        </m:r>
                      </m:sub>
                      <m:sup>
                        <m:r>
                          <a:rPr lang="en-IN" sz="2400" i="1" dirty="0">
                            <a:latin typeface="Cambria Math" panose="02040503050406030204" pitchFamily="18" charset="0"/>
                          </a:rPr>
                          <m:t>⊤</m:t>
                        </m:r>
                      </m:sup>
                    </m:sSubSup>
                    <m:r>
                      <a:rPr lang="en-IN" sz="2400" b="1" i="0">
                        <a:latin typeface="Cambria Math" panose="02040503050406030204" pitchFamily="18" charset="0"/>
                      </a:rPr>
                      <m:t>𝐒</m:t>
                    </m:r>
                    <m:sSub>
                      <m:sSubPr>
                        <m:ctrlPr>
                          <a:rPr lang="en-I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400" b="1" i="1">
                            <a:latin typeface="Cambria Math" panose="02040503050406030204" pitchFamily="18" charset="0"/>
                          </a:rPr>
                          <m:t>𝒘</m:t>
                        </m:r>
                      </m:e>
                      <m:sub>
                        <m:r>
                          <a:rPr lang="en-IN" sz="2400" i="1">
                            <a:latin typeface="Cambria Math" panose="02040503050406030204" pitchFamily="18" charset="0"/>
                          </a:rPr>
                          <m:t>𝑑</m:t>
                        </m:r>
                      </m:sub>
                    </m:sSub>
                  </m:oMath>
                </a14:m>
                <a:endParaRPr lang="en-IN" sz="2400" dirty="0"/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xmlns="" xmlns:a14="http://schemas.microsoft.com/office/drawing/2010/main" id="{D4457EA9-B6DD-407A-97AA-EC6533C3A3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95724" y="3278288"/>
                <a:ext cx="5849550" cy="546112"/>
              </a:xfrm>
              <a:prstGeom prst="rect">
                <a:avLst/>
              </a:prstGeom>
              <a:blipFill>
                <a:blip r:embed="rId8" cstate="print"/>
                <a:stretch>
                  <a:fillRect l="-1877" b="-1123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xmlns="" val="396660087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slow" p14:dur="2000" advTm="365997"/>
    </mc:Choice>
    <mc:Fallback>
      <p:transition spd="slow" advTm="365997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7" grpId="0" animBg="1"/>
      <p:bldP spid="9" grpId="0" animBg="1"/>
      <p:bldP spid="6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D7657946-FC7F-477C-9867-0ED704A858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5245" y="169682"/>
            <a:ext cx="11740617" cy="821500"/>
          </a:xfrm>
        </p:spPr>
        <p:txBody>
          <a:bodyPr>
            <a:normAutofit/>
          </a:bodyPr>
          <a:lstStyle/>
          <a:p>
            <a:r>
              <a:rPr lang="en-IN" dirty="0">
                <a:solidFill>
                  <a:schemeClr val="accent2">
                    <a:lumMod val="75000"/>
                  </a:schemeClr>
                </a:solidFill>
              </a:rPr>
              <a:t>Principal Component Analysis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xmlns="" id="{F77B66E3-3803-4788-BC62-221F4919CBCE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323930" y="136939"/>
            <a:ext cx="602825" cy="365125"/>
          </a:xfrm>
        </p:spPr>
        <p:txBody>
          <a:bodyPr/>
          <a:lstStyle/>
          <a:p>
            <a:fld id="{80FED9D3-AF84-488D-8A6A-726D5349CDAB}" type="slidenum">
              <a:rPr lang="en-IN" sz="2800" smtClean="0">
                <a:solidFill>
                  <a:schemeClr val="accent2">
                    <a:lumMod val="40000"/>
                    <a:lumOff val="60000"/>
                  </a:schemeClr>
                </a:solidFill>
              </a:rPr>
              <a:pPr/>
              <a:t>13</a:t>
            </a:fld>
            <a:endParaRPr lang="en-IN" sz="2800" dirty="0"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xmlns="" Requires="a14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314819C9-D576-44D5-A1AF-875A21D5EF7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65245" y="1130786"/>
                <a:ext cx="11740617" cy="5557532"/>
              </a:xfrm>
            </p:spPr>
            <p:txBody>
              <a:bodyPr>
                <a:noAutofit/>
              </a:bodyPr>
              <a:lstStyle/>
              <a:p>
                <a:pPr>
                  <a:buFont typeface="Wingdings" panose="05000000000000000000" pitchFamily="2" charset="2"/>
                  <a:buChar char="§"/>
                </a:pPr>
                <a:r>
                  <a:rPr lang="en-GB" dirty="0">
                    <a:latin typeface="Abadi Extra Light" panose="020B0204020104020204" pitchFamily="34" charset="0"/>
                  </a:rPr>
                  <a:t>Center the data (subtract the mean </a:t>
                </a:r>
                <a14:m>
                  <m:oMath xmlns:m="http://schemas.openxmlformats.org/officeDocument/2006/math">
                    <m:r>
                      <a:rPr lang="en-IN" b="1" i="1" smtClean="0">
                        <a:latin typeface="Cambria Math" panose="02040503050406030204" pitchFamily="18" charset="0"/>
                      </a:rPr>
                      <m:t>𝝁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i="1">
                            <a:latin typeface="Cambria Math" panose="02040503050406030204" pitchFamily="18" charset="0"/>
                          </a:rPr>
                          <m:t>𝑁</m:t>
                        </m:r>
                      </m:den>
                    </m:f>
                    <m:nary>
                      <m:naryPr>
                        <m:chr m:val="∑"/>
                        <m:limLoc m:val="subSup"/>
                        <m:ctrlPr>
                          <a:rPr lang="en-IN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5"/>
                          </m:rPr>
                          <a:rPr lang="en-IN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IN" i="1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IN" i="1">
                            <a:latin typeface="Cambria Math" panose="02040503050406030204" pitchFamily="18" charset="0"/>
                          </a:rPr>
                          <m:t>𝑁</m:t>
                        </m:r>
                      </m:sup>
                      <m:e>
                        <m:sSub>
                          <m:sSubPr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b="1" i="1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nary>
                  </m:oMath>
                </a14:m>
                <a:r>
                  <a:rPr lang="en-GB" sz="2600" dirty="0">
                    <a:latin typeface="Abadi Extra Light" panose="020B0204020104020204" pitchFamily="34" charset="0"/>
                  </a:rPr>
                  <a:t> from each data point)</a:t>
                </a:r>
              </a:p>
              <a:p>
                <a:pPr>
                  <a:buFont typeface="Wingdings" panose="05000000000000000000" pitchFamily="2" charset="2"/>
                  <a:buChar char="§"/>
                </a:pPr>
                <a:r>
                  <a:rPr lang="en-GB" sz="2600" dirty="0">
                    <a:latin typeface="Abadi Extra Light" panose="020B0204020104020204" pitchFamily="34" charset="0"/>
                  </a:rPr>
                  <a:t>Compute the </a:t>
                </a:r>
                <a14:m>
                  <m:oMath xmlns:m="http://schemas.openxmlformats.org/officeDocument/2006/math">
                    <m:r>
                      <a:rPr lang="en-GB" sz="2600" i="1" dirty="0" smtClean="0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GB" sz="2600" i="1" dirty="0" smtClean="0">
                        <a:latin typeface="Cambria Math" panose="02040503050406030204" pitchFamily="18" charset="0"/>
                      </a:rPr>
                      <m:t>×</m:t>
                    </m:r>
                    <m:r>
                      <a:rPr lang="en-GB" sz="2600" i="1" dirty="0" smtClean="0"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en-GB" sz="2600" dirty="0">
                    <a:latin typeface="Abadi Extra Light" panose="020B0204020104020204" pitchFamily="34" charset="0"/>
                  </a:rPr>
                  <a:t> covariance matrix </a:t>
                </a:r>
                <a14:m>
                  <m:oMath xmlns:m="http://schemas.openxmlformats.org/officeDocument/2006/math">
                    <m:r>
                      <a:rPr lang="en-GB" sz="2600" b="1" i="0" dirty="0" smtClean="0">
                        <a:latin typeface="Cambria Math" panose="02040503050406030204" pitchFamily="18" charset="0"/>
                      </a:rPr>
                      <m:t>𝐒</m:t>
                    </m:r>
                  </m:oMath>
                </a14:m>
                <a:r>
                  <a:rPr lang="en-GB" sz="2600" dirty="0">
                    <a:latin typeface="Abadi Extra Light" panose="020B0204020104020204" pitchFamily="34" charset="0"/>
                  </a:rPr>
                  <a:t> using the </a:t>
                </a:r>
                <a:r>
                  <a:rPr lang="en-GB" sz="2600" dirty="0" err="1">
                    <a:latin typeface="Abadi Extra Light" panose="020B0204020104020204" pitchFamily="34" charset="0"/>
                  </a:rPr>
                  <a:t>centered</a:t>
                </a:r>
                <a:r>
                  <a:rPr lang="en-GB" sz="2600" dirty="0">
                    <a:latin typeface="Abadi Extra Light" panose="020B0204020104020204" pitchFamily="34" charset="0"/>
                  </a:rPr>
                  <a:t> data matrix </a:t>
                </a:r>
                <a14:m>
                  <m:oMath xmlns:m="http://schemas.openxmlformats.org/officeDocument/2006/math">
                    <m:r>
                      <a:rPr lang="en-GB" sz="2600" b="1" i="0" dirty="0" smtClean="0">
                        <a:latin typeface="Cambria Math" panose="02040503050406030204" pitchFamily="18" charset="0"/>
                      </a:rPr>
                      <m:t>𝐗</m:t>
                    </m:r>
                  </m:oMath>
                </a14:m>
                <a:r>
                  <a:rPr lang="en-GB" sz="2600" dirty="0">
                    <a:latin typeface="Abadi Extra Light" panose="020B0204020104020204" pitchFamily="34" charset="0"/>
                  </a:rPr>
                  <a:t> as</a:t>
                </a:r>
              </a:p>
              <a:p>
                <a:pPr>
                  <a:buFont typeface="Wingdings" panose="05000000000000000000" pitchFamily="2" charset="2"/>
                  <a:buChar char="§"/>
                </a:pPr>
                <a:endParaRPr lang="en-GB" sz="2600" dirty="0">
                  <a:latin typeface="Abadi Extra Light" panose="020B0204020104020204" pitchFamily="34" charset="0"/>
                </a:endParaRPr>
              </a:p>
              <a:p>
                <a:pPr>
                  <a:buFont typeface="Wingdings" panose="05000000000000000000" pitchFamily="2" charset="2"/>
                  <a:buChar char="§"/>
                </a:pPr>
                <a:endParaRPr lang="en-GB" sz="2600" dirty="0">
                  <a:latin typeface="Abadi Extra Light" panose="020B0204020104020204" pitchFamily="34" charset="0"/>
                </a:endParaRPr>
              </a:p>
              <a:p>
                <a:pPr>
                  <a:buFont typeface="Wingdings" panose="05000000000000000000" pitchFamily="2" charset="2"/>
                  <a:buChar char="§"/>
                </a:pPr>
                <a:r>
                  <a:rPr lang="en-GB" sz="2600" dirty="0">
                    <a:latin typeface="Abadi Extra Light" panose="020B0204020104020204" pitchFamily="34" charset="0"/>
                  </a:rPr>
                  <a:t>Do an </a:t>
                </a:r>
                <a:r>
                  <a:rPr lang="en-GB" sz="2600" dirty="0" err="1">
                    <a:latin typeface="Abadi Extra Light" panose="020B0204020104020204" pitchFamily="34" charset="0"/>
                  </a:rPr>
                  <a:t>eigendecomposition</a:t>
                </a:r>
                <a:r>
                  <a:rPr lang="en-GB" sz="2600" dirty="0">
                    <a:latin typeface="Abadi Extra Light" panose="020B0204020104020204" pitchFamily="34" charset="0"/>
                  </a:rPr>
                  <a:t> of the covariance matrix </a:t>
                </a:r>
                <a14:m>
                  <m:oMath xmlns:m="http://schemas.openxmlformats.org/officeDocument/2006/math">
                    <m:r>
                      <a:rPr lang="en-IN" sz="2400" b="1">
                        <a:latin typeface="Cambria Math" panose="02040503050406030204" pitchFamily="18" charset="0"/>
                      </a:rPr>
                      <m:t>𝐒</m:t>
                    </m:r>
                  </m:oMath>
                </a14:m>
                <a:r>
                  <a:rPr lang="en-GB" sz="2600" dirty="0">
                    <a:latin typeface="Abadi Extra Light" panose="020B0204020104020204" pitchFamily="34" charset="0"/>
                  </a:rPr>
                  <a:t> (many methods exist)</a:t>
                </a:r>
              </a:p>
              <a:p>
                <a:pPr marL="0" indent="0">
                  <a:buNone/>
                </a:pPr>
                <a:endParaRPr lang="en-GB" sz="200" dirty="0">
                  <a:latin typeface="Abadi Extra Light" panose="020B0204020104020204" pitchFamily="34" charset="0"/>
                </a:endParaRPr>
              </a:p>
              <a:p>
                <a:pPr>
                  <a:buFont typeface="Wingdings" panose="05000000000000000000" pitchFamily="2" charset="2"/>
                  <a:buChar char="§"/>
                </a:pPr>
                <a:r>
                  <a:rPr lang="en-GB" sz="2600" dirty="0">
                    <a:latin typeface="Abadi Extra Light" panose="020B0204020104020204" pitchFamily="34" charset="0"/>
                  </a:rPr>
                  <a:t>Take top </a:t>
                </a:r>
                <a14:m>
                  <m:oMath xmlns:m="http://schemas.openxmlformats.org/officeDocument/2006/math">
                    <m:r>
                      <a:rPr lang="en-GB" sz="2600" i="1" dirty="0" smtClean="0"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IN" sz="2600" b="0" i="1" dirty="0" smtClean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600" b="0" i="1" dirty="0" smtClean="0"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en-GB" sz="2600" dirty="0">
                    <a:latin typeface="Abadi Extra Light" panose="020B0204020104020204" pitchFamily="34" charset="0"/>
                  </a:rPr>
                  <a:t> leading eigvectors</a:t>
                </a:r>
                <a14:m>
                  <m:oMath xmlns:m="http://schemas.openxmlformats.org/officeDocument/2006/math">
                    <m:r>
                      <a:rPr lang="en-IN" b="0" i="0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{</m:t>
                        </m:r>
                        <m:r>
                          <a:rPr lang="en-IN" b="1" i="1">
                            <a:latin typeface="Cambria Math" panose="02040503050406030204" pitchFamily="18" charset="0"/>
                          </a:rPr>
                          <m:t>𝒘</m:t>
                        </m:r>
                      </m:e>
                      <m:sub>
                        <m:r>
                          <a:rPr lang="en-IN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IN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1" i="1">
                            <a:latin typeface="Cambria Math" panose="02040503050406030204" pitchFamily="18" charset="0"/>
                          </a:rPr>
                          <m:t>𝒘</m:t>
                        </m:r>
                      </m:e>
                      <m:sub>
                        <m:r>
                          <a:rPr lang="en-IN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IN" i="1">
                        <a:latin typeface="Cambria Math" panose="02040503050406030204" pitchFamily="18" charset="0"/>
                      </a:rPr>
                      <m:t>,…, </m:t>
                    </m:r>
                    <m:sSub>
                      <m:sSub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1" i="1">
                            <a:latin typeface="Cambria Math" panose="02040503050406030204" pitchFamily="18" charset="0"/>
                          </a:rPr>
                          <m:t>𝒘</m:t>
                        </m:r>
                      </m:e>
                      <m:sub>
                        <m:r>
                          <a:rPr lang="en-IN" i="1">
                            <a:latin typeface="Cambria Math" panose="02040503050406030204" pitchFamily="18" charset="0"/>
                          </a:rPr>
                          <m:t>𝐾</m:t>
                        </m:r>
                      </m:sub>
                    </m:sSub>
                    <m:r>
                      <a:rPr lang="en-IN" b="0" i="1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en-GB" sz="2600" dirty="0">
                    <a:latin typeface="Abadi Extra Light" panose="020B0204020104020204" pitchFamily="34" charset="0"/>
                  </a:rPr>
                  <a:t> with </a:t>
                </a:r>
                <a:r>
                  <a:rPr lang="en-GB" sz="2600" dirty="0" err="1">
                    <a:latin typeface="Abadi Extra Light" panose="020B0204020104020204" pitchFamily="34" charset="0"/>
                  </a:rPr>
                  <a:t>eigvalues</a:t>
                </a:r>
                <a:r>
                  <a:rPr lang="en-GB" sz="2600" dirty="0">
                    <a:latin typeface="Abadi Extra Light" panose="020B0204020104020204" pitchFamily="34" charset="0"/>
                  </a:rPr>
                  <a:t/>
                </a:r>
                <a14:m>
                  <m:oMath xmlns:m="http://schemas.openxmlformats.org/officeDocument/2006/math">
                    <m:r>
                      <a:rPr lang="en-IN" sz="2600" b="0" i="1" smtClean="0">
                        <a:latin typeface="Cambria Math" panose="02040503050406030204" pitchFamily="18" charset="0"/>
                      </a:rPr>
                      <m:t>{</m:t>
                    </m:r>
                    <m:sSub>
                      <m:sSubPr>
                        <m:ctrlPr>
                          <a:rPr lang="en-IN" sz="2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600" b="0" i="1" smtClean="0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IN" sz="26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IN" sz="2600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IN" sz="2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600" b="0" i="1" smtClean="0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IN" sz="2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IN" sz="2600" b="0" i="1" smtClean="0">
                        <a:latin typeface="Cambria Math" panose="02040503050406030204" pitchFamily="18" charset="0"/>
                      </a:rPr>
                      <m:t>,…, </m:t>
                    </m:r>
                    <m:sSub>
                      <m:sSubPr>
                        <m:ctrlPr>
                          <a:rPr lang="en-IN" sz="2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600" b="0" i="1" smtClean="0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IN" sz="2600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</m:sub>
                    </m:sSub>
                    <m:r>
                      <a:rPr lang="en-IN" sz="2600" b="0" i="1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lang="en-GB" sz="2600" dirty="0">
                  <a:latin typeface="Abadi Extra Light" panose="020B0204020104020204" pitchFamily="34" charset="0"/>
                </a:endParaRPr>
              </a:p>
              <a:p>
                <a:pPr marL="0" indent="0">
                  <a:buNone/>
                </a:pPr>
                <a:endParaRPr lang="en-GB" sz="200" dirty="0">
                  <a:latin typeface="Abadi Extra Light" panose="020B0204020104020204" pitchFamily="34" charset="0"/>
                </a:endParaRPr>
              </a:p>
              <a:p>
                <a:pPr>
                  <a:buFont typeface="Wingdings" panose="05000000000000000000" pitchFamily="2" charset="2"/>
                  <a:buChar char="§"/>
                </a:pPr>
                <a:r>
                  <a:rPr lang="en-GB" sz="2600" dirty="0">
                    <a:latin typeface="Abadi Extra Light" panose="020B0204020104020204" pitchFamily="34" charset="0"/>
                  </a:rPr>
                  <a:t>The </a:t>
                </a:r>
                <a14:m>
                  <m:oMath xmlns:m="http://schemas.openxmlformats.org/officeDocument/2006/math">
                    <m:r>
                      <a:rPr lang="en-GB" sz="2600" i="1" dirty="0" smtClean="0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en-GB" sz="2600" dirty="0">
                    <a:latin typeface="Abadi Extra Light" panose="020B0204020104020204" pitchFamily="34" charset="0"/>
                  </a:rPr>
                  <a:t>-dimensional projection/embedding of each input is</a:t>
                </a:r>
                <a:br>
                  <a:rPr lang="en-GB" sz="2600" dirty="0">
                    <a:latin typeface="Abadi Extra Light" panose="020B0204020104020204" pitchFamily="34" charset="0"/>
                  </a:rPr>
                </a:br>
                <a:endParaRPr lang="en-GB" sz="2600" dirty="0">
                  <a:latin typeface="Abadi Extra Light" panose="020B0204020104020204" pitchFamily="34" charset="0"/>
                </a:endParaRPr>
              </a:p>
              <a:p>
                <a:pPr>
                  <a:buFont typeface="Wingdings" panose="05000000000000000000" pitchFamily="2" charset="2"/>
                  <a:buChar char="§"/>
                </a:pPr>
                <a:endParaRPr lang="en-GB" sz="2600" dirty="0">
                  <a:latin typeface="Abadi Extra Light" panose="020B0204020104020204" pitchFamily="34" charset="0"/>
                </a:endParaRPr>
              </a:p>
              <a:p>
                <a:pPr>
                  <a:buFont typeface="Wingdings" panose="05000000000000000000" pitchFamily="2" charset="2"/>
                  <a:buChar char="§"/>
                </a:pPr>
                <a:endParaRPr lang="en-GB" sz="2600" dirty="0">
                  <a:latin typeface="Abadi Extra Light" panose="020B0204020104020204" pitchFamily="34" charset="0"/>
                </a:endParaRPr>
              </a:p>
              <a:p>
                <a:pPr>
                  <a:buFont typeface="Wingdings" panose="05000000000000000000" pitchFamily="2" charset="2"/>
                  <a:buChar char="§"/>
                </a:pPr>
                <a:endParaRPr lang="en-GB" sz="2600" dirty="0">
                  <a:latin typeface="Abadi Extra Light" panose="020B0204020104020204" pitchFamily="34" charset="0"/>
                </a:endParaRPr>
              </a:p>
              <a:p>
                <a:pPr>
                  <a:buFont typeface="Wingdings" panose="05000000000000000000" pitchFamily="2" charset="2"/>
                  <a:buChar char="§"/>
                </a:pPr>
                <a:endParaRPr lang="en-GB" sz="2600" dirty="0">
                  <a:latin typeface="Abadi Extra Light" panose="020B0204020104020204" pitchFamily="34" charset="0"/>
                </a:endParaRPr>
              </a:p>
              <a:p>
                <a:pPr marL="0" indent="0">
                  <a:buNone/>
                </a:pPr>
                <a:endParaRPr lang="en-GB" sz="2600" dirty="0">
                  <a:latin typeface="Abadi Extra Light" panose="020B0204020104020204" pitchFamily="34" charset="0"/>
                </a:endParaRPr>
              </a:p>
              <a:p>
                <a:pPr marL="0" indent="0">
                  <a:buNone/>
                </a:pPr>
                <a:endParaRPr lang="en-GB" sz="800" dirty="0">
                  <a:latin typeface="Abadi Extra Light" panose="020B0204020104020204" pitchFamily="34" charset="0"/>
                </a:endParaRPr>
              </a:p>
            </p:txBody>
          </p:sp>
        </mc:Choice>
        <mc:Fallback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xmlns="" xmlns:a14="http://schemas.microsoft.com/office/drawing/2010/main" id="{314819C9-D576-44D5-A1AF-875A21D5EF7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65245" y="1130786"/>
                <a:ext cx="11740617" cy="5557532"/>
              </a:xfrm>
              <a:blipFill>
                <a:blip r:embed="rId3" cstate="print"/>
                <a:stretch>
                  <a:fillRect l="-935" t="-329"/>
                </a:stretch>
              </a:blipFill>
            </p:spPr>
            <p:txBody>
              <a:bodyPr/>
              <a:lstStyle/>
              <a:p>
                <a:r>
                  <a:rPr lang="en-IN" dirty="0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xmlns="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599D3633-927F-427F-8CDC-BB7CA0EB03BE}"/>
                  </a:ext>
                </a:extLst>
              </p:cNvPr>
              <p:cNvSpPr txBox="1"/>
              <p:nvPr/>
            </p:nvSpPr>
            <p:spPr>
              <a:xfrm>
                <a:off x="4708472" y="2262432"/>
                <a:ext cx="1807098" cy="80663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b="1" i="0" smtClean="0">
                          <a:latin typeface="Cambria Math" panose="02040503050406030204" pitchFamily="18" charset="0"/>
                        </a:rPr>
                        <m:t>𝐒</m:t>
                      </m:r>
                      <m:r>
                        <a:rPr lang="en-IN" sz="2800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IN" sz="2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28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IN" sz="2800" i="1">
                              <a:latin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  <m:sSup>
                        <m:sSupPr>
                          <m:ctrlPr>
                            <a:rPr lang="en-IN" sz="2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IN" sz="2800" b="1">
                              <a:latin typeface="Cambria Math" panose="02040503050406030204" pitchFamily="18" charset="0"/>
                            </a:rPr>
                            <m:t>𝐗</m:t>
                          </m:r>
                        </m:e>
                        <m:sup>
                          <m:r>
                            <a:rPr lang="en-IN" sz="2800" i="1">
                              <a:latin typeface="Cambria Math" panose="02040503050406030204" pitchFamily="18" charset="0"/>
                            </a:rPr>
                            <m:t>⊤</m:t>
                          </m:r>
                        </m:sup>
                      </m:sSup>
                      <m:r>
                        <a:rPr lang="en-IN" sz="2800" b="1" i="0" smtClean="0">
                          <a:latin typeface="Cambria Math" panose="02040503050406030204" pitchFamily="18" charset="0"/>
                        </a:rPr>
                        <m:t>𝐗</m:t>
                      </m:r>
                    </m:oMath>
                  </m:oMathPara>
                </a14:m>
                <a:endParaRPr lang="en-IN" sz="2800" dirty="0"/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xmlns="" xmlns:a14="http://schemas.microsoft.com/office/drawing/2010/main" id="{599D3633-927F-427F-8CDC-BB7CA0EB03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08472" y="2262432"/>
                <a:ext cx="1807098" cy="806631"/>
              </a:xfrm>
              <a:prstGeom prst="rect">
                <a:avLst/>
              </a:prstGeom>
              <a:blipFill>
                <a:blip r:embed="rId4" cstate="print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xmlns="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14A0420-311A-4D82-AF17-69CCD7BD48ED}"/>
                  </a:ext>
                </a:extLst>
              </p:cNvPr>
              <p:cNvSpPr txBox="1"/>
              <p:nvPr/>
            </p:nvSpPr>
            <p:spPr>
              <a:xfrm>
                <a:off x="7041823" y="2481082"/>
                <a:ext cx="348294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IN" dirty="0"/>
                  <a:t>(Assuming </a:t>
                </a:r>
                <a14:m>
                  <m:oMath xmlns:m="http://schemas.openxmlformats.org/officeDocument/2006/math">
                    <m:r>
                      <a:rPr lang="en-GB" b="1" dirty="0">
                        <a:latin typeface="Cambria Math" panose="02040503050406030204" pitchFamily="18" charset="0"/>
                      </a:rPr>
                      <m:t>𝐗</m:t>
                    </m:r>
                  </m:oMath>
                </a14:m>
                <a:r>
                  <a:rPr lang="en-IN" dirty="0"/>
                  <a:t> is arranged as </a:t>
                </a:r>
                <a14:m>
                  <m:oMath xmlns:m="http://schemas.openxmlformats.org/officeDocument/2006/math">
                    <m:r>
                      <a:rPr lang="en-IN" b="0" i="1" dirty="0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IN" i="1" dirty="0" smtClean="0"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b="0" i="1" dirty="0" smtClean="0"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en-IN" dirty="0"/>
                  <a:t>) </a:t>
                </a:r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xmlns="" xmlns:a14="http://schemas.microsoft.com/office/drawing/2010/main" id="{514A0420-311A-4D82-AF17-69CCD7BD48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41823" y="2481082"/>
                <a:ext cx="3482941" cy="369332"/>
              </a:xfrm>
              <a:prstGeom prst="rect">
                <a:avLst/>
              </a:prstGeom>
              <a:blipFill>
                <a:blip r:embed="rId5" cstate="print"/>
                <a:stretch>
                  <a:fillRect l="-1399" t="-8197" r="-524" b="-2459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xmlns="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F2D39909-AA02-4DE0-AA51-B9F672034D42}"/>
                  </a:ext>
                </a:extLst>
              </p:cNvPr>
              <p:cNvSpPr txBox="1"/>
              <p:nvPr/>
            </p:nvSpPr>
            <p:spPr>
              <a:xfrm>
                <a:off x="1649926" y="5384480"/>
                <a:ext cx="1958357" cy="44704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800" b="1" i="1" smtClean="0">
                              <a:latin typeface="Cambria Math" panose="02040503050406030204" pitchFamily="18" charset="0"/>
                            </a:rPr>
                            <m:t>𝒛</m:t>
                          </m:r>
                        </m:e>
                        <m:sub>
                          <m:r>
                            <a:rPr lang="en-IN" sz="28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IN" sz="2800" b="0" i="1" smtClean="0">
                          <a:latin typeface="Cambria Math" panose="02040503050406030204" pitchFamily="18" charset="0"/>
                        </a:rPr>
                        <m:t>≈ </m:t>
                      </m:r>
                      <m:sSubSup>
                        <m:sSubSupPr>
                          <m:ctrlPr>
                            <a:rPr lang="en-IN" sz="28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IN" sz="2800" b="1" i="0" smtClean="0">
                              <a:latin typeface="Cambria Math" panose="02040503050406030204" pitchFamily="18" charset="0"/>
                            </a:rPr>
                            <m:t>𝐖</m:t>
                          </m:r>
                        </m:e>
                        <m:sub>
                          <m:r>
                            <a:rPr lang="en-IN" sz="2800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sub>
                        <m:sup>
                          <m:r>
                            <a:rPr lang="en-IN" sz="2800" b="0" i="1" smtClean="0">
                              <a:latin typeface="Cambria Math" panose="02040503050406030204" pitchFamily="18" charset="0"/>
                            </a:rPr>
                            <m:t>⊤</m:t>
                          </m:r>
                        </m:sup>
                      </m:sSubSup>
                      <m:sSub>
                        <m:sSubPr>
                          <m:ctrlPr>
                            <a:rPr lang="en-IN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8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IN" sz="28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lang="en-IN" sz="2800" dirty="0"/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xmlns="" xmlns:a14="http://schemas.microsoft.com/office/drawing/2010/main" id="{F2D39909-AA02-4DE0-AA51-B9F672034D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49926" y="5384480"/>
                <a:ext cx="1958357" cy="447045"/>
              </a:xfrm>
              <a:prstGeom prst="rect">
                <a:avLst/>
              </a:prstGeom>
              <a:blipFill>
                <a:blip r:embed="rId6" cstate="print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xmlns="" Requires="a14">
          <p:sp>
            <p:nvSpPr>
              <p:cNvPr id="9" name="Speech Bubble: Rectangle 8">
                <a:extLst>
                  <a:ext uri="{FF2B5EF4-FFF2-40B4-BE49-F238E27FC236}">
                    <a16:creationId xmlns:a16="http://schemas.microsoft.com/office/drawing/2014/main" id="{2D38C98D-D7A4-4D9F-80E4-035F36889D69}"/>
                  </a:ext>
                </a:extLst>
              </p:cNvPr>
              <p:cNvSpPr/>
              <p:nvPr/>
            </p:nvSpPr>
            <p:spPr>
              <a:xfrm>
                <a:off x="3844389" y="5369501"/>
                <a:ext cx="3287596" cy="739062"/>
              </a:xfrm>
              <a:prstGeom prst="wedgeRectCallout">
                <a:avLst>
                  <a:gd name="adj1" fmla="val -58234"/>
                  <a:gd name="adj2" fmla="val -16863"/>
                </a:avLst>
              </a:prstGeom>
              <a:solidFill>
                <a:schemeClr val="bg1"/>
              </a:solidFill>
              <a:ln w="19050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IN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1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𝐖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IN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K</m:t>
                        </m:r>
                      </m:sub>
                    </m:sSub>
                    <m:r>
                      <a:rPr lang="en-IN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I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IN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𝒘</m:t>
                            </m:r>
                          </m:e>
                          <m:sub>
                            <m:r>
                              <a:rPr lang="en-IN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I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IN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𝒘</m:t>
                            </m:r>
                          </m:e>
                          <m:sub>
                            <m:r>
                              <a:rPr lang="en-IN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I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,…, </m:t>
                        </m:r>
                        <m:sSub>
                          <m:sSubPr>
                            <m:ctrlPr>
                              <a:rPr lang="en-IN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𝒘</m:t>
                            </m:r>
                          </m:e>
                          <m:sub>
                            <m:r>
                              <a:rPr lang="en-IN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𝐾</m:t>
                            </m:r>
                          </m:sub>
                        </m:sSub>
                      </m:e>
                    </m:d>
                  </m:oMath>
                </a14:m>
                <a:r>
                  <a:rPr lang="en-IN" dirty="0">
                    <a:solidFill>
                      <a:schemeClr val="tx1"/>
                    </a:solidFill>
                  </a:rPr>
                  <a:t/>
                </a:r>
                <a:r>
                  <a:rPr lang="en-IN" dirty="0">
                    <a:solidFill>
                      <a:schemeClr val="tx1"/>
                    </a:solidFill>
                    <a:latin typeface="Abadi Extra Light" panose="020B0204020104020204" pitchFamily="34" charset="0"/>
                  </a:rPr>
                  <a:t>is the “projection matrix” of size </a:t>
                </a:r>
                <a14:m>
                  <m:oMath xmlns:m="http://schemas.openxmlformats.org/officeDocument/2006/math">
                    <m:r>
                      <a:rPr lang="en-IN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IN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endParaRPr lang="en-IN" dirty="0">
                  <a:solidFill>
                    <a:schemeClr val="tx1"/>
                  </a:solidFill>
                  <a:latin typeface="Abadi Extra Light" panose="020B0204020104020204" pitchFamily="34" charset="0"/>
                </a:endParaRPr>
              </a:p>
            </p:txBody>
          </p:sp>
        </mc:Choice>
        <mc:Fallback>
          <p:sp>
            <p:nvSpPr>
              <p:cNvPr id="9" name="Speech Bubble: Rectangle 8">
                <a:extLst>
                  <a:ext uri="{FF2B5EF4-FFF2-40B4-BE49-F238E27FC236}">
                    <a16:creationId xmlns:a16="http://schemas.microsoft.com/office/drawing/2014/main" xmlns="" xmlns:a14="http://schemas.microsoft.com/office/drawing/2010/main" id="{2D38C98D-D7A4-4D9F-80E4-035F36889D6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44389" y="5369501"/>
                <a:ext cx="3287596" cy="739062"/>
              </a:xfrm>
              <a:prstGeom prst="wedgeRectCallout">
                <a:avLst>
                  <a:gd name="adj1" fmla="val -58234"/>
                  <a:gd name="adj2" fmla="val -16863"/>
                </a:avLst>
              </a:prstGeom>
              <a:blipFill>
                <a:blip r:embed="rId7" cstate="print"/>
                <a:stretch>
                  <a:fillRect b="-4839"/>
                </a:stretch>
              </a:blipFill>
              <a:ln w="19050">
                <a:solidFill>
                  <a:schemeClr val="accent2"/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Picture 9">
            <a:extLst>
              <a:ext uri="{FF2B5EF4-FFF2-40B4-BE49-F238E27FC236}">
                <a16:creationId xmlns:a16="http://schemas.microsoft.com/office/drawing/2014/main" xmlns="" id="{B26BE6E4-357E-4599-AFBD-1D9478A898C4}"/>
              </a:ext>
            </a:extLst>
          </p:cNvPr>
          <p:cNvPicPr>
            <a:picLocks noChangeAspect="1"/>
          </p:cNvPicPr>
          <p:nvPr/>
        </p:nvPicPr>
        <p:blipFill>
          <a:blip r:embed="rId8" cstate="print"/>
          <a:stretch>
            <a:fillRect/>
          </a:stretch>
        </p:blipFill>
        <p:spPr>
          <a:xfrm>
            <a:off x="10542074" y="5348913"/>
            <a:ext cx="1010687" cy="965223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xmlns="" Requires="a14">
          <p:sp>
            <p:nvSpPr>
              <p:cNvPr id="11" name="Speech Bubble: Rectangle 10">
                <a:extLst>
                  <a:ext uri="{FF2B5EF4-FFF2-40B4-BE49-F238E27FC236}">
                    <a16:creationId xmlns:a16="http://schemas.microsoft.com/office/drawing/2014/main" id="{245FBB44-39CF-492D-9735-BE922D5F8E9A}"/>
                  </a:ext>
                </a:extLst>
              </p:cNvPr>
              <p:cNvSpPr/>
              <p:nvPr/>
            </p:nvSpPr>
            <p:spPr>
              <a:xfrm>
                <a:off x="7569724" y="4937378"/>
                <a:ext cx="2789839" cy="1750940"/>
              </a:xfrm>
              <a:prstGeom prst="wedgeRectCallout">
                <a:avLst>
                  <a:gd name="adj1" fmla="val 71957"/>
                  <a:gd name="adj2" fmla="val 32005"/>
                </a:avLst>
              </a:prstGeom>
              <a:solidFill>
                <a:schemeClr val="bg1"/>
              </a:solidFill>
              <a:ln w="19050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IN" sz="1600" dirty="0">
                    <a:solidFill>
                      <a:schemeClr val="tx1"/>
                    </a:solidFill>
                    <a:latin typeface="Abadi Extra Light" panose="020B0204020104020204" pitchFamily="34" charset="0"/>
                  </a:rPr>
                  <a:t>Note: Can decide how many </a:t>
                </a:r>
                <a:r>
                  <a:rPr lang="en-IN" sz="1600" dirty="0" err="1">
                    <a:solidFill>
                      <a:schemeClr val="tx1"/>
                    </a:solidFill>
                    <a:latin typeface="Abadi Extra Light" panose="020B0204020104020204" pitchFamily="34" charset="0"/>
                  </a:rPr>
                  <a:t>eigvecs</a:t>
                </a:r>
                <a:r>
                  <a:rPr lang="en-IN" sz="1600" dirty="0">
                    <a:solidFill>
                      <a:schemeClr val="tx1"/>
                    </a:solidFill>
                    <a:latin typeface="Abadi Extra Light" panose="020B0204020104020204" pitchFamily="34" charset="0"/>
                  </a:rPr>
                  <a:t> to use based on how much variance we want to </a:t>
                </a:r>
                <a:r>
                  <a:rPr lang="en-IN" sz="1600" dirty="0" err="1">
                    <a:solidFill>
                      <a:schemeClr val="tx1"/>
                    </a:solidFill>
                    <a:latin typeface="Abadi Extra Light" panose="020B0204020104020204" pitchFamily="34" charset="0"/>
                  </a:rPr>
                  <a:t>campure</a:t>
                </a:r>
                <a:r>
                  <a:rPr lang="en-IN" sz="1600" dirty="0">
                    <a:solidFill>
                      <a:schemeClr val="tx1"/>
                    </a:solidFill>
                    <a:latin typeface="Abadi Extra Light" panose="020B0204020104020204" pitchFamily="34" charset="0"/>
                  </a:rPr>
                  <a:t> (recall that each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IN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IN" sz="1600" dirty="0">
                    <a:solidFill>
                      <a:schemeClr val="tx1"/>
                    </a:solidFill>
                    <a:latin typeface="Abadi Extra Light" panose="020B0204020104020204" pitchFamily="34" charset="0"/>
                  </a:rPr>
                  <a:t> gives the variance in the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IN" sz="16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N" sz="16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IN" sz="16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𝑡h</m:t>
                        </m:r>
                      </m:sup>
                    </m:sSup>
                    <m:r>
                      <a:rPr lang="en-IN" sz="16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1600" dirty="0">
                    <a:solidFill>
                      <a:schemeClr val="tx1"/>
                    </a:solidFill>
                    <a:latin typeface="Abadi Extra Light" panose="020B0204020104020204" pitchFamily="34" charset="0"/>
                  </a:rPr>
                  <a:t>direction (and their sum is the total variance)</a:t>
                </a:r>
                <a:endParaRPr lang="en-IN" sz="1600" dirty="0">
                  <a:solidFill>
                    <a:srgbClr val="0000FF"/>
                  </a:solidFill>
                  <a:latin typeface="Abadi Extra Light" panose="020B0204020104020204" pitchFamily="34" charset="0"/>
                </a:endParaRPr>
              </a:p>
            </p:txBody>
          </p:sp>
        </mc:Choice>
        <mc:Fallback>
          <p:sp>
            <p:nvSpPr>
              <p:cNvPr id="11" name="Speech Bubble: Rectangle 10">
                <a:extLst>
                  <a:ext uri="{FF2B5EF4-FFF2-40B4-BE49-F238E27FC236}">
                    <a16:creationId xmlns:a16="http://schemas.microsoft.com/office/drawing/2014/main" xmlns="" xmlns:a14="http://schemas.microsoft.com/office/drawing/2010/main" id="{245FBB44-39CF-492D-9735-BE922D5F8E9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69724" y="4937378"/>
                <a:ext cx="2789839" cy="1750940"/>
              </a:xfrm>
              <a:prstGeom prst="wedgeRectCallout">
                <a:avLst>
                  <a:gd name="adj1" fmla="val 71957"/>
                  <a:gd name="adj2" fmla="val 32005"/>
                </a:avLst>
              </a:prstGeom>
              <a:blipFill>
                <a:blip r:embed="rId9" cstate="print"/>
                <a:stretch>
                  <a:fillRect l="-887" t="-2069" b="-5172"/>
                </a:stretch>
              </a:blipFill>
              <a:ln w="19050">
                <a:solidFill>
                  <a:schemeClr val="accent2"/>
                </a:solidFill>
              </a:ln>
            </p:spPr>
            <p:txBody>
              <a:bodyPr/>
              <a:lstStyle/>
              <a:p>
                <a:r>
                  <a:rPr lang="en-IN" dirty="0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xmlns="" val="60361134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slow" p14:dur="2000" advTm="311539"/>
    </mc:Choice>
    <mc:Fallback>
      <p:transition spd="slow" advTm="311539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5" grpId="0" animBg="1"/>
      <p:bldP spid="8" grpId="0" animBg="1"/>
      <p:bldP spid="9" grpId="0" animBg="1"/>
      <p:bldP spid="11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D7657946-FC7F-477C-9867-0ED704A858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5245" y="169682"/>
            <a:ext cx="11740617" cy="821500"/>
          </a:xfrm>
        </p:spPr>
        <p:txBody>
          <a:bodyPr>
            <a:normAutofit/>
          </a:bodyPr>
          <a:lstStyle/>
          <a:p>
            <a:r>
              <a:rPr lang="en-IN" dirty="0">
                <a:solidFill>
                  <a:schemeClr val="accent2">
                    <a:lumMod val="75000"/>
                  </a:schemeClr>
                </a:solidFill>
              </a:rPr>
              <a:t>Singular Value Decomposition (SVD)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xmlns="" id="{F77B66E3-3803-4788-BC62-221F4919CBCE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323930" y="136939"/>
            <a:ext cx="602825" cy="365125"/>
          </a:xfrm>
        </p:spPr>
        <p:txBody>
          <a:bodyPr/>
          <a:lstStyle/>
          <a:p>
            <a:fld id="{80FED9D3-AF84-488D-8A6A-726D5349CDAB}" type="slidenum">
              <a:rPr lang="en-IN" sz="2800" smtClean="0">
                <a:solidFill>
                  <a:schemeClr val="accent2">
                    <a:lumMod val="40000"/>
                    <a:lumOff val="60000"/>
                  </a:schemeClr>
                </a:solidFill>
              </a:rPr>
              <a:pPr/>
              <a:t>14</a:t>
            </a:fld>
            <a:endParaRPr lang="en-IN" sz="2800" dirty="0"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xmlns="" Requires="a14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314819C9-D576-44D5-A1AF-875A21D5EF7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65245" y="1130786"/>
                <a:ext cx="11740617" cy="5557532"/>
              </a:xfrm>
            </p:spPr>
            <p:txBody>
              <a:bodyPr>
                <a:noAutofit/>
              </a:bodyPr>
              <a:lstStyle/>
              <a:p>
                <a:pPr>
                  <a:buFont typeface="Wingdings" panose="05000000000000000000" pitchFamily="2" charset="2"/>
                  <a:buChar char="§"/>
                </a:pPr>
                <a:r>
                  <a:rPr lang="en-IN" dirty="0">
                    <a:latin typeface="Abadi Extra Light" panose="020B0204020104020204" pitchFamily="34" charset="0"/>
                  </a:rPr>
                  <a:t>Any matrix </a:t>
                </a:r>
                <a14:m>
                  <m:oMath xmlns:m="http://schemas.openxmlformats.org/officeDocument/2006/math">
                    <m:r>
                      <a:rPr lang="en-IN" b="1" i="0" dirty="0" smtClean="0">
                        <a:latin typeface="Cambria Math" panose="02040503050406030204" pitchFamily="18" charset="0"/>
                      </a:rPr>
                      <m:t>𝐗</m:t>
                    </m:r>
                  </m:oMath>
                </a14:m>
                <a:r>
                  <a:rPr lang="en-IN" dirty="0">
                    <a:latin typeface="Abadi Extra Light" panose="020B0204020104020204" pitchFamily="34" charset="0"/>
                  </a:rPr>
                  <a:t> of size </a:t>
                </a:r>
                <a14:m>
                  <m:oMath xmlns:m="http://schemas.openxmlformats.org/officeDocument/2006/math">
                    <m:r>
                      <a:rPr lang="en-IN" i="1" dirty="0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IN" i="1" dirty="0" smtClean="0"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i="1" dirty="0" smtClean="0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IN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dirty="0">
                    <a:latin typeface="Abadi Extra Light" panose="020B0204020104020204" pitchFamily="34" charset="0"/>
                  </a:rPr>
                  <a:t>can be represented as the following decomposition</a:t>
                </a:r>
              </a:p>
              <a:p>
                <a:pPr>
                  <a:buFont typeface="Wingdings" panose="05000000000000000000" pitchFamily="2" charset="2"/>
                  <a:buChar char="§"/>
                </a:pPr>
                <a:endParaRPr lang="en-IN" dirty="0">
                  <a:latin typeface="Abadi Extra Light" panose="020B0204020104020204" pitchFamily="34" charset="0"/>
                </a:endParaRPr>
              </a:p>
              <a:p>
                <a:pPr>
                  <a:buFont typeface="Wingdings" panose="05000000000000000000" pitchFamily="2" charset="2"/>
                  <a:buChar char="§"/>
                </a:pPr>
                <a:endParaRPr lang="en-IN" dirty="0">
                  <a:latin typeface="Abadi Extra Light" panose="020B0204020104020204" pitchFamily="34" charset="0"/>
                </a:endParaRPr>
              </a:p>
              <a:p>
                <a:pPr>
                  <a:buFont typeface="Wingdings" panose="05000000000000000000" pitchFamily="2" charset="2"/>
                  <a:buChar char="§"/>
                </a:pPr>
                <a:endParaRPr lang="en-IN" dirty="0">
                  <a:latin typeface="Abadi Extra Light" panose="020B0204020104020204" pitchFamily="34" charset="0"/>
                </a:endParaRPr>
              </a:p>
              <a:p>
                <a:pPr>
                  <a:buFont typeface="Wingdings" panose="05000000000000000000" pitchFamily="2" charset="2"/>
                  <a:buChar char="§"/>
                </a:pPr>
                <a:endParaRPr lang="en-IN" dirty="0">
                  <a:latin typeface="Abadi Extra Light" panose="020B0204020104020204" pitchFamily="34" charset="0"/>
                </a:endParaRPr>
              </a:p>
              <a:p>
                <a:pPr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r>
                      <a:rPr lang="en-IN" b="1" i="0" smtClean="0">
                        <a:latin typeface="Cambria Math" panose="02040503050406030204" pitchFamily="18" charset="0"/>
                      </a:rPr>
                      <m:t>𝐔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I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b="1" i="1" smtClean="0">
                                <a:latin typeface="Cambria Math" panose="02040503050406030204" pitchFamily="18" charset="0"/>
                              </a:rPr>
                              <m:t>𝒖</m:t>
                            </m:r>
                          </m:e>
                          <m:sub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I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b="1" i="1" smtClean="0">
                                <a:latin typeface="Cambria Math" panose="02040503050406030204" pitchFamily="18" charset="0"/>
                              </a:rPr>
                              <m:t>𝒖</m:t>
                            </m:r>
                          </m:e>
                          <m:sub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,…, </m:t>
                        </m:r>
                        <m:sSub>
                          <m:sSubPr>
                            <m:ctrlPr>
                              <a:rPr lang="en-I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b="1" i="1" smtClean="0">
                                <a:latin typeface="Cambria Math" panose="02040503050406030204" pitchFamily="18" charset="0"/>
                              </a:rPr>
                              <m:t>𝒖</m:t>
                            </m:r>
                          </m:e>
                          <m:sub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</m:sub>
                        </m:sSub>
                      </m:e>
                    </m:d>
                  </m:oMath>
                </a14:m>
                <a:r>
                  <a:rPr lang="en-IN" dirty="0">
                    <a:latin typeface="Abadi Extra Light" panose="020B0204020104020204" pitchFamily="34" charset="0"/>
                  </a:rPr>
                  <a:t> is </a:t>
                </a:r>
                <a14:m>
                  <m:oMath xmlns:m="http://schemas.openxmlformats.org/officeDocument/2006/math">
                    <m:r>
                      <a:rPr lang="en-IN" i="1" dirty="0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IN" i="1" dirty="0" smtClean="0"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i="1" dirty="0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IN" dirty="0">
                    <a:latin typeface="Abadi Extra Light" panose="020B0204020104020204" pitchFamily="34" charset="0"/>
                  </a:rPr>
                  <a:t> matrix of </a:t>
                </a:r>
                <a:r>
                  <a:rPr lang="en-IN" dirty="0">
                    <a:solidFill>
                      <a:srgbClr val="0000FF"/>
                    </a:solidFill>
                    <a:latin typeface="Abadi Extra Light" panose="020B0204020104020204" pitchFamily="34" charset="0"/>
                  </a:rPr>
                  <a:t>left singular vectors</a:t>
                </a:r>
                <a:r>
                  <a:rPr lang="en-IN" dirty="0">
                    <a:latin typeface="Abadi Extra Light" panose="020B0204020104020204" pitchFamily="34" charset="0"/>
                  </a:rPr>
                  <a:t>, each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1" i="1" smtClean="0">
                            <a:latin typeface="Cambria Math" panose="02040503050406030204" pitchFamily="18" charset="0"/>
                          </a:rPr>
                          <m:t>𝒖</m:t>
                        </m:r>
                      </m:e>
                      <m:sub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IN" b="0" i="1" smtClean="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I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I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𝑁</m:t>
                        </m:r>
                      </m:sup>
                    </m:sSup>
                  </m:oMath>
                </a14:m>
                <a:endParaRPr lang="en-IN" dirty="0">
                  <a:latin typeface="Abadi Extra Light" panose="020B0204020104020204" pitchFamily="34" charset="0"/>
                </a:endParaRPr>
              </a:p>
              <a:p>
                <a:pPr lvl="1"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r>
                      <a:rPr lang="en-IN" b="1" i="0" dirty="0" smtClean="0">
                        <a:latin typeface="Cambria Math" panose="02040503050406030204" pitchFamily="18" charset="0"/>
                      </a:rPr>
                      <m:t>𝐔</m:t>
                    </m:r>
                  </m:oMath>
                </a14:m>
                <a:r>
                  <a:rPr lang="en-IN" dirty="0">
                    <a:latin typeface="Abadi Extra Light" panose="020B0204020104020204" pitchFamily="34" charset="0"/>
                  </a:rPr>
                  <a:t> is also orthonormal</a:t>
                </a:r>
              </a:p>
              <a:p>
                <a:pPr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r>
                      <a:rPr lang="en-GB" b="1" i="0" dirty="0" smtClean="0">
                        <a:latin typeface="Cambria Math" panose="02040503050406030204" pitchFamily="18" charset="0"/>
                      </a:rPr>
                      <m:t>𝐕</m:t>
                    </m:r>
                    <m:r>
                      <a:rPr lang="en-IN" b="1" i="0" dirty="0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b="1" i="1" smtClean="0"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IN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b="1" i="1" smtClean="0"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IN" i="1">
                            <a:latin typeface="Cambria Math" panose="02040503050406030204" pitchFamily="18" charset="0"/>
                          </a:rPr>
                          <m:t>,…, </m:t>
                        </m:r>
                        <m:sSub>
                          <m:sSubPr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b="1" i="1" smtClean="0"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𝑁</m:t>
                            </m:r>
                          </m:sub>
                        </m:sSub>
                      </m:e>
                    </m:d>
                  </m:oMath>
                </a14:m>
                <a:r>
                  <a:rPr lang="en-GB" dirty="0">
                    <a:latin typeface="Abadi Extra Light" panose="020B0204020104020204" pitchFamily="34" charset="0"/>
                  </a:rPr>
                  <a:t> is </a:t>
                </a:r>
                <a14:m>
                  <m:oMath xmlns:m="http://schemas.openxmlformats.org/officeDocument/2006/math">
                    <m:r>
                      <a:rPr lang="en-GB" i="1" dirty="0" smtClean="0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GB" i="1" dirty="0" smtClean="0">
                        <a:latin typeface="Cambria Math" panose="02040503050406030204" pitchFamily="18" charset="0"/>
                      </a:rPr>
                      <m:t>×</m:t>
                    </m:r>
                    <m:r>
                      <a:rPr lang="en-GB" i="1" dirty="0" smtClean="0"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en-GB" dirty="0">
                    <a:latin typeface="Abadi Extra Light" panose="020B0204020104020204" pitchFamily="34" charset="0"/>
                  </a:rPr>
                  <a:t> matrix of </a:t>
                </a:r>
                <a:r>
                  <a:rPr lang="en-GB" dirty="0">
                    <a:solidFill>
                      <a:srgbClr val="0000FF"/>
                    </a:solidFill>
                    <a:latin typeface="Abadi Extra Light" panose="020B0204020104020204" pitchFamily="34" charset="0"/>
                  </a:rPr>
                  <a:t>right singular vectors</a:t>
                </a:r>
                <a:r>
                  <a:rPr lang="en-GB" dirty="0">
                    <a:latin typeface="Abadi Extra Light" panose="020B0204020104020204" pitchFamily="34" charset="0"/>
                  </a:rPr>
                  <a:t>, each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1" i="1" smtClean="0">
                            <a:latin typeface="Cambria Math" panose="02040503050406030204" pitchFamily="18" charset="0"/>
                          </a:rPr>
                          <m:t>𝒗</m:t>
                        </m:r>
                      </m:e>
                      <m:sub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sub>
                    </m:sSub>
                    <m:r>
                      <a:rPr lang="en-IN" i="1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I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I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𝐷</m:t>
                        </m:r>
                      </m:sup>
                    </m:sSup>
                  </m:oMath>
                </a14:m>
                <a:endParaRPr lang="en-GB" dirty="0">
                  <a:latin typeface="Abadi Extra Light" panose="020B0204020104020204" pitchFamily="34" charset="0"/>
                </a:endParaRPr>
              </a:p>
              <a:p>
                <a:pPr lvl="1"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r>
                      <a:rPr lang="en-IN" b="1" i="0" dirty="0" smtClean="0">
                        <a:latin typeface="Cambria Math" panose="02040503050406030204" pitchFamily="18" charset="0"/>
                      </a:rPr>
                      <m:t>𝐕</m:t>
                    </m:r>
                  </m:oMath>
                </a14:m>
                <a:r>
                  <a:rPr lang="en-IN" dirty="0">
                    <a:latin typeface="Abadi Extra Light" panose="020B0204020104020204" pitchFamily="34" charset="0"/>
                  </a:rPr>
                  <a:t> is also orthonormal</a:t>
                </a:r>
              </a:p>
              <a:p>
                <a:pPr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b="0" i="0" smtClean="0">
                        <a:latin typeface="Cambria Math" panose="02040503050406030204" pitchFamily="18" charset="0"/>
                      </a:rPr>
                      <m:t>Λ</m:t>
                    </m:r>
                  </m:oMath>
                </a14:m>
                <a:r>
                  <a:rPr lang="en-GB" dirty="0">
                    <a:latin typeface="Abadi Extra Light" panose="020B0204020104020204" pitchFamily="34" charset="0"/>
                  </a:rPr>
                  <a:t> is </a:t>
                </a:r>
                <a14:m>
                  <m:oMath xmlns:m="http://schemas.openxmlformats.org/officeDocument/2006/math">
                    <m:r>
                      <a:rPr lang="en-GB" i="1" dirty="0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GB" i="1" dirty="0" smtClean="0">
                        <a:latin typeface="Cambria Math" panose="02040503050406030204" pitchFamily="18" charset="0"/>
                      </a:rPr>
                      <m:t> × </m:t>
                    </m:r>
                    <m:r>
                      <a:rPr lang="en-GB" i="1" dirty="0" smtClean="0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GB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GB" dirty="0">
                    <a:latin typeface="Abadi Extra Light" panose="020B0204020104020204" pitchFamily="34" charset="0"/>
                  </a:rPr>
                  <a:t>with only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GB" i="1" dirty="0" smtClean="0">
                        <a:latin typeface="Cambria Math" panose="02040503050406030204" pitchFamily="18" charset="0"/>
                      </a:rPr>
                      <m:t>min</m:t>
                    </m:r>
                    <m:r>
                      <a:rPr lang="en-GB" i="1" dirty="0" smtClean="0">
                        <a:latin typeface="Cambria Math" panose="02040503050406030204" pitchFamily="18" charset="0"/>
                      </a:rPr>
                      <m:t>⁡(</m:t>
                    </m:r>
                    <m:r>
                      <a:rPr lang="en-GB" i="1" dirty="0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GB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GB" i="1" dirty="0" smtClean="0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GB" i="1" dirty="0" smtClean="0"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lang="en-GB" dirty="0">
                    <a:latin typeface="Abadi Extra Light" panose="020B0204020104020204" pitchFamily="34" charset="0"/>
                  </a:rPr>
                  <a:t>diagonal entries - </a:t>
                </a:r>
                <a:r>
                  <a:rPr lang="en-GB" dirty="0">
                    <a:solidFill>
                      <a:srgbClr val="0000FF"/>
                    </a:solidFill>
                    <a:latin typeface="Abadi Extra Light" panose="020B0204020104020204" pitchFamily="34" charset="0"/>
                  </a:rPr>
                  <a:t>singular values</a:t>
                </a:r>
              </a:p>
              <a:p>
                <a:pPr>
                  <a:buFont typeface="Wingdings" panose="05000000000000000000" pitchFamily="2" charset="2"/>
                  <a:buChar char="§"/>
                </a:pPr>
                <a:r>
                  <a:rPr lang="en-GB" sz="2600" dirty="0">
                    <a:latin typeface="Abadi Extra Light" panose="020B0204020104020204" pitchFamily="34" charset="0"/>
                  </a:rPr>
                  <a:t>Note: If </a:t>
                </a:r>
                <a14:m>
                  <m:oMath xmlns:m="http://schemas.openxmlformats.org/officeDocument/2006/math">
                    <m:r>
                      <a:rPr lang="en-GB" sz="2600" b="1" i="0" dirty="0" smtClean="0">
                        <a:latin typeface="Cambria Math" panose="02040503050406030204" pitchFamily="18" charset="0"/>
                      </a:rPr>
                      <m:t>𝐗</m:t>
                    </m:r>
                  </m:oMath>
                </a14:m>
                <a:r>
                  <a:rPr lang="en-GB" sz="2600" dirty="0">
                    <a:latin typeface="Abadi Extra Light" panose="020B0204020104020204" pitchFamily="34" charset="0"/>
                  </a:rPr>
                  <a:t> is symmetric then it is known as eigenvalue decomposition (</a:t>
                </a:r>
                <a14:m>
                  <m:oMath xmlns:m="http://schemas.openxmlformats.org/officeDocument/2006/math">
                    <m:r>
                      <a:rPr lang="en-GB" sz="2600" b="1" i="0" dirty="0" smtClean="0">
                        <a:latin typeface="Cambria Math" panose="02040503050406030204" pitchFamily="18" charset="0"/>
                      </a:rPr>
                      <m:t>𝐔</m:t>
                    </m:r>
                    <m:r>
                      <a:rPr lang="en-GB" sz="260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2600" b="1" i="0" dirty="0" smtClean="0">
                        <a:latin typeface="Cambria Math" panose="02040503050406030204" pitchFamily="18" charset="0"/>
                      </a:rPr>
                      <m:t>𝐕</m:t>
                    </m:r>
                  </m:oMath>
                </a14:m>
                <a:r>
                  <a:rPr lang="en-GB" sz="2600" dirty="0">
                    <a:latin typeface="Abadi Extra Light" panose="020B0204020104020204" pitchFamily="34" charset="0"/>
                  </a:rPr>
                  <a:t>)</a:t>
                </a:r>
              </a:p>
              <a:p>
                <a:pPr marL="0" indent="0">
                  <a:buNone/>
                </a:pPr>
                <a:endParaRPr lang="en-GB" sz="2600" dirty="0">
                  <a:latin typeface="Abadi Extra Light" panose="020B0204020104020204" pitchFamily="34" charset="0"/>
                </a:endParaRPr>
              </a:p>
              <a:p>
                <a:pPr marL="0" indent="0">
                  <a:buNone/>
                </a:pPr>
                <a:endParaRPr lang="en-GB" sz="800" dirty="0">
                  <a:latin typeface="Abadi Extra Light" panose="020B0204020104020204" pitchFamily="34" charset="0"/>
                </a:endParaRPr>
              </a:p>
            </p:txBody>
          </p:sp>
        </mc:Choice>
        <mc:Fallback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xmlns="" xmlns:a14="http://schemas.microsoft.com/office/drawing/2010/main" id="{314819C9-D576-44D5-A1AF-875A21D5EF7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65245" y="1130786"/>
                <a:ext cx="11740617" cy="5557532"/>
              </a:xfrm>
              <a:blipFill>
                <a:blip r:embed="rId3" cstate="print"/>
                <a:stretch>
                  <a:fillRect l="-935" t="-186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26" name="Picture 2">
            <a:extLst>
              <a:ext uri="{FF2B5EF4-FFF2-40B4-BE49-F238E27FC236}">
                <a16:creationId xmlns:a16="http://schemas.microsoft.com/office/drawing/2014/main" xmlns="" id="{A039D3D7-389F-4E7B-9B1E-D3AD0929EE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472339" y="1612211"/>
            <a:ext cx="5678933" cy="16091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>
        <mc:Choice xmlns:a14="http://schemas.microsoft.com/office/drawing/2010/main" xmlns="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0BB1A81E-66E6-4996-B90F-A4FBC4A06527}"/>
                  </a:ext>
                </a:extLst>
              </p:cNvPr>
              <p:cNvSpPr txBox="1"/>
              <p:nvPr/>
            </p:nvSpPr>
            <p:spPr>
              <a:xfrm>
                <a:off x="6621078" y="1829354"/>
                <a:ext cx="4502964" cy="77258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400" b="1" i="0" smtClean="0">
                          <a:latin typeface="Cambria Math" panose="02040503050406030204" pitchFamily="18" charset="0"/>
                        </a:rPr>
                        <m:t>𝐗</m:t>
                      </m:r>
                      <m:r>
                        <a:rPr lang="en-IN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2400" b="1" i="0" smtClean="0">
                          <a:latin typeface="Cambria Math" panose="02040503050406030204" pitchFamily="18" charset="0"/>
                        </a:rPr>
                        <m:t>𝐔</m:t>
                      </m:r>
                      <m:r>
                        <a:rPr lang="en-IN" sz="2400" b="1" i="0" smtClean="0">
                          <a:latin typeface="Cambria Math" panose="02040503050406030204" pitchFamily="18" charset="0"/>
                        </a:rPr>
                        <m:t>𝚲</m:t>
                      </m:r>
                      <m:sSup>
                        <m:sSupPr>
                          <m:ctrlPr>
                            <a:rPr lang="en-IN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IN" sz="2400" b="1" i="0" smtClean="0">
                              <a:latin typeface="Cambria Math" panose="02040503050406030204" pitchFamily="18" charset="0"/>
                            </a:rPr>
                            <m:t>𝐕</m:t>
                          </m:r>
                        </m:e>
                        <m:sup>
                          <m:r>
                            <a:rPr lang="en-IN" sz="2400" b="0" i="1" smtClean="0">
                              <a:latin typeface="Cambria Math" panose="02040503050406030204" pitchFamily="18" charset="0"/>
                            </a:rPr>
                            <m:t>⊤</m:t>
                          </m:r>
                        </m:sup>
                      </m:sSup>
                      <m:r>
                        <a:rPr lang="en-IN" sz="2400" b="0" i="1" smtClean="0">
                          <a:latin typeface="Cambria Math" panose="02040503050406030204" pitchFamily="18" charset="0"/>
                        </a:rPr>
                        <m:t>= </m:t>
                      </m:r>
                      <m:nary>
                        <m:naryPr>
                          <m:chr m:val="∑"/>
                          <m:limLoc m:val="subSup"/>
                          <m:ctrlPr>
                            <a:rPr lang="en-IN" sz="24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5"/>
                            </m:rPr>
                            <a:rPr lang="en-IN" sz="24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IN" sz="2400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IN" sz="2400" b="0" i="1" smtClean="0">
                              <a:latin typeface="Cambria Math" panose="02040503050406030204" pitchFamily="18" charset="0"/>
                            </a:rPr>
                            <m:t>min</m:t>
                          </m:r>
                          <m:r>
                            <a:rPr lang="en-IN" sz="2400" b="0" i="1" smtClean="0">
                              <a:latin typeface="Cambria Math" panose="02040503050406030204" pitchFamily="18" charset="0"/>
                            </a:rPr>
                            <m:t>{</m:t>
                          </m:r>
                          <m:r>
                            <a:rPr lang="en-IN" sz="24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 lang="en-IN" sz="24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IN" sz="2400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  <m:r>
                            <a:rPr lang="en-IN" sz="2400" b="0" i="1" smtClean="0">
                              <a:latin typeface="Cambria Math" panose="02040503050406030204" pitchFamily="18" charset="0"/>
                            </a:rPr>
                            <m:t>}</m:t>
                          </m:r>
                        </m:sup>
                        <m:e>
                          <m:sSub>
                            <m:sSubPr>
                              <m:ctrlP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</m:e>
                            <m:sub>
                              <m: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400" b="1" i="1" smtClean="0">
                                  <a:latin typeface="Cambria Math" panose="02040503050406030204" pitchFamily="18" charset="0"/>
                                </a:rPr>
                                <m:t>𝒖</m:t>
                              </m:r>
                            </m:e>
                            <m:sub>
                              <m: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  <m:sSubSup>
                            <m:sSubSupPr>
                              <m:ctrlP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IN" sz="2400" b="1" i="1" smtClean="0">
                                  <a:latin typeface="Cambria Math" panose="02040503050406030204" pitchFamily="18" charset="0"/>
                                </a:rPr>
                                <m:t>𝒗</m:t>
                              </m:r>
                            </m:e>
                            <m:sub>
                              <m: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  <m:sup>
                              <m: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  <m:t>⊤</m:t>
                              </m:r>
                            </m:sup>
                          </m:sSubSup>
                        </m:e>
                      </m:nary>
                    </m:oMath>
                  </m:oMathPara>
                </a14:m>
                <a:endParaRPr lang="en-IN" sz="2400" dirty="0"/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xmlns="" xmlns:a14="http://schemas.microsoft.com/office/drawing/2010/main" id="{0BB1A81E-66E6-4996-B90F-A4FBC4A0652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21078" y="1829354"/>
                <a:ext cx="4502964" cy="772584"/>
              </a:xfrm>
              <a:prstGeom prst="rect">
                <a:avLst/>
              </a:prstGeom>
              <a:blipFill>
                <a:blip r:embed="rId5" cstate="print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xmlns="" Requires="a14">
          <p:sp>
            <p:nvSpPr>
              <p:cNvPr id="7" name="Speech Bubble: Rectangle 6">
                <a:extLst>
                  <a:ext uri="{FF2B5EF4-FFF2-40B4-BE49-F238E27FC236}">
                    <a16:creationId xmlns:a16="http://schemas.microsoft.com/office/drawing/2014/main" id="{A6880FAB-9060-40E9-A4B4-3600A5A26274}"/>
                  </a:ext>
                </a:extLst>
              </p:cNvPr>
              <p:cNvSpPr/>
              <p:nvPr/>
            </p:nvSpPr>
            <p:spPr>
              <a:xfrm>
                <a:off x="5345511" y="2819081"/>
                <a:ext cx="3742372" cy="522617"/>
              </a:xfrm>
              <a:prstGeom prst="wedgeRectCallout">
                <a:avLst>
                  <a:gd name="adj1" fmla="val -61907"/>
                  <a:gd name="adj2" fmla="val -49471"/>
                </a:avLst>
              </a:prstGeom>
              <a:solidFill>
                <a:schemeClr val="bg1"/>
              </a:solidFill>
              <a:ln w="19050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IN" sz="1400" dirty="0">
                    <a:solidFill>
                      <a:schemeClr val="tx1"/>
                    </a:solidFill>
                    <a:latin typeface="Abadi Extra Light" panose="020B0204020104020204" pitchFamily="34" charset="0"/>
                  </a:rPr>
                  <a:t>Diagonal matrix. If </a:t>
                </a:r>
                <a14:m>
                  <m:oMath xmlns:m="http://schemas.openxmlformats.org/officeDocument/2006/math">
                    <m:r>
                      <a:rPr lang="en-IN" sz="14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IN" sz="14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14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en-IN" sz="1400" dirty="0">
                    <a:solidFill>
                      <a:schemeClr val="tx1"/>
                    </a:solidFill>
                    <a:latin typeface="Abadi Extra Light" panose="020B0204020104020204" pitchFamily="34" charset="0"/>
                  </a:rPr>
                  <a:t>, last </a:t>
                </a:r>
                <a14:m>
                  <m:oMath xmlns:m="http://schemas.openxmlformats.org/officeDocument/2006/math">
                    <m:r>
                      <a:rPr lang="en-IN" sz="14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IN" sz="14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14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IN" sz="1400" dirty="0">
                    <a:solidFill>
                      <a:schemeClr val="tx1"/>
                    </a:solidFill>
                    <a:latin typeface="Abadi Extra Light" panose="020B0204020104020204" pitchFamily="34" charset="0"/>
                  </a:rPr>
                  <a:t> rows are all zeros; if </a:t>
                </a:r>
                <a14:m>
                  <m:oMath xmlns:m="http://schemas.openxmlformats.org/officeDocument/2006/math">
                    <m:r>
                      <a:rPr lang="en-IN" sz="14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IN" sz="14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14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IN" sz="1400" dirty="0">
                    <a:solidFill>
                      <a:schemeClr val="tx1"/>
                    </a:solidFill>
                    <a:latin typeface="Abadi Extra Light" panose="020B0204020104020204" pitchFamily="34" charset="0"/>
                  </a:rPr>
                  <a:t>, last </a:t>
                </a:r>
                <a14:m>
                  <m:oMath xmlns:m="http://schemas.openxmlformats.org/officeDocument/2006/math">
                    <m:r>
                      <a:rPr lang="en-IN" sz="14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IN" sz="14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14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IN" sz="1400" dirty="0">
                    <a:solidFill>
                      <a:schemeClr val="tx1"/>
                    </a:solidFill>
                    <a:latin typeface="Abadi Extra Light" panose="020B0204020104020204" pitchFamily="34" charset="0"/>
                  </a:rPr>
                  <a:t> columns are all zeros</a:t>
                </a:r>
              </a:p>
            </p:txBody>
          </p:sp>
        </mc:Choice>
        <mc:Fallback>
          <p:sp>
            <p:nvSpPr>
              <p:cNvPr id="7" name="Speech Bubble: Rectangle 6">
                <a:extLst>
                  <a:ext uri="{FF2B5EF4-FFF2-40B4-BE49-F238E27FC236}">
                    <a16:creationId xmlns:a16="http://schemas.microsoft.com/office/drawing/2014/main" xmlns="" xmlns:a14="http://schemas.microsoft.com/office/drawing/2010/main" id="{A6880FAB-9060-40E9-A4B4-3600A5A2627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45511" y="2819081"/>
                <a:ext cx="3742372" cy="522617"/>
              </a:xfrm>
              <a:prstGeom prst="wedgeRectCallout">
                <a:avLst>
                  <a:gd name="adj1" fmla="val -61907"/>
                  <a:gd name="adj2" fmla="val -49471"/>
                </a:avLst>
              </a:prstGeom>
              <a:blipFill>
                <a:blip r:embed="rId6" cstate="print"/>
                <a:stretch>
                  <a:fillRect b="-8791"/>
                </a:stretch>
              </a:blipFill>
              <a:ln w="19050">
                <a:solidFill>
                  <a:schemeClr val="accent2"/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xmlns="" val="244019794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slow" p14:dur="2000" advTm="270813"/>
    </mc:Choice>
    <mc:Fallback>
      <p:transition spd="slow" advTm="270813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7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D7657946-FC7F-477C-9867-0ED704A858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5245" y="169682"/>
            <a:ext cx="11740617" cy="821500"/>
          </a:xfrm>
        </p:spPr>
        <p:txBody>
          <a:bodyPr>
            <a:normAutofit/>
          </a:bodyPr>
          <a:lstStyle/>
          <a:p>
            <a:r>
              <a:rPr lang="en-IN" dirty="0">
                <a:solidFill>
                  <a:schemeClr val="accent2">
                    <a:lumMod val="75000"/>
                  </a:schemeClr>
                </a:solidFill>
              </a:rPr>
              <a:t>Low-Rank Approximation via SVD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xmlns="" id="{F77B66E3-3803-4788-BC62-221F4919CBCE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323930" y="136939"/>
            <a:ext cx="602825" cy="365125"/>
          </a:xfrm>
        </p:spPr>
        <p:txBody>
          <a:bodyPr/>
          <a:lstStyle/>
          <a:p>
            <a:fld id="{80FED9D3-AF84-488D-8A6A-726D5349CDAB}" type="slidenum">
              <a:rPr lang="en-IN" sz="2800" smtClean="0">
                <a:solidFill>
                  <a:schemeClr val="accent2">
                    <a:lumMod val="40000"/>
                    <a:lumOff val="60000"/>
                  </a:schemeClr>
                </a:solidFill>
              </a:rPr>
              <a:pPr/>
              <a:t>15</a:t>
            </a:fld>
            <a:endParaRPr lang="en-IN" sz="2800" dirty="0"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xmlns="" Requires="a14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314819C9-D576-44D5-A1AF-875A21D5EF7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65245" y="1130786"/>
                <a:ext cx="11740617" cy="5557532"/>
              </a:xfrm>
            </p:spPr>
            <p:txBody>
              <a:bodyPr>
                <a:noAutofit/>
              </a:bodyPr>
              <a:lstStyle/>
              <a:p>
                <a:pPr>
                  <a:buFont typeface="Wingdings" panose="05000000000000000000" pitchFamily="2" charset="2"/>
                  <a:buChar char="§"/>
                </a:pPr>
                <a:r>
                  <a:rPr lang="en-IN" dirty="0">
                    <a:latin typeface="Abadi Extra Light" panose="020B0204020104020204" pitchFamily="34" charset="0"/>
                  </a:rPr>
                  <a:t>If we just use the top </a:t>
                </a:r>
                <a14:m>
                  <m:oMath xmlns:m="http://schemas.openxmlformats.org/officeDocument/2006/math">
                    <m:r>
                      <a:rPr lang="en-IN" i="1" dirty="0" smtClean="0"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IN" b="0" i="1" dirty="0" smtClean="0">
                        <a:latin typeface="Cambria Math" panose="02040503050406030204" pitchFamily="18" charset="0"/>
                      </a:rPr>
                      <m:t>&lt;</m:t>
                    </m:r>
                    <m:r>
                      <m:rPr>
                        <m:sty m:val="p"/>
                      </m:rPr>
                      <a:rPr lang="en-IN" b="0" i="1" dirty="0" smtClean="0">
                        <a:latin typeface="Cambria Math" panose="02040503050406030204" pitchFamily="18" charset="0"/>
                      </a:rPr>
                      <m:t>min</m:t>
                    </m:r>
                    <m:r>
                      <a:rPr lang="en-IN" b="0" i="1" dirty="0" smtClean="0"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b="0" i="1" dirty="0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IN" b="0" i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b="0" i="1" dirty="0" smtClean="0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IN" b="0" i="1" dirty="0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en-IN" dirty="0">
                    <a:latin typeface="Abadi Extra Light" panose="020B0204020104020204" pitchFamily="34" charset="0"/>
                  </a:rPr>
                  <a:t> singular values, we get a rank-</a:t>
                </a:r>
                <a14:m>
                  <m:oMath xmlns:m="http://schemas.openxmlformats.org/officeDocument/2006/math">
                    <m:r>
                      <a:rPr lang="en-IN" i="1" dirty="0" smtClean="0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en-IN" dirty="0">
                    <a:latin typeface="Abadi Extra Light" panose="020B0204020104020204" pitchFamily="34" charset="0"/>
                  </a:rPr>
                  <a:t> SVD</a:t>
                </a:r>
              </a:p>
              <a:p>
                <a:pPr>
                  <a:buFont typeface="Wingdings" panose="05000000000000000000" pitchFamily="2" charset="2"/>
                  <a:buChar char="§"/>
                </a:pPr>
                <a:endParaRPr lang="en-IN" dirty="0">
                  <a:latin typeface="Abadi Extra Light" panose="020B0204020104020204" pitchFamily="34" charset="0"/>
                </a:endParaRPr>
              </a:p>
              <a:p>
                <a:pPr>
                  <a:buFont typeface="Wingdings" panose="05000000000000000000" pitchFamily="2" charset="2"/>
                  <a:buChar char="§"/>
                </a:pPr>
                <a:endParaRPr lang="en-IN" dirty="0">
                  <a:latin typeface="Abadi Extra Light" panose="020B0204020104020204" pitchFamily="34" charset="0"/>
                </a:endParaRPr>
              </a:p>
              <a:p>
                <a:pPr>
                  <a:buFont typeface="Wingdings" panose="05000000000000000000" pitchFamily="2" charset="2"/>
                  <a:buChar char="§"/>
                </a:pPr>
                <a:endParaRPr lang="en-IN" dirty="0">
                  <a:latin typeface="Abadi Extra Light" panose="020B0204020104020204" pitchFamily="34" charset="0"/>
                </a:endParaRPr>
              </a:p>
              <a:p>
                <a:pPr>
                  <a:buFont typeface="Wingdings" panose="05000000000000000000" pitchFamily="2" charset="2"/>
                  <a:buChar char="§"/>
                </a:pPr>
                <a:endParaRPr lang="en-IN" dirty="0">
                  <a:latin typeface="Abadi Extra Light" panose="020B0204020104020204" pitchFamily="34" charset="0"/>
                </a:endParaRPr>
              </a:p>
              <a:p>
                <a:pPr>
                  <a:buFont typeface="Wingdings" panose="05000000000000000000" pitchFamily="2" charset="2"/>
                  <a:buChar char="§"/>
                </a:pPr>
                <a:endParaRPr lang="en-IN" dirty="0">
                  <a:latin typeface="Abadi Extra Light" panose="020B0204020104020204" pitchFamily="34" charset="0"/>
                </a:endParaRPr>
              </a:p>
              <a:p>
                <a:pPr>
                  <a:buFont typeface="Wingdings" panose="05000000000000000000" pitchFamily="2" charset="2"/>
                  <a:buChar char="§"/>
                </a:pPr>
                <a:r>
                  <a:rPr lang="en-GB" dirty="0">
                    <a:latin typeface="Abadi Extra Light" panose="020B0204020104020204" pitchFamily="34" charset="0"/>
                  </a:rPr>
                  <a:t>Above SVD approx. can be shown to minimize the reconstruction error </a:t>
                </a:r>
                <a14:m>
                  <m:oMath xmlns:m="http://schemas.openxmlformats.org/officeDocument/2006/math">
                    <m:d>
                      <m:dPr>
                        <m:begChr m:val="‖"/>
                        <m:endChr m:val="‖"/>
                        <m:ctrlPr>
                          <a:rPr lang="en-GB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b="1" i="1" smtClean="0">
                            <a:latin typeface="Cambria Math" panose="02040503050406030204" pitchFamily="18" charset="0"/>
                          </a:rPr>
                          <m:t>𝑿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acc>
                          <m:accPr>
                            <m:chr m:val="̂"/>
                            <m:ctrlPr>
                              <a:rPr lang="en-IN" b="1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b="1" i="1" smtClean="0">
                                <a:latin typeface="Cambria Math" panose="02040503050406030204" pitchFamily="18" charset="0"/>
                              </a:rPr>
                              <m:t>𝑿</m:t>
                            </m:r>
                          </m:e>
                        </m:acc>
                      </m:e>
                    </m:d>
                  </m:oMath>
                </a14:m>
                <a:endParaRPr lang="en-IN" dirty="0">
                  <a:latin typeface="Abadi Extra Light" panose="020B0204020104020204" pitchFamily="34" charset="0"/>
                </a:endParaRPr>
              </a:p>
              <a:p>
                <a:pPr lvl="1">
                  <a:buFont typeface="Wingdings" panose="05000000000000000000" pitchFamily="2" charset="2"/>
                  <a:buChar char="§"/>
                </a:pPr>
                <a:r>
                  <a:rPr lang="en-GB" dirty="0">
                    <a:latin typeface="Abadi Extra Light" panose="020B0204020104020204" pitchFamily="34" charset="0"/>
                  </a:rPr>
                  <a:t>Fact: SVD gives the best rank-</a:t>
                </a:r>
                <a14:m>
                  <m:oMath xmlns:m="http://schemas.openxmlformats.org/officeDocument/2006/math">
                    <m:r>
                      <a:rPr lang="en-GB" i="1" dirty="0" smtClean="0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en-GB" dirty="0">
                    <a:latin typeface="Abadi Extra Light" panose="020B0204020104020204" pitchFamily="34" charset="0"/>
                  </a:rPr>
                  <a:t> approximation of a matrix</a:t>
                </a:r>
                <a:endParaRPr lang="en-IN" dirty="0">
                  <a:latin typeface="Abadi Extra Light" panose="020B0204020104020204" pitchFamily="34" charset="0"/>
                </a:endParaRPr>
              </a:p>
              <a:p>
                <a:pPr marL="0" indent="0">
                  <a:buNone/>
                </a:pPr>
                <a:endParaRPr lang="en-GB" sz="2600" dirty="0">
                  <a:latin typeface="Abadi Extra Light" panose="020B0204020104020204" pitchFamily="34" charset="0"/>
                </a:endParaRPr>
              </a:p>
              <a:p>
                <a:pPr>
                  <a:buFont typeface="Wingdings" panose="05000000000000000000" pitchFamily="2" charset="2"/>
                  <a:buChar char="§"/>
                </a:pPr>
                <a:r>
                  <a:rPr lang="en-GB" sz="2600" dirty="0">
                    <a:latin typeface="Abadi Extra Light" panose="020B0204020104020204" pitchFamily="34" charset="0"/>
                  </a:rPr>
                  <a:t>PCA is done by doing SVD on the covariance matrix </a:t>
                </a:r>
                <a14:m>
                  <m:oMath xmlns:m="http://schemas.openxmlformats.org/officeDocument/2006/math">
                    <m:r>
                      <a:rPr lang="en-GB" sz="2600" b="1" i="0" dirty="0" smtClean="0">
                        <a:latin typeface="Cambria Math" panose="02040503050406030204" pitchFamily="18" charset="0"/>
                      </a:rPr>
                      <m:t>𝐒</m:t>
                    </m:r>
                  </m:oMath>
                </a14:m>
                <a:r>
                  <a:rPr lang="en-GB" sz="2600" dirty="0">
                    <a:latin typeface="Abadi Extra Light" panose="020B0204020104020204" pitchFamily="34" charset="0"/>
                  </a:rPr>
                  <a:t> (left and right singular vectors are the same and become eigenvectors, singular values become eigenvalues)</a:t>
                </a:r>
              </a:p>
              <a:p>
                <a:pPr marL="0" indent="0">
                  <a:buNone/>
                </a:pPr>
                <a:endParaRPr lang="en-GB" sz="2600" dirty="0">
                  <a:latin typeface="Abadi Extra Light" panose="020B0204020104020204" pitchFamily="34" charset="0"/>
                </a:endParaRPr>
              </a:p>
              <a:p>
                <a:pPr marL="0" indent="0">
                  <a:buNone/>
                </a:pPr>
                <a:endParaRPr lang="en-GB" sz="800" dirty="0">
                  <a:latin typeface="Abadi Extra Light" panose="020B0204020104020204" pitchFamily="34" charset="0"/>
                </a:endParaRPr>
              </a:p>
            </p:txBody>
          </p:sp>
        </mc:Choice>
        <mc:Fallback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xmlns="" xmlns:a14="http://schemas.microsoft.com/office/drawing/2010/main" id="{314819C9-D576-44D5-A1AF-875A21D5EF7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65245" y="1130786"/>
                <a:ext cx="11740617" cy="5557532"/>
              </a:xfrm>
              <a:blipFill>
                <a:blip r:embed="rId3" cstate="print"/>
                <a:stretch>
                  <a:fillRect l="-935" t="-186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2">
            <a:extLst>
              <a:ext uri="{FF2B5EF4-FFF2-40B4-BE49-F238E27FC236}">
                <a16:creationId xmlns:a16="http://schemas.microsoft.com/office/drawing/2014/main" xmlns="" id="{09751786-E974-4FDB-B381-38F97E0ACB49}"/>
              </a:ext>
            </a:extLst>
          </p:cNvPr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385770" y="1972162"/>
            <a:ext cx="6134100" cy="2171700"/>
          </a:xfrm>
          <a:prstGeom prst="rect">
            <a:avLst/>
          </a:prstGeom>
        </p:spPr>
      </p:pic>
      <p:pic>
        <p:nvPicPr>
          <p:cNvPr id="2050" name="Picture 2">
            <a:extLst>
              <a:ext uri="{FF2B5EF4-FFF2-40B4-BE49-F238E27FC236}">
                <a16:creationId xmlns:a16="http://schemas.microsoft.com/office/drawing/2014/main" xmlns="" id="{8FEE8C6C-14DF-4A15-A2C8-50D32EAA28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6640395" y="2224528"/>
            <a:ext cx="5038725" cy="1085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xmlns="" val="101312403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slow" p14:dur="2000" advTm="239497"/>
    </mc:Choice>
    <mc:Fallback>
      <p:transition spd="slow" advTm="239497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D7657946-FC7F-477C-9867-0ED704A858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5245" y="169682"/>
            <a:ext cx="11740617" cy="821500"/>
          </a:xfrm>
        </p:spPr>
        <p:txBody>
          <a:bodyPr>
            <a:normAutofit/>
          </a:bodyPr>
          <a:lstStyle/>
          <a:p>
            <a:r>
              <a:rPr lang="en-IN" dirty="0">
                <a:solidFill>
                  <a:schemeClr val="accent2">
                    <a:lumMod val="75000"/>
                  </a:schemeClr>
                </a:solidFill>
              </a:rPr>
              <a:t>Dim-Red as Matrix Factorization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xmlns="" id="{F77B66E3-3803-4788-BC62-221F4919CBCE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323930" y="136939"/>
            <a:ext cx="602825" cy="365125"/>
          </a:xfrm>
        </p:spPr>
        <p:txBody>
          <a:bodyPr/>
          <a:lstStyle/>
          <a:p>
            <a:fld id="{80FED9D3-AF84-488D-8A6A-726D5349CDAB}" type="slidenum">
              <a:rPr lang="en-IN" sz="2800" smtClean="0">
                <a:solidFill>
                  <a:schemeClr val="accent2">
                    <a:lumMod val="40000"/>
                    <a:lumOff val="60000"/>
                  </a:schemeClr>
                </a:solidFill>
              </a:rPr>
              <a:pPr/>
              <a:t>16</a:t>
            </a:fld>
            <a:endParaRPr lang="en-IN" sz="2800" dirty="0"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xmlns="" Requires="a14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314819C9-D576-44D5-A1AF-875A21D5EF7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65245" y="1130786"/>
                <a:ext cx="11740617" cy="5557532"/>
              </a:xfrm>
            </p:spPr>
            <p:txBody>
              <a:bodyPr>
                <a:noAutofit/>
              </a:bodyPr>
              <a:lstStyle/>
              <a:p>
                <a:pPr>
                  <a:buFont typeface="Wingdings" panose="05000000000000000000" pitchFamily="2" charset="2"/>
                  <a:buChar char="§"/>
                </a:pPr>
                <a:r>
                  <a:rPr lang="en-IN" sz="2600" dirty="0">
                    <a:latin typeface="Abadi Extra Light" panose="020B0204020104020204" pitchFamily="34" charset="0"/>
                  </a:rPr>
                  <a:t>If we don’t care about the orthonormality constraints, then dim-red can also be achieved by solving a matrix factorization problem on the data matrix </a:t>
                </a:r>
                <a14:m>
                  <m:oMath xmlns:m="http://schemas.openxmlformats.org/officeDocument/2006/math">
                    <m:r>
                      <a:rPr lang="en-IN" sz="2600" b="1" i="0" dirty="0" smtClean="0">
                        <a:latin typeface="Cambria Math" panose="02040503050406030204" pitchFamily="18" charset="0"/>
                      </a:rPr>
                      <m:t>𝐗</m:t>
                    </m:r>
                  </m:oMath>
                </a14:m>
                <a:endParaRPr lang="en-IN" sz="2600" b="1" dirty="0">
                  <a:latin typeface="Abadi Extra Light" panose="020B0204020104020204" pitchFamily="34" charset="0"/>
                </a:endParaRPr>
              </a:p>
              <a:p>
                <a:pPr>
                  <a:buFont typeface="Wingdings" panose="05000000000000000000" pitchFamily="2" charset="2"/>
                  <a:buChar char="§"/>
                </a:pPr>
                <a:endParaRPr lang="en-IN" sz="2600" b="1" dirty="0">
                  <a:latin typeface="Abadi Extra Light" panose="020B0204020104020204" pitchFamily="34" charset="0"/>
                </a:endParaRPr>
              </a:p>
              <a:p>
                <a:pPr>
                  <a:buFont typeface="Wingdings" panose="05000000000000000000" pitchFamily="2" charset="2"/>
                  <a:buChar char="§"/>
                </a:pPr>
                <a:endParaRPr lang="en-IN" sz="2600" b="1" dirty="0">
                  <a:latin typeface="Abadi Extra Light" panose="020B0204020104020204" pitchFamily="34" charset="0"/>
                </a:endParaRPr>
              </a:p>
              <a:p>
                <a:pPr>
                  <a:buFont typeface="Wingdings" panose="05000000000000000000" pitchFamily="2" charset="2"/>
                  <a:buChar char="§"/>
                </a:pPr>
                <a:endParaRPr lang="en-IN" sz="2600" b="1" dirty="0">
                  <a:latin typeface="Abadi Extra Light" panose="020B0204020104020204" pitchFamily="34" charset="0"/>
                </a:endParaRPr>
              </a:p>
              <a:p>
                <a:pPr>
                  <a:buFont typeface="Wingdings" panose="05000000000000000000" pitchFamily="2" charset="2"/>
                  <a:buChar char="§"/>
                </a:pPr>
                <a:endParaRPr lang="en-IN" sz="2600" b="1" dirty="0">
                  <a:latin typeface="Abadi Extra Light" panose="020B0204020104020204" pitchFamily="34" charset="0"/>
                </a:endParaRPr>
              </a:p>
              <a:p>
                <a:pPr>
                  <a:buFont typeface="Wingdings" panose="05000000000000000000" pitchFamily="2" charset="2"/>
                  <a:buChar char="§"/>
                </a:pPr>
                <a:endParaRPr lang="en-IN" sz="2600" b="1" dirty="0">
                  <a:latin typeface="Abadi Extra Light" panose="020B0204020104020204" pitchFamily="34" charset="0"/>
                </a:endParaRPr>
              </a:p>
              <a:p>
                <a:pPr>
                  <a:buFont typeface="Wingdings" panose="05000000000000000000" pitchFamily="2" charset="2"/>
                  <a:buChar char="§"/>
                </a:pPr>
                <a:endParaRPr lang="en-IN" sz="2600" b="1" dirty="0">
                  <a:latin typeface="Abadi Extra Light" panose="020B0204020104020204" pitchFamily="34" charset="0"/>
                </a:endParaRPr>
              </a:p>
              <a:p>
                <a:pPr>
                  <a:buFont typeface="Wingdings" panose="05000000000000000000" pitchFamily="2" charset="2"/>
                  <a:buChar char="§"/>
                </a:pPr>
                <a:endParaRPr lang="en-IN" sz="2600" b="1" dirty="0">
                  <a:latin typeface="Abadi Extra Light" panose="020B0204020104020204" pitchFamily="34" charset="0"/>
                </a:endParaRPr>
              </a:p>
              <a:p>
                <a:pPr>
                  <a:buFont typeface="Wingdings" panose="05000000000000000000" pitchFamily="2" charset="2"/>
                  <a:buChar char="§"/>
                </a:pPr>
                <a:endParaRPr lang="en-IN" sz="2600" b="1" dirty="0">
                  <a:latin typeface="Abadi Extra Light" panose="020B0204020104020204" pitchFamily="34" charset="0"/>
                </a:endParaRPr>
              </a:p>
              <a:p>
                <a:pPr>
                  <a:buFont typeface="Wingdings" panose="05000000000000000000" pitchFamily="2" charset="2"/>
                  <a:buChar char="§"/>
                </a:pPr>
                <a:r>
                  <a:rPr lang="en-IN" sz="2600" dirty="0">
                    <a:latin typeface="Abadi Extra Light" panose="020B0204020104020204" pitchFamily="34" charset="0"/>
                  </a:rPr>
                  <a:t>Can solve such problems using ALT-OPT</a:t>
                </a:r>
              </a:p>
              <a:p>
                <a:pPr>
                  <a:buFont typeface="Wingdings" panose="05000000000000000000" pitchFamily="2" charset="2"/>
                  <a:buChar char="§"/>
                </a:pPr>
                <a:r>
                  <a:rPr lang="en-IN" sz="2600" dirty="0">
                    <a:latin typeface="Abadi Extra Light" panose="020B0204020104020204" pitchFamily="34" charset="0"/>
                  </a:rPr>
                  <a:t>Can impose various constraints on </a:t>
                </a:r>
                <a14:m>
                  <m:oMath xmlns:m="http://schemas.openxmlformats.org/officeDocument/2006/math">
                    <m:r>
                      <a:rPr lang="en-IN" sz="2600" b="1" i="0" dirty="0" smtClean="0">
                        <a:latin typeface="Cambria Math" panose="02040503050406030204" pitchFamily="18" charset="0"/>
                      </a:rPr>
                      <m:t>𝐙</m:t>
                    </m:r>
                  </m:oMath>
                </a14:m>
                <a:r>
                  <a:rPr lang="en-IN" sz="2600" b="1" dirty="0">
                    <a:latin typeface="Abadi Extra Light" panose="020B0204020104020204" pitchFamily="34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600" b="1" i="0" dirty="0" smtClean="0">
                        <a:latin typeface="Cambria Math" panose="02040503050406030204" pitchFamily="18" charset="0"/>
                      </a:rPr>
                      <m:t>𝐖</m:t>
                    </m:r>
                  </m:oMath>
                </a14:m>
                <a:r>
                  <a:rPr lang="en-IN" sz="2600" dirty="0">
                    <a:latin typeface="Abadi Extra Light" panose="020B0204020104020204" pitchFamily="34" charset="0"/>
                  </a:rPr>
                  <a:t>(e.g., sparsity, non-negativity, etc)</a:t>
                </a:r>
              </a:p>
              <a:p>
                <a:pPr>
                  <a:buFont typeface="Wingdings" panose="05000000000000000000" pitchFamily="2" charset="2"/>
                  <a:buChar char="§"/>
                </a:pPr>
                <a:endParaRPr lang="en-GB" sz="2600" dirty="0">
                  <a:latin typeface="Abadi Extra Light" panose="020B0204020104020204" pitchFamily="34" charset="0"/>
                </a:endParaRPr>
              </a:p>
              <a:p>
                <a:pPr marL="0" indent="0">
                  <a:buNone/>
                </a:pPr>
                <a:endParaRPr lang="en-GB" sz="2600" dirty="0">
                  <a:latin typeface="Abadi Extra Light" panose="020B0204020104020204" pitchFamily="34" charset="0"/>
                </a:endParaRPr>
              </a:p>
              <a:p>
                <a:pPr marL="0" indent="0">
                  <a:buNone/>
                </a:pPr>
                <a:endParaRPr lang="en-GB" sz="800" dirty="0">
                  <a:latin typeface="Abadi Extra Light" panose="020B0204020104020204" pitchFamily="34" charset="0"/>
                </a:endParaRPr>
              </a:p>
            </p:txBody>
          </p:sp>
        </mc:Choice>
        <mc:Fallback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xmlns="" xmlns:a14="http://schemas.microsoft.com/office/drawing/2010/main" id="{314819C9-D576-44D5-A1AF-875A21D5EF7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65245" y="1130786"/>
                <a:ext cx="11740617" cy="5557532"/>
              </a:xfrm>
              <a:blipFill>
                <a:blip r:embed="rId3" cstate="print"/>
                <a:stretch>
                  <a:fillRect l="-831" t="-1645" b="-438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ectangle 4">
            <a:extLst>
              <a:ext uri="{FF2B5EF4-FFF2-40B4-BE49-F238E27FC236}">
                <a16:creationId xmlns:a16="http://schemas.microsoft.com/office/drawing/2014/main" xmlns="" id="{2455A31B-2970-4AFF-B292-7D5DFD4E12CA}"/>
              </a:ext>
            </a:extLst>
          </p:cNvPr>
          <p:cNvSpPr/>
          <p:nvPr/>
        </p:nvSpPr>
        <p:spPr>
          <a:xfrm>
            <a:off x="2267324" y="2414965"/>
            <a:ext cx="2460396" cy="2281287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4000" dirty="0">
                <a:solidFill>
                  <a:schemeClr val="tx1"/>
                </a:solidFill>
              </a:rPr>
              <a:t>X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xmlns="" id="{0FD8CE7C-FB47-4B28-A0E3-84D8CDFE3071}"/>
              </a:ext>
            </a:extLst>
          </p:cNvPr>
          <p:cNvSpPr/>
          <p:nvPr/>
        </p:nvSpPr>
        <p:spPr>
          <a:xfrm>
            <a:off x="6096000" y="2420889"/>
            <a:ext cx="1491283" cy="2281287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4000" dirty="0">
                <a:solidFill>
                  <a:schemeClr val="tx1"/>
                </a:solidFill>
              </a:rPr>
              <a:t>Z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xmlns="" id="{A441A147-5301-4677-B794-2E6578D56FA5}"/>
              </a:ext>
            </a:extLst>
          </p:cNvPr>
          <p:cNvSpPr/>
          <p:nvPr/>
        </p:nvSpPr>
        <p:spPr>
          <a:xfrm>
            <a:off x="8146904" y="2420889"/>
            <a:ext cx="2460395" cy="1293273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4000" dirty="0">
                <a:solidFill>
                  <a:schemeClr val="tx1"/>
                </a:solidFill>
              </a:rPr>
              <a:t>W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9FD67B0E-A54F-401A-8751-90A0544238B2}"/>
              </a:ext>
            </a:extLst>
          </p:cNvPr>
          <p:cNvSpPr txBox="1"/>
          <p:nvPr/>
        </p:nvSpPr>
        <p:spPr>
          <a:xfrm>
            <a:off x="1649568" y="3201664"/>
            <a:ext cx="51648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4000" dirty="0"/>
              <a:t>N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xmlns="" id="{2E6A7310-AB4E-415B-BC71-DA21B1C76705}"/>
              </a:ext>
            </a:extLst>
          </p:cNvPr>
          <p:cNvSpPr txBox="1"/>
          <p:nvPr/>
        </p:nvSpPr>
        <p:spPr>
          <a:xfrm>
            <a:off x="3290948" y="1836894"/>
            <a:ext cx="51648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4000" dirty="0"/>
              <a:t>D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xmlns="" id="{09C255CA-520F-47BA-A25B-070D1542F92B}"/>
              </a:ext>
            </a:extLst>
          </p:cNvPr>
          <p:cNvSpPr txBox="1"/>
          <p:nvPr/>
        </p:nvSpPr>
        <p:spPr>
          <a:xfrm>
            <a:off x="9021840" y="1832847"/>
            <a:ext cx="51648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4000" dirty="0"/>
              <a:t>D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xmlns="" id="{4AE1E5BC-FA3D-4FAA-8126-469D3E4215C4}"/>
              </a:ext>
            </a:extLst>
          </p:cNvPr>
          <p:cNvSpPr txBox="1"/>
          <p:nvPr/>
        </p:nvSpPr>
        <p:spPr>
          <a:xfrm>
            <a:off x="7708904" y="2721114"/>
            <a:ext cx="45076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4000" dirty="0"/>
              <a:t>K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xmlns="" id="{E0CDEF2C-9AA8-407F-8D70-4D34A201469E}"/>
              </a:ext>
            </a:extLst>
          </p:cNvPr>
          <p:cNvSpPr txBox="1"/>
          <p:nvPr/>
        </p:nvSpPr>
        <p:spPr>
          <a:xfrm>
            <a:off x="6676234" y="1832847"/>
            <a:ext cx="45076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4000" dirty="0"/>
              <a:t>K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xmlns="" id="{70AA102D-50B8-4BD9-BC8F-16D3595F5F9E}"/>
              </a:ext>
            </a:extLst>
          </p:cNvPr>
          <p:cNvSpPr txBox="1"/>
          <p:nvPr/>
        </p:nvSpPr>
        <p:spPr>
          <a:xfrm>
            <a:off x="5619065" y="3201666"/>
            <a:ext cx="51648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4000" dirty="0"/>
              <a:t>N</a:t>
            </a:r>
          </a:p>
        </p:txBody>
      </p:sp>
      <mc:AlternateContent xmlns:mc="http://schemas.openxmlformats.org/markup-compatibility/2006">
        <mc:Choice xmlns:a14="http://schemas.microsoft.com/office/drawing/2010/main" xmlns="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F42E27C7-3CF8-4589-9654-E319BC85C1AD}"/>
                  </a:ext>
                </a:extLst>
              </p:cNvPr>
              <p:cNvSpPr txBox="1"/>
              <p:nvPr/>
            </p:nvSpPr>
            <p:spPr>
              <a:xfrm>
                <a:off x="4911402" y="3201664"/>
                <a:ext cx="593111" cy="73866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4800" b="0" i="1" smtClean="0">
                          <a:latin typeface="Cambria Math" panose="02040503050406030204" pitchFamily="18" charset="0"/>
                        </a:rPr>
                        <m:t>≈</m:t>
                      </m:r>
                    </m:oMath>
                  </m:oMathPara>
                </a14:m>
                <a:endParaRPr lang="en-IN" sz="4800" dirty="0"/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xmlns="" xmlns:a14="http://schemas.microsoft.com/office/drawing/2010/main" id="{F42E27C7-3CF8-4589-9654-E319BC85C1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11402" y="3201664"/>
                <a:ext cx="593111" cy="738664"/>
              </a:xfrm>
              <a:prstGeom prst="rect">
                <a:avLst/>
              </a:prstGeom>
              <a:blipFill>
                <a:blip r:embed="rId4" cstate="print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xmlns="" Requires="a14">
          <p:sp>
            <p:nvSpPr>
              <p:cNvPr id="19" name="Speech Bubble: Rectangle 18">
                <a:extLst>
                  <a:ext uri="{FF2B5EF4-FFF2-40B4-BE49-F238E27FC236}">
                    <a16:creationId xmlns:a16="http://schemas.microsoft.com/office/drawing/2014/main" id="{8B912573-FD0D-4E0F-A334-8EE6393EC088}"/>
                  </a:ext>
                </a:extLst>
              </p:cNvPr>
              <p:cNvSpPr/>
              <p:nvPr/>
            </p:nvSpPr>
            <p:spPr>
              <a:xfrm>
                <a:off x="7872486" y="4131061"/>
                <a:ext cx="1711378" cy="522617"/>
              </a:xfrm>
              <a:prstGeom prst="wedgeRectCallout">
                <a:avLst>
                  <a:gd name="adj1" fmla="val -61907"/>
                  <a:gd name="adj2" fmla="val -49471"/>
                </a:avLst>
              </a:prstGeom>
              <a:solidFill>
                <a:schemeClr val="bg1"/>
              </a:solidFill>
              <a:ln w="19050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IN" sz="1400" dirty="0">
                    <a:solidFill>
                      <a:schemeClr val="tx1"/>
                    </a:solidFill>
                    <a:latin typeface="Abadi Extra Light" panose="020B0204020104020204" pitchFamily="34" charset="0"/>
                  </a:rPr>
                  <a:t>Matrix containing the low-dim rep of </a:t>
                </a:r>
                <a14:m>
                  <m:oMath xmlns:m="http://schemas.openxmlformats.org/officeDocument/2006/math">
                    <m:r>
                      <a:rPr lang="en-IN" sz="1400" b="1" i="0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𝐗</m:t>
                    </m:r>
                  </m:oMath>
                </a14:m>
                <a:endParaRPr lang="en-IN" sz="1400" b="1" dirty="0">
                  <a:solidFill>
                    <a:schemeClr val="tx1"/>
                  </a:solidFill>
                  <a:latin typeface="Abadi Extra Light" panose="020B0204020104020204" pitchFamily="34" charset="0"/>
                </a:endParaRPr>
              </a:p>
            </p:txBody>
          </p:sp>
        </mc:Choice>
        <mc:Fallback>
          <p:sp>
            <p:nvSpPr>
              <p:cNvPr id="19" name="Speech Bubble: Rectangle 18">
                <a:extLst>
                  <a:ext uri="{FF2B5EF4-FFF2-40B4-BE49-F238E27FC236}">
                    <a16:creationId xmlns:a16="http://schemas.microsoft.com/office/drawing/2014/main" xmlns="" xmlns:a14="http://schemas.microsoft.com/office/drawing/2010/main" id="{8B912573-FD0D-4E0F-A334-8EE6393EC08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72486" y="4131061"/>
                <a:ext cx="1711378" cy="522617"/>
              </a:xfrm>
              <a:prstGeom prst="wedgeRectCallout">
                <a:avLst>
                  <a:gd name="adj1" fmla="val -61907"/>
                  <a:gd name="adj2" fmla="val -49471"/>
                </a:avLst>
              </a:prstGeom>
              <a:blipFill>
                <a:blip r:embed="rId5" cstate="print"/>
                <a:stretch>
                  <a:fillRect b="-9890"/>
                </a:stretch>
              </a:blipFill>
              <a:ln w="19050">
                <a:solidFill>
                  <a:schemeClr val="accent2"/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xmlns=""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43AC77CB-00D8-40B8-B189-AF374F31F7B0}"/>
                  </a:ext>
                </a:extLst>
              </p:cNvPr>
              <p:cNvSpPr txBox="1"/>
              <p:nvPr/>
            </p:nvSpPr>
            <p:spPr>
              <a:xfrm>
                <a:off x="1194632" y="4947679"/>
                <a:ext cx="6441699" cy="62260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en-IN" sz="3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̂"/>
                              <m:ctrlPr>
                                <a:rPr lang="en-IN" sz="3600" b="1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IN" sz="3600" b="1" i="0">
                                  <a:latin typeface="Cambria Math" panose="02040503050406030204" pitchFamily="18" charset="0"/>
                                </a:rPr>
                                <m:t>𝐙</m:t>
                              </m:r>
                            </m:e>
                          </m:acc>
                          <m:r>
                            <a:rPr lang="en-IN" sz="36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acc>
                            <m:accPr>
                              <m:chr m:val="̂"/>
                              <m:ctrlPr>
                                <a:rPr lang="en-IN" sz="3600" b="1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IN" sz="3600" b="1" i="0" smtClean="0">
                                  <a:latin typeface="Cambria Math" panose="02040503050406030204" pitchFamily="18" charset="0"/>
                                </a:rPr>
                                <m:t>𝐖</m:t>
                              </m:r>
                            </m:e>
                          </m:acc>
                        </m:e>
                      </m:d>
                      <m:r>
                        <a:rPr lang="en-IN" sz="3600" b="0" i="1" smtClean="0">
                          <a:latin typeface="Cambria Math" panose="02040503050406030204" pitchFamily="18" charset="0"/>
                        </a:rPr>
                        <m:t>= </m:t>
                      </m:r>
                      <m:sSub>
                        <m:sSubPr>
                          <m:ctrlPr>
                            <a:rPr lang="en-IN" sz="3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3600" b="0" i="0" smtClean="0">
                              <a:latin typeface="Cambria Math" panose="02040503050406030204" pitchFamily="18" charset="0"/>
                            </a:rPr>
                            <m:t>argmin</m:t>
                          </m:r>
                        </m:e>
                        <m:sub>
                          <m:r>
                            <a:rPr lang="en-IN" sz="3600" b="1" i="0" smtClean="0">
                              <a:latin typeface="Cambria Math" panose="02040503050406030204" pitchFamily="18" charset="0"/>
                            </a:rPr>
                            <m:t>𝐙</m:t>
                          </m:r>
                          <m:r>
                            <a:rPr lang="en-IN" sz="36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IN" sz="3600" b="1" i="0" smtClean="0">
                              <a:latin typeface="Cambria Math" panose="02040503050406030204" pitchFamily="18" charset="0"/>
                            </a:rPr>
                            <m:t>𝐖</m:t>
                          </m:r>
                        </m:sub>
                      </m:sSub>
                      <m:sSup>
                        <m:sSupPr>
                          <m:ctrlPr>
                            <a:rPr lang="en-IN" sz="36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‖"/>
                              <m:endChr m:val="‖"/>
                              <m:ctrlPr>
                                <a:rPr lang="en-IN" sz="360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IN" sz="3600" b="1" i="0" smtClean="0">
                                  <a:latin typeface="Cambria Math" panose="02040503050406030204" pitchFamily="18" charset="0"/>
                                </a:rPr>
                                <m:t>𝐗</m:t>
                              </m:r>
                              <m:r>
                                <a:rPr lang="en-IN" sz="3600" b="0" i="1" smtClean="0">
                                  <a:latin typeface="Cambria Math" panose="02040503050406030204" pitchFamily="18" charset="0"/>
                                </a:rPr>
                                <m:t> −</m:t>
                              </m:r>
                              <m:r>
                                <a:rPr lang="en-IN" sz="3600" b="1" i="0" smtClean="0">
                                  <a:latin typeface="Cambria Math" panose="02040503050406030204" pitchFamily="18" charset="0"/>
                                </a:rPr>
                                <m:t>𝐙𝐖</m:t>
                              </m:r>
                            </m:e>
                          </m:d>
                        </m:e>
                        <m:sup>
                          <m:r>
                            <a:rPr lang="en-IN" sz="3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IN" sz="3600" dirty="0"/>
              </a:p>
            </p:txBody>
          </p:sp>
        </mc:Choice>
        <mc:Fallback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xmlns="" id="{43AC77CB-00D8-40B8-B189-AF374F31F7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94632" y="4947679"/>
                <a:ext cx="6441699" cy="622606"/>
              </a:xfrm>
              <a:prstGeom prst="rect">
                <a:avLst/>
              </a:prstGeom>
              <a:blipFill>
                <a:blip r:embed="rId6" cstate="print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1" name="Picture 20">
            <a:extLst>
              <a:ext uri="{FF2B5EF4-FFF2-40B4-BE49-F238E27FC236}">
                <a16:creationId xmlns:a16="http://schemas.microsoft.com/office/drawing/2014/main" xmlns="" id="{6D0F8F34-109A-4527-8844-473BF94AB3EC}"/>
              </a:ext>
            </a:extLst>
          </p:cNvPr>
          <p:cNvPicPr>
            <a:picLocks noChangeAspect="1"/>
          </p:cNvPicPr>
          <p:nvPr/>
        </p:nvPicPr>
        <p:blipFill>
          <a:blip r:embed="rId7" cstate="print"/>
          <a:stretch>
            <a:fillRect/>
          </a:stretch>
        </p:blipFill>
        <p:spPr>
          <a:xfrm>
            <a:off x="10995175" y="5204817"/>
            <a:ext cx="1010687" cy="965223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xmlns="" Requires="a14">
          <p:sp>
            <p:nvSpPr>
              <p:cNvPr id="22" name="Speech Bubble: Rectangle 21">
                <a:extLst>
                  <a:ext uri="{FF2B5EF4-FFF2-40B4-BE49-F238E27FC236}">
                    <a16:creationId xmlns:a16="http://schemas.microsoft.com/office/drawing/2014/main" id="{01C5ED8A-7809-443B-BCB9-8293D08B477A}"/>
                  </a:ext>
                </a:extLst>
              </p:cNvPr>
              <p:cNvSpPr/>
              <p:nvPr/>
            </p:nvSpPr>
            <p:spPr>
              <a:xfrm>
                <a:off x="7872486" y="5070577"/>
                <a:ext cx="3103760" cy="817008"/>
              </a:xfrm>
              <a:prstGeom prst="wedgeRectCallout">
                <a:avLst>
                  <a:gd name="adj1" fmla="val 59201"/>
                  <a:gd name="adj2" fmla="val 17005"/>
                </a:avLst>
              </a:prstGeom>
              <a:solidFill>
                <a:schemeClr val="bg1"/>
              </a:solidFill>
              <a:ln w="19050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IN" sz="1600" dirty="0">
                    <a:solidFill>
                      <a:schemeClr val="tx1"/>
                    </a:solidFill>
                    <a:latin typeface="Abadi Extra Light" panose="020B0204020104020204" pitchFamily="34" charset="0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16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IN" sz="16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&lt; </m:t>
                    </m:r>
                    <m:r>
                      <m:rPr>
                        <m:sty m:val="p"/>
                      </m:rPr>
                      <a:rPr lang="en-IN" sz="16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min</m:t>
                    </m:r>
                    <m:r>
                      <a:rPr lang="en-IN" sz="16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⁡{</m:t>
                    </m:r>
                    <m:r>
                      <a:rPr lang="en-IN" sz="16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IN" sz="16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16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IN" sz="16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en-IN" sz="1600" dirty="0">
                    <a:solidFill>
                      <a:schemeClr val="tx1"/>
                    </a:solidFill>
                    <a:latin typeface="Abadi Extra Light" panose="020B0204020104020204" pitchFamily="34" charset="0"/>
                  </a:rPr>
                  <a:t>, such a factorization gives a low-rank approximation of the data matrix X</a:t>
                </a:r>
                <a:endParaRPr lang="en-IN" sz="1600" dirty="0">
                  <a:solidFill>
                    <a:srgbClr val="0000FF"/>
                  </a:solidFill>
                  <a:latin typeface="Abadi Extra Light" panose="020B0204020104020204" pitchFamily="34" charset="0"/>
                </a:endParaRPr>
              </a:p>
            </p:txBody>
          </p:sp>
        </mc:Choice>
        <mc:Fallback>
          <p:sp>
            <p:nvSpPr>
              <p:cNvPr id="22" name="Speech Bubble: Rectangle 21">
                <a:extLst>
                  <a:ext uri="{FF2B5EF4-FFF2-40B4-BE49-F238E27FC236}">
                    <a16:creationId xmlns:a16="http://schemas.microsoft.com/office/drawing/2014/main" xmlns="" xmlns:a14="http://schemas.microsoft.com/office/drawing/2010/main" id="{01C5ED8A-7809-443B-BCB9-8293D08B477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72486" y="5070577"/>
                <a:ext cx="3103760" cy="817008"/>
              </a:xfrm>
              <a:prstGeom prst="wedgeRectCallout">
                <a:avLst>
                  <a:gd name="adj1" fmla="val 59201"/>
                  <a:gd name="adj2" fmla="val 17005"/>
                </a:avLst>
              </a:prstGeom>
              <a:blipFill>
                <a:blip r:embed="rId8" cstate="print"/>
                <a:stretch>
                  <a:fillRect l="-710" t="-2190" b="-8029"/>
                </a:stretch>
              </a:blipFill>
              <a:ln w="19050">
                <a:solidFill>
                  <a:schemeClr val="accent2"/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xmlns="" val="263804182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slow" p14:dur="2000" advTm="250786"/>
    </mc:Choice>
    <mc:Fallback>
      <p:transition spd="slow" advTm="250786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0" dur="5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5" dur="500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10" grpId="0" animBg="1"/>
      <p:bldP spid="11" grpId="0" animBg="1"/>
      <p:bldP spid="6" grpId="0"/>
      <p:bldP spid="13" grpId="0"/>
      <p:bldP spid="14" grpId="0"/>
      <p:bldP spid="15" grpId="0"/>
      <p:bldP spid="16" grpId="0"/>
      <p:bldP spid="17" grpId="0"/>
      <p:bldP spid="7" grpId="0" animBg="1"/>
      <p:bldP spid="19" grpId="0" animBg="1"/>
      <p:bldP spid="18" grpId="0" animBg="1"/>
      <p:bldP spid="22" grpId="0" animBg="1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8.1|15.1|18.4|22.8|22.1|65.2|10|16.8|56.3|86.3|56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.4|4.2|12|53.5|41.3|20.7|12.7|14.6|21.2|34.7|40.8|31.3|26.5|19.2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5.9|5.2|55.6|7.2|72.8|5.3|4.1|8|1.2|0.9|1|0.7|0.7|8.7|19.8|20.6|14.4|14.6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0.5|6.7|8.3|12.6|73.5|12.1|12.6|98.1|15.2|54.1|30.8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6.1|19.3|16.2|26.7|6.1|44.9|36.5|9.6|18|19.9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.2|8.4|26.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4|21.1|9|48.1|23.1|33.3|4.9|31|24.8|52|27|32.2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.1|10.6|1.8|9.7|8.5|34.7|17.5|14.5|24.4|28.4|29.1|73.9|51.4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.2|8.4|26.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3.2|24.6|20.9|82.1|25.4|54.1|18.5|98.2|58.7|45.4|8.5|11.7|89.3|32.7|13.9|18.5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6.3|16.7|32.5|14.1|34.7|33.5|24|36.8|29.2|14.6|44.2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6.1|19.3|16.2|26.7|6.1|44.9|36.5|9.6|18|19.9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7.6|8.5|2.7|91.9|37|34|19|24.2|4.1|13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7.5|22.3|54.4|15.8|36.8|29.8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0.3|39.8|56.1|44.1|14.3|26.9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35114</TotalTime>
  <Words>314</Words>
  <Application>Microsoft Office PowerPoint</Application>
  <PresentationFormat>Custom</PresentationFormat>
  <Paragraphs>171</Paragraphs>
  <Slides>16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7" baseType="lpstr">
      <vt:lpstr>Office Theme</vt:lpstr>
      <vt:lpstr>Dimensionality Reduction: Principal Component Analysis</vt:lpstr>
      <vt:lpstr>K-means loss function: recap</vt:lpstr>
      <vt:lpstr>Dimensionality Reduction</vt:lpstr>
      <vt:lpstr>Dimensionality Reduction</vt:lpstr>
      <vt:lpstr>Principal Component Analysis (PCA)</vt:lpstr>
      <vt:lpstr>Principal Component Analysis: the algorithm</vt:lpstr>
      <vt:lpstr>Understanding PCA: The variance perspective</vt:lpstr>
      <vt:lpstr>Solving PCA by Finding Max. Variance Directions</vt:lpstr>
      <vt:lpstr>Max. Variance Direction</vt:lpstr>
      <vt:lpstr>Understanding PCA: The reconstruction perspective</vt:lpstr>
      <vt:lpstr>Alternate Basis and Reconstruction</vt:lpstr>
      <vt:lpstr>Minimizing Reconstruction Error</vt:lpstr>
      <vt:lpstr>Principal Component Analysis</vt:lpstr>
      <vt:lpstr>Singular Value Decomposition (SVD)</vt:lpstr>
      <vt:lpstr>Low-Rank Approximation via SVD</vt:lpstr>
      <vt:lpstr>Dim-Red as Matrix Factorization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Nisheeth Srivastava</dc:creator>
  <cp:lastModifiedBy>arya</cp:lastModifiedBy>
  <cp:revision>2042</cp:revision>
  <dcterms:created xsi:type="dcterms:W3CDTF">2020-07-07T20:42:16Z</dcterms:created>
  <dcterms:modified xsi:type="dcterms:W3CDTF">2024-04-09T09:12:42Z</dcterms:modified>
</cp:coreProperties>
</file>