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1" r:id="rId8"/>
    <p:sldId id="268" r:id="rId9"/>
    <p:sldId id="267" r:id="rId10"/>
    <p:sldId id="264" r:id="rId11"/>
    <p:sldId id="265" r:id="rId12"/>
    <p:sldId id="269" r:id="rId13"/>
    <p:sldId id="26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7" d="100"/>
          <a:sy n="67" d="100"/>
        </p:scale>
        <p:origin x="-102" y="-12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D939186-84B3-408D-A286-87417896A0AD}" type="datetimeFigureOut">
              <a:rPr lang="en-US" smtClean="0"/>
              <a:pPr/>
              <a:t>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939186-84B3-408D-A286-87417896A0AD}" type="datetimeFigureOut">
              <a:rPr lang="en-US" smtClean="0"/>
              <a:pPr/>
              <a:t>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D939186-84B3-408D-A286-87417896A0AD}" type="datetimeFigureOut">
              <a:rPr lang="en-US" smtClean="0"/>
              <a:pPr/>
              <a:t>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D939186-84B3-408D-A286-87417896A0AD}" type="datetimeFigureOut">
              <a:rPr lang="en-US" smtClean="0"/>
              <a:pPr/>
              <a:t>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D939186-84B3-408D-A286-87417896A0AD}" type="datetimeFigureOut">
              <a:rPr lang="en-US" smtClean="0"/>
              <a:pPr/>
              <a:t>2/7/2022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D939186-84B3-408D-A286-87417896A0AD}" type="datetimeFigureOut">
              <a:rPr lang="en-US" smtClean="0"/>
              <a:pPr/>
              <a:t>2/7/2022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939186-84B3-408D-A286-87417896A0AD}" type="datetimeFigureOut">
              <a:rPr lang="en-US" smtClean="0"/>
              <a:pPr/>
              <a:t>2/7/2022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939186-84B3-408D-A286-87417896A0AD}" type="datetimeFigureOut">
              <a:rPr lang="en-US" smtClean="0"/>
              <a:pPr/>
              <a:t>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939186-84B3-408D-A286-87417896A0AD}" type="datetimeFigureOut">
              <a:rPr lang="en-US" smtClean="0"/>
              <a:pPr/>
              <a:t>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939186-84B3-408D-A286-87417896A0AD}" type="datetimeFigureOut">
              <a:rPr lang="en-US" smtClean="0"/>
              <a:pPr/>
              <a:t>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939186-84B3-408D-A286-87417896A0AD}" type="datetimeFigureOut">
              <a:rPr lang="en-US" smtClean="0"/>
              <a:pPr/>
              <a:t>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63546-6A66-43E9-8C6F-AB16F250F84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39186-84B3-408D-A286-87417896A0AD}" type="datetimeFigureOut">
              <a:rPr lang="en-US" smtClean="0"/>
              <a:pPr/>
              <a:t>2/7/2022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E63546-6A66-43E9-8C6F-AB16F250F84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800" dirty="0" smtClean="0">
                <a:solidFill>
                  <a:schemeClr val="accent2"/>
                </a:solidFill>
              </a:rPr>
              <a:t>Traditional Algorithm Vs Machine Learning</a:t>
            </a:r>
            <a:endParaRPr lang="en-US" sz="2800" dirty="0">
              <a:solidFill>
                <a:schemeClr val="accent2"/>
              </a:solidFill>
            </a:endParaRPr>
          </a:p>
        </p:txBody>
      </p:sp>
      <p:pic>
        <p:nvPicPr>
          <p:cNvPr id="1027" name="Picture 3" descr="C:\Users\arya\Downloads\Images-Slides ML\slide-6.jpg"/>
          <p:cNvPicPr>
            <a:picLocks noGrp="1" noChangeAspect="1" noChangeArrowheads="1"/>
          </p:cNvPicPr>
          <p:nvPr>
            <p:ph idx="1"/>
          </p:nvPr>
        </p:nvPicPr>
        <p:blipFill>
          <a:blip r:embed="rId2"/>
          <a:srcRect/>
          <a:stretch>
            <a:fillRect/>
          </a:stretch>
        </p:blipFill>
        <p:spPr bwMode="auto">
          <a:xfrm>
            <a:off x="838200" y="1600200"/>
            <a:ext cx="7467599" cy="4525963"/>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rya\Downloads\Images-Slides ML\2019-05-09-014447.jpg"/>
          <p:cNvPicPr>
            <a:picLocks noGrp="1" noChangeAspect="1" noChangeArrowheads="1"/>
          </p:cNvPicPr>
          <p:nvPr>
            <p:ph idx="1"/>
          </p:nvPr>
        </p:nvPicPr>
        <p:blipFill>
          <a:blip r:embed="rId2"/>
          <a:srcRect/>
          <a:stretch>
            <a:fillRect/>
          </a:stretch>
        </p:blipFill>
        <p:spPr bwMode="auto">
          <a:xfrm>
            <a:off x="328554" y="1"/>
            <a:ext cx="8586846" cy="670560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solidFill>
                  <a:srgbClr val="C00000"/>
                </a:solidFill>
              </a:rPr>
              <a:t>What is Machine Learning</a:t>
            </a:r>
            <a:r>
              <a:rPr lang="en-US" dirty="0">
                <a:solidFill>
                  <a:srgbClr val="C00000"/>
                </a:solidFill>
              </a:rPr>
              <a:t/>
            </a:r>
            <a:br>
              <a:rPr lang="en-US" dirty="0">
                <a:solidFill>
                  <a:srgbClr val="C00000"/>
                </a:solidFill>
              </a:rPr>
            </a:br>
            <a:endParaRPr lang="en-US" dirty="0">
              <a:solidFill>
                <a:srgbClr val="C00000"/>
              </a:solidFill>
            </a:endParaRPr>
          </a:p>
        </p:txBody>
      </p:sp>
      <p:pic>
        <p:nvPicPr>
          <p:cNvPr id="2051" name="Picture 3" descr="C:\Users\arya\Downloads\Images-Slides ML\introduction-to-machine-learning.png"/>
          <p:cNvPicPr>
            <a:picLocks noGrp="1" noChangeAspect="1" noChangeArrowheads="1"/>
          </p:cNvPicPr>
          <p:nvPr>
            <p:ph sz="half" idx="1"/>
          </p:nvPr>
        </p:nvPicPr>
        <p:blipFill>
          <a:blip r:embed="rId2"/>
          <a:stretch>
            <a:fillRect/>
          </a:stretch>
        </p:blipFill>
        <p:spPr bwMode="auto">
          <a:xfrm>
            <a:off x="6172200" y="1447800"/>
            <a:ext cx="2819400" cy="4876800"/>
          </a:xfrm>
          <a:prstGeom prst="rect">
            <a:avLst/>
          </a:prstGeom>
          <a:noFill/>
        </p:spPr>
      </p:pic>
      <p:sp>
        <p:nvSpPr>
          <p:cNvPr id="7" name="Content Placeholder 6"/>
          <p:cNvSpPr>
            <a:spLocks noGrp="1"/>
          </p:cNvSpPr>
          <p:nvPr>
            <p:ph sz="half" idx="2"/>
          </p:nvPr>
        </p:nvSpPr>
        <p:spPr>
          <a:xfrm>
            <a:off x="990600" y="1600200"/>
            <a:ext cx="5029200" cy="4648200"/>
          </a:xfrm>
        </p:spPr>
        <p:txBody>
          <a:bodyPr>
            <a:noAutofit/>
          </a:bodyPr>
          <a:lstStyle/>
          <a:p>
            <a:r>
              <a:rPr lang="en-US" sz="1600" dirty="0"/>
              <a:t>In the real world, </a:t>
            </a:r>
            <a:r>
              <a:rPr lang="en-US" sz="1600" dirty="0" smtClean="0"/>
              <a:t>humans </a:t>
            </a:r>
            <a:r>
              <a:rPr lang="en-US" sz="1600" dirty="0"/>
              <a:t>who can learn everything from their experiences with their learning </a:t>
            </a:r>
            <a:r>
              <a:rPr lang="en-US" sz="1600" dirty="0" smtClean="0"/>
              <a:t>capability</a:t>
            </a:r>
            <a:endParaRPr lang="en-US" sz="1600" dirty="0"/>
          </a:p>
          <a:p>
            <a:r>
              <a:rPr lang="en-US" sz="1600" dirty="0" smtClean="0"/>
              <a:t> </a:t>
            </a:r>
            <a:r>
              <a:rPr lang="en-US" sz="1600" dirty="0"/>
              <a:t>computers or machines which work on our instructions. But can a machine also learn from experiences or past data like a human does</a:t>
            </a:r>
            <a:r>
              <a:rPr lang="en-US" sz="1600" dirty="0" smtClean="0"/>
              <a:t>?</a:t>
            </a:r>
          </a:p>
          <a:p>
            <a:r>
              <a:rPr lang="en-US" sz="1600" dirty="0"/>
              <a:t>Machine Learning is said as a subset of </a:t>
            </a:r>
            <a:r>
              <a:rPr lang="en-US" sz="1600" b="1" dirty="0"/>
              <a:t>artificial intelligence</a:t>
            </a:r>
            <a:r>
              <a:rPr lang="en-US" sz="1600" dirty="0"/>
              <a:t> that is mainly concerned with the development of algorithms which allow a computer to learn from the data and past experiences on their own</a:t>
            </a:r>
            <a:r>
              <a:rPr lang="en-US" sz="1600" dirty="0" smtClean="0"/>
              <a:t>.</a:t>
            </a:r>
          </a:p>
          <a:p>
            <a:r>
              <a:rPr lang="en-US" sz="1600" dirty="0" smtClean="0"/>
              <a:t>According to </a:t>
            </a:r>
            <a:r>
              <a:rPr lang="en-US" sz="1600" b="1" dirty="0"/>
              <a:t>Arthur Samuel</a:t>
            </a:r>
            <a:r>
              <a:rPr lang="en-US" sz="1600" dirty="0"/>
              <a:t> in </a:t>
            </a:r>
            <a:r>
              <a:rPr lang="en-US" sz="1600" b="1" dirty="0" smtClean="0"/>
              <a:t>1959 </a:t>
            </a:r>
            <a:r>
              <a:rPr lang="en-US" sz="1600" dirty="0"/>
              <a:t>stated </a:t>
            </a:r>
            <a:r>
              <a:rPr lang="en-US" sz="1600" dirty="0" smtClean="0"/>
              <a:t>that</a:t>
            </a:r>
          </a:p>
          <a:p>
            <a:pPr>
              <a:buNone/>
            </a:pPr>
            <a:r>
              <a:rPr lang="en-US" sz="1600" dirty="0" smtClean="0"/>
              <a:t>	</a:t>
            </a:r>
            <a:r>
              <a:rPr lang="en-US" sz="1600" b="1" dirty="0" smtClean="0">
                <a:solidFill>
                  <a:srgbClr val="00B0F0"/>
                </a:solidFill>
              </a:rPr>
              <a:t> </a:t>
            </a:r>
            <a:r>
              <a:rPr lang="en-US" sz="1600" b="1" dirty="0">
                <a:solidFill>
                  <a:srgbClr val="00B0F0"/>
                </a:solidFill>
              </a:rPr>
              <a:t>“it gives computers the ability to learn without being explicitly programmed”.</a:t>
            </a:r>
            <a:r>
              <a:rPr lang="en-US" sz="1600" b="1" dirty="0">
                <a:solidFill>
                  <a:schemeClr val="accent5">
                    <a:lumMod val="50000"/>
                  </a:schemeClr>
                </a:solidFill>
              </a:rPr>
              <a:t> </a:t>
            </a:r>
          </a:p>
          <a:p>
            <a:pPr>
              <a:buNone/>
            </a:pPr>
            <a:r>
              <a:rPr lang="en-US" sz="1600" dirty="0" smtClean="0"/>
              <a:t>1997</a:t>
            </a:r>
            <a:r>
              <a:rPr lang="en-US" sz="1600" dirty="0"/>
              <a:t>, Tom Mitchell gave a </a:t>
            </a:r>
            <a:r>
              <a:rPr lang="en-US" sz="1600" dirty="0">
                <a:solidFill>
                  <a:srgbClr val="00B0F0"/>
                </a:solidFill>
              </a:rPr>
              <a:t>“well-posed” </a:t>
            </a:r>
            <a:r>
              <a:rPr lang="en-US" sz="1600" dirty="0"/>
              <a:t>mathematical and relational definition that </a:t>
            </a:r>
            <a:endParaRPr lang="en-US" sz="1600" dirty="0" smtClean="0"/>
          </a:p>
          <a:p>
            <a:pPr>
              <a:buNone/>
            </a:pPr>
            <a:r>
              <a:rPr lang="en-US" sz="1600" dirty="0" smtClean="0">
                <a:solidFill>
                  <a:srgbClr val="00B0F0"/>
                </a:solidFill>
              </a:rPr>
              <a:t> </a:t>
            </a:r>
            <a:r>
              <a:rPr lang="en-US" sz="1600" dirty="0" smtClean="0">
                <a:solidFill>
                  <a:srgbClr val="00B0F0"/>
                </a:solidFill>
              </a:rPr>
              <a:t>      </a:t>
            </a:r>
            <a:r>
              <a:rPr lang="en-US" sz="1600" b="1" dirty="0" smtClean="0">
                <a:solidFill>
                  <a:srgbClr val="00B0F0"/>
                </a:solidFill>
              </a:rPr>
              <a:t>“</a:t>
            </a:r>
            <a:r>
              <a:rPr lang="en-US" sz="1600" b="1" dirty="0">
                <a:solidFill>
                  <a:srgbClr val="00B0F0"/>
                </a:solidFill>
              </a:rPr>
              <a:t>A computer program is said to learn from experience E with respect to some task T and some performance measure P, if its performance on T, as measured by P, improves with </a:t>
            </a:r>
            <a:r>
              <a:rPr lang="en-US" sz="1600" b="1" dirty="0" smtClean="0">
                <a:solidFill>
                  <a:srgbClr val="00B0F0"/>
                </a:solidFill>
              </a:rPr>
              <a:t>experience </a:t>
            </a:r>
            <a:r>
              <a:rPr lang="en-US" sz="1600" b="1" dirty="0">
                <a:solidFill>
                  <a:srgbClr val="00B0F0"/>
                </a:solidFill>
              </a:rPr>
              <a:t>E</a:t>
            </a:r>
            <a:r>
              <a:rPr lang="en-US" sz="1600" b="1" dirty="0" smtClean="0">
                <a:solidFill>
                  <a:srgbClr val="00B0F0"/>
                </a:solidFill>
              </a:rPr>
              <a:t>.”</a:t>
            </a:r>
            <a:r>
              <a:rPr lang="en-US" sz="1600" b="1" dirty="0">
                <a:solidFill>
                  <a:srgbClr val="00B0F0"/>
                </a:solidFill>
              </a:rPr>
              <a:t> </a:t>
            </a:r>
            <a:endParaRPr lang="en-US" sz="1600" b="1" dirty="0" smtClean="0">
              <a:solidFill>
                <a:srgbClr val="00B0F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normAutofit fontScale="90000"/>
          </a:bodyPr>
          <a:lstStyle/>
          <a:p>
            <a:r>
              <a:rPr lang="en-US" sz="4000" dirty="0">
                <a:solidFill>
                  <a:srgbClr val="C00000"/>
                </a:solidFill>
              </a:rPr>
              <a:t>How does Machine Learning work</a:t>
            </a:r>
            <a:br>
              <a:rPr lang="en-US" sz="4000" dirty="0">
                <a:solidFill>
                  <a:srgbClr val="C00000"/>
                </a:solidFill>
              </a:rPr>
            </a:br>
            <a:r>
              <a:rPr lang="en-US" dirty="0" smtClean="0"/>
              <a:t/>
            </a:r>
            <a:br>
              <a:rPr lang="en-US" dirty="0" smtClean="0"/>
            </a:br>
            <a:endParaRPr lang="en-US" dirty="0"/>
          </a:p>
        </p:txBody>
      </p:sp>
      <p:sp>
        <p:nvSpPr>
          <p:cNvPr id="3" name="Content Placeholder 2"/>
          <p:cNvSpPr>
            <a:spLocks noGrp="1"/>
          </p:cNvSpPr>
          <p:nvPr>
            <p:ph sz="half" idx="1"/>
          </p:nvPr>
        </p:nvSpPr>
        <p:spPr>
          <a:xfrm>
            <a:off x="457200" y="1143000"/>
            <a:ext cx="8458200" cy="5410200"/>
          </a:xfrm>
        </p:spPr>
        <p:txBody>
          <a:bodyPr/>
          <a:lstStyle/>
          <a:p>
            <a:r>
              <a:rPr lang="en-US" sz="2000" dirty="0"/>
              <a:t>A Machine Learning system </a:t>
            </a:r>
            <a:r>
              <a:rPr lang="en-US" sz="2000" b="1" dirty="0"/>
              <a:t>learns from historical data, builds the prediction models, and whenever it receives new data, predicts the output for it</a:t>
            </a:r>
            <a:r>
              <a:rPr lang="en-US" sz="2000" dirty="0" smtClean="0"/>
              <a:t>.</a:t>
            </a:r>
          </a:p>
          <a:p>
            <a:r>
              <a:rPr lang="en-US" sz="2000" dirty="0"/>
              <a:t>Suppose we have a complex problem, where we need to perform some predictions, so instead of writing a code for it, we just need to feed the data to generic algorithms, and with the help of these algorithms, machine builds the logic as per the data and predict the output. </a:t>
            </a:r>
            <a:r>
              <a:rPr lang="en-US" dirty="0"/>
              <a:t> </a:t>
            </a:r>
          </a:p>
        </p:txBody>
      </p:sp>
      <p:pic>
        <p:nvPicPr>
          <p:cNvPr id="3074" name="Picture 2" descr="C:\Users\arya\Downloads\Images-Slides ML\what-is-machine-learning-1.png"/>
          <p:cNvPicPr>
            <a:picLocks noChangeAspect="1" noChangeArrowheads="1"/>
          </p:cNvPicPr>
          <p:nvPr/>
        </p:nvPicPr>
        <p:blipFill>
          <a:blip r:embed="rId2"/>
          <a:srcRect/>
          <a:stretch>
            <a:fillRect/>
          </a:stretch>
        </p:blipFill>
        <p:spPr bwMode="auto">
          <a:xfrm>
            <a:off x="138545" y="4267200"/>
            <a:ext cx="8700655" cy="21336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rya\Downloads\Images-Slides ML\How_Does_Machine_Learning_Work.png"/>
          <p:cNvPicPr>
            <a:picLocks noGrp="1" noChangeAspect="1" noChangeArrowheads="1"/>
          </p:cNvPicPr>
          <p:nvPr>
            <p:ph sz="half" idx="1"/>
          </p:nvPr>
        </p:nvPicPr>
        <p:blipFill>
          <a:blip r:embed="rId2"/>
          <a:srcRect/>
          <a:stretch>
            <a:fillRect/>
          </a:stretch>
        </p:blipFill>
        <p:spPr bwMode="auto">
          <a:xfrm>
            <a:off x="457200" y="457200"/>
            <a:ext cx="8382000" cy="6342933"/>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p:cNvSpPr>
            <a:spLocks noGrp="1"/>
          </p:cNvSpPr>
          <p:nvPr>
            <p:ph sz="half" idx="1"/>
          </p:nvPr>
        </p:nvSpPr>
        <p:spPr>
          <a:xfrm>
            <a:off x="457200" y="228600"/>
            <a:ext cx="8382000" cy="6324600"/>
          </a:xfrm>
        </p:spPr>
        <p:txBody>
          <a:bodyPr/>
          <a:lstStyle/>
          <a:p>
            <a:pPr>
              <a:buNone/>
            </a:pPr>
            <a:r>
              <a:rPr lang="en-US" dirty="0">
                <a:solidFill>
                  <a:schemeClr val="accent5">
                    <a:lumMod val="75000"/>
                  </a:schemeClr>
                </a:solidFill>
              </a:rPr>
              <a:t>Features</a:t>
            </a:r>
            <a:r>
              <a:rPr lang="en-US" dirty="0"/>
              <a:t> </a:t>
            </a:r>
            <a:r>
              <a:rPr lang="en-US" dirty="0">
                <a:solidFill>
                  <a:schemeClr val="accent5">
                    <a:lumMod val="75000"/>
                  </a:schemeClr>
                </a:solidFill>
              </a:rPr>
              <a:t>of Machine Learning</a:t>
            </a:r>
            <a:r>
              <a:rPr lang="en-US" dirty="0" smtClean="0">
                <a:solidFill>
                  <a:schemeClr val="accent5">
                    <a:lumMod val="75000"/>
                  </a:schemeClr>
                </a:solidFill>
              </a:rPr>
              <a:t>:</a:t>
            </a:r>
          </a:p>
          <a:p>
            <a:pPr>
              <a:buNone/>
            </a:pPr>
            <a:endParaRPr lang="en-US" dirty="0">
              <a:solidFill>
                <a:schemeClr val="accent5">
                  <a:lumMod val="75000"/>
                </a:schemeClr>
              </a:solidFill>
            </a:endParaRPr>
          </a:p>
          <a:p>
            <a:r>
              <a:rPr lang="en-US" sz="2000" dirty="0"/>
              <a:t>Machine learning uses data to detect various patterns in a given dataset.</a:t>
            </a:r>
          </a:p>
          <a:p>
            <a:r>
              <a:rPr lang="en-US" sz="2000" dirty="0"/>
              <a:t>It can learn from past data and improve automatically.</a:t>
            </a:r>
          </a:p>
          <a:p>
            <a:r>
              <a:rPr lang="en-US" sz="2000" dirty="0"/>
              <a:t>It is a data-driven technology.</a:t>
            </a:r>
          </a:p>
          <a:p>
            <a:r>
              <a:rPr lang="en-US" sz="2000" dirty="0"/>
              <a:t>Machine learning is much similar to data mining as it also deals with the huge amount of the data</a:t>
            </a:r>
            <a:r>
              <a:rPr lang="en-US" sz="2000" dirty="0" smtClean="0"/>
              <a:t>.</a:t>
            </a:r>
          </a:p>
          <a:p>
            <a:pPr>
              <a:buNone/>
            </a:pPr>
            <a:endParaRPr lang="en-US" sz="2000" dirty="0"/>
          </a:p>
          <a:p>
            <a:pPr>
              <a:buNone/>
            </a:pPr>
            <a:r>
              <a:rPr lang="en-US" sz="2000" b="1" dirty="0" smtClean="0"/>
              <a:t>The </a:t>
            </a:r>
            <a:r>
              <a:rPr lang="en-US" sz="2000" b="1" dirty="0"/>
              <a:t>importance of Machine Learning:</a:t>
            </a:r>
            <a:endParaRPr lang="en-US" sz="2000" dirty="0"/>
          </a:p>
          <a:p>
            <a:r>
              <a:rPr lang="en-US" sz="2000" dirty="0"/>
              <a:t>Rapid increment in the production of data</a:t>
            </a:r>
          </a:p>
          <a:p>
            <a:r>
              <a:rPr lang="en-US" sz="2000" dirty="0"/>
              <a:t>Solving complex problems, which are difficult for a human</a:t>
            </a:r>
          </a:p>
          <a:p>
            <a:r>
              <a:rPr lang="en-US" sz="2000" dirty="0"/>
              <a:t>Decision making in various sector including finance</a:t>
            </a:r>
          </a:p>
          <a:p>
            <a:r>
              <a:rPr lang="en-US" sz="2000" dirty="0"/>
              <a:t>Finding hidden patterns and extracting useful information from data.</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solidFill>
                  <a:srgbClr val="C00000"/>
                </a:solidFill>
              </a:rPr>
              <a:t>Classification of Machine Learning</a:t>
            </a:r>
            <a:r>
              <a:rPr lang="en-US" dirty="0"/>
              <a:t/>
            </a:r>
            <a:br>
              <a:rPr lang="en-US" dirty="0"/>
            </a:br>
            <a:endParaRPr lang="en-US" dirty="0"/>
          </a:p>
        </p:txBody>
      </p:sp>
      <p:pic>
        <p:nvPicPr>
          <p:cNvPr id="5123" name="Picture 3" descr="C:\Users\arya\Downloads\Images-Slides ML\Machine-Learning-Type1.jpg"/>
          <p:cNvPicPr>
            <a:picLocks noGrp="1" noChangeAspect="1" noChangeArrowheads="1"/>
          </p:cNvPicPr>
          <p:nvPr>
            <p:ph sz="half" idx="1"/>
          </p:nvPr>
        </p:nvPicPr>
        <p:blipFill>
          <a:blip r:embed="rId2"/>
          <a:srcRect/>
          <a:stretch>
            <a:fillRect/>
          </a:stretch>
        </p:blipFill>
        <p:spPr bwMode="auto">
          <a:xfrm>
            <a:off x="533400" y="1143000"/>
            <a:ext cx="8305800" cy="53340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rya\Downloads\Images-Slides ML\1_FOdORpKURxsBotD57TsbDw.png"/>
          <p:cNvPicPr>
            <a:picLocks noGrp="1" noChangeAspect="1" noChangeArrowheads="1"/>
          </p:cNvPicPr>
          <p:nvPr>
            <p:ph sz="half" idx="1"/>
          </p:nvPr>
        </p:nvPicPr>
        <p:blipFill>
          <a:blip r:embed="rId2"/>
          <a:srcRect/>
          <a:stretch>
            <a:fillRect/>
          </a:stretch>
        </p:blipFill>
        <p:spPr bwMode="auto">
          <a:xfrm>
            <a:off x="457200" y="368570"/>
            <a:ext cx="8305800" cy="595603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Machine Learning</a:t>
            </a:r>
            <a:endParaRPr lang="en-US" dirty="0"/>
          </a:p>
        </p:txBody>
      </p:sp>
      <p:pic>
        <p:nvPicPr>
          <p:cNvPr id="6146" name="Picture 2" descr="C:\Users\arya\Downloads\Images-Slides ML\MachineLearning.png"/>
          <p:cNvPicPr>
            <a:picLocks noGrp="1" noChangeAspect="1" noChangeArrowheads="1"/>
          </p:cNvPicPr>
          <p:nvPr>
            <p:ph sz="half" idx="1"/>
          </p:nvPr>
        </p:nvPicPr>
        <p:blipFill>
          <a:blip r:embed="rId2"/>
          <a:srcRect/>
          <a:stretch>
            <a:fillRect/>
          </a:stretch>
        </p:blipFill>
        <p:spPr bwMode="auto">
          <a:xfrm>
            <a:off x="381000" y="1524000"/>
            <a:ext cx="8534399" cy="53340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Applications of Machine learning</a:t>
            </a:r>
            <a:br>
              <a:rPr lang="en-US" dirty="0">
                <a:solidFill>
                  <a:srgbClr val="C00000"/>
                </a:solidFill>
              </a:rPr>
            </a:br>
            <a:endParaRPr lang="en-US" dirty="0">
              <a:solidFill>
                <a:srgbClr val="C00000"/>
              </a:solidFill>
            </a:endParaRPr>
          </a:p>
        </p:txBody>
      </p:sp>
      <p:pic>
        <p:nvPicPr>
          <p:cNvPr id="5" name="Content Placeholder 4" descr="1_zHuGSwosBKFOZNKweIpWqw.jpeg"/>
          <p:cNvPicPr>
            <a:picLocks noGrp="1" noChangeAspect="1"/>
          </p:cNvPicPr>
          <p:nvPr>
            <p:ph sz="half" idx="1"/>
          </p:nvPr>
        </p:nvPicPr>
        <p:blipFill>
          <a:blip r:embed="rId2"/>
          <a:stretch>
            <a:fillRect/>
          </a:stretch>
        </p:blipFill>
        <p:spPr>
          <a:xfrm>
            <a:off x="880030" y="1143000"/>
            <a:ext cx="7959170" cy="5690806"/>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solidFill>
                  <a:srgbClr val="C00000"/>
                </a:solidFill>
              </a:rPr>
              <a:t>Machine learning Life cycle</a:t>
            </a:r>
            <a:br>
              <a:rPr lang="en-US" sz="3600" dirty="0" smtClean="0">
                <a:solidFill>
                  <a:srgbClr val="C00000"/>
                </a:solidFill>
              </a:rPr>
            </a:br>
            <a:r>
              <a:rPr lang="en-US" sz="3600" dirty="0" smtClean="0">
                <a:solidFill>
                  <a:srgbClr val="C00000"/>
                </a:solidFill>
              </a:rPr>
              <a:t/>
            </a:r>
            <a:br>
              <a:rPr lang="en-US" sz="3600" dirty="0" smtClean="0">
                <a:solidFill>
                  <a:srgbClr val="C00000"/>
                </a:solidFill>
              </a:rPr>
            </a:br>
            <a:endParaRPr lang="en-US" sz="3600" dirty="0">
              <a:solidFill>
                <a:srgbClr val="C00000"/>
              </a:solidFill>
            </a:endParaRPr>
          </a:p>
        </p:txBody>
      </p:sp>
      <p:pic>
        <p:nvPicPr>
          <p:cNvPr id="7170" name="Picture 2" descr="C:\Users\arya\Downloads\Images-Slides ML\machine-learning-life-cycle.png"/>
          <p:cNvPicPr>
            <a:picLocks noGrp="1" noChangeAspect="1" noChangeArrowheads="1"/>
          </p:cNvPicPr>
          <p:nvPr>
            <p:ph sz="half" idx="2"/>
          </p:nvPr>
        </p:nvPicPr>
        <p:blipFill>
          <a:blip r:embed="rId2"/>
          <a:srcRect/>
          <a:stretch>
            <a:fillRect/>
          </a:stretch>
        </p:blipFill>
        <p:spPr bwMode="auto">
          <a:xfrm>
            <a:off x="533400" y="1219200"/>
            <a:ext cx="8077200" cy="5120559"/>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solidFill>
                  <a:srgbClr val="C00000"/>
                </a:solidFill>
              </a:rPr>
              <a:t>Difference between Artificial intelligence and Machine learning</a:t>
            </a:r>
            <a:br>
              <a:rPr lang="en-US" sz="3200" dirty="0" smtClean="0">
                <a:solidFill>
                  <a:srgbClr val="C00000"/>
                </a:solidFill>
              </a:rPr>
            </a:br>
            <a:endParaRPr lang="en-US" sz="3200" dirty="0"/>
          </a:p>
        </p:txBody>
      </p:sp>
      <p:sp>
        <p:nvSpPr>
          <p:cNvPr id="3" name="Content Placeholder 2"/>
          <p:cNvSpPr>
            <a:spLocks noGrp="1"/>
          </p:cNvSpPr>
          <p:nvPr>
            <p:ph sz="half" idx="1"/>
          </p:nvPr>
        </p:nvSpPr>
        <p:spPr>
          <a:xfrm>
            <a:off x="533400" y="1371600"/>
            <a:ext cx="8153400" cy="4754563"/>
          </a:xfrm>
        </p:spPr>
        <p:txBody>
          <a:bodyPr>
            <a:normAutofit/>
          </a:bodyPr>
          <a:lstStyle/>
          <a:p>
            <a:pPr>
              <a:buNone/>
            </a:pPr>
            <a:r>
              <a:rPr lang="en-US" sz="2400" dirty="0" smtClean="0"/>
              <a:t>AI: AI </a:t>
            </a:r>
            <a:r>
              <a:rPr lang="en-US" sz="2400" dirty="0" smtClean="0"/>
              <a:t>is a bigger concept to create intelligent machines that can simulate human thinking capability and behavior, whereas, machine learning is an application or subset of AI that allows machines to learn from data without being programmed explicitly.</a:t>
            </a:r>
            <a:endParaRPr lang="en-US" sz="2400" dirty="0" smtClean="0"/>
          </a:p>
          <a:p>
            <a:pPr>
              <a:buNone/>
            </a:pPr>
            <a:endParaRPr lang="en-US" sz="2400" dirty="0" smtClean="0"/>
          </a:p>
          <a:p>
            <a:pPr>
              <a:buNone/>
            </a:pPr>
            <a:r>
              <a:rPr lang="en-US" sz="2400" dirty="0" smtClean="0"/>
              <a:t>ML: Machine </a:t>
            </a:r>
            <a:r>
              <a:rPr lang="en-US" sz="2400" dirty="0" smtClean="0"/>
              <a:t>learning is a subfield of artificial intelligence, which enables machines to learn from past data or experiences without being explicitly programmed</a:t>
            </a:r>
            <a:r>
              <a:rPr lang="en-US" i="1" dirty="0" smtClean="0"/>
              <a:t>.</a:t>
            </a:r>
            <a:endParaRPr lang="en-US" i="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dirty="0" smtClean="0">
                <a:solidFill>
                  <a:srgbClr val="C00000"/>
                </a:solidFill>
              </a:rPr>
              <a:t/>
            </a:r>
            <a:br>
              <a:rPr lang="en-US" sz="3100" dirty="0" smtClean="0">
                <a:solidFill>
                  <a:srgbClr val="C00000"/>
                </a:solidFill>
              </a:rPr>
            </a:br>
            <a:r>
              <a:rPr lang="en-US" sz="3100" dirty="0">
                <a:solidFill>
                  <a:srgbClr val="C00000"/>
                </a:solidFill>
              </a:rPr>
              <a:t/>
            </a:r>
            <a:br>
              <a:rPr lang="en-US" sz="3100" dirty="0">
                <a:solidFill>
                  <a:srgbClr val="C00000"/>
                </a:solidFill>
              </a:rPr>
            </a:br>
            <a:r>
              <a:rPr lang="en-US" sz="3600" dirty="0" smtClean="0">
                <a:solidFill>
                  <a:srgbClr val="C00000"/>
                </a:solidFill>
              </a:rPr>
              <a:t>Difference </a:t>
            </a:r>
            <a:r>
              <a:rPr lang="en-US" sz="3600" dirty="0">
                <a:solidFill>
                  <a:srgbClr val="C00000"/>
                </a:solidFill>
              </a:rPr>
              <a:t>between Artificial intelligence and Machine learning</a:t>
            </a:r>
            <a:br>
              <a:rPr lang="en-US" sz="3600" dirty="0">
                <a:solidFill>
                  <a:srgbClr val="C00000"/>
                </a:solidFill>
              </a:rPr>
            </a:br>
            <a:r>
              <a:rPr lang="en-US" dirty="0" smtClean="0"/>
              <a:t/>
            </a:r>
            <a:br>
              <a:rPr lang="en-US" dirty="0" smtClean="0"/>
            </a:br>
            <a:endParaRPr lang="en-US" dirty="0"/>
          </a:p>
        </p:txBody>
      </p:sp>
      <p:pic>
        <p:nvPicPr>
          <p:cNvPr id="8194" name="Picture 2" descr="C:\Users\arya\Downloads\Images-Slides ML\difference-b-w-artificial-intelligence-and-machine-learning (1).png"/>
          <p:cNvPicPr>
            <a:picLocks noGrp="1" noChangeAspect="1" noChangeArrowheads="1"/>
          </p:cNvPicPr>
          <p:nvPr>
            <p:ph sz="half" idx="1"/>
          </p:nvPr>
        </p:nvPicPr>
        <p:blipFill>
          <a:blip r:embed="rId2"/>
          <a:srcRect/>
          <a:stretch>
            <a:fillRect/>
          </a:stretch>
        </p:blipFill>
        <p:spPr bwMode="auto">
          <a:xfrm>
            <a:off x="457200" y="1219200"/>
            <a:ext cx="8335660" cy="4876799"/>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255</Words>
  <Application>Microsoft Office PowerPoint</Application>
  <PresentationFormat>On-screen Show (4:3)</PresentationFormat>
  <Paragraphs>33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Traditional Algorithm Vs Machine Learning</vt:lpstr>
      <vt:lpstr>Slide 2</vt:lpstr>
      <vt:lpstr>What is Machine Learning </vt:lpstr>
      <vt:lpstr>How does Machine Learning work  </vt:lpstr>
      <vt:lpstr>Slide 5</vt:lpstr>
      <vt:lpstr>Slide 6</vt:lpstr>
      <vt:lpstr>Classification of Machine Learning </vt:lpstr>
      <vt:lpstr>Slide 8</vt:lpstr>
      <vt:lpstr>Types of Machine Learning</vt:lpstr>
      <vt:lpstr>Applications of Machine learning </vt:lpstr>
      <vt:lpstr>Machine learning Life cycle  </vt:lpstr>
      <vt:lpstr>Difference between Artificial intelligence and Machine learning </vt:lpstr>
      <vt:lpstr>  Difference between Artificial intelligence and Machine learning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Traditional Algorithm Vs Machine Learning</dc:title>
  <dc:creator>arya</dc:creator>
  <cp:lastModifiedBy>arya</cp:lastModifiedBy>
  <cp:revision>7</cp:revision>
  <dcterms:created xsi:type="dcterms:W3CDTF">2022-02-07T05:56:53Z</dcterms:created>
  <dcterms:modified xsi:type="dcterms:W3CDTF">2022-02-07T10:56:35Z</dcterms:modified>
</cp:coreProperties>
</file>