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74" r:id="rId6"/>
    <p:sldId id="260" r:id="rId7"/>
    <p:sldId id="270" r:id="rId8"/>
    <p:sldId id="267" r:id="rId9"/>
    <p:sldId id="269" r:id="rId10"/>
    <p:sldId id="264" r:id="rId11"/>
    <p:sldId id="272" r:id="rId12"/>
    <p:sldId id="273" r:id="rId13"/>
    <p:sldId id="271" r:id="rId14"/>
    <p:sldId id="265" r:id="rId15"/>
    <p:sldId id="275" r:id="rId16"/>
    <p:sldId id="276" r:id="rId17"/>
    <p:sldId id="27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422" autoAdjust="0"/>
    <p:restoredTop sz="94660"/>
  </p:normalViewPr>
  <p:slideViewPr>
    <p:cSldViewPr>
      <p:cViewPr varScale="1">
        <p:scale>
          <a:sx n="68" d="100"/>
          <a:sy n="68" d="100"/>
        </p:scale>
        <p:origin x="-58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A2CAB1-DAD6-41BA-89F5-03D6820FC53B}" type="datetimeFigureOut">
              <a:rPr lang="en-US" smtClean="0"/>
              <a:pPr/>
              <a:t>4/26/2022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292AF0-5F0F-43E0-99B9-112AD4B6DE8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C292AF0-5F0F-43E0-99B9-112AD4B6DE8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DFC49D1E-7208-4476-A9B6-001ED2824BD2}" type="datetime1">
              <a:rPr lang="en-US" smtClean="0"/>
              <a:t>4/26/2022</a:t>
            </a:fld>
            <a:endParaRPr lang="en-US"/>
          </a:p>
        </p:txBody>
      </p:sp>
      <p:sp>
        <p:nvSpPr>
          <p:cNvPr id="17" name="Footer Placeholder 16"/>
          <p:cNvSpPr>
            <a:spLocks noGrp="1"/>
          </p:cNvSpPr>
          <p:nvPr>
            <p:ph type="ftr" sz="quarter" idx="11"/>
          </p:nvPr>
        </p:nvSpPr>
        <p:spPr/>
        <p:txBody>
          <a:bodyPr/>
          <a:lstStyle/>
          <a:p>
            <a:r>
              <a:rPr lang="en-US" smtClean="0"/>
              <a:t>Artificial Intelligence  UNIT:4 Learning</a:t>
            </a:r>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A9B4BE1-8553-425D-84B3-B5041D0FCD9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2A6B8E2E-05C2-44B5-9168-3E9F8DCEC617}"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87BC19F-82B3-457B-8964-A02EAC162CA3}" type="datetime1">
              <a:rPr lang="en-US" smtClean="0"/>
              <a:t>4/26/2022</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smtClean="0"/>
              <a:t>Artificial Intelligence  UNIT:4 Learning</a:t>
            </a:r>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3A9B4BE1-8553-425D-84B3-B5041D0FCD9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92117CE-C2CB-4A1E-8B60-6F1F31EEBBD8}" type="datetime1">
              <a:rPr lang="en-US" smtClean="0"/>
              <a:t>4/26/2022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3A9B4BE1-8553-425D-84B3-B5041D0FCD9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336AA57-7F9A-43CF-8F9B-A3019A73B8B6}" type="datetime1">
              <a:rPr lang="en-US" smtClean="0"/>
              <a:t>4/26/2022</a:t>
            </a:fld>
            <a:endParaRPr lang="en-US"/>
          </a:p>
        </p:txBody>
      </p:sp>
      <p:sp>
        <p:nvSpPr>
          <p:cNvPr id="8" name="Footer Placeholder 7"/>
          <p:cNvSpPr>
            <a:spLocks noGrp="1"/>
          </p:cNvSpPr>
          <p:nvPr>
            <p:ph type="ftr" sz="quarter" idx="11"/>
          </p:nvPr>
        </p:nvSpPr>
        <p:spPr/>
        <p:txBody>
          <a:bodyPr/>
          <a:lstStyle/>
          <a:p>
            <a:r>
              <a:rPr lang="en-US" smtClean="0"/>
              <a:t>Artificial Intelligence  UNIT:4 Learning</a:t>
            </a:r>
            <a:endParaRPr lang="en-US"/>
          </a:p>
        </p:txBody>
      </p:sp>
      <p:sp>
        <p:nvSpPr>
          <p:cNvPr id="9" name="Slide Number Placeholder 8"/>
          <p:cNvSpPr>
            <a:spLocks noGrp="1"/>
          </p:cNvSpPr>
          <p:nvPr>
            <p:ph type="sldNum" sz="quarter" idx="12"/>
          </p:nvPr>
        </p:nvSpPr>
        <p:spPr/>
        <p:txBody>
          <a:bodyPr/>
          <a:lstStyle/>
          <a:p>
            <a:fld id="{3A9B4BE1-8553-425D-84B3-B5041D0FCD9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D545519-52A8-4C01-97A7-1BB21E66C8D6}" type="datetime1">
              <a:rPr lang="en-US" smtClean="0"/>
              <a:t>4/26/2022</a:t>
            </a:fld>
            <a:endParaRPr lang="en-US"/>
          </a:p>
        </p:txBody>
      </p:sp>
      <p:sp>
        <p:nvSpPr>
          <p:cNvPr id="4" name="Footer Placeholder 3"/>
          <p:cNvSpPr>
            <a:spLocks noGrp="1"/>
          </p:cNvSpPr>
          <p:nvPr>
            <p:ph type="ftr" sz="quarter" idx="11"/>
          </p:nvPr>
        </p:nvSpPr>
        <p:spPr/>
        <p:txBody>
          <a:bodyPr/>
          <a:lstStyle/>
          <a:p>
            <a:r>
              <a:rPr lang="en-US" smtClean="0"/>
              <a:t>Artificial Intelligence  UNIT:4 Learning</a:t>
            </a:r>
            <a:endParaRPr lang="en-US"/>
          </a:p>
        </p:txBody>
      </p:sp>
      <p:sp>
        <p:nvSpPr>
          <p:cNvPr id="5" name="Slide Number Placeholder 4"/>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43B819-2680-45F5-8950-604817B921BB}" type="datetime1">
              <a:rPr lang="en-US" smtClean="0"/>
              <a:t>4/26/2022</a:t>
            </a:fld>
            <a:endParaRPr lang="en-US"/>
          </a:p>
        </p:txBody>
      </p:sp>
      <p:sp>
        <p:nvSpPr>
          <p:cNvPr id="3" name="Footer Placeholder 2"/>
          <p:cNvSpPr>
            <a:spLocks noGrp="1"/>
          </p:cNvSpPr>
          <p:nvPr>
            <p:ph type="ftr" sz="quarter" idx="11"/>
          </p:nvPr>
        </p:nvSpPr>
        <p:spPr/>
        <p:txBody>
          <a:bodyPr/>
          <a:lstStyle/>
          <a:p>
            <a:r>
              <a:rPr lang="en-US" smtClean="0"/>
              <a:t>Artificial Intelligence  UNIT:4 Learning</a:t>
            </a:r>
            <a:endParaRPr lang="en-US"/>
          </a:p>
        </p:txBody>
      </p:sp>
      <p:sp>
        <p:nvSpPr>
          <p:cNvPr id="4" name="Slide Number Placeholder 3"/>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5B0F965-9914-4F6A-BD2C-DD5B83D24548}" type="datetime1">
              <a:rPr lang="en-US" smtClean="0"/>
              <a:t>4/26/2022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3A9B4BE1-8553-425D-84B3-B5041D0FCD9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A8F6DE-A473-4BAD-9961-A01BD194B346}" type="datetime1">
              <a:rPr lang="en-US" smtClean="0"/>
              <a:t>4/26/2022</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3A9B4BE1-8553-425D-84B3-B5041D0FCD9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CDAB8B-0597-4A8E-AED9-8A35B15C3059}"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2C34F2B-13E4-4482-AF92-DA4D2F5A0AE5}"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833D8D9-6F64-43E0-BBE1-B5164F98CD9C}" type="datetime1">
              <a:rPr lang="en-US" smtClean="0"/>
              <a:t>4/26/2022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smtClean="0"/>
              <a:t>Artificial Intelligence  UNIT:4 Learning</a:t>
            </a:r>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A9B4BE1-8553-425D-84B3-B5041D0FCD9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0200" y="4343400"/>
            <a:ext cx="5791200" cy="1295400"/>
          </a:xfrm>
        </p:spPr>
        <p:txBody>
          <a:bodyPr>
            <a:normAutofit/>
          </a:bodyPr>
          <a:lstStyle/>
          <a:p>
            <a:r>
              <a:rPr lang="en-US" sz="2000" dirty="0" smtClean="0"/>
              <a:t>By: </a:t>
            </a:r>
            <a:r>
              <a:rPr lang="en-US" sz="2000" dirty="0" err="1" smtClean="0"/>
              <a:t>Er</a:t>
            </a:r>
            <a:r>
              <a:rPr lang="en-US" sz="2000" smtClean="0"/>
              <a:t>. Aarti</a:t>
            </a:r>
            <a:r>
              <a:rPr lang="en-US" sz="2000" dirty="0" smtClean="0"/>
              <a:t> Sharma</a:t>
            </a:r>
          </a:p>
          <a:p>
            <a:r>
              <a:rPr lang="en-US" sz="2000" dirty="0" smtClean="0"/>
              <a:t>Associate Professor</a:t>
            </a:r>
          </a:p>
          <a:p>
            <a:r>
              <a:rPr lang="en-US" sz="2000" dirty="0" smtClean="0"/>
              <a:t>Department :CSE</a:t>
            </a:r>
          </a:p>
        </p:txBody>
      </p:sp>
      <p:sp>
        <p:nvSpPr>
          <p:cNvPr id="2" name="Title 1"/>
          <p:cNvSpPr>
            <a:spLocks noGrp="1"/>
          </p:cNvSpPr>
          <p:nvPr>
            <p:ph type="ctrTitle"/>
          </p:nvPr>
        </p:nvSpPr>
        <p:spPr/>
        <p:txBody>
          <a:bodyPr>
            <a:noAutofit/>
          </a:bodyPr>
          <a:lstStyle/>
          <a:p>
            <a:r>
              <a:rPr sz="2800" smtClean="0">
                <a:solidFill>
                  <a:schemeClr val="tx1"/>
                </a:solidFill>
              </a:rPr>
              <a:t/>
            </a:r>
            <a:br>
              <a:rPr sz="2800" smtClean="0">
                <a:solidFill>
                  <a:schemeClr val="tx1"/>
                </a:solidFill>
              </a:rPr>
            </a:br>
            <a:r>
              <a:rPr sz="2800" smtClean="0">
                <a:solidFill>
                  <a:schemeClr val="tx1"/>
                </a:solidFill>
              </a:rPr>
              <a:t>Neural Network</a:t>
            </a:r>
            <a:br>
              <a:rPr sz="2800" smtClean="0">
                <a:solidFill>
                  <a:schemeClr val="tx1"/>
                </a:solidFill>
              </a:rPr>
            </a:br>
            <a:r>
              <a:rPr sz="2800" smtClean="0">
                <a:solidFill>
                  <a:schemeClr val="tx1"/>
                </a:solidFill>
              </a:rPr>
              <a:t>Introduction and Application </a:t>
            </a:r>
            <a:endParaRPr lang="en-US" sz="2800" dirty="0">
              <a:solidFill>
                <a:schemeClr val="tx1"/>
              </a:solidFill>
            </a:endParaRPr>
          </a:p>
        </p:txBody>
      </p:sp>
      <p:pic>
        <p:nvPicPr>
          <p:cNvPr id="4" name="Picture 2" descr="C:\Users\rahul\Desktop\AI NOTES\WhatsApp Image 2020-04-04 at 1.10.45 PM.jpeg"/>
          <p:cNvPicPr>
            <a:picLocks noChangeAspect="1" noChangeArrowheads="1"/>
          </p:cNvPicPr>
          <p:nvPr/>
        </p:nvPicPr>
        <p:blipFill>
          <a:blip r:embed="rId3"/>
          <a:srcRect/>
          <a:stretch>
            <a:fillRect/>
          </a:stretch>
        </p:blipFill>
        <p:spPr bwMode="auto">
          <a:xfrm>
            <a:off x="152400" y="304800"/>
            <a:ext cx="8861425" cy="82232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lnSpcReduction="10000"/>
          </a:bodyPr>
          <a:lstStyle/>
          <a:p>
            <a:pPr>
              <a:buNone/>
            </a:pPr>
            <a:r>
              <a:rPr lang="en-US" dirty="0" smtClean="0">
                <a:solidFill>
                  <a:srgbClr val="FF0000"/>
                </a:solidFill>
              </a:rPr>
              <a:t>Topics Covered:</a:t>
            </a:r>
          </a:p>
          <a:p>
            <a:pPr>
              <a:buNone/>
            </a:pPr>
            <a:endParaRPr lang="en-US" dirty="0" smtClean="0">
              <a:solidFill>
                <a:srgbClr val="FF0000"/>
              </a:solidFill>
            </a:endParaRPr>
          </a:p>
          <a:p>
            <a:r>
              <a:rPr lang="en-US" dirty="0" smtClean="0"/>
              <a:t>What is Artificial Neural Network(ANN)?</a:t>
            </a:r>
          </a:p>
          <a:p>
            <a:r>
              <a:rPr lang="en-US" dirty="0" smtClean="0"/>
              <a:t>Relationship between Biological neural network and artificial neural network.</a:t>
            </a:r>
          </a:p>
          <a:p>
            <a:r>
              <a:rPr lang="en-US" dirty="0" smtClean="0"/>
              <a:t>Neurons</a:t>
            </a:r>
          </a:p>
          <a:p>
            <a:r>
              <a:rPr lang="en-US" dirty="0" smtClean="0"/>
              <a:t>Activation Function</a:t>
            </a:r>
          </a:p>
          <a:p>
            <a:r>
              <a:rPr lang="en-US" dirty="0" smtClean="0"/>
              <a:t>Basic architecture of an artificial neural network</a:t>
            </a:r>
          </a:p>
          <a:p>
            <a:r>
              <a:rPr lang="en-US" dirty="0" smtClean="0"/>
              <a:t>Neural Network Application</a:t>
            </a:r>
          </a:p>
          <a:p>
            <a:r>
              <a:rPr lang="en-US" dirty="0" smtClean="0"/>
              <a:t>Advantages and Disadvantages </a:t>
            </a:r>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2"/>
          </p:nvPr>
        </p:nvSpPr>
        <p:spPr>
          <a:xfrm>
            <a:off x="914400" y="1295400"/>
            <a:ext cx="7620000" cy="4800600"/>
          </a:xfrm>
        </p:spPr>
        <p:txBody>
          <a:bodyPr>
            <a:normAutofit fontScale="85000" lnSpcReduction="10000"/>
          </a:bodyPr>
          <a:lstStyle/>
          <a:p>
            <a:pPr algn="ctr"/>
            <a:r>
              <a:rPr lang="en-US" sz="2400" b="1" dirty="0" smtClean="0">
                <a:solidFill>
                  <a:srgbClr val="FF0000"/>
                </a:solidFill>
              </a:rPr>
              <a:t>Biological Neuron Model</a:t>
            </a:r>
            <a:endParaRPr lang="en-US" sz="2400" b="1" dirty="0" smtClean="0"/>
          </a:p>
          <a:p>
            <a:r>
              <a:rPr lang="en-US" sz="1900" dirty="0" smtClean="0"/>
              <a:t>The term "</a:t>
            </a:r>
            <a:r>
              <a:rPr lang="en-US" sz="1900" b="1" dirty="0" smtClean="0"/>
              <a:t>Artificial Neural Network</a:t>
            </a:r>
            <a:r>
              <a:rPr lang="en-US" sz="1900" dirty="0" smtClean="0"/>
              <a:t>" is derived from Biological neural networks that develop the structure of a human brain. Similar to the human brain that has neurons interconnected to one another, artificial neural networks also have neurons that are interconnected to one another in various layers of the networks. These neurons are known as nodes.</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pPr algn="ctr"/>
            <a:r>
              <a:rPr lang="en-US" b="1" dirty="0" smtClean="0"/>
              <a:t>Biological Neural Network</a:t>
            </a:r>
            <a:endParaRPr lang="en-US" dirty="0" smtClean="0">
              <a:solidFill>
                <a:srgbClr val="FF0000"/>
              </a:solidFill>
            </a:endParaRPr>
          </a:p>
          <a:p>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8" name="Picture 7" descr="What is Artificial Neural Network"/>
          <p:cNvPicPr/>
          <p:nvPr/>
        </p:nvPicPr>
        <p:blipFill>
          <a:blip r:embed="rId3"/>
          <a:srcRect/>
          <a:stretch>
            <a:fillRect/>
          </a:stretch>
        </p:blipFill>
        <p:spPr bwMode="auto">
          <a:xfrm>
            <a:off x="2133600" y="3124200"/>
            <a:ext cx="5486400" cy="2286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14400" y="1143000"/>
            <a:ext cx="7772400" cy="4876800"/>
          </a:xfrm>
        </p:spPr>
        <p:txBody>
          <a:bodyPr>
            <a:noAutofit/>
          </a:bodyPr>
          <a:lstStyle/>
          <a:p>
            <a:pPr algn="ctr">
              <a:buNone/>
            </a:pPr>
            <a:r>
              <a:rPr lang="en-US" sz="2000" dirty="0" smtClean="0">
                <a:solidFill>
                  <a:srgbClr val="FF0000"/>
                </a:solidFill>
              </a:rPr>
              <a:t>What is Artificial Neural Network(ANN)?</a:t>
            </a:r>
            <a:r>
              <a:rPr lang="en-US" sz="2000" b="1" dirty="0" smtClean="0"/>
              <a:t> </a:t>
            </a:r>
          </a:p>
          <a:p>
            <a:endParaRPr lang="en-US" sz="1600" b="1" dirty="0" smtClean="0"/>
          </a:p>
          <a:p>
            <a:pPr algn="just">
              <a:buFont typeface="Wingdings" pitchFamily="2" charset="2"/>
              <a:buChar char="Ø"/>
            </a:pPr>
            <a:r>
              <a:rPr lang="en-US" sz="1600" b="1" dirty="0" smtClean="0"/>
              <a:t>Neural Network architecture are inspired by Biological nervous system architecture composed of many simple processing elements operating in parallel whose function is determined by  network structure, connection strength and processing  performed at each node to obtain high computational rates.</a:t>
            </a:r>
            <a:endParaRPr lang="en-US" sz="1600" dirty="0" smtClean="0"/>
          </a:p>
          <a:p>
            <a:pPr>
              <a:buFont typeface="Arial" pitchFamily="34" charset="0"/>
              <a:buChar char="•"/>
            </a:pPr>
            <a:r>
              <a:rPr lang="en-US" sz="1600" dirty="0" smtClean="0"/>
              <a:t>Dendrites from Biological Neural Network represent inputs in Artificial Neural Networks, </a:t>
            </a:r>
          </a:p>
          <a:p>
            <a:pPr>
              <a:buFont typeface="Arial" pitchFamily="34" charset="0"/>
              <a:buChar char="•"/>
            </a:pPr>
            <a:r>
              <a:rPr lang="en-US" sz="1600" dirty="0" smtClean="0"/>
              <a:t>cell nucleus represents Nodes,</a:t>
            </a:r>
          </a:p>
          <a:p>
            <a:pPr>
              <a:buFont typeface="Arial" pitchFamily="34" charset="0"/>
              <a:buChar char="•"/>
            </a:pPr>
            <a:r>
              <a:rPr lang="en-US" sz="1600" dirty="0" smtClean="0"/>
              <a:t> synapse represents Weights, and</a:t>
            </a:r>
          </a:p>
          <a:p>
            <a:pPr>
              <a:buFont typeface="Arial" pitchFamily="34" charset="0"/>
              <a:buChar char="•"/>
            </a:pPr>
            <a:r>
              <a:rPr lang="en-US" sz="1600" dirty="0" smtClean="0"/>
              <a:t> Axon represents Output.</a:t>
            </a:r>
          </a:p>
          <a:p>
            <a:pPr>
              <a:buNone/>
            </a:pPr>
            <a:endParaRPr lang="en-US" sz="1600" dirty="0" smtClean="0"/>
          </a:p>
          <a:p>
            <a:pPr>
              <a:buNone/>
            </a:pPr>
            <a:endParaRPr lang="en-US" sz="1600" dirty="0" smtClean="0"/>
          </a:p>
          <a:p>
            <a:pPr>
              <a:buNone/>
            </a:pPr>
            <a:endParaRPr lang="en-US" sz="1600" dirty="0" smtClean="0"/>
          </a:p>
          <a:p>
            <a:pPr>
              <a:buNone/>
            </a:pPr>
            <a:r>
              <a:rPr lang="en-US" sz="1600" dirty="0" smtClean="0"/>
              <a:t>					Fig. : single neuron model </a:t>
            </a:r>
          </a:p>
          <a:p>
            <a:pPr>
              <a:buNone/>
            </a:pPr>
            <a:endParaRPr lang="en-US" sz="1600" b="1" dirty="0" smtClean="0"/>
          </a:p>
          <a:p>
            <a:pPr>
              <a:buNone/>
            </a:pPr>
            <a:endParaRPr lang="en-US" sz="1600" b="1" dirty="0" smtClean="0"/>
          </a:p>
          <a:p>
            <a:pPr>
              <a:buNone/>
            </a:pPr>
            <a:endParaRPr lang="en-US" sz="1600" b="1" dirty="0" smtClean="0"/>
          </a:p>
          <a:p>
            <a:pPr>
              <a:buNone/>
            </a:pPr>
            <a:endParaRPr lang="en-US" sz="1600" b="1" dirty="0" smtClean="0"/>
          </a:p>
          <a:p>
            <a:pPr>
              <a:buNone/>
            </a:pPr>
            <a:endParaRPr lang="en-US" sz="1600" dirty="0" smtClean="0"/>
          </a:p>
          <a:p>
            <a:pPr>
              <a:buNone/>
            </a:pPr>
            <a:endParaRPr lang="en-US" sz="16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7" name="Picture 6"/>
          <p:cNvPicPr/>
          <p:nvPr/>
        </p:nvPicPr>
        <p:blipFill>
          <a:blip r:embed="rId3">
            <a:extLst>
              <a:ext uri="{28A0092B-C50C-407E-A947-70E740481C1C}"/>
            </a:extLst>
          </a:blip>
          <a:srcRect/>
          <a:stretch>
            <a:fillRect/>
          </a:stretch>
        </p:blipFill>
        <p:spPr bwMode="auto">
          <a:xfrm>
            <a:off x="4495800" y="3352800"/>
            <a:ext cx="3657600" cy="14478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buFont typeface="Arial" pitchFamily="34" charset="0"/>
              <a:buChar char="•"/>
            </a:pPr>
            <a:r>
              <a:rPr lang="en-US" dirty="0" smtClean="0"/>
              <a:t>We can understand the artificial neural network with an example, consider an example of a digital logic gate that takes an input and gives an output.</a:t>
            </a:r>
          </a:p>
          <a:p>
            <a:pPr>
              <a:buFont typeface="Arial" pitchFamily="34" charset="0"/>
              <a:buChar char="•"/>
            </a:pPr>
            <a:r>
              <a:rPr lang="en-US" dirty="0" smtClean="0"/>
              <a:t>Suppose "OR" gate, which takes two inputs. If one or both the inputs are "On," then we get "On" in output. If both the inputs are "Off," then we get "Off" in output. Here the output depends upon input. </a:t>
            </a:r>
          </a:p>
          <a:p>
            <a:pPr>
              <a:buFont typeface="Arial" pitchFamily="34" charset="0"/>
              <a:buChar char="•"/>
            </a:pPr>
            <a:r>
              <a:rPr lang="en-US" dirty="0" smtClean="0"/>
              <a:t>Our brain does not perform the same task. The outputs to inputs relationship keep changing because of the neurons in our brain, which are "learning."</a:t>
            </a:r>
          </a:p>
          <a:p>
            <a:pPr>
              <a:buFont typeface="Arial" pitchFamily="34" charset="0"/>
              <a:buChar char="•"/>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14400" y="1219200"/>
            <a:ext cx="7772400" cy="4800600"/>
          </a:xfrm>
        </p:spPr>
        <p:txBody>
          <a:bodyPr>
            <a:normAutofit/>
          </a:bodyPr>
          <a:lstStyle/>
          <a:p>
            <a:pPr>
              <a:buNone/>
            </a:pPr>
            <a:r>
              <a:rPr lang="en-US" sz="2400" dirty="0" smtClean="0">
                <a:solidFill>
                  <a:srgbClr val="FF0000"/>
                </a:solidFill>
              </a:rPr>
              <a:t>Relationship between Biological neural network and artificial neural network.</a:t>
            </a:r>
          </a:p>
          <a:p>
            <a:pPr>
              <a:buNone/>
            </a:pPr>
            <a:endParaRPr lang="en-US" sz="24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graphicFrame>
        <p:nvGraphicFramePr>
          <p:cNvPr id="7" name="Table 6"/>
          <p:cNvGraphicFramePr>
            <a:graphicFrameLocks noGrp="1"/>
          </p:cNvGraphicFramePr>
          <p:nvPr/>
        </p:nvGraphicFramePr>
        <p:xfrm>
          <a:off x="1219200" y="2133599"/>
          <a:ext cx="6553200" cy="3733800"/>
        </p:xfrm>
        <a:graphic>
          <a:graphicData uri="http://schemas.openxmlformats.org/drawingml/2006/table">
            <a:tbl>
              <a:tblPr firstRow="1" bandRow="1">
                <a:tableStyleId>{5C22544A-7EE6-4342-B048-85BDC9FD1C3A}</a:tableStyleId>
              </a:tblPr>
              <a:tblGrid>
                <a:gridCol w="3276600"/>
                <a:gridCol w="3276600"/>
              </a:tblGrid>
              <a:tr h="1024268">
                <a:tc>
                  <a:txBody>
                    <a:bodyPr/>
                    <a:lstStyle/>
                    <a:p>
                      <a:r>
                        <a:rPr lang="en-US" dirty="0" smtClean="0"/>
                        <a:t>Biological neural network</a:t>
                      </a:r>
                      <a:endParaRPr lang="en-US" dirty="0"/>
                    </a:p>
                  </a:txBody>
                  <a:tcPr/>
                </a:tc>
                <a:tc>
                  <a:txBody>
                    <a:bodyPr/>
                    <a:lstStyle/>
                    <a:p>
                      <a:r>
                        <a:rPr lang="en-US" dirty="0" smtClean="0"/>
                        <a:t>Artificial neural network</a:t>
                      </a:r>
                      <a:endParaRPr lang="en-US" dirty="0"/>
                    </a:p>
                  </a:txBody>
                  <a:tcPr/>
                </a:tc>
              </a:tr>
              <a:tr h="677383">
                <a:tc>
                  <a:txBody>
                    <a:bodyPr/>
                    <a:lstStyle/>
                    <a:p>
                      <a:pPr marL="152400" marR="0" algn="just">
                        <a:lnSpc>
                          <a:spcPts val="1380"/>
                        </a:lnSpc>
                        <a:spcBef>
                          <a:spcPts val="0"/>
                        </a:spcBef>
                        <a:spcAft>
                          <a:spcPts val="0"/>
                        </a:spcAft>
                      </a:pPr>
                      <a:r>
                        <a:rPr lang="en-US" sz="800" dirty="0">
                          <a:solidFill>
                            <a:srgbClr val="000000"/>
                          </a:solidFill>
                          <a:latin typeface="Verdana"/>
                          <a:ea typeface="Times New Roman"/>
                          <a:cs typeface="Times New Roman"/>
                        </a:rPr>
                        <a:t>Dendrites</a:t>
                      </a:r>
                      <a:endParaRPr lang="en-US" sz="1100" dirty="0">
                        <a:latin typeface="Calibri"/>
                        <a:ea typeface="Calibri"/>
                        <a:cs typeface="Times New Roman"/>
                      </a:endParaRPr>
                    </a:p>
                  </a:txBody>
                  <a:tcPr marL="60960" marR="60960" marT="60960" marB="60960"/>
                </a:tc>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Inputs</a:t>
                      </a:r>
                      <a:endParaRPr lang="en-US" sz="1100">
                        <a:latin typeface="Calibri"/>
                        <a:ea typeface="Calibri"/>
                        <a:cs typeface="Times New Roman"/>
                      </a:endParaRPr>
                    </a:p>
                  </a:txBody>
                  <a:tcPr marL="60960" marR="60960" marT="60960" marB="60960"/>
                </a:tc>
              </a:tr>
              <a:tr h="677383">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Cell nucleus</a:t>
                      </a:r>
                      <a:endParaRPr lang="en-US" sz="1100">
                        <a:latin typeface="Calibri"/>
                        <a:ea typeface="Calibri"/>
                        <a:cs typeface="Times New Roman"/>
                      </a:endParaRPr>
                    </a:p>
                  </a:txBody>
                  <a:tcPr marL="60960" marR="60960" marT="60960" marB="60960"/>
                </a:tc>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Nodes</a:t>
                      </a:r>
                      <a:endParaRPr lang="en-US" sz="1100">
                        <a:latin typeface="Calibri"/>
                        <a:ea typeface="Calibri"/>
                        <a:cs typeface="Times New Roman"/>
                      </a:endParaRPr>
                    </a:p>
                  </a:txBody>
                  <a:tcPr marL="60960" marR="60960" marT="60960" marB="60960"/>
                </a:tc>
              </a:tr>
              <a:tr h="677383">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Synapse</a:t>
                      </a:r>
                      <a:endParaRPr lang="en-US" sz="1100">
                        <a:latin typeface="Calibri"/>
                        <a:ea typeface="Calibri"/>
                        <a:cs typeface="Times New Roman"/>
                      </a:endParaRPr>
                    </a:p>
                  </a:txBody>
                  <a:tcPr marL="60960" marR="60960" marT="60960" marB="60960"/>
                </a:tc>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Weights</a:t>
                      </a:r>
                      <a:endParaRPr lang="en-US" sz="1100">
                        <a:latin typeface="Calibri"/>
                        <a:ea typeface="Calibri"/>
                        <a:cs typeface="Times New Roman"/>
                      </a:endParaRPr>
                    </a:p>
                  </a:txBody>
                  <a:tcPr marL="60960" marR="60960" marT="60960" marB="60960"/>
                </a:tc>
              </a:tr>
              <a:tr h="677383">
                <a:tc>
                  <a:txBody>
                    <a:bodyPr/>
                    <a:lstStyle/>
                    <a:p>
                      <a:pPr marL="152400" marR="0" algn="just">
                        <a:lnSpc>
                          <a:spcPts val="1380"/>
                        </a:lnSpc>
                        <a:spcBef>
                          <a:spcPts val="0"/>
                        </a:spcBef>
                        <a:spcAft>
                          <a:spcPts val="0"/>
                        </a:spcAft>
                      </a:pPr>
                      <a:r>
                        <a:rPr lang="en-US" sz="800">
                          <a:solidFill>
                            <a:srgbClr val="000000"/>
                          </a:solidFill>
                          <a:latin typeface="Verdana"/>
                          <a:ea typeface="Times New Roman"/>
                          <a:cs typeface="Times New Roman"/>
                        </a:rPr>
                        <a:t>Axon</a:t>
                      </a:r>
                      <a:endParaRPr lang="en-US" sz="1100">
                        <a:latin typeface="Calibri"/>
                        <a:ea typeface="Calibri"/>
                        <a:cs typeface="Times New Roman"/>
                      </a:endParaRPr>
                    </a:p>
                  </a:txBody>
                  <a:tcPr marL="60960" marR="60960" marT="60960" marB="60960"/>
                </a:tc>
                <a:tc>
                  <a:txBody>
                    <a:bodyPr/>
                    <a:lstStyle/>
                    <a:p>
                      <a:pPr marL="152400" marR="0" algn="just">
                        <a:lnSpc>
                          <a:spcPts val="1380"/>
                        </a:lnSpc>
                        <a:spcBef>
                          <a:spcPts val="0"/>
                        </a:spcBef>
                        <a:spcAft>
                          <a:spcPts val="0"/>
                        </a:spcAft>
                      </a:pPr>
                      <a:r>
                        <a:rPr lang="en-US" sz="800" dirty="0">
                          <a:solidFill>
                            <a:srgbClr val="000000"/>
                          </a:solidFill>
                          <a:latin typeface="Verdana"/>
                          <a:ea typeface="Times New Roman"/>
                          <a:cs typeface="Times New Roman"/>
                        </a:rPr>
                        <a:t>Output</a:t>
                      </a:r>
                      <a:endParaRPr lang="en-US" sz="1100" dirty="0">
                        <a:latin typeface="Calibri"/>
                        <a:ea typeface="Calibri"/>
                        <a:cs typeface="Times New Roman"/>
                      </a:endParaRPr>
                    </a:p>
                  </a:txBody>
                  <a:tcPr marL="60960" marR="60960" marT="60960" marB="6096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quarter" idx="1"/>
          </p:nvPr>
        </p:nvSpPr>
        <p:spPr>
          <a:xfrm>
            <a:off x="914400" y="1066800"/>
            <a:ext cx="7772400" cy="4953000"/>
          </a:xfrm>
        </p:spPr>
        <p:txBody>
          <a:bodyPr>
            <a:normAutofit fontScale="92500" lnSpcReduction="20000"/>
          </a:bodyPr>
          <a:lstStyle/>
          <a:p>
            <a:pPr algn="ctr">
              <a:buNone/>
            </a:pPr>
            <a:r>
              <a:rPr lang="en-US" sz="2800" dirty="0" smtClean="0">
                <a:solidFill>
                  <a:srgbClr val="FF0000"/>
                </a:solidFill>
              </a:rPr>
              <a:t>Neurons</a:t>
            </a:r>
          </a:p>
          <a:p>
            <a:pPr>
              <a:buNone/>
            </a:pPr>
            <a:r>
              <a:rPr lang="en-US" sz="2000" dirty="0" smtClean="0"/>
              <a:t>The neuron is the atomic unit of a neural network. </a:t>
            </a:r>
          </a:p>
          <a:p>
            <a:pPr>
              <a:buNone/>
            </a:pPr>
            <a:r>
              <a:rPr lang="en-US" sz="2000" dirty="0" smtClean="0"/>
              <a:t>Given an input, it provides the output and passes that output as an input to the subsequent layer.</a:t>
            </a:r>
          </a:p>
          <a:p>
            <a:pPr>
              <a:buNone/>
            </a:pPr>
            <a:r>
              <a:rPr lang="en-US" sz="2000" dirty="0" smtClean="0"/>
              <a:t>A neuron can be thought of as a combination of 2 parts:</a:t>
            </a:r>
          </a:p>
          <a:p>
            <a:pPr>
              <a:buNone/>
            </a:pPr>
            <a:endParaRPr lang="en-US" sz="2000" dirty="0" smtClean="0">
              <a:solidFill>
                <a:srgbClr val="FF0000"/>
              </a:solidFill>
            </a:endParaRPr>
          </a:p>
          <a:p>
            <a:pPr>
              <a:buNone/>
            </a:pPr>
            <a:endParaRPr lang="en-US" sz="2000" dirty="0" smtClean="0"/>
          </a:p>
          <a:p>
            <a:pPr>
              <a:buNone/>
            </a:pPr>
            <a:endParaRPr lang="en-US" sz="2000" dirty="0" smtClean="0"/>
          </a:p>
          <a:p>
            <a:pPr>
              <a:buNone/>
            </a:pPr>
            <a:endParaRPr lang="en-US" sz="2000" dirty="0" smtClean="0"/>
          </a:p>
          <a:p>
            <a:pPr>
              <a:buNone/>
            </a:pPr>
            <a:r>
              <a:rPr lang="en-US" sz="2000" dirty="0" smtClean="0"/>
              <a:t>																														Z      = 						</a:t>
            </a:r>
          </a:p>
          <a:p>
            <a:pPr lvl="0"/>
            <a:r>
              <a:rPr lang="en-US" sz="2000" dirty="0" smtClean="0"/>
              <a:t>The first part computes the output </a:t>
            </a:r>
            <a:r>
              <a:rPr lang="en-US" sz="2000" b="1" i="1" dirty="0" smtClean="0"/>
              <a:t>Z</a:t>
            </a:r>
            <a:r>
              <a:rPr lang="en-US" sz="2000" dirty="0" smtClean="0"/>
              <a:t>, using the inputs and the weights.</a:t>
            </a:r>
          </a:p>
          <a:p>
            <a:pPr lvl="0"/>
            <a:r>
              <a:rPr lang="en-US" sz="2000" dirty="0" smtClean="0"/>
              <a:t>The second part performs the activation on </a:t>
            </a:r>
            <a:r>
              <a:rPr lang="en-US" sz="2000" b="1" dirty="0" smtClean="0"/>
              <a:t>Z</a:t>
            </a:r>
            <a:r>
              <a:rPr lang="en-US" sz="2000" dirty="0" smtClean="0"/>
              <a:t> to give out the final output </a:t>
            </a:r>
            <a:r>
              <a:rPr lang="en-US" sz="2000" b="1" dirty="0" smtClean="0"/>
              <a:t>A</a:t>
            </a:r>
            <a:r>
              <a:rPr lang="en-US" sz="2000" dirty="0" smtClean="0"/>
              <a:t> of the neuron.</a:t>
            </a:r>
          </a:p>
          <a:p>
            <a:pPr>
              <a:buNone/>
            </a:pPr>
            <a:endParaRPr lang="en-US" sz="2000" dirty="0"/>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7" name="Picture 6" descr="What is Artificial Neural Network"/>
          <p:cNvPicPr/>
          <p:nvPr/>
        </p:nvPicPr>
        <p:blipFill>
          <a:blip r:embed="rId3"/>
          <a:srcRect/>
          <a:stretch>
            <a:fillRect/>
          </a:stretch>
        </p:blipFill>
        <p:spPr bwMode="auto">
          <a:xfrm>
            <a:off x="990600" y="3276600"/>
            <a:ext cx="3733800" cy="1752600"/>
          </a:xfrm>
          <a:prstGeom prst="rect">
            <a:avLst/>
          </a:prstGeom>
          <a:noFill/>
          <a:ln w="9525">
            <a:noFill/>
            <a:miter lim="800000"/>
            <a:headEnd/>
            <a:tailEnd/>
          </a:ln>
        </p:spPr>
      </p:pic>
      <p:pic>
        <p:nvPicPr>
          <p:cNvPr id="9" name="Picture 8" descr="https://miro.medium.com/max/651/1*eQymgb-r347UOVBvBGvi0Q.png"/>
          <p:cNvPicPr/>
          <p:nvPr/>
        </p:nvPicPr>
        <p:blipFill>
          <a:blip r:embed="rId4"/>
          <a:srcRect/>
          <a:stretch>
            <a:fillRect/>
          </a:stretch>
        </p:blipFill>
        <p:spPr bwMode="auto">
          <a:xfrm>
            <a:off x="5334000" y="2895600"/>
            <a:ext cx="2743200" cy="1295400"/>
          </a:xfrm>
          <a:prstGeom prst="rect">
            <a:avLst/>
          </a:prstGeom>
          <a:noFill/>
          <a:ln w="9525">
            <a:noFill/>
            <a:miter lim="800000"/>
            <a:headEnd/>
            <a:tailEnd/>
          </a:ln>
        </p:spPr>
      </p:pic>
      <p:pic>
        <p:nvPicPr>
          <p:cNvPr id="10" name="Picture 9" descr="What is Artificial Neural Network"/>
          <p:cNvPicPr/>
          <p:nvPr/>
        </p:nvPicPr>
        <p:blipFill>
          <a:blip r:embed="rId5"/>
          <a:srcRect/>
          <a:stretch>
            <a:fillRect/>
          </a:stretch>
        </p:blipFill>
        <p:spPr bwMode="auto">
          <a:xfrm>
            <a:off x="6096000" y="4267200"/>
            <a:ext cx="1447800" cy="6858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2"/>
          </p:nvPr>
        </p:nvSpPr>
        <p:spPr>
          <a:xfrm>
            <a:off x="914400" y="2133600"/>
            <a:ext cx="4038600" cy="3962400"/>
          </a:xfrm>
        </p:spPr>
        <p:txBody>
          <a:bodyPr>
            <a:normAutofit lnSpcReduction="10000"/>
          </a:bodyPr>
          <a:lstStyle/>
          <a:p>
            <a:pPr>
              <a:buFont typeface="Arial" pitchFamily="34" charset="0"/>
              <a:buChar char="•"/>
            </a:pPr>
            <a:r>
              <a:rPr lang="en-US" sz="2000" dirty="0" smtClean="0"/>
              <a:t>Receives  N- inputs .</a:t>
            </a:r>
          </a:p>
          <a:p>
            <a:pPr>
              <a:buFont typeface="Arial" pitchFamily="34" charset="0"/>
              <a:buChar char="•"/>
            </a:pPr>
            <a:r>
              <a:rPr lang="en-US" sz="2000" dirty="0" smtClean="0"/>
              <a:t>Multiplies each input by its weights.</a:t>
            </a:r>
          </a:p>
          <a:p>
            <a:pPr>
              <a:buFont typeface="Arial" pitchFamily="34" charset="0"/>
              <a:buChar char="•"/>
            </a:pPr>
            <a:r>
              <a:rPr lang="en-US" sz="2000" dirty="0" smtClean="0"/>
              <a:t>Applies activation function (F )to the sum of results.</a:t>
            </a:r>
          </a:p>
          <a:p>
            <a:pPr>
              <a:buFont typeface="Arial" pitchFamily="34" charset="0"/>
              <a:buChar char="•"/>
            </a:pPr>
            <a:r>
              <a:rPr lang="en-US" sz="2000" dirty="0" smtClean="0"/>
              <a:t>Output results.</a:t>
            </a:r>
          </a:p>
          <a:p>
            <a:r>
              <a:rPr lang="en-US" sz="2000" dirty="0" smtClean="0"/>
              <a:t>It takes input and computes the weighted sum of the inputs and includes a bias. This computation is represented in the form of a transfer function.</a:t>
            </a:r>
          </a:p>
          <a:p>
            <a:r>
              <a:rPr lang="en-US" sz="2000" dirty="0" smtClean="0"/>
              <a:t>It determines weighted total is passed as an input to an activation function to produce the output.</a:t>
            </a:r>
            <a:endParaRPr lang="en-US" sz="2000" dirty="0"/>
          </a:p>
        </p:txBody>
      </p:sp>
      <p:sp>
        <p:nvSpPr>
          <p:cNvPr id="4" name="Content Placeholder 3"/>
          <p:cNvSpPr>
            <a:spLocks noGrp="1"/>
          </p:cNvSpPr>
          <p:nvPr>
            <p:ph sz="quarter" idx="1"/>
          </p:nvPr>
        </p:nvSpPr>
        <p:spPr>
          <a:xfrm>
            <a:off x="2895600" y="1295400"/>
            <a:ext cx="5791200" cy="4800600"/>
          </a:xfrm>
        </p:spPr>
        <p:txBody>
          <a:bodyPr/>
          <a:lstStyle/>
          <a:p>
            <a:pPr>
              <a:buNone/>
            </a:pPr>
            <a:r>
              <a:rPr lang="en-US" dirty="0" smtClean="0">
                <a:solidFill>
                  <a:srgbClr val="FF0000"/>
                </a:solidFill>
              </a:rPr>
              <a:t>Neural Network neurons:</a:t>
            </a:r>
          </a:p>
          <a:p>
            <a:pPr>
              <a:buNone/>
            </a:pPr>
            <a:endParaRPr lang="en-US" dirty="0" smtClean="0">
              <a:solidFill>
                <a:srgbClr val="FF0000"/>
              </a:solidFill>
            </a:endParaRPr>
          </a:p>
          <a:p>
            <a:pPr>
              <a:buNone/>
            </a:pPr>
            <a:endParaRPr lang="en-US" dirty="0">
              <a:solidFill>
                <a:srgbClr val="FF0000"/>
              </a:solidFill>
            </a:endParaRPr>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6" name="Picture 5"/>
          <p:cNvPicPr/>
          <p:nvPr/>
        </p:nvPicPr>
        <p:blipFill>
          <a:blip r:embed="rId3">
            <a:extLst>
              <a:ext uri="{28A0092B-C50C-407E-A947-70E740481C1C}"/>
            </a:extLst>
          </a:blip>
          <a:srcRect/>
          <a:stretch>
            <a:fillRect/>
          </a:stretch>
        </p:blipFill>
        <p:spPr bwMode="auto">
          <a:xfrm>
            <a:off x="5029200" y="2895600"/>
            <a:ext cx="3962400" cy="197358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914400" y="1143000"/>
            <a:ext cx="7620000" cy="609600"/>
          </a:xfrm>
        </p:spPr>
        <p:txBody>
          <a:bodyPr>
            <a:normAutofit/>
          </a:bodyPr>
          <a:lstStyle/>
          <a:p>
            <a:pPr algn="ctr"/>
            <a:r>
              <a:rPr lang="en-US" sz="2400" dirty="0" smtClean="0">
                <a:solidFill>
                  <a:srgbClr val="FF0000"/>
                </a:solidFill>
              </a:rPr>
              <a:t>Activation Function </a:t>
            </a:r>
            <a:endParaRPr lang="en-US" sz="2400" dirty="0">
              <a:solidFill>
                <a:srgbClr val="FF0000"/>
              </a:solidFill>
            </a:endParaRPr>
          </a:p>
        </p:txBody>
      </p:sp>
      <p:sp>
        <p:nvSpPr>
          <p:cNvPr id="5" name="Content Placeholder 4"/>
          <p:cNvSpPr>
            <a:spLocks noGrp="1"/>
          </p:cNvSpPr>
          <p:nvPr>
            <p:ph sz="quarter" idx="1"/>
          </p:nvPr>
        </p:nvSpPr>
        <p:spPr>
          <a:xfrm>
            <a:off x="914400" y="1828800"/>
            <a:ext cx="7772400" cy="4267200"/>
          </a:xfrm>
        </p:spPr>
        <p:txBody>
          <a:bodyPr/>
          <a:lstStyle/>
          <a:p>
            <a:pPr algn="just">
              <a:buFont typeface="Wingdings" pitchFamily="2" charset="2"/>
              <a:buChar char="Ø"/>
            </a:pPr>
            <a:r>
              <a:rPr lang="en-US" dirty="0" smtClean="0"/>
              <a:t>Activation functions(F) refer to the functions used in neural networks to compute the weighted sum of input and biases, which is used to choose the neuron that can be fire or not.</a:t>
            </a:r>
          </a:p>
          <a:p>
            <a:pPr algn="just">
              <a:buFont typeface="Arial" pitchFamily="34" charset="0"/>
              <a:buChar char="•"/>
            </a:pPr>
            <a:r>
              <a:rPr lang="en-US" dirty="0" smtClean="0"/>
              <a:t>It produces an output for the neural network that includes the parameters in the data.</a:t>
            </a:r>
          </a:p>
          <a:p>
            <a:pPr algn="just">
              <a:buFont typeface="Arial" pitchFamily="34" charset="0"/>
              <a:buChar char="•"/>
            </a:pPr>
            <a:r>
              <a:rPr lang="en-US" dirty="0" smtClean="0"/>
              <a:t>There are some activation function that are used in ANN:</a:t>
            </a:r>
          </a:p>
          <a:p>
            <a:pPr marL="514350" indent="-514350" algn="just">
              <a:buFont typeface="+mj-lt"/>
              <a:buAutoNum type="alphaLcParenR"/>
            </a:pPr>
            <a:r>
              <a:rPr lang="en-US" dirty="0" smtClean="0"/>
              <a:t>Linear Activation Function</a:t>
            </a:r>
          </a:p>
          <a:p>
            <a:pPr marL="514350" indent="-514350" algn="just">
              <a:buFont typeface="+mj-lt"/>
              <a:buAutoNum type="alphaLcParenR"/>
            </a:pPr>
            <a:r>
              <a:rPr lang="en-US" dirty="0" smtClean="0"/>
              <a:t>Non Linear Activation Function</a:t>
            </a:r>
            <a:endParaRPr lang="en-US" dirty="0"/>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buNone/>
            </a:pPr>
            <a:r>
              <a:rPr lang="en-US" dirty="0" smtClean="0">
                <a:solidFill>
                  <a:srgbClr val="FF0000"/>
                </a:solidFill>
              </a:rPr>
              <a:t>Linear Activation function:</a:t>
            </a:r>
          </a:p>
          <a:p>
            <a:pPr>
              <a:buFont typeface="Arial" pitchFamily="34" charset="0"/>
              <a:buChar char="•"/>
            </a:pPr>
            <a:r>
              <a:rPr lang="en-US" dirty="0" smtClean="0"/>
              <a:t>It is the same as the equation of a straight line i.e.               </a:t>
            </a:r>
            <a:r>
              <a:rPr lang="en-US" b="1" dirty="0" smtClean="0"/>
              <a:t>Y</a:t>
            </a:r>
            <a:r>
              <a:rPr lang="en-US" b="1" smtClean="0"/>
              <a:t>= MX+ </a:t>
            </a:r>
            <a:r>
              <a:rPr lang="en-US" b="1" dirty="0" smtClean="0"/>
              <a:t>C</a:t>
            </a:r>
          </a:p>
          <a:p>
            <a:r>
              <a:rPr lang="en-US" dirty="0" smtClean="0"/>
              <a:t>The range of a linear function is –infinitive to + infinitive.</a:t>
            </a:r>
          </a:p>
          <a:p>
            <a:r>
              <a:rPr lang="en-US" dirty="0" smtClean="0"/>
              <a:t>Linear activation function can be used at only one place that is the output layer.</a:t>
            </a:r>
          </a:p>
          <a:p>
            <a:endParaRPr lang="en-US" dirty="0" smtClean="0"/>
          </a:p>
          <a:p>
            <a:pPr>
              <a:buFont typeface="Arial" pitchFamily="34" charset="0"/>
              <a:buChar char="•"/>
            </a:pPr>
            <a:endParaRPr lang="en-US" dirty="0" smtClean="0"/>
          </a:p>
          <a:p>
            <a:pPr>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pPr>
              <a:buNone/>
            </a:pPr>
            <a:r>
              <a:rPr lang="en-US" sz="2400" dirty="0" smtClean="0">
                <a:solidFill>
                  <a:srgbClr val="FF0000"/>
                </a:solidFill>
              </a:rPr>
              <a:t>Non Linear Activation function:</a:t>
            </a:r>
          </a:p>
          <a:p>
            <a:pPr>
              <a:buFont typeface="Wingdings" pitchFamily="2" charset="2"/>
              <a:buChar char="Ø"/>
            </a:pPr>
            <a:r>
              <a:rPr lang="en-US" sz="2400" dirty="0" smtClean="0">
                <a:solidFill>
                  <a:srgbClr val="FF0000"/>
                </a:solidFill>
              </a:rPr>
              <a:t>Sigmoid function:</a:t>
            </a:r>
          </a:p>
          <a:p>
            <a:r>
              <a:rPr lang="en-US" sz="2000" dirty="0" smtClean="0"/>
              <a:t>It is a function that is projected as S - shaped graph.</a:t>
            </a:r>
          </a:p>
          <a:p>
            <a:pPr>
              <a:buNone/>
            </a:pPr>
            <a:r>
              <a:rPr lang="en-US" sz="2000" b="1" dirty="0" smtClean="0"/>
              <a:t>		A = 1/(1+e</a:t>
            </a:r>
            <a:r>
              <a:rPr lang="en-US" sz="2000" b="1" baseline="30000" dirty="0" smtClean="0"/>
              <a:t>-x</a:t>
            </a:r>
            <a:r>
              <a:rPr lang="en-US" sz="2000" b="1" dirty="0" smtClean="0"/>
              <a:t>)</a:t>
            </a:r>
            <a:endParaRPr lang="en-US" sz="2000" dirty="0" smtClean="0"/>
          </a:p>
          <a:p>
            <a:r>
              <a:rPr lang="en-US" sz="2000" dirty="0" smtClean="0"/>
              <a:t>This function is non-linear, and the values of x lie between -1 to +1.</a:t>
            </a:r>
          </a:p>
          <a:p>
            <a:r>
              <a:rPr lang="en-US" sz="2000" dirty="0" smtClean="0"/>
              <a:t>The value of X is directly proportional to the values of Y.</a:t>
            </a:r>
          </a:p>
          <a:p>
            <a:pPr>
              <a:buNone/>
            </a:pPr>
            <a:endParaRPr lang="en-US" sz="20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6" name="Picture 5"/>
          <p:cNvPicPr/>
          <p:nvPr/>
        </p:nvPicPr>
        <p:blipFill>
          <a:blip r:embed="rId3">
            <a:extLst>
              <a:ext uri="{28A0092B-C50C-407E-A947-70E740481C1C}"/>
            </a:extLst>
          </a:blip>
          <a:srcRect/>
          <a:stretch>
            <a:fillRect/>
          </a:stretch>
        </p:blipFill>
        <p:spPr bwMode="auto">
          <a:xfrm>
            <a:off x="4648200" y="3962400"/>
            <a:ext cx="2682240" cy="174498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pPr>
              <a:buNone/>
            </a:pPr>
            <a:r>
              <a:rPr lang="en-US" sz="2400" dirty="0" smtClean="0">
                <a:solidFill>
                  <a:srgbClr val="FF0000"/>
                </a:solidFill>
              </a:rPr>
              <a:t>Non Linear Activation function:</a:t>
            </a:r>
          </a:p>
          <a:p>
            <a:pPr>
              <a:buFont typeface="Wingdings" pitchFamily="2" charset="2"/>
              <a:buChar char="Ø"/>
            </a:pPr>
            <a:r>
              <a:rPr lang="en-US" sz="2400" dirty="0" smtClean="0">
                <a:solidFill>
                  <a:srgbClr val="FF0000"/>
                </a:solidFill>
              </a:rPr>
              <a:t> </a:t>
            </a:r>
            <a:r>
              <a:rPr lang="en-US" sz="2400" dirty="0" err="1" smtClean="0">
                <a:solidFill>
                  <a:srgbClr val="FF0000"/>
                </a:solidFill>
              </a:rPr>
              <a:t>Tanh</a:t>
            </a:r>
            <a:r>
              <a:rPr lang="en-US" sz="2400" dirty="0" smtClean="0">
                <a:solidFill>
                  <a:srgbClr val="FF0000"/>
                </a:solidFill>
              </a:rPr>
              <a:t> Function:</a:t>
            </a:r>
          </a:p>
          <a:p>
            <a:r>
              <a:rPr lang="en-US" sz="2000" dirty="0" smtClean="0"/>
              <a:t>The activation function, which is more efficient than the sigmoid function is </a:t>
            </a:r>
            <a:r>
              <a:rPr lang="en-US" sz="2000" dirty="0" err="1" smtClean="0"/>
              <a:t>Tanh</a:t>
            </a:r>
            <a:r>
              <a:rPr lang="en-US" sz="2000" dirty="0" smtClean="0"/>
              <a:t> function. </a:t>
            </a:r>
          </a:p>
          <a:p>
            <a:r>
              <a:rPr lang="en-US" sz="2000" dirty="0" smtClean="0"/>
              <a:t>It is also known as Tangent Hyperbolic Function.</a:t>
            </a:r>
          </a:p>
          <a:p>
            <a:pPr>
              <a:buNone/>
            </a:pPr>
            <a:r>
              <a:rPr lang="en-US" sz="2000" b="1" dirty="0" smtClean="0"/>
              <a:t>	F(x)= </a:t>
            </a:r>
            <a:r>
              <a:rPr lang="en-US" sz="2000" b="1" dirty="0" err="1" smtClean="0"/>
              <a:t>tanh</a:t>
            </a:r>
            <a:r>
              <a:rPr lang="en-US" sz="2000" b="1" dirty="0" smtClean="0"/>
              <a:t>(x) = 2/(1+e</a:t>
            </a:r>
            <a:r>
              <a:rPr lang="en-US" sz="2000" b="1" baseline="30000" dirty="0" smtClean="0"/>
              <a:t>-2X</a:t>
            </a:r>
            <a:r>
              <a:rPr lang="en-US" sz="2000" b="1" dirty="0" smtClean="0"/>
              <a:t>) – 1      </a:t>
            </a:r>
          </a:p>
          <a:p>
            <a:pPr>
              <a:buNone/>
            </a:pPr>
            <a:r>
              <a:rPr lang="en-US" sz="2000" b="1" dirty="0" smtClean="0"/>
              <a:t>			OR      </a:t>
            </a:r>
          </a:p>
          <a:p>
            <a:pPr>
              <a:buNone/>
            </a:pPr>
            <a:r>
              <a:rPr lang="en-US" sz="2000" b="1" dirty="0" smtClean="0"/>
              <a:t>	</a:t>
            </a:r>
            <a:r>
              <a:rPr lang="en-US" sz="2000" b="1" dirty="0" err="1" smtClean="0"/>
              <a:t>Tanh</a:t>
            </a:r>
            <a:r>
              <a:rPr lang="en-US" sz="2000" b="1" dirty="0" smtClean="0"/>
              <a:t> (x) = 2 * sigmoid(2x) – 1</a:t>
            </a:r>
          </a:p>
          <a:p>
            <a:pPr>
              <a:buFont typeface="Arial" pitchFamily="34" charset="0"/>
              <a:buChar char="•"/>
            </a:pPr>
            <a:r>
              <a:rPr lang="en-US" sz="2000" dirty="0" smtClean="0"/>
              <a:t>It is non Linear.</a:t>
            </a:r>
          </a:p>
          <a:p>
            <a:pPr>
              <a:buFont typeface="Arial" pitchFamily="34" charset="0"/>
              <a:buChar char="•"/>
            </a:pPr>
            <a:r>
              <a:rPr lang="en-US" sz="2000" dirty="0" smtClean="0"/>
              <a:t>Its value range lies between  -1  to  +1 </a:t>
            </a:r>
            <a:endParaRPr lang="en-US" sz="20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914400" y="1295400"/>
            <a:ext cx="7696200" cy="457200"/>
          </a:xfrm>
        </p:spPr>
        <p:txBody>
          <a:bodyPr/>
          <a:lstStyle/>
          <a:p>
            <a:r>
              <a:rPr lang="en-US" dirty="0" smtClean="0">
                <a:solidFill>
                  <a:srgbClr val="FF0000"/>
                </a:solidFill>
              </a:rPr>
              <a:t>The architecture of an artificial neural network</a:t>
            </a:r>
          </a:p>
        </p:txBody>
      </p:sp>
      <p:sp>
        <p:nvSpPr>
          <p:cNvPr id="4" name="Content Placeholder 3"/>
          <p:cNvSpPr>
            <a:spLocks noGrp="1"/>
          </p:cNvSpPr>
          <p:nvPr>
            <p:ph sz="half" idx="2"/>
          </p:nvPr>
        </p:nvSpPr>
        <p:spPr>
          <a:xfrm>
            <a:off x="914400" y="1828800"/>
            <a:ext cx="3733800" cy="4305300"/>
          </a:xfrm>
        </p:spPr>
        <p:txBody>
          <a:bodyPr>
            <a:normAutofit/>
          </a:bodyPr>
          <a:lstStyle/>
          <a:p>
            <a:pPr>
              <a:buNone/>
            </a:pPr>
            <a:r>
              <a:rPr lang="en-US" sz="1800" dirty="0" smtClean="0"/>
              <a:t>Artificial Neural Network primarily consists of three layers:</a:t>
            </a:r>
          </a:p>
          <a:p>
            <a:r>
              <a:rPr lang="en-US" sz="1800" b="1" dirty="0" smtClean="0"/>
              <a:t>Input Layer: </a:t>
            </a:r>
            <a:r>
              <a:rPr lang="en-US" sz="1800" dirty="0" smtClean="0"/>
              <a:t>It accepts inputs in several different formats provided by the programmer.</a:t>
            </a:r>
          </a:p>
          <a:p>
            <a:r>
              <a:rPr lang="en-US" sz="1800" b="1" dirty="0" smtClean="0"/>
              <a:t>Hidden </a:t>
            </a:r>
            <a:r>
              <a:rPr lang="en-US" sz="1800" b="1" dirty="0" err="1" smtClean="0"/>
              <a:t>Layer:</a:t>
            </a:r>
            <a:r>
              <a:rPr lang="en-US" sz="1800" dirty="0" err="1" smtClean="0"/>
              <a:t>The</a:t>
            </a:r>
            <a:r>
              <a:rPr lang="en-US" sz="1800" dirty="0" smtClean="0"/>
              <a:t> hidden layer presents in-between input and output layers. It performs all the calculations to find hidden features and patterns.</a:t>
            </a:r>
          </a:p>
          <a:p>
            <a:r>
              <a:rPr lang="en-US" sz="1800" b="1" dirty="0" smtClean="0"/>
              <a:t>Output </a:t>
            </a:r>
            <a:r>
              <a:rPr lang="en-US" sz="1800" b="1" dirty="0" err="1" smtClean="0"/>
              <a:t>Layer:</a:t>
            </a:r>
            <a:r>
              <a:rPr lang="en-US" sz="1800" dirty="0" err="1" smtClean="0"/>
              <a:t>The</a:t>
            </a:r>
            <a:r>
              <a:rPr lang="en-US" sz="1800" dirty="0" smtClean="0"/>
              <a:t> input goes through a series of transformations using the hidden layer, which finally results in output that is conveyed using this layer.</a:t>
            </a:r>
          </a:p>
          <a:p>
            <a:pPr>
              <a:buNone/>
            </a:pPr>
            <a:endParaRPr lang="en-US" sz="1800" dirty="0">
              <a:solidFill>
                <a:srgbClr val="FF0000"/>
              </a:solidFill>
            </a:endParaRPr>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10" name="Content Placeholder 9" descr="What is Artificial Neural Network"/>
          <p:cNvPicPr>
            <a:picLocks noGrp="1"/>
          </p:cNvPicPr>
          <p:nvPr>
            <p:ph sz="half" idx="4"/>
          </p:nvPr>
        </p:nvPicPr>
        <p:blipFill>
          <a:blip r:embed="rId3"/>
          <a:srcRect/>
          <a:stretch>
            <a:fillRect/>
          </a:stretch>
        </p:blipFill>
        <p:spPr bwMode="auto">
          <a:xfrm>
            <a:off x="4572000" y="2057400"/>
            <a:ext cx="4114800" cy="39624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buNone/>
            </a:pPr>
            <a:r>
              <a:rPr lang="en-US" dirty="0" smtClean="0">
                <a:solidFill>
                  <a:srgbClr val="FF0000"/>
                </a:solidFill>
              </a:rPr>
              <a:t>Neural Network Applications</a:t>
            </a:r>
          </a:p>
          <a:p>
            <a:pPr>
              <a:buFont typeface="Arial" pitchFamily="34" charset="0"/>
              <a:buChar char="•"/>
            </a:pPr>
            <a:r>
              <a:rPr lang="en-US" dirty="0" smtClean="0"/>
              <a:t>Pattern Recognition</a:t>
            </a:r>
          </a:p>
          <a:p>
            <a:pPr>
              <a:buFont typeface="Arial" pitchFamily="34" charset="0"/>
              <a:buChar char="•"/>
            </a:pPr>
            <a:r>
              <a:rPr lang="en-US" dirty="0" smtClean="0"/>
              <a:t>Mobile Computing</a:t>
            </a:r>
          </a:p>
          <a:p>
            <a:pPr>
              <a:buFont typeface="Arial" pitchFamily="34" charset="0"/>
              <a:buChar char="•"/>
            </a:pPr>
            <a:r>
              <a:rPr lang="en-US" dirty="0" smtClean="0"/>
              <a:t>Investment Analysis</a:t>
            </a:r>
          </a:p>
          <a:p>
            <a:pPr>
              <a:buFont typeface="Arial" pitchFamily="34" charset="0"/>
              <a:buChar char="•"/>
            </a:pPr>
            <a:r>
              <a:rPr lang="en-US" dirty="0" smtClean="0"/>
              <a:t>Control System and Monitoring</a:t>
            </a:r>
          </a:p>
          <a:p>
            <a:pPr>
              <a:buFont typeface="Arial" pitchFamily="34" charset="0"/>
              <a:buChar char="•"/>
            </a:pPr>
            <a:r>
              <a:rPr lang="en-US" dirty="0" smtClean="0"/>
              <a:t>Textual Analysis</a:t>
            </a:r>
          </a:p>
          <a:p>
            <a:pPr>
              <a:buFont typeface="Arial" pitchFamily="34" charset="0"/>
              <a:buChar char="•"/>
            </a:pPr>
            <a:r>
              <a:rPr lang="en-US" dirty="0" smtClean="0"/>
              <a:t>Marketing and financial Analysis</a:t>
            </a:r>
          </a:p>
          <a:p>
            <a:pPr>
              <a:buFont typeface="Arial" pitchFamily="34" charset="0"/>
              <a:buChar char="•"/>
            </a:pPr>
            <a:r>
              <a:rPr lang="en-US" dirty="0" smtClean="0"/>
              <a:t>Facial Recognition </a:t>
            </a:r>
          </a:p>
          <a:p>
            <a:pPr>
              <a:buFont typeface="Arial" pitchFamily="34" charset="0"/>
              <a:buChar char="•"/>
            </a:pPr>
            <a:r>
              <a:rPr lang="en-US" dirty="0" smtClean="0"/>
              <a:t>Hand-Writing Recognition</a:t>
            </a:r>
          </a:p>
          <a:p>
            <a:pPr>
              <a:buNone/>
            </a:pPr>
            <a:endParaRPr lang="en-US" dirty="0" smtClean="0"/>
          </a:p>
          <a:p>
            <a:pPr>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14400" y="1066800"/>
            <a:ext cx="7772400" cy="4953000"/>
          </a:xfrm>
        </p:spPr>
        <p:txBody>
          <a:bodyPr/>
          <a:lstStyle/>
          <a:p>
            <a:pPr>
              <a:buNone/>
            </a:pPr>
            <a:r>
              <a:rPr lang="en-US" sz="3200" dirty="0" smtClean="0">
                <a:solidFill>
                  <a:srgbClr val="FF0000"/>
                </a:solidFill>
              </a:rPr>
              <a:t>Advantages</a:t>
            </a:r>
          </a:p>
          <a:p>
            <a:pPr algn="just">
              <a:buFont typeface="Arial" pitchFamily="34" charset="0"/>
              <a:buChar char="•"/>
            </a:pPr>
            <a:r>
              <a:rPr lang="en-US" dirty="0" smtClean="0"/>
              <a:t>A neural network can perform task that a linear program can not. </a:t>
            </a:r>
          </a:p>
          <a:p>
            <a:pPr algn="just">
              <a:buFont typeface="Arial" pitchFamily="34" charset="0"/>
              <a:buChar char="•"/>
            </a:pPr>
            <a:r>
              <a:rPr lang="en-US" dirty="0" smtClean="0"/>
              <a:t>A neural program learns and does not need to be reprogrammed.</a:t>
            </a:r>
          </a:p>
          <a:p>
            <a:pPr algn="just">
              <a:buFont typeface="Arial" pitchFamily="34" charset="0"/>
              <a:buChar char="•"/>
            </a:pPr>
            <a:r>
              <a:rPr lang="en-US" dirty="0" smtClean="0"/>
              <a:t>When an element of neural network </a:t>
            </a:r>
            <a:r>
              <a:rPr lang="en-US" dirty="0" err="1" smtClean="0"/>
              <a:t>fails,it</a:t>
            </a:r>
            <a:r>
              <a:rPr lang="en-US" dirty="0" smtClean="0"/>
              <a:t> can continue without any problem by there parallel nature .</a:t>
            </a:r>
          </a:p>
          <a:p>
            <a:pPr algn="just">
              <a:buFont typeface="Arial" pitchFamily="34" charset="0"/>
              <a:buChar char="•"/>
            </a:pPr>
            <a:r>
              <a:rPr lang="en-US" dirty="0" smtClean="0"/>
              <a:t>It can be implemented in any application.</a:t>
            </a:r>
          </a:p>
          <a:p>
            <a:pPr algn="just">
              <a:buFont typeface="Arial" pitchFamily="34" charset="0"/>
              <a:buChar char="•"/>
            </a:pPr>
            <a:r>
              <a:rPr lang="en-US" dirty="0" smtClean="0"/>
              <a:t>It can be implemented without any problem.</a:t>
            </a: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90600" y="1066800"/>
            <a:ext cx="7772400" cy="4572000"/>
          </a:xfrm>
        </p:spPr>
        <p:txBody>
          <a:bodyPr>
            <a:normAutofit fontScale="92500" lnSpcReduction="10000"/>
          </a:bodyPr>
          <a:lstStyle/>
          <a:p>
            <a:pPr>
              <a:buNone/>
            </a:pPr>
            <a:r>
              <a:rPr lang="en-US" sz="2800" dirty="0" smtClean="0">
                <a:solidFill>
                  <a:srgbClr val="FF0000"/>
                </a:solidFill>
              </a:rPr>
              <a:t>Disadvantages</a:t>
            </a:r>
          </a:p>
          <a:p>
            <a:pPr>
              <a:buNone/>
            </a:pPr>
            <a:endParaRPr lang="en-US" sz="2800" dirty="0" smtClean="0">
              <a:solidFill>
                <a:srgbClr val="FF0000"/>
              </a:solidFill>
            </a:endParaRPr>
          </a:p>
          <a:p>
            <a:pPr>
              <a:buFont typeface="Arial" pitchFamily="34" charset="0"/>
              <a:buChar char="•"/>
            </a:pPr>
            <a:r>
              <a:rPr lang="en-US" sz="2800" dirty="0" smtClean="0"/>
              <a:t>It need training to operate.</a:t>
            </a:r>
          </a:p>
          <a:p>
            <a:pPr algn="just">
              <a:buNone/>
            </a:pPr>
            <a:endParaRPr lang="en-US" sz="2800" dirty="0" smtClean="0"/>
          </a:p>
          <a:p>
            <a:pPr algn="just">
              <a:buFont typeface="Arial" pitchFamily="34" charset="0"/>
              <a:buChar char="•"/>
            </a:pPr>
            <a:r>
              <a:rPr lang="en-US" sz="2800" dirty="0" smtClean="0"/>
              <a:t>Requires high processing time for large neural networks.</a:t>
            </a:r>
          </a:p>
          <a:p>
            <a:pPr algn="just">
              <a:buNone/>
            </a:pPr>
            <a:endParaRPr lang="en-US" sz="2800" dirty="0" smtClean="0"/>
          </a:p>
          <a:p>
            <a:pPr algn="just">
              <a:buFont typeface="Arial" pitchFamily="34" charset="0"/>
              <a:buChar char="•"/>
            </a:pPr>
            <a:r>
              <a:rPr lang="en-US" sz="2800" dirty="0" smtClean="0"/>
              <a:t>Hard to design large neural networks.</a:t>
            </a:r>
          </a:p>
          <a:p>
            <a:pPr algn="just">
              <a:buNone/>
            </a:pPr>
            <a:endParaRPr lang="en-US" sz="2800" dirty="0" smtClean="0"/>
          </a:p>
          <a:p>
            <a:pPr algn="just">
              <a:buFont typeface="Arial" pitchFamily="34" charset="0"/>
              <a:buChar char="•"/>
            </a:pPr>
            <a:r>
              <a:rPr lang="en-US" sz="2800" dirty="0" smtClean="0"/>
              <a:t>Architecture of neural network is difficult from architecture of microprocessor therefore needs to be emulated.</a:t>
            </a:r>
            <a:endParaRPr lang="en-US" sz="28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pPr>
              <a:buNone/>
            </a:pPr>
            <a:endParaRPr lang="en-US" sz="3200" dirty="0" smtClean="0"/>
          </a:p>
          <a:p>
            <a:pPr>
              <a:buNone/>
            </a:pPr>
            <a:endParaRPr lang="en-US" sz="3200" dirty="0" smtClean="0"/>
          </a:p>
          <a:p>
            <a:pPr>
              <a:buNone/>
            </a:pPr>
            <a:endParaRPr lang="en-US" sz="3200" dirty="0" smtClean="0"/>
          </a:p>
          <a:p>
            <a:pPr algn="ctr">
              <a:buNone/>
            </a:pPr>
            <a:r>
              <a:rPr lang="en-US" sz="3200" dirty="0" smtClean="0"/>
              <a:t>Thank You!</a:t>
            </a:r>
          </a:p>
          <a:p>
            <a:pPr>
              <a:buNone/>
            </a:pPr>
            <a:endParaRPr lang="en-US" sz="3200" dirty="0" smtClean="0"/>
          </a:p>
          <a:p>
            <a:pPr>
              <a:buNone/>
            </a:pPr>
            <a:r>
              <a:rPr lang="en-US" sz="3200" dirty="0" smtClean="0"/>
              <a:t>			</a:t>
            </a:r>
            <a:endParaRPr lang="en-US" sz="32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355</TotalTime>
  <Words>827</Words>
  <Application>Microsoft Office PowerPoint</Application>
  <PresentationFormat>On-screen Show (4:3)</PresentationFormat>
  <Paragraphs>136</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Equity</vt:lpstr>
      <vt:lpstr> Neural Network Introduction and Application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dc:title>
  <dc:creator>Windows User</dc:creator>
  <cp:lastModifiedBy>arya</cp:lastModifiedBy>
  <cp:revision>81</cp:revision>
  <dcterms:created xsi:type="dcterms:W3CDTF">2020-04-07T07:05:45Z</dcterms:created>
  <dcterms:modified xsi:type="dcterms:W3CDTF">2022-04-26T10:03:52Z</dcterms:modified>
</cp:coreProperties>
</file>