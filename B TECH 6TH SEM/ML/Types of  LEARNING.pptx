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2"/>
    <p:sldId id="277" r:id="rId3"/>
    <p:sldId id="278" r:id="rId4"/>
    <p:sldId id="279" r:id="rId5"/>
    <p:sldId id="280" r:id="rId6"/>
    <p:sldId id="281" r:id="rId7"/>
    <p:sldId id="282" r:id="rId8"/>
    <p:sldId id="285" r:id="rId9"/>
    <p:sldId id="286" r:id="rId10"/>
    <p:sldId id="287" r:id="rId11"/>
    <p:sldId id="288" r:id="rId12"/>
    <p:sldId id="289" r:id="rId13"/>
    <p:sldId id="262" r:id="rId14"/>
    <p:sldId id="257" r:id="rId15"/>
    <p:sldId id="263" r:id="rId16"/>
    <p:sldId id="258" r:id="rId17"/>
    <p:sldId id="264" r:id="rId18"/>
    <p:sldId id="265" r:id="rId19"/>
    <p:sldId id="273" r:id="rId20"/>
    <p:sldId id="274" r:id="rId21"/>
    <p:sldId id="275" r:id="rId22"/>
    <p:sldId id="261" r:id="rId23"/>
    <p:sldId id="266" r:id="rId24"/>
    <p:sldId id="271" r:id="rId25"/>
    <p:sldId id="291" r:id="rId26"/>
    <p:sldId id="292" r:id="rId27"/>
    <p:sldId id="293" r:id="rId28"/>
    <p:sldId id="294" r:id="rId29"/>
    <p:sldId id="295" r:id="rId30"/>
    <p:sldId id="296" r:id="rId31"/>
    <p:sldId id="297" r:id="rId32"/>
    <p:sldId id="298" r:id="rId33"/>
    <p:sldId id="299" r:id="rId34"/>
    <p:sldId id="300" r:id="rId35"/>
    <p:sldId id="301" r:id="rId36"/>
    <p:sldId id="276"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6723B3-D05D-4A85-AECD-F07AAC2B8D6B}" type="datetimeFigureOut">
              <a:rPr lang="en-US" smtClean="0"/>
              <a:pPr/>
              <a:t>2/19/2022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4606EC-587B-4F86-BC89-F93D0A174EA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24606EC-587B-4F86-BC89-F93D0A174EAD}"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022B1FA-DACD-4464-A47F-83C2EBE50029}" type="datetime1">
              <a:rPr lang="en-US" smtClean="0"/>
              <a:t>2/19/2022</a:t>
            </a:fld>
            <a:endParaRPr lang="en-US"/>
          </a:p>
        </p:txBody>
      </p:sp>
      <p:sp>
        <p:nvSpPr>
          <p:cNvPr id="19" name="Footer Placeholder 18"/>
          <p:cNvSpPr>
            <a:spLocks noGrp="1"/>
          </p:cNvSpPr>
          <p:nvPr>
            <p:ph type="ftr" sz="quarter" idx="11"/>
          </p:nvPr>
        </p:nvSpPr>
        <p:spPr/>
        <p:txBody>
          <a:bodyPr/>
          <a:lstStyle/>
          <a:p>
            <a:r>
              <a:rPr lang="en-US" smtClean="0"/>
              <a:t>Artificial Intelligence  UNIT:4 Learning</a:t>
            </a:r>
            <a:endParaRPr lang="en-US"/>
          </a:p>
        </p:txBody>
      </p:sp>
      <p:sp>
        <p:nvSpPr>
          <p:cNvPr id="27" name="Slide Number Placeholder 26"/>
          <p:cNvSpPr>
            <a:spLocks noGrp="1"/>
          </p:cNvSpPr>
          <p:nvPr>
            <p:ph type="sldNum" sz="quarter" idx="12"/>
          </p:nvPr>
        </p:nvSpPr>
        <p:spPr/>
        <p:txBody>
          <a:bodyPr/>
          <a:lstStyle/>
          <a:p>
            <a:fld id="{DB6493C8-4037-41B7-9351-27D678274C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0CF245D-0DB7-48E6-9701-7B485D6083FE}" type="datetime1">
              <a:rPr lang="en-US" smtClean="0"/>
              <a:t>2/19/2022</a:t>
            </a:fld>
            <a:endParaRPr lang="en-US"/>
          </a:p>
        </p:txBody>
      </p:sp>
      <p:sp>
        <p:nvSpPr>
          <p:cNvPr id="5" name="Footer Placeholder 4"/>
          <p:cNvSpPr>
            <a:spLocks noGrp="1"/>
          </p:cNvSpPr>
          <p:nvPr>
            <p:ph type="ftr" sz="quarter" idx="11"/>
          </p:nvPr>
        </p:nvSpPr>
        <p:spPr/>
        <p:txBody>
          <a:bodyPr/>
          <a:lstStyle/>
          <a:p>
            <a:r>
              <a:rPr lang="en-US" smtClean="0"/>
              <a:t>Artificial Intelligence  UNIT:4 Learning</a:t>
            </a:r>
            <a:endParaRPr lang="en-US"/>
          </a:p>
        </p:txBody>
      </p:sp>
      <p:sp>
        <p:nvSpPr>
          <p:cNvPr id="6" name="Slide Number Placeholder 5"/>
          <p:cNvSpPr>
            <a:spLocks noGrp="1"/>
          </p:cNvSpPr>
          <p:nvPr>
            <p:ph type="sldNum" sz="quarter" idx="12"/>
          </p:nvPr>
        </p:nvSpPr>
        <p:spPr/>
        <p:txBody>
          <a:bodyPr/>
          <a:lstStyle/>
          <a:p>
            <a:fld id="{DB6493C8-4037-41B7-9351-27D678274C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1C865DF-6713-40EE-8D14-22B86CE2694E}" type="datetime1">
              <a:rPr lang="en-US" smtClean="0"/>
              <a:t>2/19/2022</a:t>
            </a:fld>
            <a:endParaRPr lang="en-US"/>
          </a:p>
        </p:txBody>
      </p:sp>
      <p:sp>
        <p:nvSpPr>
          <p:cNvPr id="5" name="Footer Placeholder 4"/>
          <p:cNvSpPr>
            <a:spLocks noGrp="1"/>
          </p:cNvSpPr>
          <p:nvPr>
            <p:ph type="ftr" sz="quarter" idx="11"/>
          </p:nvPr>
        </p:nvSpPr>
        <p:spPr/>
        <p:txBody>
          <a:bodyPr/>
          <a:lstStyle/>
          <a:p>
            <a:r>
              <a:rPr lang="en-US" smtClean="0"/>
              <a:t>Artificial Intelligence  UNIT:4 Learning</a:t>
            </a:r>
            <a:endParaRPr lang="en-US"/>
          </a:p>
        </p:txBody>
      </p:sp>
      <p:sp>
        <p:nvSpPr>
          <p:cNvPr id="6" name="Slide Number Placeholder 5"/>
          <p:cNvSpPr>
            <a:spLocks noGrp="1"/>
          </p:cNvSpPr>
          <p:nvPr>
            <p:ph type="sldNum" sz="quarter" idx="12"/>
          </p:nvPr>
        </p:nvSpPr>
        <p:spPr/>
        <p:txBody>
          <a:bodyPr/>
          <a:lstStyle/>
          <a:p>
            <a:fld id="{DB6493C8-4037-41B7-9351-27D678274C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6D0E93-1F21-4DF0-A106-3D374032A672}" type="datetime1">
              <a:rPr lang="en-US" smtClean="0"/>
              <a:t>2/19/2022</a:t>
            </a:fld>
            <a:endParaRPr lang="en-US"/>
          </a:p>
        </p:txBody>
      </p:sp>
      <p:sp>
        <p:nvSpPr>
          <p:cNvPr id="6" name="Footer Placeholder 5"/>
          <p:cNvSpPr>
            <a:spLocks noGrp="1"/>
          </p:cNvSpPr>
          <p:nvPr>
            <p:ph type="ftr" sz="quarter" idx="11"/>
          </p:nvPr>
        </p:nvSpPr>
        <p:spPr/>
        <p:txBody>
          <a:bodyPr/>
          <a:lstStyle/>
          <a:p>
            <a:r>
              <a:rPr lang="en-US" smtClean="0"/>
              <a:t>Artificial Intelligence  UNIT:4 Learning</a:t>
            </a:r>
            <a:endParaRPr lang="en-US"/>
          </a:p>
        </p:txBody>
      </p:sp>
      <p:sp>
        <p:nvSpPr>
          <p:cNvPr id="7" name="Slide Number Placeholder 6"/>
          <p:cNvSpPr>
            <a:spLocks noGrp="1"/>
          </p:cNvSpPr>
          <p:nvPr>
            <p:ph type="sldNum" sz="quarter" idx="12"/>
          </p:nvPr>
        </p:nvSpPr>
        <p:spPr/>
        <p:txBody>
          <a:bodyPr/>
          <a:lstStyle/>
          <a:p>
            <a:fld id="{DB6493C8-4037-41B7-9351-27D678274C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23314E24-0934-4404-827C-9E7707E0ECED}" type="datetime1">
              <a:rPr lang="en-US" smtClean="0"/>
              <a:t>2/19/2022</a:t>
            </a:fld>
            <a:endParaRPr lang="en-US"/>
          </a:p>
        </p:txBody>
      </p:sp>
      <p:sp>
        <p:nvSpPr>
          <p:cNvPr id="8" name="Footer Placeholder 7"/>
          <p:cNvSpPr>
            <a:spLocks noGrp="1"/>
          </p:cNvSpPr>
          <p:nvPr>
            <p:ph type="ftr" sz="quarter" idx="11"/>
          </p:nvPr>
        </p:nvSpPr>
        <p:spPr/>
        <p:txBody>
          <a:bodyPr/>
          <a:lstStyle/>
          <a:p>
            <a:r>
              <a:rPr lang="en-US" smtClean="0"/>
              <a:t>Artificial Intelligence  UNIT:4 Learning</a:t>
            </a:r>
            <a:endParaRPr lang="en-US"/>
          </a:p>
        </p:txBody>
      </p:sp>
      <p:sp>
        <p:nvSpPr>
          <p:cNvPr id="9" name="Slide Number Placeholder 8"/>
          <p:cNvSpPr>
            <a:spLocks noGrp="1"/>
          </p:cNvSpPr>
          <p:nvPr>
            <p:ph type="sldNum" sz="quarter" idx="12"/>
          </p:nvPr>
        </p:nvSpPr>
        <p:spPr/>
        <p:txBody>
          <a:bodyPr/>
          <a:lstStyle/>
          <a:p>
            <a:fld id="{DB6493C8-4037-41B7-9351-27D678274C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975015F6-5E49-4C9F-B852-8CE22B70B097}" type="datetime1">
              <a:rPr lang="en-US" smtClean="0"/>
              <a:t>2/19/2022</a:t>
            </a:fld>
            <a:endParaRPr lang="en-US"/>
          </a:p>
        </p:txBody>
      </p:sp>
      <p:sp>
        <p:nvSpPr>
          <p:cNvPr id="4" name="Footer Placeholder 3"/>
          <p:cNvSpPr>
            <a:spLocks noGrp="1"/>
          </p:cNvSpPr>
          <p:nvPr>
            <p:ph type="ftr" sz="quarter" idx="11"/>
          </p:nvPr>
        </p:nvSpPr>
        <p:spPr/>
        <p:txBody>
          <a:bodyPr/>
          <a:lstStyle/>
          <a:p>
            <a:r>
              <a:rPr lang="en-US" smtClean="0"/>
              <a:t>Artificial Intelligence  UNIT:4 Learning</a:t>
            </a:r>
            <a:endParaRPr lang="en-US"/>
          </a:p>
        </p:txBody>
      </p:sp>
      <p:sp>
        <p:nvSpPr>
          <p:cNvPr id="5" name="Slide Number Placeholder 4"/>
          <p:cNvSpPr>
            <a:spLocks noGrp="1"/>
          </p:cNvSpPr>
          <p:nvPr>
            <p:ph type="sldNum" sz="quarter" idx="12"/>
          </p:nvPr>
        </p:nvSpPr>
        <p:spPr/>
        <p:txBody>
          <a:bodyPr/>
          <a:lstStyle/>
          <a:p>
            <a:fld id="{DB6493C8-4037-41B7-9351-27D678274C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AB1D14-E3D2-414A-BD23-59EC6D89E673}" type="datetime1">
              <a:rPr lang="en-US" smtClean="0"/>
              <a:t>2/19/2022</a:t>
            </a:fld>
            <a:endParaRPr lang="en-US"/>
          </a:p>
        </p:txBody>
      </p:sp>
      <p:sp>
        <p:nvSpPr>
          <p:cNvPr id="3" name="Footer Placeholder 2"/>
          <p:cNvSpPr>
            <a:spLocks noGrp="1"/>
          </p:cNvSpPr>
          <p:nvPr>
            <p:ph type="ftr" sz="quarter" idx="11"/>
          </p:nvPr>
        </p:nvSpPr>
        <p:spPr/>
        <p:txBody>
          <a:bodyPr/>
          <a:lstStyle/>
          <a:p>
            <a:r>
              <a:rPr lang="en-US" smtClean="0"/>
              <a:t>Artificial Intelligence  UNIT:4 Learning</a:t>
            </a:r>
            <a:endParaRPr lang="en-US"/>
          </a:p>
        </p:txBody>
      </p:sp>
      <p:sp>
        <p:nvSpPr>
          <p:cNvPr id="4" name="Slide Number Placeholder 3"/>
          <p:cNvSpPr>
            <a:spLocks noGrp="1"/>
          </p:cNvSpPr>
          <p:nvPr>
            <p:ph type="sldNum" sz="quarter" idx="12"/>
          </p:nvPr>
        </p:nvSpPr>
        <p:spPr/>
        <p:txBody>
          <a:bodyPr/>
          <a:lstStyle/>
          <a:p>
            <a:fld id="{DB6493C8-4037-41B7-9351-27D678274C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8114A0D-1512-42A3-A348-D5C523A1074B}" type="datetime1">
              <a:rPr lang="en-US" smtClean="0"/>
              <a:t>2/19/2022</a:t>
            </a:fld>
            <a:endParaRPr lang="en-US"/>
          </a:p>
        </p:txBody>
      </p:sp>
      <p:sp>
        <p:nvSpPr>
          <p:cNvPr id="6" name="Footer Placeholder 5"/>
          <p:cNvSpPr>
            <a:spLocks noGrp="1"/>
          </p:cNvSpPr>
          <p:nvPr>
            <p:ph type="ftr" sz="quarter" idx="11"/>
          </p:nvPr>
        </p:nvSpPr>
        <p:spPr/>
        <p:txBody>
          <a:bodyPr/>
          <a:lstStyle/>
          <a:p>
            <a:r>
              <a:rPr lang="en-US" smtClean="0"/>
              <a:t>Artificial Intelligence  UNIT:4 Learning</a:t>
            </a:r>
            <a:endParaRPr lang="en-US"/>
          </a:p>
        </p:txBody>
      </p:sp>
      <p:sp>
        <p:nvSpPr>
          <p:cNvPr id="7" name="Slide Number Placeholder 6"/>
          <p:cNvSpPr>
            <a:spLocks noGrp="1"/>
          </p:cNvSpPr>
          <p:nvPr>
            <p:ph type="sldNum" sz="quarter" idx="12"/>
          </p:nvPr>
        </p:nvSpPr>
        <p:spPr/>
        <p:txBody>
          <a:bodyPr/>
          <a:lstStyle/>
          <a:p>
            <a:fld id="{DB6493C8-4037-41B7-9351-27D678274C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E690C84D-F54F-4B3D-AFB3-D1629584D93B}" type="datetime1">
              <a:rPr lang="en-US" smtClean="0"/>
              <a:t>2/19/2022</a:t>
            </a:fld>
            <a:endParaRPr lang="en-US"/>
          </a:p>
        </p:txBody>
      </p:sp>
      <p:sp>
        <p:nvSpPr>
          <p:cNvPr id="6" name="Footer Placeholder 5"/>
          <p:cNvSpPr>
            <a:spLocks noGrp="1"/>
          </p:cNvSpPr>
          <p:nvPr>
            <p:ph type="ftr" sz="quarter" idx="11"/>
          </p:nvPr>
        </p:nvSpPr>
        <p:spPr/>
        <p:txBody>
          <a:bodyPr/>
          <a:lstStyle/>
          <a:p>
            <a:r>
              <a:rPr lang="en-US" smtClean="0"/>
              <a:t>Artificial Intelligence  UNIT:4 Learning</a:t>
            </a:r>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DB6493C8-4037-41B7-9351-27D678274CF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F91E867-397D-4A5B-9A7E-B54AB021DC6B}" type="datetime1">
              <a:rPr lang="en-US" smtClean="0"/>
              <a:t>2/19/2022</a:t>
            </a:fld>
            <a:endParaRPr lang="en-US"/>
          </a:p>
        </p:txBody>
      </p:sp>
      <p:sp>
        <p:nvSpPr>
          <p:cNvPr id="5" name="Footer Placeholder 4"/>
          <p:cNvSpPr>
            <a:spLocks noGrp="1"/>
          </p:cNvSpPr>
          <p:nvPr>
            <p:ph type="ftr" sz="quarter" idx="11"/>
          </p:nvPr>
        </p:nvSpPr>
        <p:spPr/>
        <p:txBody>
          <a:bodyPr/>
          <a:lstStyle/>
          <a:p>
            <a:r>
              <a:rPr lang="en-US" smtClean="0"/>
              <a:t>Artificial Intelligence  UNIT:4 Learning</a:t>
            </a:r>
            <a:endParaRPr lang="en-US"/>
          </a:p>
        </p:txBody>
      </p:sp>
      <p:sp>
        <p:nvSpPr>
          <p:cNvPr id="6" name="Slide Number Placeholder 5"/>
          <p:cNvSpPr>
            <a:spLocks noGrp="1"/>
          </p:cNvSpPr>
          <p:nvPr>
            <p:ph type="sldNum" sz="quarter" idx="12"/>
          </p:nvPr>
        </p:nvSpPr>
        <p:spPr/>
        <p:txBody>
          <a:bodyPr/>
          <a:lstStyle/>
          <a:p>
            <a:fld id="{DB6493C8-4037-41B7-9351-27D678274C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5835760-9BCA-4755-80AE-03C731501807}" type="datetime1">
              <a:rPr lang="en-US" smtClean="0"/>
              <a:t>2/19/2022</a:t>
            </a:fld>
            <a:endParaRPr lang="en-US"/>
          </a:p>
        </p:txBody>
      </p:sp>
      <p:sp>
        <p:nvSpPr>
          <p:cNvPr id="5" name="Footer Placeholder 4"/>
          <p:cNvSpPr>
            <a:spLocks noGrp="1"/>
          </p:cNvSpPr>
          <p:nvPr>
            <p:ph type="ftr" sz="quarter" idx="11"/>
          </p:nvPr>
        </p:nvSpPr>
        <p:spPr/>
        <p:txBody>
          <a:bodyPr/>
          <a:lstStyle/>
          <a:p>
            <a:r>
              <a:rPr lang="en-US" smtClean="0"/>
              <a:t>Artificial Intelligence  UNIT:4 Learning</a:t>
            </a:r>
            <a:endParaRPr lang="en-US"/>
          </a:p>
        </p:txBody>
      </p:sp>
      <p:sp>
        <p:nvSpPr>
          <p:cNvPr id="6" name="Slide Number Placeholder 5"/>
          <p:cNvSpPr>
            <a:spLocks noGrp="1"/>
          </p:cNvSpPr>
          <p:nvPr>
            <p:ph type="sldNum" sz="quarter" idx="12"/>
          </p:nvPr>
        </p:nvSpPr>
        <p:spPr/>
        <p:txBody>
          <a:bodyPr/>
          <a:lstStyle/>
          <a:p>
            <a:fld id="{DB6493C8-4037-41B7-9351-27D678274C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2C56AF0-F35A-4A16-9BBA-71EDAF81CB9E}" type="datetime1">
              <a:rPr lang="en-US" smtClean="0"/>
              <a:t>2/19/2022</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smtClean="0"/>
              <a:t>Artificial Intelligence  UNIT:4 Learning</a:t>
            </a: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B6493C8-4037-41B7-9351-27D678274CF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guru99.com/images/1/030819_1030_Unsupervise1.png" TargetMode="Externa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s://www.guru99.com/images/1/030819_1030_Unsupervise2.png"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ctrTitle"/>
          </p:nvPr>
        </p:nvSpPr>
        <p:spPr>
          <a:xfrm>
            <a:off x="533400" y="2362200"/>
            <a:ext cx="7851648" cy="1600200"/>
          </a:xfrm>
        </p:spPr>
        <p:txBody>
          <a:bodyPr>
            <a:noAutofit/>
          </a:bodyPr>
          <a:lstStyle/>
          <a:p>
            <a:pPr algn="ctr"/>
            <a:r>
              <a:rPr lang="en-US" sz="3200" dirty="0" smtClean="0">
                <a:solidFill>
                  <a:srgbClr val="FF0000"/>
                </a:solidFill>
              </a:rPr>
              <a:t>MACHINE </a:t>
            </a:r>
            <a:r>
              <a:rPr lang="en-US" sz="3200" dirty="0" smtClean="0">
                <a:solidFill>
                  <a:srgbClr val="FF0000"/>
                </a:solidFill>
              </a:rPr>
              <a:t>LEARNING</a:t>
            </a:r>
            <a:r>
              <a:rPr lang="en-US" sz="3200" dirty="0" smtClean="0">
                <a:solidFill>
                  <a:srgbClr val="FF0000"/>
                </a:solidFill>
              </a:rPr>
              <a:t/>
            </a:r>
            <a:br>
              <a:rPr lang="en-US" sz="3200" dirty="0" smtClean="0">
                <a:solidFill>
                  <a:srgbClr val="FF0000"/>
                </a:solidFill>
              </a:rPr>
            </a:br>
            <a:endParaRPr lang="en-US" sz="3200" dirty="0">
              <a:solidFill>
                <a:srgbClr val="FF0000"/>
              </a:solidFill>
            </a:endParaRPr>
          </a:p>
        </p:txBody>
      </p:sp>
      <p:sp>
        <p:nvSpPr>
          <p:cNvPr id="3" name="Subtitle 2"/>
          <p:cNvSpPr>
            <a:spLocks noGrp="1"/>
          </p:cNvSpPr>
          <p:nvPr>
            <p:ph type="subTitle" idx="1"/>
          </p:nvPr>
        </p:nvSpPr>
        <p:spPr>
          <a:xfrm>
            <a:off x="533400" y="4419600"/>
            <a:ext cx="7854696" cy="1066800"/>
          </a:xfrm>
        </p:spPr>
        <p:txBody>
          <a:bodyPr>
            <a:normAutofit/>
          </a:bodyPr>
          <a:lstStyle/>
          <a:p>
            <a:pPr algn="ctr"/>
            <a:r>
              <a:rPr lang="en-US" sz="1800" dirty="0" smtClean="0"/>
              <a:t> </a:t>
            </a:r>
            <a:r>
              <a:rPr lang="en-US" sz="1800" dirty="0" err="1" smtClean="0"/>
              <a:t>Er</a:t>
            </a:r>
            <a:r>
              <a:rPr lang="en-US" sz="1800" dirty="0" smtClean="0"/>
              <a:t>. </a:t>
            </a:r>
            <a:r>
              <a:rPr lang="en-US" sz="1800" dirty="0" err="1" smtClean="0"/>
              <a:t>Aarti</a:t>
            </a:r>
            <a:r>
              <a:rPr lang="en-US" sz="1800" dirty="0" smtClean="0"/>
              <a:t> Sharma</a:t>
            </a:r>
          </a:p>
          <a:p>
            <a:pPr algn="ctr"/>
            <a:r>
              <a:rPr lang="en-US" sz="1800" dirty="0" smtClean="0"/>
              <a:t>Associate  Professor</a:t>
            </a:r>
          </a:p>
          <a:p>
            <a:pPr algn="ctr"/>
            <a:r>
              <a:rPr lang="en-US" sz="1800" dirty="0" smtClean="0"/>
              <a:t>Department : CSE</a:t>
            </a:r>
          </a:p>
        </p:txBody>
      </p:sp>
      <p:sp>
        <p:nvSpPr>
          <p:cNvPr id="7" name="Slide Number Placeholder 6"/>
          <p:cNvSpPr>
            <a:spLocks noGrp="1"/>
          </p:cNvSpPr>
          <p:nvPr>
            <p:ph type="sldNum" sz="quarter" idx="12"/>
          </p:nvPr>
        </p:nvSpPr>
        <p:spPr/>
        <p:txBody>
          <a:bodyPr/>
          <a:lstStyle/>
          <a:p>
            <a:fld id="{DB6493C8-4037-41B7-9351-27D678274CF3}" type="slidenum">
              <a:rPr lang="en-US" smtClean="0"/>
              <a:pPr/>
              <a:t>1</a:t>
            </a:fld>
            <a:endParaRPr lang="en-US"/>
          </a:p>
        </p:txBody>
      </p:sp>
      <p:pic>
        <p:nvPicPr>
          <p:cNvPr id="6" name="Picture 5" descr="Arya-College-Of-Engineering-And-IT-Jaipur-Logo-v4-red-black.png"/>
          <p:cNvPicPr>
            <a:picLocks noChangeAspect="1"/>
          </p:cNvPicPr>
          <p:nvPr/>
        </p:nvPicPr>
        <p:blipFill>
          <a:blip r:embed="rId3"/>
          <a:stretch>
            <a:fillRect/>
          </a:stretch>
        </p:blipFill>
        <p:spPr>
          <a:xfrm>
            <a:off x="152400" y="152400"/>
            <a:ext cx="8458200" cy="1143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800" dirty="0" smtClean="0">
                <a:solidFill>
                  <a:schemeClr val="accent2"/>
                </a:solidFill>
              </a:rPr>
              <a:t>Traditional Algorithm Vs Machine Learning</a:t>
            </a:r>
            <a:endParaRPr lang="en-US" sz="2800" dirty="0">
              <a:solidFill>
                <a:schemeClr val="accent2"/>
              </a:solidFill>
            </a:endParaRPr>
          </a:p>
        </p:txBody>
      </p:sp>
      <p:pic>
        <p:nvPicPr>
          <p:cNvPr id="1027" name="Picture 3" descr="C:\Users\arya\Downloads\Images-Slides ML\slide-6.jpg"/>
          <p:cNvPicPr>
            <a:picLocks noGrp="1" noChangeAspect="1" noChangeArrowheads="1"/>
          </p:cNvPicPr>
          <p:nvPr>
            <p:ph idx="1"/>
          </p:nvPr>
        </p:nvPicPr>
        <p:blipFill>
          <a:blip r:embed="rId2"/>
          <a:srcRect/>
          <a:stretch>
            <a:fillRect/>
          </a:stretch>
        </p:blipFill>
        <p:spPr bwMode="auto">
          <a:xfrm>
            <a:off x="1447800" y="1969666"/>
            <a:ext cx="6857999" cy="4156497"/>
          </a:xfrm>
          <a:prstGeom prst="rect">
            <a:avLst/>
          </a:prstGeom>
          <a:noFill/>
        </p:spPr>
      </p:pic>
      <p:sp>
        <p:nvSpPr>
          <p:cNvPr id="5" name="Slide Number Placeholder 4"/>
          <p:cNvSpPr>
            <a:spLocks noGrp="1"/>
          </p:cNvSpPr>
          <p:nvPr>
            <p:ph type="sldNum" sz="quarter" idx="12"/>
          </p:nvPr>
        </p:nvSpPr>
        <p:spPr/>
        <p:txBody>
          <a:bodyPr/>
          <a:lstStyle/>
          <a:p>
            <a:fld id="{DB6493C8-4037-41B7-9351-27D678274CF3}"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rya\Downloads\Images-Slides ML\2019-05-09-014447.jpg"/>
          <p:cNvPicPr>
            <a:picLocks noGrp="1" noChangeAspect="1" noChangeArrowheads="1"/>
          </p:cNvPicPr>
          <p:nvPr>
            <p:ph idx="1"/>
          </p:nvPr>
        </p:nvPicPr>
        <p:blipFill>
          <a:blip r:embed="rId2"/>
          <a:srcRect/>
          <a:stretch>
            <a:fillRect/>
          </a:stretch>
        </p:blipFill>
        <p:spPr bwMode="auto">
          <a:xfrm>
            <a:off x="328554" y="1"/>
            <a:ext cx="8586846" cy="6705600"/>
          </a:xfrm>
          <a:prstGeom prst="rect">
            <a:avLst/>
          </a:prstGeom>
          <a:noFill/>
        </p:spPr>
      </p:pic>
      <p:sp>
        <p:nvSpPr>
          <p:cNvPr id="3" name="Slide Number Placeholder 2"/>
          <p:cNvSpPr>
            <a:spLocks noGrp="1"/>
          </p:cNvSpPr>
          <p:nvPr>
            <p:ph type="sldNum" sz="quarter" idx="12"/>
          </p:nvPr>
        </p:nvSpPr>
        <p:spPr/>
        <p:txBody>
          <a:bodyPr/>
          <a:lstStyle/>
          <a:p>
            <a:fld id="{DB6493C8-4037-41B7-9351-27D678274CF3}"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solidFill>
                  <a:srgbClr val="C00000"/>
                </a:solidFill>
              </a:rPr>
              <a:t>What is Machine Learning</a:t>
            </a:r>
            <a:r>
              <a:rPr lang="en-US" dirty="0">
                <a:solidFill>
                  <a:srgbClr val="C00000"/>
                </a:solidFill>
              </a:rPr>
              <a:t/>
            </a:r>
            <a:br>
              <a:rPr lang="en-US" dirty="0">
                <a:solidFill>
                  <a:srgbClr val="C00000"/>
                </a:solidFill>
              </a:rPr>
            </a:br>
            <a:endParaRPr lang="en-US" dirty="0">
              <a:solidFill>
                <a:srgbClr val="C00000"/>
              </a:solidFill>
            </a:endParaRPr>
          </a:p>
        </p:txBody>
      </p:sp>
      <p:pic>
        <p:nvPicPr>
          <p:cNvPr id="2051" name="Picture 3" descr="C:\Users\arya\Downloads\Images-Slides ML\introduction-to-machine-learning.png"/>
          <p:cNvPicPr>
            <a:picLocks noGrp="1" noChangeAspect="1" noChangeArrowheads="1"/>
          </p:cNvPicPr>
          <p:nvPr>
            <p:ph sz="half" idx="1"/>
          </p:nvPr>
        </p:nvPicPr>
        <p:blipFill>
          <a:blip r:embed="rId2"/>
          <a:stretch>
            <a:fillRect/>
          </a:stretch>
        </p:blipFill>
        <p:spPr bwMode="auto">
          <a:xfrm>
            <a:off x="6172200" y="1447800"/>
            <a:ext cx="2819400" cy="4876800"/>
          </a:xfrm>
          <a:prstGeom prst="rect">
            <a:avLst/>
          </a:prstGeom>
          <a:noFill/>
        </p:spPr>
      </p:pic>
      <p:sp>
        <p:nvSpPr>
          <p:cNvPr id="7" name="Content Placeholder 6"/>
          <p:cNvSpPr>
            <a:spLocks noGrp="1"/>
          </p:cNvSpPr>
          <p:nvPr>
            <p:ph sz="half" idx="2"/>
          </p:nvPr>
        </p:nvSpPr>
        <p:spPr>
          <a:xfrm>
            <a:off x="990600" y="1600200"/>
            <a:ext cx="5029200" cy="4648200"/>
          </a:xfrm>
        </p:spPr>
        <p:txBody>
          <a:bodyPr>
            <a:noAutofit/>
          </a:bodyPr>
          <a:lstStyle/>
          <a:p>
            <a:r>
              <a:rPr lang="en-US" sz="1600" dirty="0"/>
              <a:t>In the real world, </a:t>
            </a:r>
            <a:r>
              <a:rPr lang="en-US" sz="1600" dirty="0" smtClean="0"/>
              <a:t>humans </a:t>
            </a:r>
            <a:r>
              <a:rPr lang="en-US" sz="1600" dirty="0"/>
              <a:t>who can learn everything from their experiences with their learning </a:t>
            </a:r>
            <a:r>
              <a:rPr lang="en-US" sz="1600" dirty="0" smtClean="0"/>
              <a:t>capability</a:t>
            </a:r>
            <a:endParaRPr lang="en-US" sz="1600" dirty="0"/>
          </a:p>
          <a:p>
            <a:r>
              <a:rPr lang="en-US" sz="1600" dirty="0" smtClean="0"/>
              <a:t> </a:t>
            </a:r>
            <a:r>
              <a:rPr lang="en-US" sz="1600" dirty="0"/>
              <a:t>computers or machines which work on our instructions. But can a machine also learn from experiences or past data like a human does</a:t>
            </a:r>
            <a:r>
              <a:rPr lang="en-US" sz="1600" dirty="0" smtClean="0"/>
              <a:t>?</a:t>
            </a:r>
          </a:p>
          <a:p>
            <a:r>
              <a:rPr lang="en-US" sz="1600" dirty="0"/>
              <a:t>Machine Learning is said as a subset of </a:t>
            </a:r>
            <a:r>
              <a:rPr lang="en-US" sz="1600" b="1" dirty="0"/>
              <a:t>artificial intelligence</a:t>
            </a:r>
            <a:r>
              <a:rPr lang="en-US" sz="1600" dirty="0"/>
              <a:t> that is mainly concerned with the development of algorithms which allow a computer to learn from the data and past experiences on their own</a:t>
            </a:r>
            <a:r>
              <a:rPr lang="en-US" sz="1600" dirty="0" smtClean="0"/>
              <a:t>.</a:t>
            </a:r>
          </a:p>
          <a:p>
            <a:r>
              <a:rPr lang="en-US" sz="1600" dirty="0" smtClean="0"/>
              <a:t>According to </a:t>
            </a:r>
            <a:r>
              <a:rPr lang="en-US" sz="1600" b="1" dirty="0"/>
              <a:t>Arthur Samuel</a:t>
            </a:r>
            <a:r>
              <a:rPr lang="en-US" sz="1600" dirty="0"/>
              <a:t> in </a:t>
            </a:r>
            <a:r>
              <a:rPr lang="en-US" sz="1600" b="1" dirty="0" smtClean="0"/>
              <a:t>1959 </a:t>
            </a:r>
            <a:r>
              <a:rPr lang="en-US" sz="1600" dirty="0"/>
              <a:t>stated </a:t>
            </a:r>
            <a:r>
              <a:rPr lang="en-US" sz="1600" dirty="0" smtClean="0"/>
              <a:t>that</a:t>
            </a:r>
          </a:p>
          <a:p>
            <a:pPr>
              <a:buNone/>
            </a:pPr>
            <a:r>
              <a:rPr lang="en-US" sz="1600" dirty="0" smtClean="0"/>
              <a:t>	</a:t>
            </a:r>
            <a:r>
              <a:rPr lang="en-US" sz="1600" b="1" dirty="0" smtClean="0">
                <a:solidFill>
                  <a:srgbClr val="00B0F0"/>
                </a:solidFill>
              </a:rPr>
              <a:t> </a:t>
            </a:r>
            <a:r>
              <a:rPr lang="en-US" sz="1600" b="1" dirty="0">
                <a:solidFill>
                  <a:srgbClr val="00B0F0"/>
                </a:solidFill>
              </a:rPr>
              <a:t>“it gives computers the ability to learn without being explicitly programmed”.</a:t>
            </a:r>
            <a:r>
              <a:rPr lang="en-US" sz="1600" b="1" dirty="0">
                <a:solidFill>
                  <a:schemeClr val="accent5">
                    <a:lumMod val="50000"/>
                  </a:schemeClr>
                </a:solidFill>
              </a:rPr>
              <a:t> </a:t>
            </a:r>
          </a:p>
          <a:p>
            <a:pPr>
              <a:buNone/>
            </a:pPr>
            <a:r>
              <a:rPr lang="en-US" sz="1600" dirty="0" smtClean="0"/>
              <a:t>1997</a:t>
            </a:r>
            <a:r>
              <a:rPr lang="en-US" sz="1600" dirty="0"/>
              <a:t>, Tom Mitchell gave a </a:t>
            </a:r>
            <a:r>
              <a:rPr lang="en-US" sz="1600" dirty="0">
                <a:solidFill>
                  <a:srgbClr val="00B0F0"/>
                </a:solidFill>
              </a:rPr>
              <a:t>“well-posed” </a:t>
            </a:r>
            <a:r>
              <a:rPr lang="en-US" sz="1600" dirty="0"/>
              <a:t>mathematical and relational definition that </a:t>
            </a:r>
            <a:endParaRPr lang="en-US" sz="1600" dirty="0" smtClean="0"/>
          </a:p>
          <a:p>
            <a:pPr>
              <a:buNone/>
            </a:pPr>
            <a:r>
              <a:rPr lang="en-US" sz="1600" dirty="0" smtClean="0">
                <a:solidFill>
                  <a:srgbClr val="00B0F0"/>
                </a:solidFill>
              </a:rPr>
              <a:t>       </a:t>
            </a:r>
            <a:r>
              <a:rPr lang="en-US" sz="1600" b="1" dirty="0" smtClean="0">
                <a:solidFill>
                  <a:srgbClr val="00B0F0"/>
                </a:solidFill>
              </a:rPr>
              <a:t>“</a:t>
            </a:r>
            <a:r>
              <a:rPr lang="en-US" sz="1600" b="1" dirty="0">
                <a:solidFill>
                  <a:srgbClr val="00B0F0"/>
                </a:solidFill>
              </a:rPr>
              <a:t>A computer program is said to learn from experience E with respect to some task T and some performance measure P, if its performance on T, as measured by P, improves with </a:t>
            </a:r>
            <a:r>
              <a:rPr lang="en-US" sz="1600" b="1" dirty="0" smtClean="0">
                <a:solidFill>
                  <a:srgbClr val="00B0F0"/>
                </a:solidFill>
              </a:rPr>
              <a:t>experience </a:t>
            </a:r>
            <a:r>
              <a:rPr lang="en-US" sz="1600" b="1" dirty="0">
                <a:solidFill>
                  <a:srgbClr val="00B0F0"/>
                </a:solidFill>
              </a:rPr>
              <a:t>E</a:t>
            </a:r>
            <a:r>
              <a:rPr lang="en-US" sz="1600" b="1" dirty="0" smtClean="0">
                <a:solidFill>
                  <a:srgbClr val="00B0F0"/>
                </a:solidFill>
              </a:rPr>
              <a:t>.”</a:t>
            </a:r>
            <a:r>
              <a:rPr lang="en-US" sz="1600" b="1" dirty="0">
                <a:solidFill>
                  <a:srgbClr val="00B0F0"/>
                </a:solidFill>
              </a:rPr>
              <a:t> </a:t>
            </a:r>
            <a:endParaRPr lang="en-US" sz="1600" b="1" dirty="0" smtClean="0">
              <a:solidFill>
                <a:srgbClr val="00B0F0"/>
              </a:solidFill>
            </a:endParaRPr>
          </a:p>
        </p:txBody>
      </p:sp>
      <p:sp>
        <p:nvSpPr>
          <p:cNvPr id="5" name="Slide Number Placeholder 4"/>
          <p:cNvSpPr>
            <a:spLocks noGrp="1"/>
          </p:cNvSpPr>
          <p:nvPr>
            <p:ph type="sldNum" sz="quarter" idx="12"/>
          </p:nvPr>
        </p:nvSpPr>
        <p:spPr/>
        <p:txBody>
          <a:bodyPr/>
          <a:lstStyle/>
          <a:p>
            <a:fld id="{DB6493C8-4037-41B7-9351-27D678274CF3}"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
            <a:ext cx="7924800" cy="960438"/>
          </a:xfrm>
        </p:spPr>
        <p:txBody>
          <a:bodyPr>
            <a:normAutofit fontScale="90000"/>
          </a:bodyPr>
          <a:lstStyle/>
          <a:p>
            <a:r>
              <a:rPr lang="en-US" sz="4000" dirty="0" smtClean="0">
                <a:solidFill>
                  <a:srgbClr val="C00000"/>
                </a:solidFill>
              </a:rPr>
              <a:t/>
            </a:r>
            <a:br>
              <a:rPr lang="en-US" sz="4000" dirty="0" smtClean="0">
                <a:solidFill>
                  <a:srgbClr val="C00000"/>
                </a:solidFill>
              </a:rPr>
            </a:br>
            <a:r>
              <a:rPr lang="en-US" sz="4000" dirty="0" smtClean="0">
                <a:solidFill>
                  <a:srgbClr val="C00000"/>
                </a:solidFill>
              </a:rPr>
              <a:t/>
            </a:r>
            <a:br>
              <a:rPr lang="en-US" sz="4000" dirty="0" smtClean="0">
                <a:solidFill>
                  <a:srgbClr val="C00000"/>
                </a:solidFill>
              </a:rPr>
            </a:br>
            <a:r>
              <a:rPr lang="en-US" sz="4000" dirty="0" smtClean="0">
                <a:solidFill>
                  <a:srgbClr val="C00000"/>
                </a:solidFill>
              </a:rPr>
              <a:t/>
            </a:r>
            <a:br>
              <a:rPr lang="en-US" sz="4000" dirty="0" smtClean="0">
                <a:solidFill>
                  <a:srgbClr val="C00000"/>
                </a:solidFill>
              </a:rPr>
            </a:br>
            <a:r>
              <a:rPr lang="en-US" sz="4000" dirty="0" smtClean="0">
                <a:solidFill>
                  <a:srgbClr val="C00000"/>
                </a:solidFill>
              </a:rPr>
              <a:t/>
            </a:r>
            <a:br>
              <a:rPr lang="en-US" sz="4000" dirty="0" smtClean="0">
                <a:solidFill>
                  <a:srgbClr val="C00000"/>
                </a:solidFill>
              </a:rPr>
            </a:br>
            <a:r>
              <a:rPr lang="en-US" sz="4000" dirty="0" smtClean="0">
                <a:solidFill>
                  <a:srgbClr val="C00000"/>
                </a:solidFill>
              </a:rPr>
              <a:t/>
            </a:r>
            <a:br>
              <a:rPr lang="en-US" sz="4000" dirty="0" smtClean="0">
                <a:solidFill>
                  <a:srgbClr val="C00000"/>
                </a:solidFill>
              </a:rPr>
            </a:br>
            <a:r>
              <a:rPr lang="en-US" sz="4000" dirty="0" smtClean="0">
                <a:solidFill>
                  <a:srgbClr val="C00000"/>
                </a:solidFill>
              </a:rPr>
              <a:t/>
            </a:r>
            <a:br>
              <a:rPr lang="en-US" sz="4000" dirty="0" smtClean="0">
                <a:solidFill>
                  <a:srgbClr val="C00000"/>
                </a:solidFill>
              </a:rPr>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sz="5400" dirty="0" smtClean="0">
                <a:solidFill>
                  <a:srgbClr val="C00000"/>
                </a:solidFill>
              </a:rPr>
              <a:t/>
            </a:r>
            <a:br>
              <a:rPr lang="en-US" sz="5400" dirty="0" smtClean="0">
                <a:solidFill>
                  <a:srgbClr val="C00000"/>
                </a:solidFill>
              </a:rPr>
            </a:br>
            <a:r>
              <a:rPr lang="en-US" sz="5400" dirty="0" smtClean="0">
                <a:solidFill>
                  <a:srgbClr val="C00000"/>
                </a:solidFill>
              </a:rPr>
              <a:t> </a:t>
            </a:r>
            <a:r>
              <a:rPr lang="en-US" sz="3600" dirty="0" smtClean="0">
                <a:solidFill>
                  <a:srgbClr val="C00000"/>
                </a:solidFill>
              </a:rPr>
              <a:t>How does Machine Learning work</a:t>
            </a:r>
            <a:endParaRPr lang="en-US" sz="3600" dirty="0"/>
          </a:p>
        </p:txBody>
      </p:sp>
      <p:sp>
        <p:nvSpPr>
          <p:cNvPr id="3" name="Content Placeholder 2"/>
          <p:cNvSpPr>
            <a:spLocks noGrp="1"/>
          </p:cNvSpPr>
          <p:nvPr>
            <p:ph sz="half" idx="1"/>
          </p:nvPr>
        </p:nvSpPr>
        <p:spPr>
          <a:xfrm>
            <a:off x="685800" y="1828800"/>
            <a:ext cx="8229600" cy="4724400"/>
          </a:xfrm>
        </p:spPr>
        <p:txBody>
          <a:bodyPr/>
          <a:lstStyle/>
          <a:p>
            <a:r>
              <a:rPr lang="en-US" sz="2000" dirty="0"/>
              <a:t>A Machine Learning system </a:t>
            </a:r>
            <a:r>
              <a:rPr lang="en-US" sz="2000" b="1" dirty="0"/>
              <a:t>learns from historical data, builds the prediction models, and whenever it receives new data, predicts the output for it</a:t>
            </a:r>
            <a:r>
              <a:rPr lang="en-US" sz="2000" dirty="0" smtClean="0"/>
              <a:t>.</a:t>
            </a:r>
          </a:p>
          <a:p>
            <a:r>
              <a:rPr lang="en-US" sz="2000" dirty="0"/>
              <a:t>Suppose we have a complex problem, where we need to perform some predictions, so instead of writing a code for it, we just need to feed the data to generic algorithms, and with the help of these algorithms, machine builds the logic as per the data and predict the output. </a:t>
            </a:r>
            <a:r>
              <a:rPr lang="en-US" dirty="0"/>
              <a:t> </a:t>
            </a:r>
          </a:p>
        </p:txBody>
      </p:sp>
      <p:pic>
        <p:nvPicPr>
          <p:cNvPr id="3074" name="Picture 2" descr="C:\Users\arya\Downloads\Images-Slides ML\what-is-machine-learning-1.png"/>
          <p:cNvPicPr>
            <a:picLocks noChangeAspect="1" noChangeArrowheads="1"/>
          </p:cNvPicPr>
          <p:nvPr/>
        </p:nvPicPr>
        <p:blipFill>
          <a:blip r:embed="rId2"/>
          <a:srcRect/>
          <a:stretch>
            <a:fillRect/>
          </a:stretch>
        </p:blipFill>
        <p:spPr bwMode="auto">
          <a:xfrm>
            <a:off x="138545" y="4267200"/>
            <a:ext cx="8700655" cy="2133600"/>
          </a:xfrm>
          <a:prstGeom prst="rect">
            <a:avLst/>
          </a:prstGeom>
          <a:noFill/>
        </p:spPr>
      </p:pic>
      <p:sp>
        <p:nvSpPr>
          <p:cNvPr id="5" name="Slide Number Placeholder 4"/>
          <p:cNvSpPr>
            <a:spLocks noGrp="1"/>
          </p:cNvSpPr>
          <p:nvPr>
            <p:ph type="sldNum" sz="quarter" idx="12"/>
          </p:nvPr>
        </p:nvSpPr>
        <p:spPr/>
        <p:txBody>
          <a:bodyPr/>
          <a:lstStyle/>
          <a:p>
            <a:fld id="{DB6493C8-4037-41B7-9351-27D678274CF3}"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rya\Downloads\Images-Slides ML\How_Does_Machine_Learning_Work.png"/>
          <p:cNvPicPr>
            <a:picLocks noGrp="1" noChangeAspect="1" noChangeArrowheads="1"/>
          </p:cNvPicPr>
          <p:nvPr>
            <p:ph sz="half" idx="1"/>
          </p:nvPr>
        </p:nvPicPr>
        <p:blipFill>
          <a:blip r:embed="rId2"/>
          <a:srcRect/>
          <a:stretch>
            <a:fillRect/>
          </a:stretch>
        </p:blipFill>
        <p:spPr bwMode="auto">
          <a:xfrm>
            <a:off x="457200" y="457200"/>
            <a:ext cx="8382000" cy="6342933"/>
          </a:xfrm>
          <a:prstGeom prst="rect">
            <a:avLst/>
          </a:prstGeom>
          <a:noFill/>
        </p:spPr>
      </p:pic>
      <p:sp>
        <p:nvSpPr>
          <p:cNvPr id="3" name="Slide Number Placeholder 2"/>
          <p:cNvSpPr>
            <a:spLocks noGrp="1"/>
          </p:cNvSpPr>
          <p:nvPr>
            <p:ph type="sldNum" sz="quarter" idx="12"/>
          </p:nvPr>
        </p:nvSpPr>
        <p:spPr/>
        <p:txBody>
          <a:bodyPr/>
          <a:lstStyle/>
          <a:p>
            <a:fld id="{DB6493C8-4037-41B7-9351-27D678274CF3}"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3"/>
          <p:cNvSpPr>
            <a:spLocks noGrp="1"/>
          </p:cNvSpPr>
          <p:nvPr>
            <p:ph sz="half" idx="1"/>
          </p:nvPr>
        </p:nvSpPr>
        <p:spPr>
          <a:xfrm>
            <a:off x="457200" y="228600"/>
            <a:ext cx="8382000" cy="6324600"/>
          </a:xfrm>
        </p:spPr>
        <p:txBody>
          <a:bodyPr/>
          <a:lstStyle/>
          <a:p>
            <a:pPr>
              <a:buNone/>
            </a:pPr>
            <a:endParaRPr lang="en-US" dirty="0" smtClean="0">
              <a:solidFill>
                <a:schemeClr val="accent1">
                  <a:lumMod val="75000"/>
                </a:schemeClr>
              </a:solidFill>
            </a:endParaRPr>
          </a:p>
          <a:p>
            <a:pPr>
              <a:buNone/>
            </a:pPr>
            <a:endParaRPr lang="en-US" dirty="0" smtClean="0">
              <a:solidFill>
                <a:schemeClr val="accent1">
                  <a:lumMod val="75000"/>
                </a:schemeClr>
              </a:solidFill>
            </a:endParaRPr>
          </a:p>
          <a:p>
            <a:pPr>
              <a:buNone/>
            </a:pPr>
            <a:r>
              <a:rPr lang="en-US" dirty="0" smtClean="0">
                <a:solidFill>
                  <a:schemeClr val="accent1">
                    <a:lumMod val="75000"/>
                  </a:schemeClr>
                </a:solidFill>
              </a:rPr>
              <a:t>Features </a:t>
            </a:r>
            <a:r>
              <a:rPr lang="en-US" dirty="0">
                <a:solidFill>
                  <a:schemeClr val="accent1">
                    <a:lumMod val="75000"/>
                  </a:schemeClr>
                </a:solidFill>
              </a:rPr>
              <a:t>of Machine Learning</a:t>
            </a:r>
            <a:r>
              <a:rPr lang="en-US" dirty="0" smtClean="0">
                <a:solidFill>
                  <a:schemeClr val="accent1">
                    <a:lumMod val="75000"/>
                  </a:schemeClr>
                </a:solidFill>
              </a:rPr>
              <a:t>:</a:t>
            </a:r>
          </a:p>
          <a:p>
            <a:pPr>
              <a:buNone/>
            </a:pPr>
            <a:endParaRPr lang="en-US" dirty="0">
              <a:solidFill>
                <a:schemeClr val="accent5">
                  <a:lumMod val="75000"/>
                </a:schemeClr>
              </a:solidFill>
            </a:endParaRPr>
          </a:p>
          <a:p>
            <a:r>
              <a:rPr lang="en-US" sz="2000" dirty="0"/>
              <a:t>Machine learning uses data to detect various patterns in a given dataset.</a:t>
            </a:r>
          </a:p>
          <a:p>
            <a:r>
              <a:rPr lang="en-US" sz="2000" dirty="0"/>
              <a:t>It can learn from past data and improve automatically.</a:t>
            </a:r>
          </a:p>
          <a:p>
            <a:r>
              <a:rPr lang="en-US" sz="2000" dirty="0"/>
              <a:t>It is a data-driven technology.</a:t>
            </a:r>
          </a:p>
          <a:p>
            <a:r>
              <a:rPr lang="en-US" sz="2000" dirty="0"/>
              <a:t>Machine learning is much similar to data mining as it also deals with the huge amount of the data</a:t>
            </a:r>
            <a:r>
              <a:rPr lang="en-US" sz="2000" dirty="0" smtClean="0"/>
              <a:t>.</a:t>
            </a:r>
          </a:p>
          <a:p>
            <a:pPr>
              <a:buNone/>
            </a:pPr>
            <a:endParaRPr lang="en-US" sz="2000" dirty="0"/>
          </a:p>
          <a:p>
            <a:pPr>
              <a:buNone/>
            </a:pPr>
            <a:r>
              <a:rPr lang="en-US" sz="2000" b="1" dirty="0" smtClean="0"/>
              <a:t>The </a:t>
            </a:r>
            <a:r>
              <a:rPr lang="en-US" sz="2000" b="1" dirty="0"/>
              <a:t>importance of Machine Learning:</a:t>
            </a:r>
            <a:endParaRPr lang="en-US" sz="2000" dirty="0"/>
          </a:p>
          <a:p>
            <a:r>
              <a:rPr lang="en-US" sz="2000" dirty="0"/>
              <a:t>Rapid increment in the production of data</a:t>
            </a:r>
          </a:p>
          <a:p>
            <a:r>
              <a:rPr lang="en-US" sz="2000" dirty="0"/>
              <a:t>Solving complex problems, which are difficult for a human</a:t>
            </a:r>
          </a:p>
          <a:p>
            <a:r>
              <a:rPr lang="en-US" sz="2000" dirty="0"/>
              <a:t>Decision making in various sector including finance</a:t>
            </a:r>
          </a:p>
          <a:p>
            <a:r>
              <a:rPr lang="en-US" sz="2000" dirty="0"/>
              <a:t>Finding hidden patterns and extracting useful information from data.</a:t>
            </a:r>
          </a:p>
          <a:p>
            <a:endParaRPr lang="en-US" dirty="0"/>
          </a:p>
        </p:txBody>
      </p:sp>
      <p:sp>
        <p:nvSpPr>
          <p:cNvPr id="3" name="Slide Number Placeholder 2"/>
          <p:cNvSpPr>
            <a:spLocks noGrp="1"/>
          </p:cNvSpPr>
          <p:nvPr>
            <p:ph type="sldNum" sz="quarter" idx="12"/>
          </p:nvPr>
        </p:nvSpPr>
        <p:spPr/>
        <p:txBody>
          <a:bodyPr/>
          <a:lstStyle/>
          <a:p>
            <a:fld id="{DB6493C8-4037-41B7-9351-27D678274CF3}"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Machine Learning</a:t>
            </a:r>
            <a:endParaRPr lang="en-US" dirty="0"/>
          </a:p>
        </p:txBody>
      </p:sp>
      <p:pic>
        <p:nvPicPr>
          <p:cNvPr id="6146" name="Picture 2" descr="C:\Users\arya\Downloads\Images-Slides ML\MachineLearning.png"/>
          <p:cNvPicPr>
            <a:picLocks noGrp="1" noChangeAspect="1" noChangeArrowheads="1"/>
          </p:cNvPicPr>
          <p:nvPr>
            <p:ph sz="half" idx="1"/>
          </p:nvPr>
        </p:nvPicPr>
        <p:blipFill>
          <a:blip r:embed="rId2"/>
          <a:srcRect/>
          <a:stretch>
            <a:fillRect/>
          </a:stretch>
        </p:blipFill>
        <p:spPr bwMode="auto">
          <a:xfrm>
            <a:off x="1066800" y="1952624"/>
            <a:ext cx="7848599" cy="4905375"/>
          </a:xfrm>
          <a:prstGeom prst="rect">
            <a:avLst/>
          </a:prstGeom>
          <a:noFill/>
        </p:spPr>
      </p:pic>
      <p:sp>
        <p:nvSpPr>
          <p:cNvPr id="4" name="Slide Number Placeholder 3"/>
          <p:cNvSpPr>
            <a:spLocks noGrp="1"/>
          </p:cNvSpPr>
          <p:nvPr>
            <p:ph type="sldNum" sz="quarter" idx="12"/>
          </p:nvPr>
        </p:nvSpPr>
        <p:spPr/>
        <p:txBody>
          <a:bodyPr/>
          <a:lstStyle/>
          <a:p>
            <a:fld id="{DB6493C8-4037-41B7-9351-27D678274CF3}"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C00000"/>
                </a:solidFill>
              </a:rPr>
              <a:t>Applications of Machine learning</a:t>
            </a:r>
            <a:br>
              <a:rPr lang="en-US" dirty="0">
                <a:solidFill>
                  <a:srgbClr val="C00000"/>
                </a:solidFill>
              </a:rPr>
            </a:br>
            <a:endParaRPr lang="en-US" dirty="0">
              <a:solidFill>
                <a:srgbClr val="C00000"/>
              </a:solidFill>
            </a:endParaRPr>
          </a:p>
        </p:txBody>
      </p:sp>
      <p:pic>
        <p:nvPicPr>
          <p:cNvPr id="5" name="Content Placeholder 4" descr="1_zHuGSwosBKFOZNKweIpWqw.jpeg"/>
          <p:cNvPicPr>
            <a:picLocks noGrp="1" noChangeAspect="1"/>
          </p:cNvPicPr>
          <p:nvPr>
            <p:ph sz="half" idx="1"/>
          </p:nvPr>
        </p:nvPicPr>
        <p:blipFill>
          <a:blip r:embed="rId2"/>
          <a:stretch>
            <a:fillRect/>
          </a:stretch>
        </p:blipFill>
        <p:spPr>
          <a:xfrm>
            <a:off x="880030" y="1143000"/>
            <a:ext cx="7959170" cy="5690806"/>
          </a:xfrm>
        </p:spPr>
      </p:pic>
      <p:sp>
        <p:nvSpPr>
          <p:cNvPr id="4" name="Slide Number Placeholder 3"/>
          <p:cNvSpPr>
            <a:spLocks noGrp="1"/>
          </p:cNvSpPr>
          <p:nvPr>
            <p:ph type="sldNum" sz="quarter" idx="12"/>
          </p:nvPr>
        </p:nvSpPr>
        <p:spPr/>
        <p:txBody>
          <a:bodyPr/>
          <a:lstStyle/>
          <a:p>
            <a:fld id="{DB6493C8-4037-41B7-9351-27D678274CF3}"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1143000"/>
          </a:xfrm>
        </p:spPr>
        <p:txBody>
          <a:bodyPr>
            <a:noAutofit/>
          </a:bodyPr>
          <a:lstStyle/>
          <a:p>
            <a:r>
              <a:rPr lang="en-US" sz="3600" dirty="0" smtClean="0">
                <a:solidFill>
                  <a:srgbClr val="C00000"/>
                </a:solidFill>
              </a:rPr>
              <a:t/>
            </a:r>
            <a:br>
              <a:rPr lang="en-US" sz="3600" dirty="0" smtClean="0">
                <a:solidFill>
                  <a:srgbClr val="C00000"/>
                </a:solidFill>
              </a:rPr>
            </a:br>
            <a:r>
              <a:rPr lang="en-US" sz="3600" dirty="0" smtClean="0">
                <a:solidFill>
                  <a:srgbClr val="C00000"/>
                </a:solidFill>
              </a:rPr>
              <a:t/>
            </a:r>
            <a:br>
              <a:rPr lang="en-US" sz="3600" dirty="0" smtClean="0">
                <a:solidFill>
                  <a:srgbClr val="C00000"/>
                </a:solidFill>
              </a:rPr>
            </a:br>
            <a:r>
              <a:rPr lang="en-US" sz="3600" dirty="0" smtClean="0">
                <a:solidFill>
                  <a:srgbClr val="C00000"/>
                </a:solidFill>
              </a:rPr>
              <a:t/>
            </a:r>
            <a:br>
              <a:rPr lang="en-US" sz="3600" dirty="0" smtClean="0">
                <a:solidFill>
                  <a:srgbClr val="C00000"/>
                </a:solidFill>
              </a:rPr>
            </a:br>
            <a:r>
              <a:rPr lang="en-US" sz="3600" dirty="0" smtClean="0">
                <a:solidFill>
                  <a:srgbClr val="C00000"/>
                </a:solidFill>
              </a:rPr>
              <a:t/>
            </a:r>
            <a:br>
              <a:rPr lang="en-US" sz="3600" dirty="0" smtClean="0">
                <a:solidFill>
                  <a:srgbClr val="C00000"/>
                </a:solidFill>
              </a:rPr>
            </a:br>
            <a:r>
              <a:rPr lang="en-US" sz="3600" dirty="0" smtClean="0">
                <a:solidFill>
                  <a:srgbClr val="C00000"/>
                </a:solidFill>
              </a:rPr>
              <a:t/>
            </a:r>
            <a:br>
              <a:rPr lang="en-US" sz="3600" dirty="0" smtClean="0">
                <a:solidFill>
                  <a:srgbClr val="C00000"/>
                </a:solidFill>
              </a:rPr>
            </a:br>
            <a:r>
              <a:rPr lang="en-US" sz="3600" dirty="0" smtClean="0">
                <a:solidFill>
                  <a:srgbClr val="C00000"/>
                </a:solidFill>
              </a:rPr>
              <a:t/>
            </a:r>
            <a:br>
              <a:rPr lang="en-US" sz="3600" dirty="0" smtClean="0">
                <a:solidFill>
                  <a:srgbClr val="C00000"/>
                </a:solidFill>
              </a:rPr>
            </a:br>
            <a:endParaRPr lang="en-US" sz="3600" dirty="0">
              <a:solidFill>
                <a:srgbClr val="C00000"/>
              </a:solidFill>
            </a:endParaRPr>
          </a:p>
        </p:txBody>
      </p:sp>
      <p:pic>
        <p:nvPicPr>
          <p:cNvPr id="7170" name="Picture 2" descr="C:\Users\arya\Downloads\Images-Slides ML\machine-learning-life-cycle.png"/>
          <p:cNvPicPr>
            <a:picLocks noGrp="1" noChangeAspect="1" noChangeArrowheads="1"/>
          </p:cNvPicPr>
          <p:nvPr>
            <p:ph sz="half" idx="2"/>
          </p:nvPr>
        </p:nvPicPr>
        <p:blipFill>
          <a:blip r:embed="rId2"/>
          <a:srcRect/>
          <a:stretch>
            <a:fillRect/>
          </a:stretch>
        </p:blipFill>
        <p:spPr bwMode="auto">
          <a:xfrm>
            <a:off x="762000" y="1981200"/>
            <a:ext cx="7772400" cy="4470130"/>
          </a:xfrm>
          <a:prstGeom prst="rect">
            <a:avLst/>
          </a:prstGeom>
          <a:noFill/>
        </p:spPr>
      </p:pic>
      <p:sp>
        <p:nvSpPr>
          <p:cNvPr id="4" name="Rectangle 3"/>
          <p:cNvSpPr/>
          <p:nvPr/>
        </p:nvSpPr>
        <p:spPr>
          <a:xfrm>
            <a:off x="762000" y="838200"/>
            <a:ext cx="7620000" cy="461665"/>
          </a:xfrm>
          <a:prstGeom prst="rect">
            <a:avLst/>
          </a:prstGeom>
        </p:spPr>
        <p:txBody>
          <a:bodyPr wrap="square">
            <a:spAutoFit/>
          </a:bodyPr>
          <a:lstStyle/>
          <a:p>
            <a:r>
              <a:rPr lang="en-US" sz="2400" dirty="0" smtClean="0">
                <a:solidFill>
                  <a:srgbClr val="C00000"/>
                </a:solidFill>
              </a:rPr>
              <a:t>Machine learning Life cycle</a:t>
            </a:r>
            <a:endParaRPr lang="en-US" sz="2400" dirty="0"/>
          </a:p>
        </p:txBody>
      </p:sp>
      <p:sp>
        <p:nvSpPr>
          <p:cNvPr id="5" name="Slide Number Placeholder 4"/>
          <p:cNvSpPr>
            <a:spLocks noGrp="1"/>
          </p:cNvSpPr>
          <p:nvPr>
            <p:ph type="sldNum" sz="quarter" idx="12"/>
          </p:nvPr>
        </p:nvSpPr>
        <p:spPr/>
        <p:txBody>
          <a:bodyPr/>
          <a:lstStyle/>
          <a:p>
            <a:fld id="{DB6493C8-4037-41B7-9351-27D678274CF3}"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smtClean="0">
                <a:solidFill>
                  <a:srgbClr val="C00000"/>
                </a:solidFill>
              </a:rPr>
              <a:t>Difference between Artificial intelligence and Machine learning</a:t>
            </a:r>
            <a:br>
              <a:rPr lang="en-US" sz="3200" dirty="0" smtClean="0">
                <a:solidFill>
                  <a:srgbClr val="C00000"/>
                </a:solidFill>
              </a:rPr>
            </a:br>
            <a:endParaRPr lang="en-US" sz="3200" dirty="0"/>
          </a:p>
        </p:txBody>
      </p:sp>
      <p:sp>
        <p:nvSpPr>
          <p:cNvPr id="3" name="Content Placeholder 2"/>
          <p:cNvSpPr>
            <a:spLocks noGrp="1"/>
          </p:cNvSpPr>
          <p:nvPr>
            <p:ph sz="half" idx="1"/>
          </p:nvPr>
        </p:nvSpPr>
        <p:spPr>
          <a:xfrm>
            <a:off x="533400" y="1371600"/>
            <a:ext cx="8153400" cy="4754563"/>
          </a:xfrm>
        </p:spPr>
        <p:txBody>
          <a:bodyPr>
            <a:normAutofit/>
          </a:bodyPr>
          <a:lstStyle/>
          <a:p>
            <a:pPr>
              <a:buNone/>
            </a:pPr>
            <a:r>
              <a:rPr lang="en-US" sz="2400" dirty="0" smtClean="0"/>
              <a:t>AI: AI is a bigger concept to create intelligent machines that can simulate human thinking capability and behavior, whereas, machine learning is an application or subset of AI that allows machines to learn from data without being programmed explicitly.</a:t>
            </a:r>
          </a:p>
          <a:p>
            <a:pPr>
              <a:buNone/>
            </a:pPr>
            <a:endParaRPr lang="en-US" sz="2400" dirty="0" smtClean="0"/>
          </a:p>
          <a:p>
            <a:pPr>
              <a:buNone/>
            </a:pPr>
            <a:r>
              <a:rPr lang="en-US" sz="2400" dirty="0" smtClean="0"/>
              <a:t>ML: Machine learning is a subfield of artificial intelligence, which enables machines to learn from past data or experiences without being explicitly programmed</a:t>
            </a:r>
            <a:r>
              <a:rPr lang="en-US" i="1" dirty="0" smtClean="0"/>
              <a:t>.</a:t>
            </a:r>
            <a:endParaRPr lang="en-US" i="1" dirty="0"/>
          </a:p>
        </p:txBody>
      </p:sp>
      <p:sp>
        <p:nvSpPr>
          <p:cNvPr id="4" name="Slide Number Placeholder 3"/>
          <p:cNvSpPr>
            <a:spLocks noGrp="1"/>
          </p:cNvSpPr>
          <p:nvPr>
            <p:ph type="sldNum" sz="quarter" idx="12"/>
          </p:nvPr>
        </p:nvSpPr>
        <p:spPr/>
        <p:txBody>
          <a:bodyPr/>
          <a:lstStyle/>
          <a:p>
            <a:fld id="{DB6493C8-4037-41B7-9351-27D678274CF3}"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dirty="0" smtClean="0">
                <a:solidFill>
                  <a:srgbClr val="C00000"/>
                </a:solidFill>
              </a:rPr>
              <a:t/>
            </a:r>
            <a:br>
              <a:rPr lang="en-US" sz="3100" dirty="0" smtClean="0">
                <a:solidFill>
                  <a:srgbClr val="C00000"/>
                </a:solidFill>
              </a:rPr>
            </a:br>
            <a:r>
              <a:rPr lang="en-US" dirty="0" smtClean="0"/>
              <a:t/>
            </a:r>
            <a:br>
              <a:rPr lang="en-US" dirty="0" smtClean="0"/>
            </a:br>
            <a:endParaRPr lang="en-US" dirty="0"/>
          </a:p>
        </p:txBody>
      </p:sp>
      <p:pic>
        <p:nvPicPr>
          <p:cNvPr id="8194" name="Picture 2" descr="C:\Users\arya\Downloads\Images-Slides ML\difference-b-w-artificial-intelligence-and-machine-learning (1).png"/>
          <p:cNvPicPr>
            <a:picLocks noGrp="1" noChangeAspect="1" noChangeArrowheads="1"/>
          </p:cNvPicPr>
          <p:nvPr>
            <p:ph sz="half" idx="1"/>
          </p:nvPr>
        </p:nvPicPr>
        <p:blipFill>
          <a:blip r:embed="rId2"/>
          <a:srcRect/>
          <a:stretch>
            <a:fillRect/>
          </a:stretch>
        </p:blipFill>
        <p:spPr bwMode="auto">
          <a:xfrm>
            <a:off x="762000" y="1828800"/>
            <a:ext cx="8030860" cy="4648200"/>
          </a:xfrm>
          <a:prstGeom prst="rect">
            <a:avLst/>
          </a:prstGeom>
          <a:noFill/>
        </p:spPr>
      </p:pic>
      <p:sp>
        <p:nvSpPr>
          <p:cNvPr id="4" name="Rectangle 3"/>
          <p:cNvSpPr/>
          <p:nvPr/>
        </p:nvSpPr>
        <p:spPr>
          <a:xfrm>
            <a:off x="838200" y="609601"/>
            <a:ext cx="7848600" cy="1569660"/>
          </a:xfrm>
          <a:prstGeom prst="rect">
            <a:avLst/>
          </a:prstGeom>
        </p:spPr>
        <p:txBody>
          <a:bodyPr wrap="square">
            <a:spAutoFit/>
          </a:bodyPr>
          <a:lstStyle/>
          <a:p>
            <a:r>
              <a:rPr lang="en-US" sz="2400" dirty="0" smtClean="0">
                <a:solidFill>
                  <a:srgbClr val="C00000"/>
                </a:solidFill>
              </a:rPr>
              <a:t/>
            </a:r>
            <a:br>
              <a:rPr lang="en-US" sz="2400" dirty="0" smtClean="0">
                <a:solidFill>
                  <a:srgbClr val="C00000"/>
                </a:solidFill>
              </a:rPr>
            </a:br>
            <a:r>
              <a:rPr lang="en-US" sz="2400" dirty="0" smtClean="0">
                <a:solidFill>
                  <a:srgbClr val="C00000"/>
                </a:solidFill>
              </a:rPr>
              <a:t>Difference between Artificial intelligence and Machine learning</a:t>
            </a:r>
            <a:br>
              <a:rPr lang="en-US" sz="2400" dirty="0" smtClean="0">
                <a:solidFill>
                  <a:srgbClr val="C00000"/>
                </a:solidFill>
              </a:rPr>
            </a:br>
            <a:endParaRPr lang="en-US" sz="2400" dirty="0"/>
          </a:p>
        </p:txBody>
      </p:sp>
      <p:sp>
        <p:nvSpPr>
          <p:cNvPr id="5" name="Slide Number Placeholder 4"/>
          <p:cNvSpPr>
            <a:spLocks noGrp="1"/>
          </p:cNvSpPr>
          <p:nvPr>
            <p:ph type="sldNum" sz="quarter" idx="12"/>
          </p:nvPr>
        </p:nvSpPr>
        <p:spPr/>
        <p:txBody>
          <a:bodyPr/>
          <a:lstStyle/>
          <a:p>
            <a:fld id="{DB6493C8-4037-41B7-9351-27D678274CF3}"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Learning?</a:t>
            </a:r>
            <a:endParaRPr lang="en-US" dirty="0"/>
          </a:p>
        </p:txBody>
      </p:sp>
      <p:sp>
        <p:nvSpPr>
          <p:cNvPr id="3" name="Content Placeholder 2"/>
          <p:cNvSpPr>
            <a:spLocks noGrp="1"/>
          </p:cNvSpPr>
          <p:nvPr>
            <p:ph idx="1"/>
          </p:nvPr>
        </p:nvSpPr>
        <p:spPr/>
        <p:txBody>
          <a:bodyPr>
            <a:normAutofit lnSpcReduction="10000"/>
          </a:bodyPr>
          <a:lstStyle/>
          <a:p>
            <a:r>
              <a:rPr lang="en-US" dirty="0" smtClean="0"/>
              <a:t>A way of making a computer to learn and act like humans by feeding data and information without being explicitly programmed.</a:t>
            </a:r>
          </a:p>
          <a:p>
            <a:pPr>
              <a:buNone/>
            </a:pPr>
            <a:r>
              <a:rPr lang="en-US" dirty="0" smtClean="0"/>
              <a:t>Basically we can say that machine learning is subset of AI.</a:t>
            </a:r>
          </a:p>
          <a:p>
            <a:r>
              <a:rPr lang="en-US" dirty="0" smtClean="0"/>
              <a:t>There are 3 types of learning:</a:t>
            </a:r>
          </a:p>
          <a:p>
            <a:pPr marL="514350" indent="-514350">
              <a:buFont typeface="+mj-lt"/>
              <a:buAutoNum type="alphaLcParenR"/>
            </a:pPr>
            <a:r>
              <a:rPr lang="en-US" dirty="0" smtClean="0"/>
              <a:t>Supervised Learning</a:t>
            </a:r>
          </a:p>
          <a:p>
            <a:pPr marL="514350" indent="-514350">
              <a:buFont typeface="+mj-lt"/>
              <a:buAutoNum type="alphaLcParenR"/>
            </a:pPr>
            <a:r>
              <a:rPr lang="en-US" dirty="0" smtClean="0"/>
              <a:t>Unsupervised Learning</a:t>
            </a:r>
          </a:p>
          <a:p>
            <a:pPr marL="514350" indent="-514350">
              <a:buFont typeface="+mj-lt"/>
              <a:buAutoNum type="alphaLcParenR"/>
            </a:pPr>
            <a:r>
              <a:rPr lang="en-US" dirty="0" smtClean="0"/>
              <a:t>Reinforcement Learning</a:t>
            </a:r>
          </a:p>
          <a:p>
            <a:pPr>
              <a:buNone/>
            </a:pPr>
            <a:r>
              <a:rPr lang="en-US" dirty="0" smtClean="0"/>
              <a:t> </a:t>
            </a:r>
          </a:p>
          <a:p>
            <a:pPr>
              <a:buNone/>
            </a:pPr>
            <a:endParaRPr lang="en-US"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is Supervised Learning?</a:t>
            </a:r>
            <a:endParaRPr lang="en-US" dirty="0"/>
          </a:p>
        </p:txBody>
      </p:sp>
      <p:sp>
        <p:nvSpPr>
          <p:cNvPr id="3" name="Content Placeholder 2"/>
          <p:cNvSpPr>
            <a:spLocks noGrp="1"/>
          </p:cNvSpPr>
          <p:nvPr>
            <p:ph idx="1"/>
          </p:nvPr>
        </p:nvSpPr>
        <p:spPr/>
        <p:txBody>
          <a:bodyPr>
            <a:noAutofit/>
          </a:bodyPr>
          <a:lstStyle/>
          <a:p>
            <a:endParaRPr lang="en-US" sz="2400" dirty="0" smtClean="0"/>
          </a:p>
          <a:p>
            <a:r>
              <a:rPr lang="en-US" sz="2400" dirty="0" smtClean="0"/>
              <a:t>In </a:t>
            </a:r>
            <a:r>
              <a:rPr lang="en-US" sz="2400" dirty="0"/>
              <a:t>Supervised learning, </a:t>
            </a:r>
            <a:r>
              <a:rPr lang="en-US" sz="2400" dirty="0" smtClean="0"/>
              <a:t>you can  teach </a:t>
            </a:r>
            <a:r>
              <a:rPr lang="en-US" sz="2400" dirty="0"/>
              <a:t>the machine using data which is well </a:t>
            </a:r>
            <a:r>
              <a:rPr lang="en-US" sz="2400" b="1" dirty="0"/>
              <a:t>"labeled</a:t>
            </a:r>
            <a:r>
              <a:rPr lang="en-US" sz="2400" dirty="0"/>
              <a:t>." </a:t>
            </a:r>
            <a:endParaRPr lang="en-US" sz="2400" dirty="0" smtClean="0"/>
          </a:p>
          <a:p>
            <a:r>
              <a:rPr lang="en-US" sz="2400" dirty="0" smtClean="0"/>
              <a:t>It </a:t>
            </a:r>
            <a:r>
              <a:rPr lang="en-US" sz="2400" dirty="0"/>
              <a:t>means some data is already tagged with the correct answer. It can be compared to learning which takes place in the presence of a supervisor or a teacher</a:t>
            </a:r>
            <a:r>
              <a:rPr lang="en-US" sz="2400" dirty="0" smtClean="0"/>
              <a:t>.</a:t>
            </a:r>
          </a:p>
          <a:p>
            <a:r>
              <a:rPr lang="en-US" sz="2400" dirty="0"/>
              <a:t>A supervised learning algorithm learns from labeled training data, helps you to predict outcomes for unforeseen </a:t>
            </a:r>
            <a:r>
              <a:rPr lang="en-US" sz="2400" dirty="0" smtClean="0"/>
              <a:t>data.</a:t>
            </a:r>
          </a:p>
          <a:p>
            <a:r>
              <a:rPr lang="en-US" sz="2400" dirty="0" smtClean="0"/>
              <a:t>Expert Team or Data scientist are required to successfully build supervised model.</a:t>
            </a:r>
          </a:p>
          <a:p>
            <a:pPr>
              <a:buNone/>
            </a:pPr>
            <a:endParaRPr lang="en-US" sz="2400" dirty="0" smtClean="0"/>
          </a:p>
          <a:p>
            <a:endParaRPr lang="en-US" sz="2400" dirty="0"/>
          </a:p>
          <a:p>
            <a:pPr>
              <a:buNone/>
            </a:pPr>
            <a:r>
              <a:rPr lang="en-US" sz="2400" dirty="0" smtClean="0"/>
              <a:t/>
            </a:r>
            <a:br>
              <a:rPr lang="en-US" sz="2400" dirty="0" smtClean="0"/>
            </a:br>
            <a:endParaRPr lang="en-US" sz="2400"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Labeled Data Set?</a:t>
            </a:r>
            <a:endParaRPr lang="en-US" dirty="0"/>
          </a:p>
        </p:txBody>
      </p:sp>
      <p:sp>
        <p:nvSpPr>
          <p:cNvPr id="3" name="Content Placeholder 2"/>
          <p:cNvSpPr>
            <a:spLocks noGrp="1"/>
          </p:cNvSpPr>
          <p:nvPr>
            <p:ph idx="1"/>
          </p:nvPr>
        </p:nvSpPr>
        <p:spPr/>
        <p:txBody>
          <a:bodyPr/>
          <a:lstStyle/>
          <a:p>
            <a:pPr>
              <a:buNone/>
            </a:pPr>
            <a:r>
              <a:rPr lang="en-US" dirty="0" smtClean="0"/>
              <a:t>The data set with output for a given input is called a Labeled Dataset.</a:t>
            </a:r>
          </a:p>
          <a:p>
            <a:pPr>
              <a:buNone/>
            </a:pPr>
            <a:r>
              <a:rPr lang="en-US" dirty="0" smtClean="0"/>
              <a:t>For example:</a:t>
            </a:r>
          </a:p>
          <a:p>
            <a:pPr>
              <a:buNone/>
            </a:pPr>
            <a:r>
              <a:rPr lang="en-US" dirty="0" smtClean="0"/>
              <a:t> </a:t>
            </a:r>
            <a:endParaRPr lang="en-US" dirty="0"/>
          </a:p>
        </p:txBody>
      </p:sp>
      <p:pic>
        <p:nvPicPr>
          <p:cNvPr id="5" name="Picture 4" descr="image-2.jpg"/>
          <p:cNvPicPr>
            <a:picLocks noChangeAspect="1"/>
          </p:cNvPicPr>
          <p:nvPr/>
        </p:nvPicPr>
        <p:blipFill>
          <a:blip r:embed="rId2"/>
          <a:stretch>
            <a:fillRect/>
          </a:stretch>
        </p:blipFill>
        <p:spPr>
          <a:xfrm>
            <a:off x="3581400" y="3276600"/>
            <a:ext cx="3352800" cy="2971800"/>
          </a:xfrm>
          <a:prstGeom prst="rect">
            <a:avLst/>
          </a:prstGeom>
        </p:spPr>
      </p:pic>
      <p:sp>
        <p:nvSpPr>
          <p:cNvPr id="9" name="Slide Number Placeholder 8"/>
          <p:cNvSpPr>
            <a:spLocks noGrp="1"/>
          </p:cNvSpPr>
          <p:nvPr>
            <p:ph type="sldNum" sz="quarter" idx="12"/>
          </p:nvPr>
        </p:nvSpPr>
        <p:spPr/>
        <p:txBody>
          <a:bodyPr/>
          <a:lstStyle/>
          <a:p>
            <a:fld id="{DB6493C8-4037-41B7-9351-27D678274CF3}"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a:t/>
            </a:r>
            <a:br>
              <a:rPr lang="en-US" b="1" dirty="0"/>
            </a:br>
            <a:r>
              <a:rPr lang="en-US" dirty="0"/>
              <a:t/>
            </a:r>
            <a:br>
              <a:rPr lang="en-US" dirty="0"/>
            </a:br>
            <a:r>
              <a:rPr lang="en-US" dirty="0" smtClean="0"/>
              <a:t>Why Supervised Learning?</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t>Supervised </a:t>
            </a:r>
            <a:r>
              <a:rPr lang="en-US" dirty="0"/>
              <a:t>learning allows you to collect data or produce a data output from the previous experience.</a:t>
            </a:r>
          </a:p>
          <a:p>
            <a:r>
              <a:rPr lang="en-US" dirty="0"/>
              <a:t>Helps you to optimize performance criteria using experience</a:t>
            </a:r>
          </a:p>
          <a:p>
            <a:r>
              <a:rPr lang="en-US" dirty="0"/>
              <a:t>Supervised </a:t>
            </a:r>
            <a:r>
              <a:rPr lang="en-US" dirty="0" smtClean="0"/>
              <a:t> </a:t>
            </a:r>
            <a:r>
              <a:rPr lang="en-US" dirty="0"/>
              <a:t>learning helps you to solve various types of real-world computation problems</a:t>
            </a:r>
            <a:r>
              <a:rPr lang="en-US" dirty="0" smtClean="0"/>
              <a:t>.</a:t>
            </a:r>
          </a:p>
          <a:p>
            <a:r>
              <a:rPr lang="en-US" dirty="0" smtClean="0"/>
              <a:t>It is a fast learning mechanism with high accuracy. </a:t>
            </a:r>
            <a:endParaRPr lang="en-US" dirty="0"/>
          </a:p>
          <a:p>
            <a:pPr>
              <a:buNone/>
            </a:pPr>
            <a:endParaRPr lang="en-US"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Type?</a:t>
            </a:r>
            <a:endParaRPr lang="en-US" dirty="0"/>
          </a:p>
        </p:txBody>
      </p:sp>
      <p:sp>
        <p:nvSpPr>
          <p:cNvPr id="3" name="Content Placeholder 2"/>
          <p:cNvSpPr>
            <a:spLocks noGrp="1"/>
          </p:cNvSpPr>
          <p:nvPr>
            <p:ph idx="1"/>
          </p:nvPr>
        </p:nvSpPr>
        <p:spPr/>
        <p:txBody>
          <a:bodyPr/>
          <a:lstStyle/>
          <a:p>
            <a:r>
              <a:rPr lang="en-US" dirty="0" smtClean="0"/>
              <a:t>Supervised Learning problem include:</a:t>
            </a:r>
          </a:p>
          <a:p>
            <a:pPr marL="514350" indent="-514350">
              <a:buFont typeface="+mj-lt"/>
              <a:buAutoNum type="arabicParenR"/>
            </a:pPr>
            <a:r>
              <a:rPr lang="en-US" dirty="0" smtClean="0"/>
              <a:t>Regression problem</a:t>
            </a:r>
          </a:p>
          <a:p>
            <a:pPr marL="514350" indent="-514350">
              <a:buFont typeface="+mj-lt"/>
              <a:buAutoNum type="arabicParenR"/>
            </a:pPr>
            <a:r>
              <a:rPr lang="en-US" dirty="0" smtClean="0"/>
              <a:t>Classification problem</a:t>
            </a:r>
          </a:p>
          <a:p>
            <a:pPr marL="514350" indent="-514350">
              <a:buNone/>
            </a:pPr>
            <a:endParaRPr lang="en-US" dirty="0"/>
          </a:p>
        </p:txBody>
      </p:sp>
      <p:pic>
        <p:nvPicPr>
          <p:cNvPr id="4" name="Picture 3" descr="image-4.jpg"/>
          <p:cNvPicPr>
            <a:picLocks noChangeAspect="1"/>
          </p:cNvPicPr>
          <p:nvPr/>
        </p:nvPicPr>
        <p:blipFill>
          <a:blip r:embed="rId2"/>
          <a:stretch>
            <a:fillRect/>
          </a:stretch>
        </p:blipFill>
        <p:spPr>
          <a:xfrm>
            <a:off x="4343400" y="2667000"/>
            <a:ext cx="3505200" cy="3276600"/>
          </a:xfrm>
          <a:prstGeom prst="rect">
            <a:avLst/>
          </a:prstGeom>
        </p:spPr>
      </p:pic>
      <p:sp>
        <p:nvSpPr>
          <p:cNvPr id="8" name="Slide Number Placeholder 7"/>
          <p:cNvSpPr>
            <a:spLocks noGrp="1"/>
          </p:cNvSpPr>
          <p:nvPr>
            <p:ph type="sldNum" sz="quarter" idx="12"/>
          </p:nvPr>
        </p:nvSpPr>
        <p:spPr/>
        <p:txBody>
          <a:bodyPr/>
          <a:lstStyle/>
          <a:p>
            <a:fld id="{DB6493C8-4037-41B7-9351-27D678274CF3}"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Approach of Supervised Learning</a:t>
            </a:r>
            <a:endParaRPr lang="en-US" dirty="0"/>
          </a:p>
        </p:txBody>
      </p:sp>
      <p:pic>
        <p:nvPicPr>
          <p:cNvPr id="4" name="Content Placeholder 3" descr="image-6.jpg"/>
          <p:cNvPicPr>
            <a:picLocks noGrp="1" noChangeAspect="1"/>
          </p:cNvPicPr>
          <p:nvPr>
            <p:ph idx="1"/>
          </p:nvPr>
        </p:nvPicPr>
        <p:blipFill>
          <a:blip r:embed="rId2"/>
          <a:stretch>
            <a:fillRect/>
          </a:stretch>
        </p:blipFill>
        <p:spPr>
          <a:xfrm>
            <a:off x="1828799" y="2209800"/>
            <a:ext cx="5274129" cy="3886200"/>
          </a:xfrm>
        </p:spPr>
      </p:pic>
      <p:sp>
        <p:nvSpPr>
          <p:cNvPr id="8" name="Slide Number Placeholder 7"/>
          <p:cNvSpPr>
            <a:spLocks noGrp="1"/>
          </p:cNvSpPr>
          <p:nvPr>
            <p:ph type="sldNum" sz="quarter" idx="12"/>
          </p:nvPr>
        </p:nvSpPr>
        <p:spPr/>
        <p:txBody>
          <a:bodyPr/>
          <a:lstStyle/>
          <a:p>
            <a:fld id="{DB6493C8-4037-41B7-9351-27D678274CF3}"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Supervised Learning Works?</a:t>
            </a:r>
            <a:endParaRPr lang="en-US" dirty="0"/>
          </a:p>
        </p:txBody>
      </p:sp>
      <p:pic>
        <p:nvPicPr>
          <p:cNvPr id="1026" name="Picture 2" descr="https://www.guru99.com/images/1/030819_1026_SupervisedM1.png"/>
          <p:cNvPicPr>
            <a:picLocks noChangeAspect="1" noChangeArrowheads="1"/>
          </p:cNvPicPr>
          <p:nvPr/>
        </p:nvPicPr>
        <p:blipFill>
          <a:blip r:embed="rId2"/>
          <a:srcRect/>
          <a:stretch>
            <a:fillRect/>
          </a:stretch>
        </p:blipFill>
        <p:spPr bwMode="auto">
          <a:xfrm>
            <a:off x="1676400" y="1897598"/>
            <a:ext cx="5753100" cy="3788828"/>
          </a:xfrm>
          <a:prstGeom prst="rect">
            <a:avLst/>
          </a:prstGeom>
          <a:noFill/>
        </p:spPr>
      </p:pic>
      <p:sp>
        <p:nvSpPr>
          <p:cNvPr id="7" name="Slide Number Placeholder 6"/>
          <p:cNvSpPr>
            <a:spLocks noGrp="1"/>
          </p:cNvSpPr>
          <p:nvPr>
            <p:ph type="sldNum" sz="quarter" idx="12"/>
          </p:nvPr>
        </p:nvSpPr>
        <p:spPr/>
        <p:txBody>
          <a:bodyPr/>
          <a:lstStyle/>
          <a:p>
            <a:fld id="{DB6493C8-4037-41B7-9351-27D678274CF3}"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219200"/>
            <a:ext cx="8382000" cy="5105400"/>
          </a:xfrm>
        </p:spPr>
        <p:txBody>
          <a:bodyPr>
            <a:normAutofit/>
          </a:bodyPr>
          <a:lstStyle/>
          <a:p>
            <a:r>
              <a:rPr lang="en-US" dirty="0" smtClean="0"/>
              <a:t>For example, if you want to train a machine to help you predict how long it will take us to drive home from your workplace. We start by creating a set of labeled data. This data includes</a:t>
            </a:r>
          </a:p>
          <a:p>
            <a:r>
              <a:rPr lang="en-US" dirty="0" smtClean="0"/>
              <a:t>Weather conditions</a:t>
            </a:r>
          </a:p>
          <a:p>
            <a:r>
              <a:rPr lang="en-US" dirty="0" smtClean="0"/>
              <a:t>Time of the day</a:t>
            </a:r>
          </a:p>
          <a:p>
            <a:r>
              <a:rPr lang="en-US" dirty="0" smtClean="0"/>
              <a:t>Holidays</a:t>
            </a:r>
          </a:p>
          <a:p>
            <a:r>
              <a:rPr lang="en-US" dirty="0" smtClean="0"/>
              <a:t>All these details are our inputs. The output is the amount of time it took to drive back home on that specific day.</a:t>
            </a:r>
            <a:br>
              <a:rPr lang="en-US" dirty="0" smtClean="0"/>
            </a:br>
            <a:endParaRPr lang="en-US"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334000"/>
          </a:xfrm>
        </p:spPr>
        <p:txBody>
          <a:bodyPr/>
          <a:lstStyle/>
          <a:p>
            <a:r>
              <a:rPr lang="en-US" dirty="0" smtClean="0"/>
              <a:t>First Case: If it is raining outside, then it will take larger time or not.</a:t>
            </a:r>
          </a:p>
          <a:p>
            <a:pPr>
              <a:buNone/>
            </a:pPr>
            <a:endParaRPr lang="en-US" dirty="0" smtClean="0"/>
          </a:p>
          <a:p>
            <a:r>
              <a:rPr lang="en-US" dirty="0" smtClean="0"/>
              <a:t>Second Case: if we get out at 6p.m to get home will take larger time or not</a:t>
            </a:r>
            <a:endParaRPr lang="en-US"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dirty="0" smtClean="0"/>
              <a:t/>
            </a:r>
            <a:br>
              <a:rPr lang="en-US" dirty="0" smtClean="0"/>
            </a:br>
            <a:r>
              <a:rPr lang="en-US" dirty="0" smtClean="0"/>
              <a:t>Output feedback of Supervised Learning</a:t>
            </a:r>
            <a:endParaRPr lang="en-US" dirty="0"/>
          </a:p>
        </p:txBody>
      </p:sp>
      <p:pic>
        <p:nvPicPr>
          <p:cNvPr id="4" name="Content Placeholder 3" descr="image-7.jpg"/>
          <p:cNvPicPr>
            <a:picLocks noGrp="1" noChangeAspect="1"/>
          </p:cNvPicPr>
          <p:nvPr>
            <p:ph idx="1"/>
          </p:nvPr>
        </p:nvPicPr>
        <p:blipFill>
          <a:blip r:embed="rId2"/>
          <a:stretch>
            <a:fillRect/>
          </a:stretch>
        </p:blipFill>
        <p:spPr>
          <a:xfrm>
            <a:off x="2438400" y="2133600"/>
            <a:ext cx="5105401" cy="3657599"/>
          </a:xfrm>
        </p:spPr>
      </p:pic>
      <p:sp>
        <p:nvSpPr>
          <p:cNvPr id="8" name="Slide Number Placeholder 7"/>
          <p:cNvSpPr>
            <a:spLocks noGrp="1"/>
          </p:cNvSpPr>
          <p:nvPr>
            <p:ph type="sldNum" sz="quarter" idx="12"/>
          </p:nvPr>
        </p:nvSpPr>
        <p:spPr/>
        <p:txBody>
          <a:bodyPr/>
          <a:lstStyle/>
          <a:p>
            <a:fld id="{DB6493C8-4037-41B7-9351-27D678274CF3}"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Some Popular Algorithms of Supervised Learning</a:t>
            </a:r>
            <a:endParaRPr lang="en-US" dirty="0"/>
          </a:p>
        </p:txBody>
      </p:sp>
      <p:sp>
        <p:nvSpPr>
          <p:cNvPr id="3" name="Content Placeholder 2"/>
          <p:cNvSpPr>
            <a:spLocks noGrp="1"/>
          </p:cNvSpPr>
          <p:nvPr>
            <p:ph idx="1"/>
          </p:nvPr>
        </p:nvSpPr>
        <p:spPr/>
        <p:txBody>
          <a:bodyPr/>
          <a:lstStyle/>
          <a:p>
            <a:r>
              <a:rPr lang="en-US" dirty="0" smtClean="0"/>
              <a:t>Linear Regression</a:t>
            </a:r>
          </a:p>
          <a:p>
            <a:r>
              <a:rPr lang="en-US" dirty="0" smtClean="0"/>
              <a:t>Decision Trees</a:t>
            </a:r>
          </a:p>
          <a:p>
            <a:r>
              <a:rPr lang="en-US" dirty="0" smtClean="0"/>
              <a:t>K- Nearest Neighbor</a:t>
            </a:r>
          </a:p>
          <a:p>
            <a:r>
              <a:rPr lang="en-US" dirty="0" smtClean="0"/>
              <a:t>Support Vector Machine</a:t>
            </a:r>
          </a:p>
          <a:p>
            <a:r>
              <a:rPr lang="en-US" dirty="0" smtClean="0"/>
              <a:t>Neural Networks</a:t>
            </a:r>
          </a:p>
          <a:p>
            <a:endParaRPr lang="en-US" dirty="0" smtClean="0"/>
          </a:p>
          <a:p>
            <a:endParaRPr lang="en-US"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Applications </a:t>
            </a:r>
            <a:endParaRPr lang="en-US" dirty="0"/>
          </a:p>
        </p:txBody>
      </p:sp>
      <p:sp>
        <p:nvSpPr>
          <p:cNvPr id="3" name="Content Placeholder 2"/>
          <p:cNvSpPr>
            <a:spLocks noGrp="1"/>
          </p:cNvSpPr>
          <p:nvPr>
            <p:ph idx="1"/>
          </p:nvPr>
        </p:nvSpPr>
        <p:spPr/>
        <p:txBody>
          <a:bodyPr/>
          <a:lstStyle/>
          <a:p>
            <a:pPr>
              <a:buNone/>
            </a:pPr>
            <a:endParaRPr lang="en-US" dirty="0" smtClean="0"/>
          </a:p>
          <a:p>
            <a:r>
              <a:rPr lang="en-US" dirty="0" smtClean="0"/>
              <a:t>Fraud Detection</a:t>
            </a:r>
          </a:p>
          <a:p>
            <a:r>
              <a:rPr lang="en-US" dirty="0" smtClean="0"/>
              <a:t>Risk evaluation</a:t>
            </a:r>
          </a:p>
          <a:p>
            <a:r>
              <a:rPr lang="en-US" dirty="0" smtClean="0"/>
              <a:t>Forecast sales </a:t>
            </a:r>
          </a:p>
          <a:p>
            <a:r>
              <a:rPr lang="en-US" dirty="0" smtClean="0"/>
              <a:t>Loan approval or rejection</a:t>
            </a:r>
          </a:p>
          <a:p>
            <a:endParaRPr lang="en-US" dirty="0" smtClean="0"/>
          </a:p>
          <a:p>
            <a:endParaRPr lang="en-US"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
            </a:r>
            <a:br>
              <a:rPr lang="en-US" dirty="0" smtClean="0"/>
            </a:br>
            <a:r>
              <a:rPr lang="en-US" dirty="0" smtClean="0"/>
              <a:t/>
            </a:r>
            <a:br>
              <a:rPr lang="en-US" dirty="0" smtClean="0"/>
            </a:br>
            <a:r>
              <a:rPr lang="en-US" dirty="0" smtClean="0">
                <a:solidFill>
                  <a:srgbClr val="FF0000"/>
                </a:solidFill>
              </a:rPr>
              <a:t>What is Unsupervised Learning?</a:t>
            </a:r>
            <a:endParaRPr lang="en-US" dirty="0">
              <a:solidFill>
                <a:srgbClr val="FF0000"/>
              </a:solidFill>
            </a:endParaRPr>
          </a:p>
        </p:txBody>
      </p:sp>
      <p:sp>
        <p:nvSpPr>
          <p:cNvPr id="3" name="Content Placeholder 2"/>
          <p:cNvSpPr>
            <a:spLocks noGrp="1"/>
          </p:cNvSpPr>
          <p:nvPr>
            <p:ph idx="1"/>
          </p:nvPr>
        </p:nvSpPr>
        <p:spPr/>
        <p:txBody>
          <a:bodyPr>
            <a:noAutofit/>
          </a:bodyPr>
          <a:lstStyle/>
          <a:p>
            <a:pPr>
              <a:buNone/>
            </a:pPr>
            <a:endParaRPr lang="en-US" sz="2400" dirty="0" smtClean="0"/>
          </a:p>
          <a:p>
            <a:r>
              <a:rPr lang="en-US" sz="2400" dirty="0" smtClean="0"/>
              <a:t>In Unsupervised learning technique, you do not need to supervise the model.</a:t>
            </a:r>
          </a:p>
          <a:p>
            <a:r>
              <a:rPr lang="en-US" sz="2400" dirty="0" smtClean="0"/>
              <a:t>Instead, you need to allow the model to work on its own to discover information.</a:t>
            </a:r>
          </a:p>
          <a:p>
            <a:r>
              <a:rPr lang="en-US" sz="2400" dirty="0" smtClean="0"/>
              <a:t>It mainly deals with the unlabelled data.</a:t>
            </a:r>
          </a:p>
          <a:p>
            <a:r>
              <a:rPr lang="en-US" sz="2400" dirty="0" smtClean="0"/>
              <a:t>Unsupervised learning algorithms allow you to perform more complex processing tasks compared to supervised learning. </a:t>
            </a:r>
          </a:p>
          <a:p>
            <a:r>
              <a:rPr lang="en-US" sz="2400" dirty="0" smtClean="0"/>
              <a:t>Although, unsupervised learning can be more unpredictable  as compared  to other learning methods.</a:t>
            </a:r>
          </a:p>
          <a:p>
            <a:r>
              <a:rPr lang="en-US" sz="2400" dirty="0" smtClean="0"/>
              <a:t>Unsupervised learning is computationally more  complex.</a:t>
            </a:r>
          </a:p>
          <a:p>
            <a:endParaRPr lang="en-US" sz="2400" dirty="0" smtClean="0"/>
          </a:p>
          <a:p>
            <a:pPr>
              <a:buNone/>
            </a:pPr>
            <a:endParaRPr lang="en-US" sz="2400" dirty="0" smtClean="0"/>
          </a:p>
          <a:p>
            <a:endParaRPr lang="en-US" sz="2400" dirty="0"/>
          </a:p>
          <a:p>
            <a:pPr>
              <a:buNone/>
            </a:pPr>
            <a:r>
              <a:rPr lang="en-US" sz="2400" dirty="0" smtClean="0"/>
              <a:t/>
            </a:r>
            <a:br>
              <a:rPr lang="en-US" sz="2400" dirty="0" smtClean="0"/>
            </a:br>
            <a:endParaRPr lang="en-US" sz="2400"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lstStyle/>
          <a:p>
            <a:pPr>
              <a:buNone/>
            </a:pPr>
            <a:r>
              <a:rPr lang="en-US" dirty="0" smtClean="0">
                <a:solidFill>
                  <a:srgbClr val="FF0000"/>
                </a:solidFill>
              </a:rPr>
              <a:t>What is a Unlabeled Data Set?</a:t>
            </a:r>
          </a:p>
          <a:p>
            <a:pPr>
              <a:buNone/>
            </a:pPr>
            <a:r>
              <a:rPr lang="en-US" dirty="0" smtClean="0"/>
              <a:t>The data set with unknown output values  for all input  values is called a Unlabeled Dataset.</a:t>
            </a:r>
          </a:p>
          <a:p>
            <a:pPr>
              <a:buNone/>
            </a:pPr>
            <a:r>
              <a:rPr lang="en-US" dirty="0" smtClean="0"/>
              <a:t>For example:</a:t>
            </a:r>
          </a:p>
          <a:p>
            <a:pPr>
              <a:buNone/>
            </a:pPr>
            <a:r>
              <a:rPr lang="en-US" dirty="0" smtClean="0"/>
              <a:t> </a:t>
            </a:r>
            <a:endParaRPr lang="en-US" dirty="0"/>
          </a:p>
        </p:txBody>
      </p:sp>
      <p:sp>
        <p:nvSpPr>
          <p:cNvPr id="9" name="Slide Number Placeholder 8"/>
          <p:cNvSpPr>
            <a:spLocks noGrp="1"/>
          </p:cNvSpPr>
          <p:nvPr>
            <p:ph type="sldNum" sz="quarter" idx="12"/>
          </p:nvPr>
        </p:nvSpPr>
        <p:spPr/>
        <p:txBody>
          <a:bodyPr/>
          <a:lstStyle/>
          <a:p>
            <a:fld id="{DB6493C8-4037-41B7-9351-27D678274CF3}" type="slidenum">
              <a:rPr lang="en-US" smtClean="0"/>
              <a:pPr/>
              <a:t>26</a:t>
            </a:fld>
            <a:endParaRPr lang="en-US"/>
          </a:p>
        </p:txBody>
      </p:sp>
      <p:pic>
        <p:nvPicPr>
          <p:cNvPr id="7" name="Picture 6" descr="image-3.jpg"/>
          <p:cNvPicPr>
            <a:picLocks noChangeAspect="1"/>
          </p:cNvPicPr>
          <p:nvPr/>
        </p:nvPicPr>
        <p:blipFill>
          <a:blip r:embed="rId2"/>
          <a:stretch>
            <a:fillRect/>
          </a:stretch>
        </p:blipFill>
        <p:spPr>
          <a:xfrm>
            <a:off x="4114799" y="3200400"/>
            <a:ext cx="3941685" cy="2743200"/>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
            </a:r>
            <a:br>
              <a:rPr lang="en-US" b="1" dirty="0" smtClean="0">
                <a:solidFill>
                  <a:srgbClr val="FF0000"/>
                </a:solidFill>
              </a:rPr>
            </a:br>
            <a:r>
              <a:rPr lang="en-US" b="1" dirty="0">
                <a:solidFill>
                  <a:srgbClr val="FF0000"/>
                </a:solidFill>
              </a:rPr>
              <a:t/>
            </a:r>
            <a:br>
              <a:rPr lang="en-US" b="1" dirty="0">
                <a:solidFill>
                  <a:srgbClr val="FF0000"/>
                </a:solidFill>
              </a:rPr>
            </a:br>
            <a:r>
              <a:rPr lang="en-US" dirty="0">
                <a:solidFill>
                  <a:srgbClr val="FF0000"/>
                </a:solidFill>
              </a:rPr>
              <a:t/>
            </a:r>
            <a:br>
              <a:rPr lang="en-US" dirty="0">
                <a:solidFill>
                  <a:srgbClr val="FF0000"/>
                </a:solidFill>
              </a:rPr>
            </a:br>
            <a:r>
              <a:rPr lang="en-US" dirty="0" smtClean="0">
                <a:solidFill>
                  <a:srgbClr val="FF0000"/>
                </a:solidFill>
              </a:rPr>
              <a:t>Why Unsupervised Learning?</a:t>
            </a:r>
            <a:endParaRPr lang="en-US" dirty="0">
              <a:solidFill>
                <a:srgbClr val="FF0000"/>
              </a:solidFill>
            </a:endParaRPr>
          </a:p>
        </p:txBody>
      </p:sp>
      <p:sp>
        <p:nvSpPr>
          <p:cNvPr id="3" name="Content Placeholder 2"/>
          <p:cNvSpPr>
            <a:spLocks noGrp="1"/>
          </p:cNvSpPr>
          <p:nvPr>
            <p:ph idx="1"/>
          </p:nvPr>
        </p:nvSpPr>
        <p:spPr>
          <a:xfrm>
            <a:off x="762000" y="2133600"/>
            <a:ext cx="7924800" cy="3992563"/>
          </a:xfrm>
        </p:spPr>
        <p:txBody>
          <a:bodyPr>
            <a:normAutofit fontScale="92500" lnSpcReduction="20000"/>
          </a:bodyPr>
          <a:lstStyle/>
          <a:p>
            <a:pPr>
              <a:buNone/>
            </a:pPr>
            <a:endParaRPr lang="en-US" dirty="0" smtClean="0"/>
          </a:p>
          <a:p>
            <a:pPr>
              <a:buNone/>
            </a:pPr>
            <a:r>
              <a:rPr lang="en-US" dirty="0" smtClean="0"/>
              <a:t>There, are some prime reasons for using Unsupervised Learning:</a:t>
            </a:r>
          </a:p>
          <a:p>
            <a:pPr lvl="0"/>
            <a:r>
              <a:rPr lang="en-US" dirty="0" smtClean="0"/>
              <a:t>Unsupervised method finds all kind of unknown patterns in data.</a:t>
            </a:r>
          </a:p>
          <a:p>
            <a:pPr lvl="0"/>
            <a:r>
              <a:rPr lang="en-US" dirty="0" smtClean="0"/>
              <a:t>It help you to find features which can be useful for categorization.</a:t>
            </a:r>
          </a:p>
          <a:p>
            <a:pPr lvl="0"/>
            <a:r>
              <a:rPr lang="en-US" dirty="0" smtClean="0"/>
              <a:t>It is taken place in real time, so all the input data to be analyzed and labeled in the presence of learners.</a:t>
            </a:r>
          </a:p>
          <a:p>
            <a:pPr lvl="0"/>
            <a:r>
              <a:rPr lang="en-US" dirty="0" smtClean="0"/>
              <a:t>It is easier to get unlabeled data from a computer than labeled data, which needs manual intervention.</a:t>
            </a:r>
            <a:endParaRPr lang="en-US"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906963"/>
          </a:xfrm>
        </p:spPr>
        <p:txBody>
          <a:bodyPr/>
          <a:lstStyle/>
          <a:p>
            <a:pPr>
              <a:buNone/>
            </a:pPr>
            <a:r>
              <a:rPr lang="en-US" dirty="0" smtClean="0">
                <a:solidFill>
                  <a:srgbClr val="FF0000"/>
                </a:solidFill>
              </a:rPr>
              <a:t>Types of Unsupervised Learning Techniques</a:t>
            </a:r>
            <a:endParaRPr lang="en-US" dirty="0" smtClean="0"/>
          </a:p>
          <a:p>
            <a:pPr>
              <a:buNone/>
            </a:pPr>
            <a:r>
              <a:rPr lang="en-US" dirty="0" smtClean="0"/>
              <a:t>Unsupervised Learning problem further grouped into:</a:t>
            </a:r>
          </a:p>
          <a:p>
            <a:pPr marL="514350" indent="-514350">
              <a:buFont typeface="+mj-lt"/>
              <a:buAutoNum type="arabicParenR"/>
            </a:pPr>
            <a:r>
              <a:rPr lang="en-US" dirty="0" smtClean="0"/>
              <a:t>Clustering .</a:t>
            </a:r>
          </a:p>
          <a:p>
            <a:pPr marL="514350" indent="-514350">
              <a:buNone/>
            </a:pPr>
            <a:r>
              <a:rPr lang="en-US" dirty="0" smtClean="0"/>
              <a:t> </a:t>
            </a:r>
            <a:r>
              <a:rPr lang="en-US" dirty="0" err="1" smtClean="0"/>
              <a:t>Eg</a:t>
            </a:r>
            <a:r>
              <a:rPr lang="en-US" dirty="0" smtClean="0"/>
              <a:t>. Telecom company</a:t>
            </a:r>
          </a:p>
          <a:p>
            <a:pPr marL="514350" indent="-514350">
              <a:buFont typeface="+mj-lt"/>
              <a:buAutoNum type="arabicParenR"/>
            </a:pPr>
            <a:r>
              <a:rPr lang="en-US" dirty="0" smtClean="0"/>
              <a:t> Association.</a:t>
            </a:r>
          </a:p>
          <a:p>
            <a:pPr marL="514350" indent="-514350">
              <a:buNone/>
            </a:pPr>
            <a:r>
              <a:rPr lang="en-US" dirty="0" err="1" smtClean="0"/>
              <a:t>Eg</a:t>
            </a:r>
            <a:r>
              <a:rPr lang="en-US" dirty="0" smtClean="0"/>
              <a:t>. Supper Market </a:t>
            </a:r>
          </a:p>
          <a:p>
            <a:pPr marL="514350" indent="-514350">
              <a:buNone/>
            </a:pPr>
            <a:endParaRPr lang="en-US" dirty="0" smtClean="0"/>
          </a:p>
          <a:p>
            <a:pPr marL="514350" indent="-514350">
              <a:buNone/>
            </a:pPr>
            <a:endParaRPr lang="en-US" dirty="0"/>
          </a:p>
        </p:txBody>
      </p:sp>
      <p:sp>
        <p:nvSpPr>
          <p:cNvPr id="8" name="Slide Number Placeholder 7"/>
          <p:cNvSpPr>
            <a:spLocks noGrp="1"/>
          </p:cNvSpPr>
          <p:nvPr>
            <p:ph type="sldNum" sz="quarter" idx="12"/>
          </p:nvPr>
        </p:nvSpPr>
        <p:spPr/>
        <p:txBody>
          <a:bodyPr/>
          <a:lstStyle/>
          <a:p>
            <a:fld id="{DB6493C8-4037-41B7-9351-27D678274CF3}" type="slidenum">
              <a:rPr lang="en-US" smtClean="0"/>
              <a:pPr/>
              <a:t>28</a:t>
            </a:fld>
            <a:endParaRPr lang="en-US"/>
          </a:p>
        </p:txBody>
      </p:sp>
      <p:pic>
        <p:nvPicPr>
          <p:cNvPr id="7" name="Picture 6" descr="image-5.jpg"/>
          <p:cNvPicPr>
            <a:picLocks noChangeAspect="1"/>
          </p:cNvPicPr>
          <p:nvPr/>
        </p:nvPicPr>
        <p:blipFill>
          <a:blip r:embed="rId2"/>
          <a:stretch>
            <a:fillRect/>
          </a:stretch>
        </p:blipFill>
        <p:spPr>
          <a:xfrm>
            <a:off x="4999102" y="3200400"/>
            <a:ext cx="3382898" cy="266700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219200"/>
            <a:ext cx="8153400" cy="990600"/>
          </a:xfrm>
        </p:spPr>
        <p:txBody>
          <a:bodyPr>
            <a:normAutofit/>
          </a:bodyPr>
          <a:lstStyle/>
          <a:p>
            <a:r>
              <a:rPr lang="en-US" sz="4400" dirty="0" smtClean="0">
                <a:solidFill>
                  <a:srgbClr val="FF0000"/>
                </a:solidFill>
              </a:rPr>
              <a:t>Approach of Unsupervised Learning</a:t>
            </a:r>
            <a:endParaRPr lang="en-US" sz="4400" dirty="0">
              <a:solidFill>
                <a:srgbClr val="FF0000"/>
              </a:solidFill>
            </a:endParaRPr>
          </a:p>
        </p:txBody>
      </p:sp>
      <p:pic>
        <p:nvPicPr>
          <p:cNvPr id="7" name="Content Placeholder 6" descr="image-8.jpg"/>
          <p:cNvPicPr>
            <a:picLocks noGrp="1" noChangeAspect="1"/>
          </p:cNvPicPr>
          <p:nvPr>
            <p:ph idx="1"/>
          </p:nvPr>
        </p:nvPicPr>
        <p:blipFill>
          <a:blip r:embed="rId2"/>
          <a:stretch>
            <a:fillRect/>
          </a:stretch>
        </p:blipFill>
        <p:spPr>
          <a:xfrm>
            <a:off x="3986212" y="2023229"/>
            <a:ext cx="2414588" cy="3886898"/>
          </a:xfrm>
        </p:spPr>
      </p:pic>
      <p:sp>
        <p:nvSpPr>
          <p:cNvPr id="8" name="Slide Number Placeholder 7"/>
          <p:cNvSpPr>
            <a:spLocks noGrp="1"/>
          </p:cNvSpPr>
          <p:nvPr>
            <p:ph type="sldNum" sz="quarter" idx="12"/>
          </p:nvPr>
        </p:nvSpPr>
        <p:spPr/>
        <p:txBody>
          <a:bodyPr/>
          <a:lstStyle/>
          <a:p>
            <a:fld id="{DB6493C8-4037-41B7-9351-27D678274CF3}"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685800" y="1447800"/>
            <a:ext cx="8001000" cy="4678363"/>
          </a:xfrm>
        </p:spPr>
        <p:txBody>
          <a:bodyPr>
            <a:normAutofit/>
          </a:bodyPr>
          <a:lstStyle/>
          <a:p>
            <a:pPr>
              <a:buNone/>
            </a:pPr>
            <a:r>
              <a:rPr lang="en-US" dirty="0" smtClean="0">
                <a:solidFill>
                  <a:srgbClr val="FF0000"/>
                </a:solidFill>
              </a:rPr>
              <a:t>How Unsupervised Learning Works?</a:t>
            </a:r>
            <a:endParaRPr lang="en-US" dirty="0" smtClean="0"/>
          </a:p>
          <a:p>
            <a:pPr>
              <a:buNone/>
            </a:pPr>
            <a:r>
              <a:rPr lang="en-US" dirty="0" smtClean="0"/>
              <a:t>Let's, take the case of a baby and her family dog.</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A new dog: </a:t>
            </a:r>
          </a:p>
          <a:p>
            <a:pPr>
              <a:buNone/>
            </a:pPr>
            <a:endParaRPr lang="en-US" dirty="0" smtClean="0"/>
          </a:p>
          <a:p>
            <a:pPr>
              <a:buNone/>
            </a:pPr>
            <a:endParaRPr lang="en-US"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30</a:t>
            </a:fld>
            <a:endParaRPr lang="en-US"/>
          </a:p>
        </p:txBody>
      </p:sp>
      <p:pic>
        <p:nvPicPr>
          <p:cNvPr id="10" name="Picture 9" descr="https://www.guru99.com/images/1/030819_1030_Unsupervise1.png">
            <a:hlinkClick r:id="rId2"/>
          </p:cNvPr>
          <p:cNvPicPr/>
          <p:nvPr/>
        </p:nvPicPr>
        <p:blipFill>
          <a:blip r:embed="rId3"/>
          <a:srcRect/>
          <a:stretch>
            <a:fillRect/>
          </a:stretch>
        </p:blipFill>
        <p:spPr bwMode="auto">
          <a:xfrm>
            <a:off x="685800" y="2667000"/>
            <a:ext cx="4407005" cy="2019300"/>
          </a:xfrm>
          <a:prstGeom prst="rect">
            <a:avLst/>
          </a:prstGeom>
          <a:noFill/>
          <a:ln w="9525">
            <a:noFill/>
            <a:miter lim="800000"/>
            <a:headEnd/>
            <a:tailEnd/>
          </a:ln>
        </p:spPr>
      </p:pic>
      <p:pic>
        <p:nvPicPr>
          <p:cNvPr id="11" name="Picture 10" descr="https://www.guru99.com/images/1/030819_1030_Unsupervise2.png">
            <a:hlinkClick r:id="rId4"/>
          </p:cNvPr>
          <p:cNvPicPr/>
          <p:nvPr/>
        </p:nvPicPr>
        <p:blipFill>
          <a:blip r:embed="rId5"/>
          <a:srcRect/>
          <a:stretch>
            <a:fillRect/>
          </a:stretch>
        </p:blipFill>
        <p:spPr bwMode="auto">
          <a:xfrm>
            <a:off x="5334000" y="4343400"/>
            <a:ext cx="2887980" cy="19202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dirty="0" smtClean="0"/>
              <a:t/>
            </a:r>
            <a:br>
              <a:rPr lang="en-US" dirty="0" smtClean="0"/>
            </a:br>
            <a:endParaRPr lang="en-US" dirty="0"/>
          </a:p>
        </p:txBody>
      </p:sp>
      <p:pic>
        <p:nvPicPr>
          <p:cNvPr id="11" name="Content Placeholder 10" descr="image-10.jpg"/>
          <p:cNvPicPr>
            <a:picLocks noGrp="1" noChangeAspect="1"/>
          </p:cNvPicPr>
          <p:nvPr>
            <p:ph idx="1"/>
          </p:nvPr>
        </p:nvPicPr>
        <p:blipFill>
          <a:blip r:embed="rId2"/>
          <a:stretch>
            <a:fillRect/>
          </a:stretch>
        </p:blipFill>
        <p:spPr>
          <a:xfrm>
            <a:off x="5704608" y="2057400"/>
            <a:ext cx="2577379" cy="4148951"/>
          </a:xfrm>
        </p:spPr>
      </p:pic>
      <p:sp>
        <p:nvSpPr>
          <p:cNvPr id="8" name="Slide Number Placeholder 7"/>
          <p:cNvSpPr>
            <a:spLocks noGrp="1"/>
          </p:cNvSpPr>
          <p:nvPr>
            <p:ph type="sldNum" sz="quarter" idx="12"/>
          </p:nvPr>
        </p:nvSpPr>
        <p:spPr/>
        <p:txBody>
          <a:bodyPr/>
          <a:lstStyle/>
          <a:p>
            <a:fld id="{DB6493C8-4037-41B7-9351-27D678274CF3}" type="slidenum">
              <a:rPr lang="en-US" smtClean="0"/>
              <a:pPr/>
              <a:t>31</a:t>
            </a:fld>
            <a:endParaRPr lang="en-US"/>
          </a:p>
        </p:txBody>
      </p:sp>
      <p:sp>
        <p:nvSpPr>
          <p:cNvPr id="13" name="Rectangle 12"/>
          <p:cNvSpPr/>
          <p:nvPr/>
        </p:nvSpPr>
        <p:spPr>
          <a:xfrm>
            <a:off x="457200" y="1371600"/>
            <a:ext cx="6091239" cy="1200329"/>
          </a:xfrm>
          <a:prstGeom prst="rect">
            <a:avLst/>
          </a:prstGeom>
        </p:spPr>
        <p:txBody>
          <a:bodyPr wrap="square">
            <a:spAutoFit/>
          </a:bodyPr>
          <a:lstStyle/>
          <a:p>
            <a:r>
              <a:rPr lang="en-US" sz="3600" dirty="0" smtClean="0">
                <a:solidFill>
                  <a:srgbClr val="FF0000"/>
                </a:solidFill>
              </a:rPr>
              <a:t>Output feedback of Unsupervised Learning</a:t>
            </a:r>
            <a:endParaRPr lang="en-US" sz="3600" dirty="0">
              <a:solidFill>
                <a:srgbClr val="FF0000"/>
              </a:solidFill>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r>
              <a:rPr lang="en-US" dirty="0" smtClean="0">
                <a:solidFill>
                  <a:srgbClr val="FF0000"/>
                </a:solidFill>
              </a:rPr>
              <a:t>Some Unsupervised Learning Algorithms</a:t>
            </a:r>
            <a:endParaRPr lang="en-US" dirty="0" smtClean="0"/>
          </a:p>
          <a:p>
            <a:pPr>
              <a:buNone/>
            </a:pPr>
            <a:r>
              <a:rPr lang="en-US" dirty="0" smtClean="0"/>
              <a:t>Unsupervised algorithms can be divided into different categories like:</a:t>
            </a:r>
          </a:p>
          <a:p>
            <a:r>
              <a:rPr lang="en-US" dirty="0" smtClean="0"/>
              <a:t> Cluster algorithms,</a:t>
            </a:r>
          </a:p>
          <a:p>
            <a:r>
              <a:rPr lang="en-US" dirty="0" smtClean="0"/>
              <a:t> </a:t>
            </a:r>
            <a:r>
              <a:rPr lang="en-US" smtClean="0"/>
              <a:t>K-means clustering, </a:t>
            </a:r>
            <a:endParaRPr lang="en-US" dirty="0" smtClean="0"/>
          </a:p>
          <a:p>
            <a:r>
              <a:rPr lang="en-US" dirty="0" smtClean="0"/>
              <a:t>Hierarchical clustering,</a:t>
            </a:r>
          </a:p>
          <a:p>
            <a:r>
              <a:rPr lang="en-US" dirty="0" err="1" smtClean="0"/>
              <a:t>Apriori</a:t>
            </a:r>
            <a:r>
              <a:rPr lang="en-US" dirty="0" smtClean="0"/>
              <a:t> Algorithm etc.</a:t>
            </a:r>
          </a:p>
          <a:p>
            <a:endParaRPr lang="en-US" dirty="0" smtClean="0"/>
          </a:p>
          <a:p>
            <a:endParaRPr lang="en-US" dirty="0" smtClean="0"/>
          </a:p>
          <a:p>
            <a:endParaRPr lang="en-US"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32</a:t>
            </a:fld>
            <a:endParaRPr lang="en-US"/>
          </a:p>
        </p:txBody>
      </p:sp>
      <p:pic>
        <p:nvPicPr>
          <p:cNvPr id="6"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smtClean="0">
                <a:solidFill>
                  <a:srgbClr val="FF0000"/>
                </a:solidFill>
              </a:rPr>
              <a:t>Some Applications Areas </a:t>
            </a:r>
          </a:p>
          <a:p>
            <a:pPr>
              <a:buNone/>
            </a:pPr>
            <a:endParaRPr lang="en-US" dirty="0" smtClean="0">
              <a:solidFill>
                <a:srgbClr val="FF0000"/>
              </a:solidFill>
            </a:endParaRPr>
          </a:p>
          <a:p>
            <a:pPr>
              <a:buFont typeface="Arial" pitchFamily="34" charset="0"/>
              <a:buChar char="•"/>
            </a:pPr>
            <a:r>
              <a:rPr lang="en-US" dirty="0" smtClean="0"/>
              <a:t>Recommendation system</a:t>
            </a:r>
          </a:p>
          <a:p>
            <a:pPr>
              <a:buFont typeface="Arial" pitchFamily="34" charset="0"/>
              <a:buChar char="•"/>
            </a:pPr>
            <a:r>
              <a:rPr lang="en-US" dirty="0" smtClean="0"/>
              <a:t>Anomaly detection</a:t>
            </a:r>
          </a:p>
          <a:p>
            <a:pPr>
              <a:buFont typeface="Arial" pitchFamily="34" charset="0"/>
              <a:buChar char="•"/>
            </a:pPr>
            <a:r>
              <a:rPr lang="en-US" dirty="0" smtClean="0"/>
              <a:t>Market Basket Analysis, …etc</a:t>
            </a:r>
          </a:p>
          <a:p>
            <a:endParaRPr lang="en-US" dirty="0" smtClean="0"/>
          </a:p>
          <a:p>
            <a:endParaRPr lang="en-US"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solidFill>
                  <a:srgbClr val="C00000"/>
                </a:solidFill>
              </a:rPr>
              <a:t>Classification of Machine Learning</a:t>
            </a:r>
            <a:r>
              <a:rPr lang="en-US" dirty="0"/>
              <a:t/>
            </a:r>
            <a:br>
              <a:rPr lang="en-US" dirty="0"/>
            </a:br>
            <a:endParaRPr lang="en-US" dirty="0"/>
          </a:p>
        </p:txBody>
      </p:sp>
      <p:pic>
        <p:nvPicPr>
          <p:cNvPr id="5123" name="Picture 3" descr="C:\Users\arya\Downloads\Images-Slides ML\Machine-Learning-Type1.jpg"/>
          <p:cNvPicPr>
            <a:picLocks noGrp="1" noChangeAspect="1" noChangeArrowheads="1"/>
          </p:cNvPicPr>
          <p:nvPr>
            <p:ph sz="half" idx="1"/>
          </p:nvPr>
        </p:nvPicPr>
        <p:blipFill>
          <a:blip r:embed="rId2"/>
          <a:srcRect/>
          <a:stretch>
            <a:fillRect/>
          </a:stretch>
        </p:blipFill>
        <p:spPr bwMode="auto">
          <a:xfrm>
            <a:off x="533400" y="1143000"/>
            <a:ext cx="8305800" cy="5334000"/>
          </a:xfrm>
          <a:prstGeom prst="rect">
            <a:avLst/>
          </a:prstGeom>
          <a:noFill/>
        </p:spPr>
      </p:pic>
      <p:sp>
        <p:nvSpPr>
          <p:cNvPr id="4" name="Slide Number Placeholder 3"/>
          <p:cNvSpPr>
            <a:spLocks noGrp="1"/>
          </p:cNvSpPr>
          <p:nvPr>
            <p:ph type="sldNum" sz="quarter" idx="12"/>
          </p:nvPr>
        </p:nvSpPr>
        <p:spPr/>
        <p:txBody>
          <a:bodyPr/>
          <a:lstStyle/>
          <a:p>
            <a:fld id="{DB6493C8-4037-41B7-9351-27D678274CF3}"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rya\Downloads\Images-Slides ML\1_FOdORpKURxsBotD57TsbDw.png"/>
          <p:cNvPicPr>
            <a:picLocks noGrp="1" noChangeAspect="1" noChangeArrowheads="1"/>
          </p:cNvPicPr>
          <p:nvPr>
            <p:ph sz="half" idx="1"/>
          </p:nvPr>
        </p:nvPicPr>
        <p:blipFill>
          <a:blip r:embed="rId2"/>
          <a:srcRect/>
          <a:stretch>
            <a:fillRect/>
          </a:stretch>
        </p:blipFill>
        <p:spPr bwMode="auto">
          <a:xfrm>
            <a:off x="457200" y="368570"/>
            <a:ext cx="8305800" cy="5956030"/>
          </a:xfrm>
          <a:prstGeom prst="rect">
            <a:avLst/>
          </a:prstGeom>
          <a:noFill/>
        </p:spPr>
      </p:pic>
      <p:sp>
        <p:nvSpPr>
          <p:cNvPr id="3" name="Slide Number Placeholder 2"/>
          <p:cNvSpPr>
            <a:spLocks noGrp="1"/>
          </p:cNvSpPr>
          <p:nvPr>
            <p:ph type="sldNum" sz="quarter" idx="12"/>
          </p:nvPr>
        </p:nvSpPr>
        <p:spPr/>
        <p:txBody>
          <a:bodyPr/>
          <a:lstStyle/>
          <a:p>
            <a:fld id="{DB6493C8-4037-41B7-9351-27D678274CF3}"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idx="1"/>
          </p:nvPr>
        </p:nvSpPr>
        <p:spPr/>
        <p:txBody>
          <a:bodyPr>
            <a:normAutofit/>
          </a:bodyPr>
          <a:lstStyle/>
          <a:p>
            <a:r>
              <a:rPr lang="en-US" sz="4000" dirty="0" smtClean="0"/>
              <a:t>		THANK YOU !</a:t>
            </a:r>
            <a:endParaRPr lang="en-US" sz="4000" dirty="0"/>
          </a:p>
        </p:txBody>
      </p:sp>
      <p:sp>
        <p:nvSpPr>
          <p:cNvPr id="7" name="Slide Number Placeholder 6"/>
          <p:cNvSpPr>
            <a:spLocks noGrp="1"/>
          </p:cNvSpPr>
          <p:nvPr>
            <p:ph type="sldNum" sz="quarter" idx="12"/>
          </p:nvPr>
        </p:nvSpPr>
        <p:spPr/>
        <p:txBody>
          <a:bodyPr/>
          <a:lstStyle/>
          <a:p>
            <a:fld id="{DB6493C8-4037-41B7-9351-27D678274CF3}" type="slidenum">
              <a:rPr lang="en-US" smtClean="0"/>
              <a:pPr/>
              <a:t>36</a:t>
            </a:fld>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196</TotalTime>
  <Words>885</Words>
  <Application>Microsoft Office PowerPoint</Application>
  <PresentationFormat>On-screen Show (4:3)</PresentationFormat>
  <Paragraphs>185</Paragraphs>
  <Slides>36</Slides>
  <Notes>1</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Flow</vt:lpstr>
      <vt:lpstr>MACHINE LEARNING </vt:lpstr>
      <vt:lpstr>Traditional Algorithm Vs Machine Learning</vt:lpstr>
      <vt:lpstr>Slide 3</vt:lpstr>
      <vt:lpstr>What is Machine Learning </vt:lpstr>
      <vt:lpstr>                                  How does Machine Learning work</vt:lpstr>
      <vt:lpstr>Slide 6</vt:lpstr>
      <vt:lpstr>Slide 7</vt:lpstr>
      <vt:lpstr>Types of Machine Learning</vt:lpstr>
      <vt:lpstr>Applications of Machine learning </vt:lpstr>
      <vt:lpstr>      </vt:lpstr>
      <vt:lpstr>Difference between Artificial intelligence and Machine learning </vt:lpstr>
      <vt:lpstr>  </vt:lpstr>
      <vt:lpstr>What is Learning?</vt:lpstr>
      <vt:lpstr>What is Supervised Learning?</vt:lpstr>
      <vt:lpstr>What is a Labeled Data Set?</vt:lpstr>
      <vt:lpstr>   Why Supervised Learning?</vt:lpstr>
      <vt:lpstr>Problem Type?</vt:lpstr>
      <vt:lpstr>Approach of Supervised Learning</vt:lpstr>
      <vt:lpstr>How Supervised Learning Works?</vt:lpstr>
      <vt:lpstr>Slide 20</vt:lpstr>
      <vt:lpstr>Slide 21</vt:lpstr>
      <vt:lpstr>  Output feedback of Supervised Learning</vt:lpstr>
      <vt:lpstr>Some Popular Algorithms of Supervised Learning</vt:lpstr>
      <vt:lpstr>Some  Applications </vt:lpstr>
      <vt:lpstr>   What is Unsupervised Learning?</vt:lpstr>
      <vt:lpstr>Slide 26</vt:lpstr>
      <vt:lpstr>   Why Unsupervised Learning?</vt:lpstr>
      <vt:lpstr>Slide 28</vt:lpstr>
      <vt:lpstr>Approach of Unsupervised Learning</vt:lpstr>
      <vt:lpstr>Slide 30</vt:lpstr>
      <vt:lpstr>  </vt:lpstr>
      <vt:lpstr>Slide 32</vt:lpstr>
      <vt:lpstr>Slide 33</vt:lpstr>
      <vt:lpstr>Classification of Machine Learning </vt:lpstr>
      <vt:lpstr>Slide 35</vt:lpstr>
      <vt:lpstr>Slide 36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LEARNING AND UNSUPERVISED LEARNING</dc:title>
  <dc:creator>Windows User</dc:creator>
  <cp:lastModifiedBy>arya</cp:lastModifiedBy>
  <cp:revision>34</cp:revision>
  <dcterms:created xsi:type="dcterms:W3CDTF">2020-04-02T19:14:41Z</dcterms:created>
  <dcterms:modified xsi:type="dcterms:W3CDTF">2022-02-19T04:15:48Z</dcterms:modified>
</cp:coreProperties>
</file>