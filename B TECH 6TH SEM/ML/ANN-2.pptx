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6" r:id="rId2"/>
    <p:sldId id="257" r:id="rId3"/>
    <p:sldId id="258" r:id="rId4"/>
    <p:sldId id="259" r:id="rId5"/>
    <p:sldId id="260" r:id="rId6"/>
    <p:sldId id="261" r:id="rId7"/>
    <p:sldId id="271" r:id="rId8"/>
    <p:sldId id="262" r:id="rId9"/>
    <p:sldId id="266"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BA2CAB1-DAD6-41BA-89F5-03D6820FC53B}" type="datetimeFigureOut">
              <a:rPr lang="en-US" smtClean="0"/>
              <a:pPr/>
              <a:t>4/26/2022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C292AF0-5F0F-43E0-99B9-112AD4B6DE88}"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C292AF0-5F0F-43E0-99B9-112AD4B6DE88}"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0BB7A1AD-0BC3-4511-9799-481B67CD5BAC}" type="datetime1">
              <a:rPr lang="en-US" smtClean="0"/>
              <a:t>4/26/2022</a:t>
            </a:fld>
            <a:endParaRPr lang="en-US"/>
          </a:p>
        </p:txBody>
      </p:sp>
      <p:sp>
        <p:nvSpPr>
          <p:cNvPr id="17" name="Footer Placeholder 16"/>
          <p:cNvSpPr>
            <a:spLocks noGrp="1"/>
          </p:cNvSpPr>
          <p:nvPr>
            <p:ph type="ftr" sz="quarter" idx="11"/>
          </p:nvPr>
        </p:nvSpPr>
        <p:spPr/>
        <p:txBody>
          <a:bodyPr/>
          <a:lstStyle/>
          <a:p>
            <a:r>
              <a:rPr lang="en-US" smtClean="0"/>
              <a:t>Artificial Intelligence  UNIT:4 Learning</a:t>
            </a:r>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3A9B4BE1-8553-425D-84B3-B5041D0FCD90}"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77799525-C1BD-4B77-91E2-53A52742593C}" type="datetime1">
              <a:rPr lang="en-US" smtClean="0"/>
              <a:t>4/26/2022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3A9B4BE1-8553-425D-84B3-B5041D0FCD90}"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0D5A93E-D593-43D3-960D-B70F23FB37C7}" type="datetime1">
              <a:rPr lang="en-US" smtClean="0"/>
              <a:t>4/26/2022</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smtClean="0"/>
              <a:t>Artificial Intelligence  UNIT:4 Learning</a:t>
            </a:r>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3A9B4BE1-8553-425D-84B3-B5041D0FCD9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53F2BF2C-8158-46B5-8BDE-87AA9B063C2D}" type="datetime1">
              <a:rPr lang="en-US" smtClean="0"/>
              <a:t>4/26/2022</a:t>
            </a:fld>
            <a:endParaRPr lang="en-US"/>
          </a:p>
        </p:txBody>
      </p:sp>
      <p:sp>
        <p:nvSpPr>
          <p:cNvPr id="6" name="Footer Placeholder 5"/>
          <p:cNvSpPr>
            <a:spLocks noGrp="1"/>
          </p:cNvSpPr>
          <p:nvPr>
            <p:ph type="ftr" sz="quarter" idx="11"/>
          </p:nvPr>
        </p:nvSpPr>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p:txBody>
          <a:bodyPr/>
          <a:lstStyle/>
          <a:p>
            <a:fld id="{3A9B4BE1-8553-425D-84B3-B5041D0FCD90}"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E42BC1A-C776-4794-9F73-FC70C41E617E}" type="datetime1">
              <a:rPr lang="en-US" smtClean="0"/>
              <a:t>4/26/2022</a:t>
            </a:fld>
            <a:endParaRPr lang="en-US"/>
          </a:p>
        </p:txBody>
      </p:sp>
      <p:sp>
        <p:nvSpPr>
          <p:cNvPr id="8" name="Footer Placeholder 7"/>
          <p:cNvSpPr>
            <a:spLocks noGrp="1"/>
          </p:cNvSpPr>
          <p:nvPr>
            <p:ph type="ftr" sz="quarter" idx="11"/>
          </p:nvPr>
        </p:nvSpPr>
        <p:spPr/>
        <p:txBody>
          <a:bodyPr/>
          <a:lstStyle/>
          <a:p>
            <a:r>
              <a:rPr lang="en-US" smtClean="0"/>
              <a:t>Artificial Intelligence  UNIT:4 Learning</a:t>
            </a:r>
            <a:endParaRPr lang="en-US"/>
          </a:p>
        </p:txBody>
      </p:sp>
      <p:sp>
        <p:nvSpPr>
          <p:cNvPr id="9" name="Slide Number Placeholder 8"/>
          <p:cNvSpPr>
            <a:spLocks noGrp="1"/>
          </p:cNvSpPr>
          <p:nvPr>
            <p:ph type="sldNum" sz="quarter" idx="12"/>
          </p:nvPr>
        </p:nvSpPr>
        <p:spPr/>
        <p:txBody>
          <a:bodyPr/>
          <a:lstStyle/>
          <a:p>
            <a:fld id="{3A9B4BE1-8553-425D-84B3-B5041D0FCD90}"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CF75EB5-E202-4550-9CBA-A9C14F112783}" type="datetime1">
              <a:rPr lang="en-US" smtClean="0"/>
              <a:t>4/26/2022</a:t>
            </a:fld>
            <a:endParaRPr lang="en-US"/>
          </a:p>
        </p:txBody>
      </p:sp>
      <p:sp>
        <p:nvSpPr>
          <p:cNvPr id="4" name="Footer Placeholder 3"/>
          <p:cNvSpPr>
            <a:spLocks noGrp="1"/>
          </p:cNvSpPr>
          <p:nvPr>
            <p:ph type="ftr" sz="quarter" idx="11"/>
          </p:nvPr>
        </p:nvSpPr>
        <p:spPr/>
        <p:txBody>
          <a:bodyPr/>
          <a:lstStyle/>
          <a:p>
            <a:r>
              <a:rPr lang="en-US" smtClean="0"/>
              <a:t>Artificial Intelligence  UNIT:4 Learning</a:t>
            </a:r>
            <a:endParaRPr lang="en-US"/>
          </a:p>
        </p:txBody>
      </p:sp>
      <p:sp>
        <p:nvSpPr>
          <p:cNvPr id="5" name="Slide Number Placeholder 4"/>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5C6599-77E7-4730-83BE-340677214BDA}" type="datetime1">
              <a:rPr lang="en-US" smtClean="0"/>
              <a:t>4/26/2022</a:t>
            </a:fld>
            <a:endParaRPr lang="en-US"/>
          </a:p>
        </p:txBody>
      </p:sp>
      <p:sp>
        <p:nvSpPr>
          <p:cNvPr id="3" name="Footer Placeholder 2"/>
          <p:cNvSpPr>
            <a:spLocks noGrp="1"/>
          </p:cNvSpPr>
          <p:nvPr>
            <p:ph type="ftr" sz="quarter" idx="11"/>
          </p:nvPr>
        </p:nvSpPr>
        <p:spPr/>
        <p:txBody>
          <a:bodyPr/>
          <a:lstStyle/>
          <a:p>
            <a:r>
              <a:rPr lang="en-US" smtClean="0"/>
              <a:t>Artificial Intelligence  UNIT:4 Learning</a:t>
            </a:r>
            <a:endParaRPr lang="en-US"/>
          </a:p>
        </p:txBody>
      </p:sp>
      <p:sp>
        <p:nvSpPr>
          <p:cNvPr id="4" name="Slide Number Placeholder 3"/>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D33BA15E-3156-4CF4-93C8-0F846CFF76FC}" type="datetime1">
              <a:rPr lang="en-US" smtClean="0"/>
              <a:t>4/26/2022</a:t>
            </a:fld>
            <a:endParaRPr lang="en-US"/>
          </a:p>
        </p:txBody>
      </p:sp>
      <p:sp>
        <p:nvSpPr>
          <p:cNvPr id="6" name="Footer Placeholder 5"/>
          <p:cNvSpPr>
            <a:spLocks noGrp="1"/>
          </p:cNvSpPr>
          <p:nvPr>
            <p:ph type="ftr" sz="quarter" idx="11"/>
          </p:nvPr>
        </p:nvSpPr>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p:txBody>
          <a:bodyPr/>
          <a:lstStyle/>
          <a:p>
            <a:fld id="{3A9B4BE1-8553-425D-84B3-B5041D0FCD90}"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3902F9A0-4393-4FA0-B65F-E70F6E9BB20D}" type="datetime1">
              <a:rPr lang="en-US" smtClean="0"/>
              <a:t>4/26/2022</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smtClean="0"/>
              <a:t>Artificial Intelligence  UNIT:4 Learning</a:t>
            </a:r>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3A9B4BE1-8553-425D-84B3-B5041D0FCD90}"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4F326B3-8D1C-43DC-A545-32BF303862F1}" type="datetime1">
              <a:rPr lang="en-US" smtClean="0"/>
              <a:t>4/26/2022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8A61E99-5DD8-4F39-BD11-D3CF15F38814}" type="datetime1">
              <a:rPr lang="en-US" smtClean="0"/>
              <a:t>4/26/2022</a:t>
            </a:fld>
            <a:endParaRPr lang="en-US"/>
          </a:p>
        </p:txBody>
      </p:sp>
      <p:sp>
        <p:nvSpPr>
          <p:cNvPr id="5" name="Footer Placeholder 4"/>
          <p:cNvSpPr>
            <a:spLocks noGrp="1"/>
          </p:cNvSpPr>
          <p:nvPr>
            <p:ph type="ftr" sz="quarter" idx="11"/>
          </p:nvPr>
        </p:nvSpPr>
        <p:spPr/>
        <p:txBody>
          <a:bodyPr/>
          <a:lstStyle/>
          <a:p>
            <a:r>
              <a:rPr lang="en-US" smtClean="0"/>
              <a:t>Artificial Intelligence  UNIT:4 Learning</a:t>
            </a:r>
            <a:endParaRPr lang="en-US"/>
          </a:p>
        </p:txBody>
      </p:sp>
      <p:sp>
        <p:nvSpPr>
          <p:cNvPr id="6" name="Slide Number Placeholder 5"/>
          <p:cNvSpPr>
            <a:spLocks noGrp="1"/>
          </p:cNvSpPr>
          <p:nvPr>
            <p:ph type="sldNum" sz="quarter" idx="12"/>
          </p:nvPr>
        </p:nvSpPr>
        <p:spPr/>
        <p:txBody>
          <a:bodyPr/>
          <a:lstStyle/>
          <a:p>
            <a:fld id="{3A9B4BE1-8553-425D-84B3-B5041D0FCD9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BC53E248-5271-4D6A-A24F-D5113A2CE0CA}" type="datetime1">
              <a:rPr lang="en-US" smtClean="0"/>
              <a:t>4/26/2022</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smtClean="0"/>
              <a:t>Artificial Intelligence  UNIT:4 Learning</a:t>
            </a:r>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3A9B4BE1-8553-425D-84B3-B5041D0FCD9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600200" y="4343400"/>
            <a:ext cx="5791200" cy="1295400"/>
          </a:xfrm>
        </p:spPr>
        <p:txBody>
          <a:bodyPr>
            <a:normAutofit/>
          </a:bodyPr>
          <a:lstStyle/>
          <a:p>
            <a:r>
              <a:rPr lang="en-US" sz="2000" dirty="0" smtClean="0"/>
              <a:t>By: </a:t>
            </a:r>
            <a:r>
              <a:rPr lang="en-US" sz="2000" dirty="0" err="1" smtClean="0"/>
              <a:t>Er</a:t>
            </a:r>
            <a:r>
              <a:rPr lang="en-US" sz="2000" smtClean="0"/>
              <a:t>. Aarti</a:t>
            </a:r>
            <a:r>
              <a:rPr lang="en-US" sz="2000" dirty="0" smtClean="0"/>
              <a:t> Sharma</a:t>
            </a:r>
          </a:p>
          <a:p>
            <a:r>
              <a:rPr lang="en-US" sz="2000" dirty="0" smtClean="0"/>
              <a:t>Associate Professor</a:t>
            </a:r>
          </a:p>
          <a:p>
            <a:r>
              <a:rPr lang="en-US" sz="2000" dirty="0" smtClean="0"/>
              <a:t>Department :CSE</a:t>
            </a:r>
          </a:p>
        </p:txBody>
      </p:sp>
      <p:sp>
        <p:nvSpPr>
          <p:cNvPr id="2" name="Title 1"/>
          <p:cNvSpPr>
            <a:spLocks noGrp="1"/>
          </p:cNvSpPr>
          <p:nvPr>
            <p:ph type="ctrTitle"/>
          </p:nvPr>
        </p:nvSpPr>
        <p:spPr/>
        <p:txBody>
          <a:bodyPr>
            <a:noAutofit/>
          </a:bodyPr>
          <a:lstStyle/>
          <a:p>
            <a:r>
              <a:rPr sz="2800" smtClean="0">
                <a:solidFill>
                  <a:schemeClr val="tx1"/>
                </a:solidFill>
              </a:rPr>
              <a:t/>
            </a:r>
            <a:br>
              <a:rPr sz="2800" smtClean="0">
                <a:solidFill>
                  <a:schemeClr val="tx1"/>
                </a:solidFill>
              </a:rPr>
            </a:br>
            <a:r>
              <a:rPr sz="2800" smtClean="0">
                <a:solidFill>
                  <a:schemeClr val="tx1"/>
                </a:solidFill>
              </a:rPr>
              <a:t>Neural Network</a:t>
            </a:r>
            <a:br>
              <a:rPr sz="2800" smtClean="0">
                <a:solidFill>
                  <a:schemeClr val="tx1"/>
                </a:solidFill>
              </a:rPr>
            </a:br>
            <a:r>
              <a:rPr sz="2800" smtClean="0">
                <a:solidFill>
                  <a:schemeClr val="tx1"/>
                </a:solidFill>
              </a:rPr>
              <a:t>Perceptron</a:t>
            </a:r>
            <a:br>
              <a:rPr sz="2800" smtClean="0">
                <a:solidFill>
                  <a:schemeClr val="tx1"/>
                </a:solidFill>
              </a:rPr>
            </a:br>
            <a:r>
              <a:rPr sz="2800" smtClean="0">
                <a:solidFill>
                  <a:schemeClr val="tx1"/>
                </a:solidFill>
              </a:rPr>
              <a:t> </a:t>
            </a:r>
            <a:endParaRPr lang="en-US" sz="2800" dirty="0">
              <a:solidFill>
                <a:schemeClr val="tx1"/>
              </a:solidFill>
            </a:endParaRPr>
          </a:p>
        </p:txBody>
      </p:sp>
      <p:pic>
        <p:nvPicPr>
          <p:cNvPr id="4" name="Picture 2" descr="C:\Users\rahul\Desktop\AI NOTES\WhatsApp Image 2020-04-04 at 1.10.45 PM.jpeg"/>
          <p:cNvPicPr>
            <a:picLocks noChangeAspect="1" noChangeArrowheads="1"/>
          </p:cNvPicPr>
          <p:nvPr/>
        </p:nvPicPr>
        <p:blipFill>
          <a:blip r:embed="rId3"/>
          <a:srcRect/>
          <a:stretch>
            <a:fillRect/>
          </a:stretch>
        </p:blipFill>
        <p:spPr bwMode="auto">
          <a:xfrm>
            <a:off x="152400" y="304800"/>
            <a:ext cx="8861425" cy="822325"/>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a:bodyPr>
          <a:lstStyle/>
          <a:p>
            <a:pPr>
              <a:buNone/>
            </a:pPr>
            <a:r>
              <a:rPr lang="en-US" dirty="0" smtClean="0">
                <a:solidFill>
                  <a:srgbClr val="FF0000"/>
                </a:solidFill>
              </a:rPr>
              <a:t>Topics Covered:</a:t>
            </a:r>
          </a:p>
          <a:p>
            <a:pPr>
              <a:buNone/>
            </a:pPr>
            <a:endParaRPr lang="en-US" dirty="0" smtClean="0">
              <a:solidFill>
                <a:srgbClr val="FF0000"/>
              </a:solidFill>
            </a:endParaRPr>
          </a:p>
          <a:p>
            <a:r>
              <a:rPr lang="en-US" smtClean="0"/>
              <a:t>Introduction to Perceptron</a:t>
            </a:r>
            <a:endParaRPr lang="en-US" dirty="0" smtClean="0"/>
          </a:p>
          <a:p>
            <a:pPr>
              <a:buNone/>
            </a:pPr>
            <a:endParaRPr lang="en-US" dirty="0" smtClean="0"/>
          </a:p>
          <a:p>
            <a:r>
              <a:rPr lang="en-US" dirty="0" smtClean="0"/>
              <a:t>Single Layer </a:t>
            </a:r>
            <a:r>
              <a:rPr lang="en-US" dirty="0" err="1" smtClean="0"/>
              <a:t>Perceptron</a:t>
            </a:r>
            <a:endParaRPr lang="en-US" dirty="0" smtClean="0"/>
          </a:p>
          <a:p>
            <a:pPr>
              <a:buNone/>
            </a:pPr>
            <a:endParaRPr lang="en-US" dirty="0" smtClean="0"/>
          </a:p>
          <a:p>
            <a:r>
              <a:rPr lang="en-US" dirty="0" smtClean="0"/>
              <a:t>Multilayer </a:t>
            </a:r>
            <a:r>
              <a:rPr lang="en-US" dirty="0" err="1" smtClean="0"/>
              <a:t>Perceptron</a:t>
            </a:r>
            <a:endParaRPr lang="en-US" dirty="0" smtClean="0"/>
          </a:p>
          <a:p>
            <a:pPr>
              <a:buNone/>
            </a:pPr>
            <a:endParaRPr lang="en-US" dirty="0" smtClean="0"/>
          </a:p>
          <a:p>
            <a:pPr>
              <a:buNone/>
            </a:pPr>
            <a:endParaRPr lang="en-US" dirty="0" smtClean="0"/>
          </a:p>
        </p:txBody>
      </p:sp>
      <p:pic>
        <p:nvPicPr>
          <p:cNvPr id="6"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lstStyle/>
          <a:p>
            <a:pPr algn="just">
              <a:buNone/>
            </a:pPr>
            <a:r>
              <a:rPr lang="en-US" b="1" dirty="0" smtClean="0">
                <a:solidFill>
                  <a:srgbClr val="FF0000"/>
                </a:solidFill>
              </a:rPr>
              <a:t>Neural Networks</a:t>
            </a:r>
            <a:endParaRPr lang="en-US" dirty="0" smtClean="0">
              <a:solidFill>
                <a:srgbClr val="FF0000"/>
              </a:solidFill>
            </a:endParaRPr>
          </a:p>
          <a:p>
            <a:pPr algn="just"/>
            <a:r>
              <a:rPr lang="en-US" dirty="0" smtClean="0"/>
              <a:t>Neural networks are made of shorter modules or building blocks, same as atoms in matter and logic gates in electronic circuits. Once we know what the blocks are, we can combine them to solve a variety of problems.</a:t>
            </a:r>
          </a:p>
          <a:p>
            <a:pPr algn="just"/>
            <a:r>
              <a:rPr lang="en-US" dirty="0" smtClean="0"/>
              <a:t>Processing of Artificial neural network depends upon the given three building blocks:</a:t>
            </a:r>
          </a:p>
          <a:p>
            <a:pPr lvl="0" algn="just">
              <a:buFont typeface="Wingdings" pitchFamily="2" charset="2"/>
              <a:buChar char="Ø"/>
            </a:pPr>
            <a:r>
              <a:rPr lang="en-US" dirty="0" smtClean="0"/>
              <a:t>Network Topology</a:t>
            </a:r>
          </a:p>
          <a:p>
            <a:pPr lvl="0" algn="just">
              <a:buFont typeface="Wingdings" pitchFamily="2" charset="2"/>
              <a:buChar char="Ø"/>
            </a:pPr>
            <a:r>
              <a:rPr lang="en-US" dirty="0" smtClean="0"/>
              <a:t>Adjustments of weights or learning</a:t>
            </a:r>
          </a:p>
          <a:p>
            <a:pPr lvl="0" algn="just">
              <a:buFont typeface="Wingdings" pitchFamily="2" charset="2"/>
              <a:buChar char="Ø"/>
            </a:pPr>
            <a:r>
              <a:rPr lang="en-US" dirty="0" smtClean="0"/>
              <a:t>Activation functions</a:t>
            </a:r>
          </a:p>
          <a:p>
            <a:pPr algn="just">
              <a:buNone/>
            </a:pP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lnSpcReduction="10000"/>
          </a:bodyPr>
          <a:lstStyle/>
          <a:p>
            <a:pPr>
              <a:buNone/>
            </a:pPr>
            <a:r>
              <a:rPr lang="en-US" sz="2400" dirty="0" smtClean="0">
                <a:solidFill>
                  <a:srgbClr val="FF0000"/>
                </a:solidFill>
              </a:rPr>
              <a:t>Types of Neural Network</a:t>
            </a:r>
          </a:p>
          <a:p>
            <a:pPr algn="just">
              <a:buNone/>
            </a:pPr>
            <a:r>
              <a:rPr lang="en-US" sz="1800" dirty="0" smtClean="0"/>
              <a:t>Neural Network types can be classified based on following attributes:</a:t>
            </a:r>
          </a:p>
          <a:p>
            <a:pPr algn="just">
              <a:buFont typeface="Arial" pitchFamily="34" charset="0"/>
              <a:buChar char="•"/>
            </a:pPr>
            <a:r>
              <a:rPr lang="en-US" sz="1800" dirty="0" smtClean="0">
                <a:solidFill>
                  <a:srgbClr val="0070C0"/>
                </a:solidFill>
              </a:rPr>
              <a:t>Connection Type</a:t>
            </a:r>
          </a:p>
          <a:p>
            <a:pPr marL="514350" indent="-514350" algn="just">
              <a:buFont typeface="+mj-lt"/>
              <a:buAutoNum type="alphaLcParenR"/>
            </a:pPr>
            <a:r>
              <a:rPr lang="en-US" sz="1800" dirty="0" smtClean="0"/>
              <a:t>Static (</a:t>
            </a:r>
            <a:r>
              <a:rPr lang="en-US" sz="1800" dirty="0" err="1" smtClean="0"/>
              <a:t>Feedforward</a:t>
            </a:r>
            <a:r>
              <a:rPr lang="en-US" sz="1800" dirty="0" smtClean="0"/>
              <a:t>)</a:t>
            </a:r>
          </a:p>
          <a:p>
            <a:pPr marL="514350" indent="-514350" algn="just">
              <a:buFont typeface="+mj-lt"/>
              <a:buAutoNum type="alphaLcParenR"/>
            </a:pPr>
            <a:r>
              <a:rPr lang="en-US" sz="1800" dirty="0" smtClean="0"/>
              <a:t>Dynamic (Feedback)</a:t>
            </a:r>
          </a:p>
          <a:p>
            <a:pPr marL="514350" indent="-514350" algn="just">
              <a:buFont typeface="Arial" pitchFamily="34" charset="0"/>
              <a:buChar char="•"/>
            </a:pPr>
            <a:r>
              <a:rPr lang="en-US" sz="1800" dirty="0" smtClean="0">
                <a:solidFill>
                  <a:srgbClr val="0070C0"/>
                </a:solidFill>
              </a:rPr>
              <a:t>Topology</a:t>
            </a:r>
          </a:p>
          <a:p>
            <a:pPr marL="514350" indent="-514350" algn="just">
              <a:buFont typeface="+mj-lt"/>
              <a:buAutoNum type="alphaLcParenR"/>
            </a:pPr>
            <a:r>
              <a:rPr lang="en-US" sz="1800" dirty="0" smtClean="0"/>
              <a:t>Single Layer </a:t>
            </a:r>
          </a:p>
          <a:p>
            <a:pPr marL="514350" indent="-514350" algn="just">
              <a:buFont typeface="+mj-lt"/>
              <a:buAutoNum type="alphaLcParenR"/>
            </a:pPr>
            <a:r>
              <a:rPr lang="en-US" sz="1800" dirty="0" smtClean="0"/>
              <a:t>Multi Layer</a:t>
            </a:r>
          </a:p>
          <a:p>
            <a:pPr marL="514350" indent="-514350" algn="just">
              <a:buFont typeface="+mj-lt"/>
              <a:buAutoNum type="alphaLcParenR"/>
            </a:pPr>
            <a:r>
              <a:rPr lang="en-US" sz="1800" dirty="0" smtClean="0"/>
              <a:t>Recurrent</a:t>
            </a:r>
          </a:p>
          <a:p>
            <a:pPr marL="514350" indent="-514350" algn="just">
              <a:buFont typeface="Arial" pitchFamily="34" charset="0"/>
              <a:buChar char="•"/>
            </a:pPr>
            <a:r>
              <a:rPr lang="en-US" sz="1800" dirty="0" smtClean="0">
                <a:solidFill>
                  <a:srgbClr val="0070C0"/>
                </a:solidFill>
              </a:rPr>
              <a:t>Learning Methods</a:t>
            </a:r>
          </a:p>
          <a:p>
            <a:pPr marL="514350" indent="-514350" algn="just">
              <a:buFont typeface="+mj-lt"/>
              <a:buAutoNum type="alphaLcParenR"/>
            </a:pPr>
            <a:r>
              <a:rPr lang="en-US" sz="1800" dirty="0" err="1" smtClean="0"/>
              <a:t>Supervied</a:t>
            </a:r>
            <a:r>
              <a:rPr lang="en-US" sz="1800" dirty="0" smtClean="0"/>
              <a:t> </a:t>
            </a:r>
          </a:p>
          <a:p>
            <a:pPr marL="514350" indent="-514350" algn="just">
              <a:buFont typeface="+mj-lt"/>
              <a:buAutoNum type="alphaLcParenR"/>
            </a:pPr>
            <a:r>
              <a:rPr lang="en-US" sz="1800" dirty="0" err="1" smtClean="0"/>
              <a:t>Unsupervied</a:t>
            </a:r>
            <a:endParaRPr lang="en-US" sz="1800" dirty="0" smtClean="0"/>
          </a:p>
          <a:p>
            <a:pPr marL="514350" indent="-514350" algn="just">
              <a:buFont typeface="+mj-lt"/>
              <a:buAutoNum type="alphaLcParenR"/>
            </a:pPr>
            <a:r>
              <a:rPr lang="en-US" sz="1800" dirty="0" smtClean="0"/>
              <a:t>Reinforcement </a:t>
            </a:r>
          </a:p>
          <a:p>
            <a:pPr marL="514350" indent="-514350" algn="just">
              <a:buNone/>
            </a:pPr>
            <a:endParaRPr lang="en-US" sz="1800" dirty="0" smtClean="0"/>
          </a:p>
          <a:p>
            <a:pPr marL="514350" indent="-514350" algn="just">
              <a:buFont typeface="+mj-lt"/>
              <a:buAutoNum type="alphaLcParenR"/>
            </a:pPr>
            <a:endParaRPr lang="en-US" sz="1800" dirty="0" smtClean="0"/>
          </a:p>
          <a:p>
            <a:pPr marL="514350" indent="-514350" algn="just">
              <a:buNone/>
            </a:pPr>
            <a:endParaRPr lang="en-US" sz="1800" dirty="0" smtClean="0"/>
          </a:p>
          <a:p>
            <a:pPr algn="just">
              <a:buNone/>
            </a:pPr>
            <a:endParaRPr lang="en-US" sz="1800" dirty="0"/>
          </a:p>
        </p:txBody>
      </p:sp>
      <p:pic>
        <p:nvPicPr>
          <p:cNvPr id="6"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a:xfrm>
            <a:off x="914400" y="1295400"/>
            <a:ext cx="7772400" cy="4724400"/>
          </a:xfrm>
        </p:spPr>
        <p:txBody>
          <a:bodyPr/>
          <a:lstStyle/>
          <a:p>
            <a:pPr>
              <a:buNone/>
            </a:pPr>
            <a:r>
              <a:rPr lang="en-US" dirty="0" smtClean="0">
                <a:solidFill>
                  <a:srgbClr val="0070C0"/>
                </a:solidFill>
              </a:rPr>
              <a:t>Classification Based on Connection Type</a:t>
            </a:r>
          </a:p>
          <a:p>
            <a:pPr marL="514350" indent="-514350" algn="just">
              <a:buFont typeface="+mj-lt"/>
              <a:buAutoNum type="alphaLcParenR"/>
            </a:pPr>
            <a:r>
              <a:rPr lang="en-US" sz="2800" dirty="0" smtClean="0"/>
              <a:t>Static (Feed forward)</a:t>
            </a:r>
          </a:p>
          <a:p>
            <a:pPr marL="514350" indent="-514350" algn="just">
              <a:buFont typeface="+mj-lt"/>
              <a:buAutoNum type="alphaLcParenR"/>
            </a:pPr>
            <a:r>
              <a:rPr lang="en-US" sz="2800" dirty="0" smtClean="0"/>
              <a:t>Dynamic (Feedback)</a:t>
            </a:r>
          </a:p>
          <a:p>
            <a:pPr>
              <a:buNone/>
            </a:pPr>
            <a:r>
              <a:rPr lang="en-US" dirty="0" smtClean="0">
                <a:solidFill>
                  <a:srgbClr val="0070C0"/>
                </a:solidFill>
              </a:rPr>
              <a:t>Classification Based on Topology</a:t>
            </a:r>
          </a:p>
          <a:p>
            <a:pPr>
              <a:buNone/>
            </a:pPr>
            <a:r>
              <a:rPr lang="en-US" dirty="0" smtClean="0"/>
              <a:t>	Single Layer 	                 Multilayer 		Recurrent</a:t>
            </a:r>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a:p>
            <a:pPr>
              <a:buNone/>
            </a:pP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6" name="Picture 5"/>
          <p:cNvPicPr/>
          <p:nvPr/>
        </p:nvPicPr>
        <p:blipFill>
          <a:blip r:embed="rId3">
            <a:extLst>
              <a:ext uri="{28A0092B-C50C-407E-A947-70E740481C1C}"/>
            </a:extLst>
          </a:blip>
          <a:srcRect/>
          <a:stretch>
            <a:fillRect/>
          </a:stretch>
        </p:blipFill>
        <p:spPr bwMode="auto">
          <a:xfrm>
            <a:off x="1066800" y="3733800"/>
            <a:ext cx="7620000" cy="2362200"/>
          </a:xfrm>
          <a:prstGeom prst="rect">
            <a:avLst/>
          </a:prstGeom>
          <a:noFill/>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fontScale="85000" lnSpcReduction="20000"/>
          </a:bodyPr>
          <a:lstStyle/>
          <a:p>
            <a:pPr algn="just">
              <a:buNone/>
            </a:pPr>
            <a:r>
              <a:rPr lang="en-US" sz="2800" dirty="0" smtClean="0">
                <a:solidFill>
                  <a:srgbClr val="0070C0"/>
                </a:solidFill>
              </a:rPr>
              <a:t>Classification Based on Learning Algorithms</a:t>
            </a:r>
          </a:p>
          <a:p>
            <a:pPr algn="just">
              <a:buNone/>
            </a:pPr>
            <a:r>
              <a:rPr lang="en-US" sz="2400" dirty="0" smtClean="0">
                <a:solidFill>
                  <a:srgbClr val="00B050"/>
                </a:solidFill>
              </a:rPr>
              <a:t>a) Supervised Learning</a:t>
            </a:r>
          </a:p>
          <a:p>
            <a:pPr algn="just">
              <a:buFont typeface="Arial" pitchFamily="34" charset="0"/>
              <a:buChar char="•"/>
            </a:pPr>
            <a:r>
              <a:rPr lang="en-US" sz="2000" dirty="0" smtClean="0"/>
              <a:t>In it network is trained by providing it with input and match the output patterns.</a:t>
            </a:r>
          </a:p>
          <a:p>
            <a:pPr algn="just">
              <a:buFont typeface="Arial" pitchFamily="34" charset="0"/>
              <a:buChar char="•"/>
            </a:pPr>
            <a:r>
              <a:rPr lang="en-US" sz="2000" dirty="0" smtClean="0"/>
              <a:t>Input output pairs can be </a:t>
            </a:r>
          </a:p>
          <a:p>
            <a:pPr algn="just">
              <a:buNone/>
            </a:pPr>
            <a:r>
              <a:rPr lang="en-US" sz="2000" dirty="0" smtClean="0"/>
              <a:t>	provided by external learning data.</a:t>
            </a:r>
          </a:p>
          <a:p>
            <a:pPr algn="just">
              <a:buNone/>
            </a:pPr>
            <a:r>
              <a:rPr lang="en-US" sz="2000" dirty="0" smtClean="0"/>
              <a:t>	(self-</a:t>
            </a:r>
            <a:r>
              <a:rPr lang="en-US" sz="2000" dirty="0" err="1" smtClean="0"/>
              <a:t>supervided</a:t>
            </a:r>
            <a:r>
              <a:rPr lang="en-US" sz="2000" dirty="0" smtClean="0"/>
              <a:t>)system.</a:t>
            </a:r>
          </a:p>
          <a:p>
            <a:pPr algn="just">
              <a:buNone/>
            </a:pPr>
            <a:endParaRPr lang="en-US" sz="2000" dirty="0" smtClean="0"/>
          </a:p>
          <a:p>
            <a:pPr algn="just">
              <a:buNone/>
            </a:pPr>
            <a:endParaRPr lang="en-US" sz="2000" dirty="0" smtClean="0"/>
          </a:p>
          <a:p>
            <a:pPr algn="just">
              <a:buNone/>
            </a:pPr>
            <a:endParaRPr lang="en-US" sz="2000" dirty="0" smtClean="0"/>
          </a:p>
          <a:p>
            <a:pPr algn="just">
              <a:buNone/>
            </a:pPr>
            <a:endParaRPr lang="en-US" sz="2000" dirty="0" smtClean="0"/>
          </a:p>
          <a:p>
            <a:pPr algn="just">
              <a:buNone/>
            </a:pPr>
            <a:endParaRPr lang="en-US" sz="2000" dirty="0" smtClean="0"/>
          </a:p>
          <a:p>
            <a:pPr algn="just">
              <a:buFont typeface="Arial" pitchFamily="34" charset="0"/>
              <a:buChar char="•"/>
            </a:pPr>
            <a:r>
              <a:rPr lang="en-US" sz="2000" dirty="0" smtClean="0"/>
              <a:t>An error signal is produced if there is a difference between the actual output and the desired output vector. </a:t>
            </a:r>
          </a:p>
          <a:p>
            <a:pPr algn="just">
              <a:buFont typeface="Arial" pitchFamily="34" charset="0"/>
              <a:buChar char="•"/>
            </a:pPr>
            <a:r>
              <a:rPr lang="en-US" sz="2000" dirty="0" smtClean="0"/>
              <a:t>Based on this error signal, the weight is adjusted until the actual output is matched with the desired output.</a:t>
            </a:r>
          </a:p>
          <a:p>
            <a:pPr algn="just">
              <a:buNone/>
            </a:pPr>
            <a:endParaRPr lang="en-US" sz="2000"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6" name="Picture 5" descr="Building Blocks"/>
          <p:cNvPicPr/>
          <p:nvPr/>
        </p:nvPicPr>
        <p:blipFill>
          <a:blip r:embed="rId3"/>
          <a:srcRect/>
          <a:stretch>
            <a:fillRect/>
          </a:stretch>
        </p:blipFill>
        <p:spPr bwMode="auto">
          <a:xfrm>
            <a:off x="4419600" y="2438400"/>
            <a:ext cx="4419600" cy="2286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lstStyle/>
          <a:p>
            <a:pPr algn="just">
              <a:buNone/>
            </a:pPr>
            <a:r>
              <a:rPr lang="en-US" sz="2400" dirty="0" smtClean="0">
                <a:solidFill>
                  <a:srgbClr val="00B050"/>
                </a:solidFill>
              </a:rPr>
              <a:t>b) Unsupervised Learning</a:t>
            </a:r>
          </a:p>
          <a:p>
            <a:pPr algn="just">
              <a:buFont typeface="Arial" pitchFamily="34" charset="0"/>
              <a:buChar char="•"/>
            </a:pPr>
            <a:r>
              <a:rPr lang="en-US" dirty="0" smtClean="0"/>
              <a:t>No help from outside</a:t>
            </a:r>
          </a:p>
          <a:p>
            <a:pPr algn="just">
              <a:buFont typeface="Arial" pitchFamily="34" charset="0"/>
              <a:buChar char="•"/>
            </a:pPr>
            <a:r>
              <a:rPr lang="en-US" dirty="0" smtClean="0"/>
              <a:t>No training data, no information available on the desired output.</a:t>
            </a:r>
          </a:p>
          <a:p>
            <a:pPr algn="just">
              <a:buFont typeface="Arial" pitchFamily="34" charset="0"/>
              <a:buChar char="•"/>
            </a:pPr>
            <a:r>
              <a:rPr lang="en-US" dirty="0" smtClean="0"/>
              <a:t>Learning by doing.</a:t>
            </a:r>
          </a:p>
          <a:p>
            <a:pPr algn="just">
              <a:buFont typeface="Arial" pitchFamily="34" charset="0"/>
              <a:buChar char="•"/>
            </a:pPr>
            <a:r>
              <a:rPr lang="en-US" dirty="0" smtClean="0"/>
              <a:t>Used to pick out the structure in the input from clustering.</a:t>
            </a:r>
          </a:p>
          <a:p>
            <a:pPr algn="just">
              <a:buFont typeface="Arial" pitchFamily="34" charset="0"/>
              <a:buChar char="•"/>
            </a:pPr>
            <a:r>
              <a:rPr lang="en-US" dirty="0" err="1" smtClean="0"/>
              <a:t>Eg</a:t>
            </a:r>
            <a:r>
              <a:rPr lang="en-US" dirty="0" smtClean="0"/>
              <a:t>. </a:t>
            </a:r>
            <a:r>
              <a:rPr lang="en-US" dirty="0" err="1" smtClean="0"/>
              <a:t>Kohonen’s</a:t>
            </a:r>
            <a:r>
              <a:rPr lang="en-US" dirty="0" smtClean="0"/>
              <a:t> Learning Law</a:t>
            </a:r>
          </a:p>
          <a:p>
            <a:pPr algn="just">
              <a:buNone/>
            </a:pP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20675"/>
            <a:ext cx="8861425" cy="822325"/>
          </a:xfrm>
          <a:prstGeom prst="rect">
            <a:avLst/>
          </a:prstGeom>
          <a:noFill/>
        </p:spPr>
      </p:pic>
      <p:pic>
        <p:nvPicPr>
          <p:cNvPr id="6" name="Picture 5" descr="Building Blocks"/>
          <p:cNvPicPr/>
          <p:nvPr/>
        </p:nvPicPr>
        <p:blipFill>
          <a:blip r:embed="rId3"/>
          <a:srcRect/>
          <a:stretch>
            <a:fillRect/>
          </a:stretch>
        </p:blipFill>
        <p:spPr bwMode="auto">
          <a:xfrm>
            <a:off x="3962400" y="4343400"/>
            <a:ext cx="4907280" cy="176784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normAutofit/>
          </a:bodyPr>
          <a:lstStyle/>
          <a:p>
            <a:pPr>
              <a:buNone/>
            </a:pPr>
            <a:r>
              <a:rPr lang="en-US" sz="2400" dirty="0" smtClean="0">
                <a:solidFill>
                  <a:srgbClr val="00B050"/>
                </a:solidFill>
              </a:rPr>
              <a:t>c) Reinforcement Learning</a:t>
            </a:r>
          </a:p>
          <a:p>
            <a:pPr>
              <a:buFont typeface="Arial" pitchFamily="34" charset="0"/>
              <a:buChar char="•"/>
            </a:pPr>
            <a:r>
              <a:rPr lang="en-US" sz="1800" dirty="0" smtClean="0"/>
              <a:t>It is a technique that helps to solve control optimization issues.</a:t>
            </a:r>
          </a:p>
          <a:p>
            <a:pPr>
              <a:buFont typeface="Arial" pitchFamily="34" charset="0"/>
              <a:buChar char="•"/>
            </a:pPr>
            <a:r>
              <a:rPr lang="en-US" sz="1800" dirty="0" smtClean="0"/>
              <a:t>Its existence comes  when the system has a huge number of states and has a complex stochastic structure, which is not responsible to closed-form analysis.</a:t>
            </a:r>
          </a:p>
          <a:p>
            <a:pPr>
              <a:buFont typeface="Arial" pitchFamily="34" charset="0"/>
              <a:buChar char="•"/>
            </a:pPr>
            <a:r>
              <a:rPr lang="en-US" sz="1800" dirty="0" smtClean="0"/>
              <a:t> If issues have a relatively small number of states, then the random structure is relatively simple, so that we can utilize dynamic programming.</a:t>
            </a:r>
          </a:p>
          <a:p>
            <a:pPr>
              <a:buFont typeface="Arial" pitchFamily="34" charset="0"/>
              <a:buChar char="•"/>
            </a:pPr>
            <a:r>
              <a:rPr lang="en-US" sz="1800" dirty="0" smtClean="0"/>
              <a:t>By using control optimization, we can recognize the best action in each state visited by the system in order to optimize some objective function.</a:t>
            </a:r>
          </a:p>
          <a:p>
            <a:pPr>
              <a:buNone/>
            </a:pPr>
            <a:endParaRPr lang="en-US" sz="1800" dirty="0" smtClean="0"/>
          </a:p>
          <a:p>
            <a:pPr>
              <a:buNone/>
            </a:pPr>
            <a:endParaRPr lang="en-US" dirty="0"/>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pic>
        <p:nvPicPr>
          <p:cNvPr id="6" name="Picture 5" descr="Building Blocks"/>
          <p:cNvPicPr/>
          <p:nvPr/>
        </p:nvPicPr>
        <p:blipFill>
          <a:blip r:embed="rId3"/>
          <a:srcRect/>
          <a:stretch>
            <a:fillRect/>
          </a:stretch>
        </p:blipFill>
        <p:spPr bwMode="auto">
          <a:xfrm>
            <a:off x="4038600" y="4191000"/>
            <a:ext cx="4716780" cy="215646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sz="quarter" idx="1"/>
          </p:nvPr>
        </p:nvSpPr>
        <p:spPr/>
        <p:txBody>
          <a:bodyPr/>
          <a:lstStyle/>
          <a:p>
            <a:pPr>
              <a:buNone/>
            </a:pPr>
            <a:endParaRPr lang="en-US" dirty="0" smtClean="0">
              <a:solidFill>
                <a:srgbClr val="FF0000"/>
              </a:solidFill>
            </a:endParaRPr>
          </a:p>
          <a:p>
            <a:pPr>
              <a:buNone/>
            </a:pPr>
            <a:endParaRPr lang="en-US" dirty="0" smtClean="0">
              <a:solidFill>
                <a:srgbClr val="FF0000"/>
              </a:solidFill>
            </a:endParaRPr>
          </a:p>
          <a:p>
            <a:pPr>
              <a:buNone/>
            </a:pPr>
            <a:endParaRPr lang="en-US" dirty="0" smtClean="0">
              <a:solidFill>
                <a:srgbClr val="FF0000"/>
              </a:solidFill>
            </a:endParaRPr>
          </a:p>
          <a:p>
            <a:pPr>
              <a:buNone/>
            </a:pPr>
            <a:endParaRPr lang="en-US" dirty="0" smtClean="0">
              <a:solidFill>
                <a:srgbClr val="FF0000"/>
              </a:solidFill>
            </a:endParaRPr>
          </a:p>
          <a:p>
            <a:pPr>
              <a:buNone/>
            </a:pPr>
            <a:r>
              <a:rPr lang="en-US" dirty="0" smtClean="0">
                <a:solidFill>
                  <a:srgbClr val="FF0000"/>
                </a:solidFill>
              </a:rPr>
              <a:t>				THANK YOU!</a:t>
            </a:r>
            <a:endParaRPr lang="en-US" dirty="0">
              <a:solidFill>
                <a:srgbClr val="FF0000"/>
              </a:solidFill>
            </a:endParaRPr>
          </a:p>
        </p:txBody>
      </p:sp>
      <p:pic>
        <p:nvPicPr>
          <p:cNvPr id="5" name="Picture 2" descr="C:\Users\rahul\Desktop\AI NOTES\WhatsApp Image 2020-04-04 at 1.10.45 PM.jpeg"/>
          <p:cNvPicPr>
            <a:picLocks noChangeAspect="1" noChangeArrowheads="1"/>
          </p:cNvPicPr>
          <p:nvPr/>
        </p:nvPicPr>
        <p:blipFill>
          <a:blip r:embed="rId2"/>
          <a:srcRect/>
          <a:stretch>
            <a:fillRect/>
          </a:stretch>
        </p:blipFill>
        <p:spPr bwMode="auto">
          <a:xfrm>
            <a:off x="152400" y="304800"/>
            <a:ext cx="8861425" cy="822325"/>
          </a:xfrm>
          <a:prstGeom prst="rect">
            <a:avLst/>
          </a:prstGeom>
          <a:noFill/>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423</TotalTime>
  <Words>310</Words>
  <Application>Microsoft Office PowerPoint</Application>
  <PresentationFormat>On-screen Show (4:3)</PresentationFormat>
  <Paragraphs>71</Paragraphs>
  <Slides>9</Slides>
  <Notes>1</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Equity</vt:lpstr>
      <vt:lpstr> Neural Network Perceptron  </vt:lpstr>
      <vt:lpstr>Slide 2</vt:lpstr>
      <vt:lpstr>Slide 3</vt:lpstr>
      <vt:lpstr>Slide 4</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Tree</dc:title>
  <dc:creator>Windows User</dc:creator>
  <cp:lastModifiedBy>arya</cp:lastModifiedBy>
  <cp:revision>93</cp:revision>
  <dcterms:created xsi:type="dcterms:W3CDTF">2020-04-07T07:05:45Z</dcterms:created>
  <dcterms:modified xsi:type="dcterms:W3CDTF">2022-04-26T10:05:12Z</dcterms:modified>
</cp:coreProperties>
</file>