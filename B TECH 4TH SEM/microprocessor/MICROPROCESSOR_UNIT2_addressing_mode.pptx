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7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3298" autoAdjust="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DAA6A-4ACC-4BEC-8F16-FBDABC31252B}" type="datetimeFigureOut">
              <a:rPr lang="en-US" smtClean="0"/>
              <a:pPr/>
              <a:t>6/10/2019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B0585-B3D1-40EF-879C-22CB965882E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9B0585-B3D1-40EF-879C-22CB965882E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6/10/2019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comb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comb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6/10/2019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transition>
    <p:comb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070C0"/>
            </a:gs>
            <a:gs pos="39999">
              <a:srgbClr val="0070C0"/>
            </a:gs>
            <a:gs pos="70000">
              <a:srgbClr val="0070C0"/>
            </a:gs>
            <a:gs pos="100000">
              <a:srgbClr val="0070C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/>
          <p:cNvSpPr txBox="1">
            <a:spLocks/>
          </p:cNvSpPr>
          <p:nvPr/>
        </p:nvSpPr>
        <p:spPr>
          <a:xfrm>
            <a:off x="0" y="5791200"/>
            <a:ext cx="9144000" cy="10668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 fontScale="92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ER. MOHIT MISHRA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ASSOCIATE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PROFESSOR(CS DEPT)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aseline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ACEIT JAIPUR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itle 3"/>
          <p:cNvSpPr txBox="1">
            <a:spLocks/>
          </p:cNvSpPr>
          <p:nvPr/>
        </p:nvSpPr>
        <p:spPr>
          <a:xfrm>
            <a:off x="0" y="0"/>
            <a:ext cx="9144000" cy="9906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Title 3"/>
          <p:cNvSpPr txBox="1">
            <a:spLocks/>
          </p:cNvSpPr>
          <p:nvPr/>
        </p:nvSpPr>
        <p:spPr>
          <a:xfrm>
            <a:off x="0" y="990600"/>
            <a:ext cx="1828800" cy="48006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" name="Title 3"/>
          <p:cNvSpPr txBox="1">
            <a:spLocks/>
          </p:cNvSpPr>
          <p:nvPr/>
        </p:nvSpPr>
        <p:spPr>
          <a:xfrm>
            <a:off x="2819400" y="1676400"/>
            <a:ext cx="3505200" cy="3429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8085 Addressing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aseline="0" dirty="0" smtClean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Modes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" name="Title 3"/>
          <p:cNvSpPr txBox="1">
            <a:spLocks/>
          </p:cNvSpPr>
          <p:nvPr/>
        </p:nvSpPr>
        <p:spPr>
          <a:xfrm>
            <a:off x="7315200" y="990600"/>
            <a:ext cx="1828800" cy="48006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070C0"/>
            </a:gs>
            <a:gs pos="39999">
              <a:srgbClr val="0070C0"/>
            </a:gs>
            <a:gs pos="70000">
              <a:srgbClr val="0070C0"/>
            </a:gs>
            <a:gs pos="100000">
              <a:srgbClr val="0070C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14400"/>
          </a:xfr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smtClean="0"/>
              <a:t> </a:t>
            </a:r>
            <a:r>
              <a:rPr smtClean="0">
                <a:solidFill>
                  <a:srgbClr val="FFFF00"/>
                </a:solidFill>
              </a:rPr>
              <a:t>Addressing Modes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04800" y="1143000"/>
            <a:ext cx="8610600" cy="5943600"/>
          </a:xfrm>
          <a:gradFill>
            <a:gsLst>
              <a:gs pos="0">
                <a:srgbClr val="0070C0"/>
              </a:gs>
              <a:gs pos="39999">
                <a:srgbClr val="0070C0"/>
              </a:gs>
              <a:gs pos="70000">
                <a:srgbClr val="0070C0"/>
              </a:gs>
              <a:gs pos="100000">
                <a:srgbClr val="0070C0"/>
              </a:gs>
            </a:gsLst>
            <a:lin ang="5400000" scaled="0"/>
          </a:gradFill>
        </p:spPr>
        <p:txBody>
          <a:bodyPr>
            <a:normAutofit/>
          </a:bodyPr>
          <a:lstStyle/>
          <a:p>
            <a:pPr algn="l"/>
            <a:r>
              <a:rPr lang="en-US" sz="28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  </a:t>
            </a:r>
            <a:r>
              <a:rPr lang="en-US" sz="2800" dirty="0" smtClean="0">
                <a:solidFill>
                  <a:schemeClr val="bg1"/>
                </a:solidFill>
                <a:latin typeface="Arial Narrow" pitchFamily="34" charset="0"/>
              </a:rPr>
              <a:t>The number &amp; Different kind of ways the programmer can      </a:t>
            </a:r>
          </a:p>
          <a:p>
            <a:pPr algn="l"/>
            <a:r>
              <a:rPr lang="en-US" sz="2800" dirty="0" smtClean="0">
                <a:solidFill>
                  <a:schemeClr val="bg1"/>
                </a:solidFill>
                <a:latin typeface="Arial Narrow" pitchFamily="34" charset="0"/>
              </a:rPr>
              <a:t>       refer to data stored in the memory</a:t>
            </a:r>
          </a:p>
          <a:p>
            <a:pPr algn="l"/>
            <a:r>
              <a:rPr lang="en-US" sz="28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 </a:t>
            </a:r>
            <a:r>
              <a:rPr lang="en-US" sz="2800" dirty="0" smtClean="0">
                <a:solidFill>
                  <a:schemeClr val="bg1"/>
                </a:solidFill>
                <a:latin typeface="Arial Narrow" pitchFamily="34" charset="0"/>
              </a:rPr>
              <a:t>The different ways that a microprocessor can access data   </a:t>
            </a:r>
          </a:p>
          <a:p>
            <a:pPr algn="l"/>
            <a:r>
              <a:rPr lang="en-US" sz="2800" dirty="0" smtClean="0">
                <a:solidFill>
                  <a:schemeClr val="bg1"/>
                </a:solidFill>
                <a:latin typeface="Arial Narrow" pitchFamily="34" charset="0"/>
              </a:rPr>
              <a:t>       are referred to as Addressing modes	</a:t>
            </a:r>
          </a:p>
          <a:p>
            <a:pPr lvl="2" algn="l">
              <a:buClr>
                <a:schemeClr val="bg1"/>
              </a:buCl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bg1"/>
                </a:solidFill>
                <a:latin typeface="Arial Narrow" pitchFamily="34" charset="0"/>
              </a:rPr>
              <a:t>Immediate Addressing mode</a:t>
            </a:r>
          </a:p>
          <a:p>
            <a:pPr lvl="2" algn="l">
              <a:buClr>
                <a:schemeClr val="bg1"/>
              </a:buCl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bg1"/>
                </a:solidFill>
                <a:latin typeface="Arial Narrow" pitchFamily="34" charset="0"/>
              </a:rPr>
              <a:t>Register Addressing mode	</a:t>
            </a:r>
          </a:p>
          <a:p>
            <a:pPr lvl="2" algn="l">
              <a:buClr>
                <a:schemeClr val="bg1"/>
              </a:buCl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bg1"/>
                </a:solidFill>
                <a:latin typeface="Arial Narrow" pitchFamily="34" charset="0"/>
              </a:rPr>
              <a:t>Direct Addressing mode</a:t>
            </a:r>
          </a:p>
          <a:p>
            <a:pPr lvl="2" algn="l">
              <a:buClr>
                <a:schemeClr val="bg1"/>
              </a:buCl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bg1"/>
                </a:solidFill>
                <a:latin typeface="Arial Narrow" pitchFamily="34" charset="0"/>
              </a:rPr>
              <a:t>Indirect Addressing mode</a:t>
            </a:r>
          </a:p>
          <a:p>
            <a:pPr lvl="2" algn="l">
              <a:buClr>
                <a:schemeClr val="bg1"/>
              </a:buClr>
              <a:buFont typeface="Wingdings" pitchFamily="2" charset="2"/>
              <a:buChar char="v"/>
            </a:pPr>
            <a:r>
              <a:rPr lang="en-US" sz="2800" dirty="0" smtClean="0">
                <a:solidFill>
                  <a:schemeClr val="bg1"/>
                </a:solidFill>
                <a:latin typeface="Arial Narrow" pitchFamily="34" charset="0"/>
              </a:rPr>
              <a:t>Implied Addressing mode</a:t>
            </a:r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0" y="914400"/>
            <a:ext cx="457200" cy="50292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8686800" y="914400"/>
            <a:ext cx="457200" cy="50292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itle 3"/>
          <p:cNvSpPr txBox="1">
            <a:spLocks/>
          </p:cNvSpPr>
          <p:nvPr/>
        </p:nvSpPr>
        <p:spPr>
          <a:xfrm>
            <a:off x="0" y="5943600"/>
            <a:ext cx="9144000" cy="914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Addressing Modes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070C0"/>
            </a:gs>
            <a:gs pos="39999">
              <a:srgbClr val="0070C0"/>
            </a:gs>
            <a:gs pos="70000">
              <a:srgbClr val="0070C0"/>
            </a:gs>
            <a:gs pos="100000">
              <a:srgbClr val="0070C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14400"/>
          </a:xfr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smtClean="0"/>
              <a:t> </a:t>
            </a:r>
            <a:r>
              <a:rPr smtClean="0">
                <a:solidFill>
                  <a:srgbClr val="FFFF00"/>
                </a:solidFill>
              </a:rPr>
              <a:t>Immediate Addressing Mode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04800" y="990600"/>
            <a:ext cx="8610600" cy="5867400"/>
          </a:xfrm>
          <a:gradFill>
            <a:gsLst>
              <a:gs pos="0">
                <a:srgbClr val="0070C0"/>
              </a:gs>
              <a:gs pos="39999">
                <a:srgbClr val="0070C0"/>
              </a:gs>
              <a:gs pos="70000">
                <a:srgbClr val="0070C0"/>
              </a:gs>
              <a:gs pos="100000">
                <a:srgbClr val="0070C0"/>
              </a:gs>
            </a:gsLst>
            <a:lin ang="5400000" scaled="0"/>
          </a:gradFill>
        </p:spPr>
        <p:txBody>
          <a:bodyPr>
            <a:normAutofit/>
          </a:bodyPr>
          <a:lstStyle/>
          <a:p>
            <a:pPr lvl="1" algn="l">
              <a:buClr>
                <a:schemeClr val="bg1"/>
              </a:buClr>
              <a:buFont typeface="Wingdings"/>
              <a:buChar char="à"/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8 or 16 bit data can be specified as a part of 	Instruction</a:t>
            </a:r>
          </a:p>
          <a:p>
            <a:pPr lvl="1" algn="l">
              <a:buClr>
                <a:schemeClr val="bg1"/>
              </a:buClr>
              <a:buFont typeface="Wingdings"/>
              <a:buChar char="à"/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The instruction having ‘</a:t>
            </a:r>
            <a:r>
              <a:rPr lang="en-US" sz="3000" dirty="0" smtClean="0">
                <a:solidFill>
                  <a:schemeClr val="bg1"/>
                </a:solidFill>
                <a:latin typeface="Bell MT" pitchFamily="18" charset="0"/>
                <a:sym typeface="Wingdings" pitchFamily="2" charset="2"/>
              </a:rPr>
              <a:t>I</a:t>
            </a: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’ (</a:t>
            </a:r>
            <a:r>
              <a:rPr lang="en-US" sz="3000" dirty="0" smtClean="0">
                <a:solidFill>
                  <a:schemeClr val="bg1"/>
                </a:solidFill>
                <a:latin typeface="Bell MT" pitchFamily="18" charset="0"/>
                <a:sym typeface="Wingdings" pitchFamily="2" charset="2"/>
              </a:rPr>
              <a:t>Immediate)</a:t>
            </a: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letter fall 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    under this category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                    Examples :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                                    MVI C,25H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				MVI M,7CH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				LXI D,245EH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				ADI 87H</a:t>
            </a:r>
          </a:p>
          <a:p>
            <a:pPr lvl="1" algn="l">
              <a:buClr>
                <a:schemeClr val="bg1"/>
              </a:buClr>
              <a:buFont typeface="Wingdings"/>
              <a:buChar char="à"/>
            </a:pPr>
            <a:endParaRPr lang="en-US" sz="32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0" y="914400"/>
            <a:ext cx="457200" cy="50292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8686800" y="914400"/>
            <a:ext cx="457200" cy="50292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itle 3"/>
          <p:cNvSpPr txBox="1">
            <a:spLocks/>
          </p:cNvSpPr>
          <p:nvPr/>
        </p:nvSpPr>
        <p:spPr>
          <a:xfrm>
            <a:off x="0" y="5943600"/>
            <a:ext cx="9144000" cy="914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Immediate Addressing Mode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070C0"/>
            </a:gs>
            <a:gs pos="39999">
              <a:srgbClr val="0070C0"/>
            </a:gs>
            <a:gs pos="70000">
              <a:srgbClr val="0070C0"/>
            </a:gs>
            <a:gs pos="100000">
              <a:srgbClr val="0070C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-76200"/>
            <a:ext cx="9144000" cy="914400"/>
          </a:xfr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smtClean="0"/>
              <a:t> </a:t>
            </a:r>
            <a:r>
              <a:rPr smtClean="0">
                <a:solidFill>
                  <a:srgbClr val="FFFF00"/>
                </a:solidFill>
              </a:rPr>
              <a:t>Register Addressing Mode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04800" y="914400"/>
            <a:ext cx="8534400" cy="4953000"/>
          </a:xfrm>
          <a:gradFill>
            <a:gsLst>
              <a:gs pos="0">
                <a:srgbClr val="0070C0"/>
              </a:gs>
              <a:gs pos="39999">
                <a:srgbClr val="0070C0"/>
              </a:gs>
              <a:gs pos="70000">
                <a:srgbClr val="0070C0"/>
              </a:gs>
              <a:gs pos="100000">
                <a:srgbClr val="0070C0"/>
              </a:gs>
            </a:gsLst>
            <a:lin ang="5400000" scaled="0"/>
          </a:gradFill>
        </p:spPr>
        <p:txBody>
          <a:bodyPr>
            <a:normAutofit fontScale="92500" lnSpcReduction="20000"/>
          </a:bodyPr>
          <a:lstStyle/>
          <a:p>
            <a:pPr lvl="1" algn="l">
              <a:buClr>
                <a:schemeClr val="bg1"/>
              </a:buClr>
              <a:buFont typeface="Wingdings"/>
              <a:buChar char="à"/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Data transfer between Registers</a:t>
            </a:r>
          </a:p>
          <a:p>
            <a:pPr lvl="1" algn="l">
              <a:buClr>
                <a:schemeClr val="bg1"/>
              </a:buClr>
              <a:buFont typeface="Wingdings"/>
              <a:buChar char="à"/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Specifies the Source ,Destination or Both Operand in	an 8085 registers</a:t>
            </a:r>
          </a:p>
          <a:p>
            <a:pPr lvl="1" algn="l">
              <a:buClr>
                <a:schemeClr val="bg1"/>
              </a:buClr>
              <a:buFont typeface="Wingdings"/>
              <a:buChar char="à"/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Faster Execution (it is not necessary to access 				       memory locations )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                    Examples :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                                    MOV A,B   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				ADD E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				SPHL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				XCHG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				INR L</a:t>
            </a:r>
          </a:p>
          <a:p>
            <a:pPr lvl="1" algn="l">
              <a:buClr>
                <a:schemeClr val="bg1"/>
              </a:buClr>
              <a:buFont typeface="Wingdings"/>
              <a:buChar char="à"/>
            </a:pPr>
            <a:endParaRPr lang="en-US" sz="32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0" y="838200"/>
            <a:ext cx="457200" cy="51816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8686800" y="838200"/>
            <a:ext cx="457200" cy="5105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itle 3"/>
          <p:cNvSpPr txBox="1">
            <a:spLocks/>
          </p:cNvSpPr>
          <p:nvPr/>
        </p:nvSpPr>
        <p:spPr>
          <a:xfrm>
            <a:off x="0" y="5943600"/>
            <a:ext cx="9144000" cy="914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Register Addressing Mode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070C0"/>
            </a:gs>
            <a:gs pos="39999">
              <a:srgbClr val="0070C0"/>
            </a:gs>
            <a:gs pos="70000">
              <a:srgbClr val="0070C0"/>
            </a:gs>
            <a:gs pos="100000">
              <a:srgbClr val="0070C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14400"/>
          </a:xfr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smtClean="0"/>
              <a:t> </a:t>
            </a:r>
            <a:r>
              <a:rPr smtClean="0">
                <a:solidFill>
                  <a:srgbClr val="FFFF00"/>
                </a:solidFill>
              </a:rPr>
              <a:t>Direct Addressing Mode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04800" y="1066800"/>
            <a:ext cx="8610600" cy="5791200"/>
          </a:xfrm>
          <a:gradFill>
            <a:gsLst>
              <a:gs pos="0">
                <a:srgbClr val="0070C0"/>
              </a:gs>
              <a:gs pos="39999">
                <a:srgbClr val="0070C0"/>
              </a:gs>
              <a:gs pos="70000">
                <a:srgbClr val="0070C0"/>
              </a:gs>
              <a:gs pos="100000">
                <a:srgbClr val="0070C0"/>
              </a:gs>
            </a:gsLst>
            <a:lin ang="5400000" scaled="0"/>
          </a:gradFill>
        </p:spPr>
        <p:txBody>
          <a:bodyPr>
            <a:normAutofit/>
          </a:bodyPr>
          <a:lstStyle/>
          <a:p>
            <a:pPr lvl="1" algn="l">
              <a:buClr>
                <a:schemeClr val="bg1"/>
              </a:buClr>
              <a:buFont typeface="Wingdings"/>
              <a:buChar char="à"/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Specifies 16 bit address of the operand within 	instruction itself </a:t>
            </a:r>
          </a:p>
          <a:p>
            <a:pPr lvl="1" algn="l">
              <a:buClr>
                <a:schemeClr val="bg1"/>
              </a:buClr>
              <a:buFont typeface="Wingdings"/>
              <a:buChar char="à"/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Second &amp; third bytes of instruction contain 16 bit</a:t>
            </a:r>
          </a:p>
          <a:p>
            <a:pPr lvl="1" algn="l">
              <a:buClr>
                <a:schemeClr val="bg1"/>
              </a:buClr>
              <a:buFont typeface="Wingdings"/>
              <a:buChar char="à"/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Note : In interface IO port address is only 8 bit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                    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		Examples :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                                    LDA 2000H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				LHLD 1111H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				IN 75H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				</a:t>
            </a:r>
          </a:p>
          <a:p>
            <a:pPr lvl="1" algn="l">
              <a:buClr>
                <a:schemeClr val="bg1"/>
              </a:buClr>
              <a:buFont typeface="Wingdings"/>
              <a:buChar char="à"/>
            </a:pPr>
            <a:endParaRPr lang="en-US" sz="32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0" y="914400"/>
            <a:ext cx="457200" cy="50292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8686800" y="914400"/>
            <a:ext cx="457200" cy="50292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itle 3"/>
          <p:cNvSpPr txBox="1">
            <a:spLocks/>
          </p:cNvSpPr>
          <p:nvPr/>
        </p:nvSpPr>
        <p:spPr>
          <a:xfrm>
            <a:off x="0" y="5943600"/>
            <a:ext cx="9144000" cy="914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Direct Addressing Mode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070C0"/>
            </a:gs>
            <a:gs pos="39999">
              <a:srgbClr val="0070C0"/>
            </a:gs>
            <a:gs pos="70000">
              <a:srgbClr val="0070C0"/>
            </a:gs>
            <a:gs pos="100000">
              <a:srgbClr val="0070C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14400"/>
          </a:xfr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smtClean="0"/>
              <a:t> </a:t>
            </a:r>
            <a:r>
              <a:rPr smtClean="0">
                <a:solidFill>
                  <a:srgbClr val="FFFF00"/>
                </a:solidFill>
              </a:rPr>
              <a:t>Indirect Addressing Mode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04800" y="1676400"/>
            <a:ext cx="8382000" cy="5181600"/>
          </a:xfrm>
          <a:gradFill>
            <a:gsLst>
              <a:gs pos="0">
                <a:srgbClr val="0070C0"/>
              </a:gs>
              <a:gs pos="39999">
                <a:srgbClr val="0070C0"/>
              </a:gs>
              <a:gs pos="70000">
                <a:srgbClr val="0070C0"/>
              </a:gs>
              <a:gs pos="100000">
                <a:srgbClr val="0070C0"/>
              </a:gs>
            </a:gsLst>
            <a:lin ang="5400000" scaled="0"/>
          </a:gradFill>
        </p:spPr>
        <p:txBody>
          <a:bodyPr>
            <a:normAutofit fontScale="92500" lnSpcReduction="10000"/>
          </a:bodyPr>
          <a:lstStyle/>
          <a:p>
            <a:pPr lvl="1" algn="l">
              <a:buClr>
                <a:schemeClr val="bg1"/>
              </a:buClr>
              <a:buFont typeface="Wingdings"/>
              <a:buChar char="à"/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The memory address where the operand located is 	specified by the contents of a register pair   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             Examples :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                                    LDAX B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				MOV M,D</a:t>
            </a:r>
          </a:p>
          <a:p>
            <a:pPr lvl="1" algn="l">
              <a:buClr>
                <a:schemeClr val="bg1"/>
              </a:buClr>
            </a:pPr>
            <a:r>
              <a:rPr lang="en-US" sz="3000" u="sng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Immediate Indirect</a:t>
            </a: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      MVI M,55H</a:t>
            </a:r>
          </a:p>
          <a:p>
            <a:pPr lvl="1" algn="l">
              <a:buClr>
                <a:schemeClr val="bg1"/>
              </a:buClr>
            </a:pPr>
            <a:r>
              <a:rPr lang="en-US" sz="3000" u="sng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Register Indirect</a:t>
            </a: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		ADC M	 [A A +Cy+(M)]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				DCR M	 [(HL)(HL)+1]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				PUSH PSW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				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							</a:t>
            </a:r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0" y="914400"/>
            <a:ext cx="457200" cy="50292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8686800" y="914400"/>
            <a:ext cx="457200" cy="50292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itle 3"/>
          <p:cNvSpPr txBox="1">
            <a:spLocks/>
          </p:cNvSpPr>
          <p:nvPr/>
        </p:nvSpPr>
        <p:spPr>
          <a:xfrm>
            <a:off x="0" y="5943600"/>
            <a:ext cx="9144000" cy="914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Indirect Addressing Mode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070C0"/>
            </a:gs>
            <a:gs pos="39999">
              <a:srgbClr val="0070C0"/>
            </a:gs>
            <a:gs pos="70000">
              <a:srgbClr val="0070C0"/>
            </a:gs>
            <a:gs pos="100000">
              <a:srgbClr val="0070C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14400"/>
          </a:xfr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smtClean="0"/>
              <a:t> </a:t>
            </a:r>
            <a:r>
              <a:rPr smtClean="0">
                <a:solidFill>
                  <a:srgbClr val="FFFF00"/>
                </a:solidFill>
              </a:rPr>
              <a:t>Implied Addressing Mode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04800" y="1676400"/>
            <a:ext cx="8382000" cy="5181600"/>
          </a:xfrm>
          <a:gradFill>
            <a:gsLst>
              <a:gs pos="0">
                <a:srgbClr val="0070C0"/>
              </a:gs>
              <a:gs pos="39999">
                <a:srgbClr val="0070C0"/>
              </a:gs>
              <a:gs pos="70000">
                <a:srgbClr val="0070C0"/>
              </a:gs>
              <a:gs pos="100000">
                <a:srgbClr val="0070C0"/>
              </a:gs>
            </a:gsLst>
            <a:lin ang="5400000" scaled="0"/>
          </a:gradFill>
        </p:spPr>
        <p:txBody>
          <a:bodyPr>
            <a:normAutofit fontScale="92500" lnSpcReduction="10000"/>
          </a:bodyPr>
          <a:lstStyle/>
          <a:p>
            <a:pPr lvl="1" algn="l">
              <a:buClr>
                <a:schemeClr val="bg1"/>
              </a:buClr>
              <a:buFont typeface="Wingdings"/>
              <a:buChar char="à"/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Opcode specifies the address of the operands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            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		 Examples :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                                   	CMA  ( A A  )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				STC 	(Cy 1)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				RAL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				DAA</a:t>
            </a:r>
          </a:p>
          <a:p>
            <a:pPr lvl="1" algn="l">
              <a:buClr>
                <a:schemeClr val="bg1"/>
              </a:buClr>
            </a:pPr>
            <a:endParaRPr lang="en-US" sz="3000" dirty="0" smtClean="0">
              <a:solidFill>
                <a:schemeClr val="bg1"/>
              </a:solidFill>
              <a:latin typeface="Arial Narrow" pitchFamily="34" charset="0"/>
              <a:sym typeface="Wingdings" pitchFamily="2" charset="2"/>
            </a:endParaRPr>
          </a:p>
          <a:p>
            <a:pPr lvl="1" algn="l">
              <a:buClr>
                <a:schemeClr val="bg1"/>
              </a:buClr>
            </a:pPr>
            <a:endParaRPr lang="en-US" sz="3000" dirty="0" smtClean="0">
              <a:solidFill>
                <a:srgbClr val="FF0000"/>
              </a:solidFill>
              <a:latin typeface="Arial Narrow" pitchFamily="34" charset="0"/>
              <a:sym typeface="Wingdings" pitchFamily="2" charset="2"/>
            </a:endParaRP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				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							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5638800" y="3048000"/>
            <a:ext cx="304800" cy="15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3"/>
          <p:cNvSpPr txBox="1">
            <a:spLocks/>
          </p:cNvSpPr>
          <p:nvPr/>
        </p:nvSpPr>
        <p:spPr>
          <a:xfrm>
            <a:off x="0" y="914400"/>
            <a:ext cx="457200" cy="50292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" name="Title 3"/>
          <p:cNvSpPr txBox="1">
            <a:spLocks/>
          </p:cNvSpPr>
          <p:nvPr/>
        </p:nvSpPr>
        <p:spPr>
          <a:xfrm>
            <a:off x="8686800" y="914400"/>
            <a:ext cx="457200" cy="50292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0" y="5943600"/>
            <a:ext cx="9144000" cy="914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Implied Addressing Mode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070C0"/>
            </a:gs>
            <a:gs pos="39999">
              <a:srgbClr val="0070C0"/>
            </a:gs>
            <a:gs pos="70000">
              <a:srgbClr val="0070C0"/>
            </a:gs>
            <a:gs pos="100000">
              <a:srgbClr val="0070C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14400"/>
          </a:xfr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algn="ctr"/>
            <a:r>
              <a:rPr sz="3200" smtClean="0">
                <a:solidFill>
                  <a:srgbClr val="FFFF00"/>
                </a:solidFill>
                <a:latin typeface="Arial Black" pitchFamily="34" charset="0"/>
                <a:sym typeface="Wingdings" pitchFamily="2" charset="2"/>
              </a:rPr>
              <a:t>NULL Addressing Mode</a:t>
            </a:r>
            <a:endParaRPr lang="en-US" sz="3200" dirty="0">
              <a:solidFill>
                <a:srgbClr val="FFFF00"/>
              </a:solidFill>
              <a:latin typeface="Arial Black" pitchFamily="34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04800" y="1676400"/>
            <a:ext cx="8382000" cy="5181600"/>
          </a:xfrm>
          <a:gradFill>
            <a:gsLst>
              <a:gs pos="0">
                <a:srgbClr val="0070C0"/>
              </a:gs>
              <a:gs pos="39999">
                <a:srgbClr val="0070C0"/>
              </a:gs>
              <a:gs pos="70000">
                <a:srgbClr val="0070C0"/>
              </a:gs>
              <a:gs pos="100000">
                <a:srgbClr val="0070C0"/>
              </a:gs>
            </a:gsLst>
            <a:lin ang="5400000" scaled="0"/>
          </a:gradFill>
        </p:spPr>
        <p:txBody>
          <a:bodyPr>
            <a:normAutofit lnSpcReduction="10000"/>
          </a:bodyPr>
          <a:lstStyle/>
          <a:p>
            <a:pPr lvl="1" algn="l">
              <a:buClr>
                <a:schemeClr val="bg1"/>
              </a:buClr>
              <a:buFont typeface="Wingdings"/>
              <a:buChar char="à"/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 Machine Control group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		 Examples :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				EI	DI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				NOP	HLT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				SIM	RIM</a:t>
            </a:r>
          </a:p>
          <a:p>
            <a:pPr lvl="1" algn="l">
              <a:buClr>
                <a:schemeClr val="bg1"/>
              </a:buClr>
            </a:pPr>
            <a:endParaRPr lang="en-US" sz="3000" dirty="0" smtClean="0">
              <a:solidFill>
                <a:srgbClr val="FF0000"/>
              </a:solidFill>
              <a:latin typeface="Arial Narrow" pitchFamily="34" charset="0"/>
              <a:sym typeface="Wingdings" pitchFamily="2" charset="2"/>
            </a:endParaRP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chemeClr val="bg1"/>
                </a:solidFill>
                <a:latin typeface="Arial Narrow" pitchFamily="34" charset="0"/>
                <a:sym typeface="Wingdings" pitchFamily="2" charset="2"/>
              </a:rPr>
              <a:t>Answer : NULL Addressing Mode</a:t>
            </a:r>
          </a:p>
          <a:p>
            <a:pPr lvl="1" algn="l">
              <a:buClr>
                <a:schemeClr val="bg1"/>
              </a:buClr>
            </a:pPr>
            <a:endParaRPr lang="en-US" sz="3000" dirty="0" smtClean="0">
              <a:solidFill>
                <a:srgbClr val="FF0000"/>
              </a:solidFill>
              <a:latin typeface="Arial Narrow" pitchFamily="34" charset="0"/>
              <a:sym typeface="Wingdings" pitchFamily="2" charset="2"/>
            </a:endParaRP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				</a:t>
            </a:r>
          </a:p>
          <a:p>
            <a:pPr lvl="1" algn="l">
              <a:buClr>
                <a:schemeClr val="bg1"/>
              </a:buClr>
            </a:pPr>
            <a:r>
              <a:rPr lang="en-US" sz="3000" dirty="0" smtClean="0">
                <a:solidFill>
                  <a:srgbClr val="FF0000"/>
                </a:solidFill>
                <a:latin typeface="Arial Narrow" pitchFamily="34" charset="0"/>
                <a:sym typeface="Wingdings" pitchFamily="2" charset="2"/>
              </a:rPr>
              <a:t>							</a:t>
            </a:r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0" y="914400"/>
            <a:ext cx="457200" cy="50292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3"/>
          <p:cNvSpPr txBox="1">
            <a:spLocks/>
          </p:cNvSpPr>
          <p:nvPr/>
        </p:nvSpPr>
        <p:spPr>
          <a:xfrm>
            <a:off x="8686800" y="914400"/>
            <a:ext cx="457200" cy="50292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itle 3"/>
          <p:cNvSpPr txBox="1">
            <a:spLocks/>
          </p:cNvSpPr>
          <p:nvPr/>
        </p:nvSpPr>
        <p:spPr>
          <a:xfrm>
            <a:off x="0" y="5943600"/>
            <a:ext cx="9144000" cy="9144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bg1"/>
            </a:solidFill>
          </a:ln>
        </p:spPr>
        <p:txBody>
          <a:bodyPr bIns="9144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  <a:sym typeface="Wingdings" pitchFamily="2" charset="2"/>
              </a:rPr>
              <a:t>NULL Addressing Mode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</TotalTime>
  <Words>162</Words>
  <Application>Microsoft Office PowerPoint</Application>
  <PresentationFormat>On-screen Show (4:3)</PresentationFormat>
  <Paragraphs>86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Flow</vt:lpstr>
      <vt:lpstr>Slide 1</vt:lpstr>
      <vt:lpstr> Addressing Modes</vt:lpstr>
      <vt:lpstr> Immediate Addressing Mode</vt:lpstr>
      <vt:lpstr> Register Addressing Mode</vt:lpstr>
      <vt:lpstr> Direct Addressing Mode</vt:lpstr>
      <vt:lpstr> Indirect Addressing Mode</vt:lpstr>
      <vt:lpstr> Implied Addressing Mode</vt:lpstr>
      <vt:lpstr>NULL Addressing Mode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8085 Addressing Modes</dc:title>
  <dc:creator>AVNU</dc:creator>
  <cp:lastModifiedBy>MOHIT JYOTI</cp:lastModifiedBy>
  <cp:revision>47</cp:revision>
  <dcterms:created xsi:type="dcterms:W3CDTF">2006-08-16T00:00:00Z</dcterms:created>
  <dcterms:modified xsi:type="dcterms:W3CDTF">2019-06-10T08:55:18Z</dcterms:modified>
</cp:coreProperties>
</file>