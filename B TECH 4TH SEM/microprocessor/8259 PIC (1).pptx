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Default Extension="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60" r:id="rId2"/>
    <p:sldId id="267" r:id="rId3"/>
    <p:sldId id="261" r:id="rId4"/>
    <p:sldId id="262" r:id="rId5"/>
    <p:sldId id="263" r:id="rId6"/>
    <p:sldId id="268" r:id="rId7"/>
    <p:sldId id="269" r:id="rId8"/>
    <p:sldId id="264" r:id="rId9"/>
    <p:sldId id="265"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949" autoAdjust="0"/>
    <p:restoredTop sz="94660"/>
  </p:normalViewPr>
  <p:slideViewPr>
    <p:cSldViewPr>
      <p:cViewPr varScale="1">
        <p:scale>
          <a:sx n="68" d="100"/>
          <a:sy n="68" d="100"/>
        </p:scale>
        <p:origin x="-63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smtClean="0"/>
              <a:t>HIIIIIIIIIIIIIIIIIIIIIIIIIIIIIIIIIIIIIIII</a:t>
            </a:r>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33E571-A4A2-48E5-A4B2-9ECA887FCDF1}" type="datetimeFigureOut">
              <a:rPr lang="en-US" smtClean="0"/>
              <a:pPr/>
              <a:t>5/2/2024</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BB5FCCB-DD00-4231-841A-F96E0FDA358F}" type="slidenum">
              <a:rPr lang="en-IN" smtClean="0"/>
              <a:pPr/>
              <a:t>‹#›</a:t>
            </a:fld>
            <a:endParaRPr lang="en-IN"/>
          </a:p>
        </p:txBody>
      </p:sp>
    </p:spTree>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smtClean="0"/>
              <a:t>HIIIIIIIIIIIIIIIIIIIIIIIIIIIIIIIIIIIIIIII</a:t>
            </a: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13D69E-2706-4795-9653-014C3A2B6B59}" type="datetimeFigureOut">
              <a:rPr lang="en-US" smtClean="0"/>
              <a:pPr/>
              <a:t>5/2/2024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46E906-C85D-4294-886D-A776EE648520}" type="slidenum">
              <a:rPr lang="en-IN" smtClean="0"/>
              <a:pPr/>
              <a:t>‹#›</a:t>
            </a:fld>
            <a:endParaRPr lang="en-IN"/>
          </a:p>
        </p:txBody>
      </p:sp>
    </p:spTree>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5538" name="Shape 522"/>
          <p:cNvSpPr>
            <a:spLocks noGrp="1"/>
          </p:cNvSpPr>
          <p:nvPr>
            <p:ph type="body" idx="1"/>
          </p:nvPr>
        </p:nvSpPr>
        <p:spPr>
          <a:xfrm>
            <a:off x="685959" y="4343481"/>
            <a:ext cx="5486083" cy="4114960"/>
          </a:xfrm>
          <a:noFill/>
          <a:ln/>
        </p:spPr>
        <p:txBody>
          <a:bodyPr lIns="91414" tIns="91414" rIns="91414" bIns="91414" anchor="ctr"/>
          <a:lstStyle/>
          <a:p>
            <a:pPr>
              <a:spcBef>
                <a:spcPct val="0"/>
              </a:spcBef>
            </a:pPr>
            <a:endParaRPr lang="en-US" smtClean="0"/>
          </a:p>
        </p:txBody>
      </p:sp>
      <p:sp>
        <p:nvSpPr>
          <p:cNvPr id="65539" name="Shape 523"/>
          <p:cNvSpPr>
            <a:spLocks noGrp="1" noRot="1" noChangeAspect="1" noTextEdit="1"/>
          </p:cNvSpPr>
          <p:nvPr>
            <p:ph type="sldImg" idx="2"/>
          </p:nvPr>
        </p:nvSpPr>
        <p:spPr>
          <a:custGeom>
            <a:avLst/>
            <a:gdLst>
              <a:gd name="T0" fmla="*/ 0 w 120000"/>
              <a:gd name="T1" fmla="*/ 0 h 120000"/>
              <a:gd name="T2" fmla="*/ 120000 w 120000"/>
              <a:gd name="T3" fmla="*/ 120000 h 120000"/>
            </a:gdLst>
            <a:ahLst/>
            <a:cxnLst/>
            <a:rect l="T0" t="T1" r="T2" b="T3"/>
            <a:pathLst>
              <a:path w="120000" h="120000" extrusionOk="0">
                <a:moveTo>
                  <a:pt x="0" y="0"/>
                </a:moveTo>
                <a:lnTo>
                  <a:pt x="120000" y="0"/>
                </a:lnTo>
                <a:lnTo>
                  <a:pt x="120000" y="120000"/>
                </a:lnTo>
                <a:lnTo>
                  <a:pt x="0" y="120000"/>
                </a:lnTo>
                <a:close/>
              </a:path>
            </a:pathLst>
          </a:custGeom>
          <a:ln/>
        </p:spPr>
      </p:sp>
      <p:sp>
        <p:nvSpPr>
          <p:cNvPr id="4" name="Header Placeholder 3"/>
          <p:cNvSpPr>
            <a:spLocks noGrp="1"/>
          </p:cNvSpPr>
          <p:nvPr>
            <p:ph type="hdr" sz="quarter" idx="10"/>
          </p:nvPr>
        </p:nvSpPr>
        <p:spPr/>
        <p:txBody>
          <a:bodyPr/>
          <a:lstStyle/>
          <a:p>
            <a:r>
              <a:rPr lang="en-IN" smtClean="0"/>
              <a:t>HIIIIIIIIIIIIIIIIIIIIIIIIIIIIIIIIIIIIIIII</a:t>
            </a:r>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Header Placeholder 3"/>
          <p:cNvSpPr>
            <a:spLocks noGrp="1"/>
          </p:cNvSpPr>
          <p:nvPr>
            <p:ph type="hdr" sz="quarter" idx="10"/>
          </p:nvPr>
        </p:nvSpPr>
        <p:spPr/>
        <p:txBody>
          <a:bodyPr/>
          <a:lstStyle/>
          <a:p>
            <a:r>
              <a:rPr lang="en-IN" smtClean="0"/>
              <a:t>HIIIIIIIIIIIIIIIIIIIIIIIIIIIIIIIIIIIIIIII</a:t>
            </a:r>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6562" name="Shape 527"/>
          <p:cNvSpPr>
            <a:spLocks noGrp="1"/>
          </p:cNvSpPr>
          <p:nvPr>
            <p:ph type="body" idx="1"/>
          </p:nvPr>
        </p:nvSpPr>
        <p:spPr>
          <a:xfrm>
            <a:off x="685959" y="4343481"/>
            <a:ext cx="5486083" cy="4114960"/>
          </a:xfrm>
          <a:noFill/>
          <a:ln/>
        </p:spPr>
        <p:txBody>
          <a:bodyPr lIns="91414" tIns="91414" rIns="91414" bIns="91414" anchor="ctr"/>
          <a:lstStyle/>
          <a:p>
            <a:pPr>
              <a:spcBef>
                <a:spcPct val="0"/>
              </a:spcBef>
            </a:pPr>
            <a:endParaRPr lang="en-US" smtClean="0"/>
          </a:p>
        </p:txBody>
      </p:sp>
      <p:sp>
        <p:nvSpPr>
          <p:cNvPr id="66563" name="Shape 528"/>
          <p:cNvSpPr>
            <a:spLocks noGrp="1" noRot="1" noChangeAspect="1" noTextEdit="1"/>
          </p:cNvSpPr>
          <p:nvPr>
            <p:ph type="sldImg" idx="2"/>
          </p:nvPr>
        </p:nvSpPr>
        <p:spPr>
          <a:custGeom>
            <a:avLst/>
            <a:gdLst>
              <a:gd name="T0" fmla="*/ 0 w 120000"/>
              <a:gd name="T1" fmla="*/ 0 h 120000"/>
              <a:gd name="T2" fmla="*/ 120000 w 120000"/>
              <a:gd name="T3" fmla="*/ 120000 h 120000"/>
            </a:gdLst>
            <a:ahLst/>
            <a:cxnLst/>
            <a:rect l="T0" t="T1" r="T2" b="T3"/>
            <a:pathLst>
              <a:path w="120000" h="120000" extrusionOk="0">
                <a:moveTo>
                  <a:pt x="0" y="0"/>
                </a:moveTo>
                <a:lnTo>
                  <a:pt x="120000" y="0"/>
                </a:lnTo>
                <a:lnTo>
                  <a:pt x="120000" y="120000"/>
                </a:lnTo>
                <a:lnTo>
                  <a:pt x="0" y="120000"/>
                </a:lnTo>
                <a:close/>
              </a:path>
            </a:pathLst>
          </a:custGeom>
          <a:ln/>
        </p:spPr>
      </p:sp>
      <p:sp>
        <p:nvSpPr>
          <p:cNvPr id="4" name="Header Placeholder 3"/>
          <p:cNvSpPr>
            <a:spLocks noGrp="1"/>
          </p:cNvSpPr>
          <p:nvPr>
            <p:ph type="hdr" sz="quarter" idx="10"/>
          </p:nvPr>
        </p:nvSpPr>
        <p:spPr/>
        <p:txBody>
          <a:bodyPr/>
          <a:lstStyle/>
          <a:p>
            <a:r>
              <a:rPr lang="en-IN" smtClean="0"/>
              <a:t>HIIIIIIIIIIIIIIIIIIIIIIIIIIIIIIIIIIIIIIII</a:t>
            </a:r>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7586" name="Shape 533"/>
          <p:cNvSpPr>
            <a:spLocks noGrp="1"/>
          </p:cNvSpPr>
          <p:nvPr>
            <p:ph type="body" idx="1"/>
          </p:nvPr>
        </p:nvSpPr>
        <p:spPr>
          <a:xfrm>
            <a:off x="685959" y="4343481"/>
            <a:ext cx="5486083" cy="4114960"/>
          </a:xfrm>
          <a:noFill/>
          <a:ln/>
        </p:spPr>
        <p:txBody>
          <a:bodyPr lIns="91414" tIns="91414" rIns="91414" bIns="91414" anchor="ctr"/>
          <a:lstStyle/>
          <a:p>
            <a:pPr>
              <a:spcBef>
                <a:spcPct val="0"/>
              </a:spcBef>
            </a:pPr>
            <a:endParaRPr lang="en-US" smtClean="0"/>
          </a:p>
        </p:txBody>
      </p:sp>
      <p:sp>
        <p:nvSpPr>
          <p:cNvPr id="67587" name="Shape 534"/>
          <p:cNvSpPr>
            <a:spLocks noGrp="1" noRot="1" noChangeAspect="1" noTextEdit="1"/>
          </p:cNvSpPr>
          <p:nvPr>
            <p:ph type="sldImg" idx="2"/>
          </p:nvPr>
        </p:nvSpPr>
        <p:spPr>
          <a:custGeom>
            <a:avLst/>
            <a:gdLst>
              <a:gd name="T0" fmla="*/ 0 w 120000"/>
              <a:gd name="T1" fmla="*/ 0 h 120000"/>
              <a:gd name="T2" fmla="*/ 120000 w 120000"/>
              <a:gd name="T3" fmla="*/ 120000 h 120000"/>
            </a:gdLst>
            <a:ahLst/>
            <a:cxnLst/>
            <a:rect l="T0" t="T1" r="T2" b="T3"/>
            <a:pathLst>
              <a:path w="120000" h="120000" extrusionOk="0">
                <a:moveTo>
                  <a:pt x="0" y="0"/>
                </a:moveTo>
                <a:lnTo>
                  <a:pt x="120000" y="0"/>
                </a:lnTo>
                <a:lnTo>
                  <a:pt x="120000" y="120000"/>
                </a:lnTo>
                <a:lnTo>
                  <a:pt x="0" y="120000"/>
                </a:lnTo>
                <a:close/>
              </a:path>
            </a:pathLst>
          </a:custGeom>
          <a:ln/>
        </p:spPr>
      </p:sp>
      <p:sp>
        <p:nvSpPr>
          <p:cNvPr id="4" name="Header Placeholder 3"/>
          <p:cNvSpPr>
            <a:spLocks noGrp="1"/>
          </p:cNvSpPr>
          <p:nvPr>
            <p:ph type="hdr" sz="quarter" idx="10"/>
          </p:nvPr>
        </p:nvSpPr>
        <p:spPr/>
        <p:txBody>
          <a:bodyPr/>
          <a:lstStyle/>
          <a:p>
            <a:r>
              <a:rPr lang="en-IN" smtClean="0"/>
              <a:t>HIIIIIIIIIIIIIIIIIIIIIIIIIIIIIIIIIIIIIIII</a:t>
            </a:r>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8610" name="Shape 539"/>
          <p:cNvSpPr>
            <a:spLocks noGrp="1"/>
          </p:cNvSpPr>
          <p:nvPr>
            <p:ph type="body" idx="1"/>
          </p:nvPr>
        </p:nvSpPr>
        <p:spPr>
          <a:xfrm>
            <a:off x="685959" y="4343481"/>
            <a:ext cx="5486083" cy="4114960"/>
          </a:xfrm>
          <a:noFill/>
          <a:ln/>
        </p:spPr>
        <p:txBody>
          <a:bodyPr lIns="91414" tIns="91414" rIns="91414" bIns="91414" anchor="ctr"/>
          <a:lstStyle/>
          <a:p>
            <a:pPr>
              <a:spcBef>
                <a:spcPct val="0"/>
              </a:spcBef>
            </a:pPr>
            <a:endParaRPr lang="en-US" smtClean="0"/>
          </a:p>
        </p:txBody>
      </p:sp>
      <p:sp>
        <p:nvSpPr>
          <p:cNvPr id="68611" name="Shape 540"/>
          <p:cNvSpPr>
            <a:spLocks noGrp="1" noRot="1" noChangeAspect="1" noTextEdit="1"/>
          </p:cNvSpPr>
          <p:nvPr>
            <p:ph type="sldImg" idx="2"/>
          </p:nvPr>
        </p:nvSpPr>
        <p:spPr>
          <a:custGeom>
            <a:avLst/>
            <a:gdLst>
              <a:gd name="T0" fmla="*/ 0 w 120000"/>
              <a:gd name="T1" fmla="*/ 0 h 120000"/>
              <a:gd name="T2" fmla="*/ 120000 w 120000"/>
              <a:gd name="T3" fmla="*/ 120000 h 120000"/>
            </a:gdLst>
            <a:ahLst/>
            <a:cxnLst/>
            <a:rect l="T0" t="T1" r="T2" b="T3"/>
            <a:pathLst>
              <a:path w="120000" h="120000" extrusionOk="0">
                <a:moveTo>
                  <a:pt x="0" y="0"/>
                </a:moveTo>
                <a:lnTo>
                  <a:pt x="120000" y="0"/>
                </a:lnTo>
                <a:lnTo>
                  <a:pt x="120000" y="120000"/>
                </a:lnTo>
                <a:lnTo>
                  <a:pt x="0" y="120000"/>
                </a:lnTo>
                <a:close/>
              </a:path>
            </a:pathLst>
          </a:custGeom>
          <a:ln/>
        </p:spPr>
      </p:sp>
      <p:sp>
        <p:nvSpPr>
          <p:cNvPr id="4" name="Header Placeholder 3"/>
          <p:cNvSpPr>
            <a:spLocks noGrp="1"/>
          </p:cNvSpPr>
          <p:nvPr>
            <p:ph type="hdr" sz="quarter" idx="10"/>
          </p:nvPr>
        </p:nvSpPr>
        <p:spPr/>
        <p:txBody>
          <a:bodyPr/>
          <a:lstStyle/>
          <a:p>
            <a:r>
              <a:rPr lang="en-IN" smtClean="0"/>
              <a:t>HIIIIIIIIIIIIIIIIIIIIIIIIIIIIIIIIIIIIIIII</a:t>
            </a:r>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6562" name="Shape 527"/>
          <p:cNvSpPr>
            <a:spLocks noGrp="1"/>
          </p:cNvSpPr>
          <p:nvPr>
            <p:ph type="body" idx="1"/>
          </p:nvPr>
        </p:nvSpPr>
        <p:spPr>
          <a:xfrm>
            <a:off x="685959" y="4343481"/>
            <a:ext cx="5486083" cy="4114960"/>
          </a:xfrm>
          <a:noFill/>
          <a:ln/>
        </p:spPr>
        <p:txBody>
          <a:bodyPr lIns="91414" tIns="91414" rIns="91414" bIns="91414" anchor="ctr"/>
          <a:lstStyle/>
          <a:p>
            <a:pPr>
              <a:spcBef>
                <a:spcPct val="0"/>
              </a:spcBef>
            </a:pPr>
            <a:endParaRPr lang="en-US" smtClean="0"/>
          </a:p>
        </p:txBody>
      </p:sp>
      <p:sp>
        <p:nvSpPr>
          <p:cNvPr id="66563" name="Shape 528"/>
          <p:cNvSpPr>
            <a:spLocks noGrp="1" noRot="1" noChangeAspect="1" noTextEdit="1"/>
          </p:cNvSpPr>
          <p:nvPr>
            <p:ph type="sldImg" idx="2"/>
          </p:nvPr>
        </p:nvSpPr>
        <p:spPr>
          <a:custGeom>
            <a:avLst/>
            <a:gdLst>
              <a:gd name="T0" fmla="*/ 0 w 120000"/>
              <a:gd name="T1" fmla="*/ 0 h 120000"/>
              <a:gd name="T2" fmla="*/ 120000 w 120000"/>
              <a:gd name="T3" fmla="*/ 120000 h 120000"/>
            </a:gdLst>
            <a:ahLst/>
            <a:cxnLst/>
            <a:rect l="T0" t="T1" r="T2" b="T3"/>
            <a:pathLst>
              <a:path w="120000" h="120000" extrusionOk="0">
                <a:moveTo>
                  <a:pt x="0" y="0"/>
                </a:moveTo>
                <a:lnTo>
                  <a:pt x="120000" y="0"/>
                </a:lnTo>
                <a:lnTo>
                  <a:pt x="120000" y="120000"/>
                </a:lnTo>
                <a:lnTo>
                  <a:pt x="0" y="120000"/>
                </a:lnTo>
                <a:close/>
              </a:path>
            </a:pathLst>
          </a:custGeom>
          <a:ln/>
        </p:spPr>
      </p:sp>
      <p:sp>
        <p:nvSpPr>
          <p:cNvPr id="4" name="Header Placeholder 3"/>
          <p:cNvSpPr>
            <a:spLocks noGrp="1"/>
          </p:cNvSpPr>
          <p:nvPr>
            <p:ph type="hdr" sz="quarter" idx="10"/>
          </p:nvPr>
        </p:nvSpPr>
        <p:spPr/>
        <p:txBody>
          <a:bodyPr/>
          <a:lstStyle/>
          <a:p>
            <a:r>
              <a:rPr lang="en-IN" smtClean="0"/>
              <a:t>HIIIIIIIIIIIIIIIIIIIIIIIIIIIIIIIIIIIIIIII</a:t>
            </a:r>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6562" name="Shape 527"/>
          <p:cNvSpPr>
            <a:spLocks noGrp="1"/>
          </p:cNvSpPr>
          <p:nvPr>
            <p:ph type="body" idx="1"/>
          </p:nvPr>
        </p:nvSpPr>
        <p:spPr>
          <a:xfrm>
            <a:off x="685959" y="4343481"/>
            <a:ext cx="5486083" cy="4114960"/>
          </a:xfrm>
          <a:noFill/>
          <a:ln/>
        </p:spPr>
        <p:txBody>
          <a:bodyPr lIns="91414" tIns="91414" rIns="91414" bIns="91414" anchor="ctr"/>
          <a:lstStyle/>
          <a:p>
            <a:pPr>
              <a:spcBef>
                <a:spcPct val="0"/>
              </a:spcBef>
            </a:pPr>
            <a:endParaRPr lang="en-US" smtClean="0"/>
          </a:p>
        </p:txBody>
      </p:sp>
      <p:sp>
        <p:nvSpPr>
          <p:cNvPr id="66563" name="Shape 528"/>
          <p:cNvSpPr>
            <a:spLocks noGrp="1" noRot="1" noChangeAspect="1" noTextEdit="1"/>
          </p:cNvSpPr>
          <p:nvPr>
            <p:ph type="sldImg" idx="2"/>
          </p:nvPr>
        </p:nvSpPr>
        <p:spPr>
          <a:custGeom>
            <a:avLst/>
            <a:gdLst>
              <a:gd name="T0" fmla="*/ 0 w 120000"/>
              <a:gd name="T1" fmla="*/ 0 h 120000"/>
              <a:gd name="T2" fmla="*/ 120000 w 120000"/>
              <a:gd name="T3" fmla="*/ 120000 h 120000"/>
            </a:gdLst>
            <a:ahLst/>
            <a:cxnLst/>
            <a:rect l="T0" t="T1" r="T2" b="T3"/>
            <a:pathLst>
              <a:path w="120000" h="120000" extrusionOk="0">
                <a:moveTo>
                  <a:pt x="0" y="0"/>
                </a:moveTo>
                <a:lnTo>
                  <a:pt x="120000" y="0"/>
                </a:lnTo>
                <a:lnTo>
                  <a:pt x="120000" y="120000"/>
                </a:lnTo>
                <a:lnTo>
                  <a:pt x="0" y="120000"/>
                </a:lnTo>
                <a:close/>
              </a:path>
            </a:pathLst>
          </a:custGeom>
          <a:ln/>
        </p:spPr>
      </p:sp>
      <p:sp>
        <p:nvSpPr>
          <p:cNvPr id="4" name="Header Placeholder 3"/>
          <p:cNvSpPr>
            <a:spLocks noGrp="1"/>
          </p:cNvSpPr>
          <p:nvPr>
            <p:ph type="hdr" sz="quarter" idx="10"/>
          </p:nvPr>
        </p:nvSpPr>
        <p:spPr/>
        <p:txBody>
          <a:bodyPr/>
          <a:lstStyle/>
          <a:p>
            <a:r>
              <a:rPr lang="en-IN" smtClean="0"/>
              <a:t>HIIIIIIIIIIIIIIIIIIIIIIIIIIIIIIIIIIIIIIII</a:t>
            </a:r>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0658" name="Shape 549"/>
          <p:cNvSpPr>
            <a:spLocks noGrp="1"/>
          </p:cNvSpPr>
          <p:nvPr>
            <p:ph type="body" idx="1"/>
          </p:nvPr>
        </p:nvSpPr>
        <p:spPr>
          <a:xfrm>
            <a:off x="685959" y="4343481"/>
            <a:ext cx="5486083" cy="4114960"/>
          </a:xfrm>
          <a:noFill/>
          <a:ln/>
        </p:spPr>
        <p:txBody>
          <a:bodyPr lIns="91414" tIns="91414" rIns="91414" bIns="91414" anchor="ctr"/>
          <a:lstStyle/>
          <a:p>
            <a:pPr>
              <a:spcBef>
                <a:spcPct val="0"/>
              </a:spcBef>
            </a:pPr>
            <a:endParaRPr lang="en-US" smtClean="0"/>
          </a:p>
        </p:txBody>
      </p:sp>
      <p:sp>
        <p:nvSpPr>
          <p:cNvPr id="70659" name="Shape 550"/>
          <p:cNvSpPr>
            <a:spLocks noGrp="1" noRot="1" noChangeAspect="1" noTextEdit="1"/>
          </p:cNvSpPr>
          <p:nvPr>
            <p:ph type="sldImg" idx="2"/>
          </p:nvPr>
        </p:nvSpPr>
        <p:spPr>
          <a:custGeom>
            <a:avLst/>
            <a:gdLst>
              <a:gd name="T0" fmla="*/ 0 w 120000"/>
              <a:gd name="T1" fmla="*/ 0 h 120000"/>
              <a:gd name="T2" fmla="*/ 120000 w 120000"/>
              <a:gd name="T3" fmla="*/ 120000 h 120000"/>
            </a:gdLst>
            <a:ahLst/>
            <a:cxnLst/>
            <a:rect l="T0" t="T1" r="T2" b="T3"/>
            <a:pathLst>
              <a:path w="120000" h="120000" extrusionOk="0">
                <a:moveTo>
                  <a:pt x="0" y="0"/>
                </a:moveTo>
                <a:lnTo>
                  <a:pt x="120000" y="0"/>
                </a:lnTo>
                <a:lnTo>
                  <a:pt x="120000" y="120000"/>
                </a:lnTo>
                <a:lnTo>
                  <a:pt x="0" y="120000"/>
                </a:lnTo>
                <a:close/>
              </a:path>
            </a:pathLst>
          </a:custGeom>
          <a:ln/>
        </p:spPr>
      </p:sp>
      <p:sp>
        <p:nvSpPr>
          <p:cNvPr id="4" name="Header Placeholder 3"/>
          <p:cNvSpPr>
            <a:spLocks noGrp="1"/>
          </p:cNvSpPr>
          <p:nvPr>
            <p:ph type="hdr" sz="quarter" idx="10"/>
          </p:nvPr>
        </p:nvSpPr>
        <p:spPr/>
        <p:txBody>
          <a:bodyPr/>
          <a:lstStyle/>
          <a:p>
            <a:r>
              <a:rPr lang="en-IN" smtClean="0"/>
              <a:t>HIIIIIIIIIIIIIIIIIIIIIIIIIIIIIIIIIIIIIIII</a:t>
            </a:r>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682" name="Shape 555"/>
          <p:cNvSpPr>
            <a:spLocks noGrp="1"/>
          </p:cNvSpPr>
          <p:nvPr>
            <p:ph type="body" idx="1"/>
          </p:nvPr>
        </p:nvSpPr>
        <p:spPr>
          <a:xfrm>
            <a:off x="685959" y="4343481"/>
            <a:ext cx="5486083" cy="4114960"/>
          </a:xfrm>
          <a:noFill/>
          <a:ln/>
        </p:spPr>
        <p:txBody>
          <a:bodyPr lIns="91414" tIns="91414" rIns="91414" bIns="91414" anchor="ctr"/>
          <a:lstStyle/>
          <a:p>
            <a:pPr>
              <a:spcBef>
                <a:spcPct val="0"/>
              </a:spcBef>
            </a:pPr>
            <a:endParaRPr lang="en-US" smtClean="0"/>
          </a:p>
        </p:txBody>
      </p:sp>
      <p:sp>
        <p:nvSpPr>
          <p:cNvPr id="71683" name="Shape 556"/>
          <p:cNvSpPr>
            <a:spLocks noGrp="1" noRot="1" noChangeAspect="1" noTextEdit="1"/>
          </p:cNvSpPr>
          <p:nvPr>
            <p:ph type="sldImg" idx="2"/>
          </p:nvPr>
        </p:nvSpPr>
        <p:spPr>
          <a:custGeom>
            <a:avLst/>
            <a:gdLst>
              <a:gd name="T0" fmla="*/ 0 w 120000"/>
              <a:gd name="T1" fmla="*/ 0 h 120000"/>
              <a:gd name="T2" fmla="*/ 120000 w 120000"/>
              <a:gd name="T3" fmla="*/ 120000 h 120000"/>
            </a:gdLst>
            <a:ahLst/>
            <a:cxnLst/>
            <a:rect l="T0" t="T1" r="T2" b="T3"/>
            <a:pathLst>
              <a:path w="120000" h="120000" extrusionOk="0">
                <a:moveTo>
                  <a:pt x="0" y="0"/>
                </a:moveTo>
                <a:lnTo>
                  <a:pt x="120000" y="0"/>
                </a:lnTo>
                <a:lnTo>
                  <a:pt x="120000" y="120000"/>
                </a:lnTo>
                <a:lnTo>
                  <a:pt x="0" y="120000"/>
                </a:lnTo>
                <a:close/>
              </a:path>
            </a:pathLst>
          </a:custGeom>
          <a:ln/>
        </p:spPr>
      </p:sp>
      <p:sp>
        <p:nvSpPr>
          <p:cNvPr id="4" name="Header Placeholder 3"/>
          <p:cNvSpPr>
            <a:spLocks noGrp="1"/>
          </p:cNvSpPr>
          <p:nvPr>
            <p:ph type="hdr" sz="quarter" idx="10"/>
          </p:nvPr>
        </p:nvSpPr>
        <p:spPr/>
        <p:txBody>
          <a:bodyPr/>
          <a:lstStyle/>
          <a:p>
            <a:r>
              <a:rPr lang="en-IN" smtClean="0"/>
              <a:t>HIIIIIIIIIIIIIIIIIIIIIIIIIIIIIIIIIIIIIIII</a:t>
            </a:r>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OBJECT_ONLY">
    <p:spTree>
      <p:nvGrpSpPr>
        <p:cNvPr id="1" name="Shape 29"/>
        <p:cNvGrpSpPr/>
        <p:nvPr/>
      </p:nvGrpSpPr>
      <p:grpSpPr>
        <a:xfrm>
          <a:off x="0" y="0"/>
          <a:ext cx="0" cy="0"/>
          <a:chOff x="0" y="0"/>
          <a:chExt cx="0" cy="0"/>
        </a:xfrm>
      </p:grpSpPr>
      <p:sp>
        <p:nvSpPr>
          <p:cNvPr id="30" name="Shape 30"/>
          <p:cNvSpPr txBox="1">
            <a:spLocks noGrp="1"/>
          </p:cNvSpPr>
          <p:nvPr>
            <p:ph type="body" idx="1"/>
          </p:nvPr>
        </p:nvSpPr>
        <p:spPr>
          <a:xfrm>
            <a:off x="457200" y="274637"/>
            <a:ext cx="8229600" cy="5851525"/>
          </a:xfrm>
          <a:prstGeom prst="rect">
            <a:avLst/>
          </a:prstGeom>
          <a:noFill/>
          <a:ln>
            <a:noFill/>
          </a:ln>
        </p:spPr>
        <p:txBody>
          <a:bodyPr lIns="91425" tIns="91425" rIns="91425" bIns="91425"/>
          <a:lstStyle>
            <a:lvl1pPr marL="342900" lvl="0" indent="-222250" algn="l" rtl="0">
              <a:spcBef>
                <a:spcPts val="640"/>
              </a:spcBef>
              <a:spcAft>
                <a:spcPts val="0"/>
              </a:spcAft>
              <a:buClr>
                <a:schemeClr val="dk1"/>
              </a:buClr>
              <a:buFont typeface="Arial"/>
              <a:buChar char="●"/>
              <a:defRPr sz="3200">
                <a:solidFill>
                  <a:schemeClr val="dk1"/>
                </a:solidFill>
                <a:latin typeface="Calibri"/>
                <a:ea typeface="Calibri"/>
                <a:cs typeface="Calibri"/>
                <a:sym typeface="Calibri"/>
              </a:defRPr>
            </a:lvl1pPr>
            <a:lvl2pPr marL="742950" lvl="1" indent="-177800" algn="l" rtl="0">
              <a:spcBef>
                <a:spcPts val="560"/>
              </a:spcBef>
              <a:spcAft>
                <a:spcPts val="0"/>
              </a:spcAft>
              <a:buClr>
                <a:schemeClr val="dk1"/>
              </a:buClr>
              <a:buFont typeface="Arial"/>
              <a:buChar char="●"/>
              <a:defRPr sz="2800">
                <a:solidFill>
                  <a:schemeClr val="dk1"/>
                </a:solidFill>
                <a:latin typeface="Calibri"/>
                <a:ea typeface="Calibri"/>
                <a:cs typeface="Calibri"/>
                <a:sym typeface="Calibri"/>
              </a:defRPr>
            </a:lvl2pPr>
            <a:lvl3pPr marL="1143000" lvl="2" indent="-136525" algn="l" rtl="0">
              <a:spcBef>
                <a:spcPts val="480"/>
              </a:spcBef>
              <a:spcAft>
                <a:spcPts val="0"/>
              </a:spcAft>
              <a:buClr>
                <a:schemeClr val="dk1"/>
              </a:buClr>
              <a:buFont typeface="Arial"/>
              <a:buChar char="●"/>
              <a:defRPr sz="2400">
                <a:solidFill>
                  <a:schemeClr val="dk1"/>
                </a:solidFill>
                <a:latin typeface="Calibri"/>
                <a:ea typeface="Calibri"/>
                <a:cs typeface="Calibri"/>
                <a:sym typeface="Calibri"/>
              </a:defRPr>
            </a:lvl3pPr>
            <a:lvl4pPr marL="1600200" lvl="3" indent="-152400" algn="l" rtl="0">
              <a:spcBef>
                <a:spcPts val="400"/>
              </a:spcBef>
              <a:spcAft>
                <a:spcPts val="0"/>
              </a:spcAft>
              <a:buClr>
                <a:schemeClr val="dk1"/>
              </a:buClr>
              <a:buFont typeface="Arial"/>
              <a:buChar char="●"/>
              <a:defRPr sz="2000">
                <a:solidFill>
                  <a:schemeClr val="dk1"/>
                </a:solidFill>
                <a:latin typeface="Calibri"/>
                <a:ea typeface="Calibri"/>
                <a:cs typeface="Calibri"/>
                <a:sym typeface="Calibri"/>
              </a:defRPr>
            </a:lvl4pPr>
            <a:lvl5pPr marL="2057400" lvl="4" indent="-152400" algn="l" rtl="0">
              <a:spcBef>
                <a:spcPts val="400"/>
              </a:spcBef>
              <a:spcAft>
                <a:spcPts val="0"/>
              </a:spcAft>
              <a:buClr>
                <a:schemeClr val="dk1"/>
              </a:buClr>
              <a:buFont typeface="Arial"/>
              <a:buChar char="●"/>
              <a:defRPr sz="2000">
                <a:solidFill>
                  <a:schemeClr val="dk1"/>
                </a:solidFill>
                <a:latin typeface="Calibri"/>
                <a:ea typeface="Calibri"/>
                <a:cs typeface="Calibri"/>
                <a:sym typeface="Calibri"/>
              </a:defRPr>
            </a:lvl5pPr>
            <a:lvl6pPr marL="2514600" lvl="5" indent="-152400" algn="l" rtl="0">
              <a:spcBef>
                <a:spcPts val="400"/>
              </a:spcBef>
              <a:buClr>
                <a:schemeClr val="dk1"/>
              </a:buClr>
              <a:buFont typeface="Arial"/>
              <a:buChar char="●"/>
              <a:defRPr sz="2000">
                <a:solidFill>
                  <a:schemeClr val="dk1"/>
                </a:solidFill>
                <a:latin typeface="Calibri"/>
                <a:ea typeface="Calibri"/>
                <a:cs typeface="Calibri"/>
                <a:sym typeface="Calibri"/>
              </a:defRPr>
            </a:lvl6pPr>
            <a:lvl7pPr marL="2971800" lvl="6" indent="-152400" algn="l" rtl="0">
              <a:spcBef>
                <a:spcPts val="400"/>
              </a:spcBef>
              <a:buClr>
                <a:schemeClr val="dk1"/>
              </a:buClr>
              <a:buFont typeface="Arial"/>
              <a:buChar char="●"/>
              <a:defRPr sz="2000">
                <a:solidFill>
                  <a:schemeClr val="dk1"/>
                </a:solidFill>
                <a:latin typeface="Calibri"/>
                <a:ea typeface="Calibri"/>
                <a:cs typeface="Calibri"/>
                <a:sym typeface="Calibri"/>
              </a:defRPr>
            </a:lvl7pPr>
            <a:lvl8pPr marL="3429000" lvl="7" indent="-152400" algn="l" rtl="0">
              <a:spcBef>
                <a:spcPts val="400"/>
              </a:spcBef>
              <a:buClr>
                <a:schemeClr val="dk1"/>
              </a:buClr>
              <a:buFont typeface="Arial"/>
              <a:buChar char="●"/>
              <a:defRPr sz="2000">
                <a:solidFill>
                  <a:schemeClr val="dk1"/>
                </a:solidFill>
                <a:latin typeface="Calibri"/>
                <a:ea typeface="Calibri"/>
                <a:cs typeface="Calibri"/>
                <a:sym typeface="Calibri"/>
              </a:defRPr>
            </a:lvl8pPr>
            <a:lvl9pPr marL="3886200" lvl="8" indent="-152400" algn="l" rtl="0">
              <a:spcBef>
                <a:spcPts val="400"/>
              </a:spcBef>
              <a:buClr>
                <a:schemeClr val="dk1"/>
              </a:buClr>
              <a:buFont typeface="Arial"/>
              <a:buChar char="●"/>
              <a:defRPr sz="2000">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oleObject" Target="../embeddings/oleObject1.bin"/><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hape 525"/>
          <p:cNvSpPr txBox="1">
            <a:spLocks noChangeArrowheads="1"/>
          </p:cNvSpPr>
          <p:nvPr/>
        </p:nvSpPr>
        <p:spPr bwMode="auto">
          <a:xfrm>
            <a:off x="228600" y="1192213"/>
            <a:ext cx="8763000" cy="4903787"/>
          </a:xfrm>
          <a:prstGeom prst="rect">
            <a:avLst/>
          </a:prstGeom>
          <a:noFill/>
          <a:ln w="9525">
            <a:noFill/>
            <a:miter lim="800000"/>
            <a:headEnd/>
            <a:tailEnd/>
          </a:ln>
        </p:spPr>
        <p:txBody>
          <a:bodyPr lIns="91425" tIns="45700" rIns="91425" bIns="45700"/>
          <a:lstStyle/>
          <a:p>
            <a:pPr algn="ctr" rtl="0">
              <a:buClr>
                <a:srgbClr val="000000"/>
              </a:buClr>
              <a:buSzPct val="25000"/>
              <a:buFont typeface="Times New Roman" pitchFamily="18" charset="0"/>
              <a:buNone/>
            </a:pPr>
            <a:r>
              <a:rPr lang="en-US" sz="4000" b="1" u="sng" dirty="0">
                <a:solidFill>
                  <a:srgbClr val="FF0000"/>
                </a:solidFill>
                <a:cs typeface="Times New Roman" pitchFamily="18" charset="0"/>
                <a:sym typeface="Times New Roman" pitchFamily="18" charset="0"/>
              </a:rPr>
              <a:t>8259</a:t>
            </a:r>
          </a:p>
          <a:p>
            <a:pPr algn="ctr" rtl="0">
              <a:buClr>
                <a:srgbClr val="000000"/>
              </a:buClr>
              <a:buSzPct val="25000"/>
              <a:buFont typeface="Times New Roman" pitchFamily="18" charset="0"/>
              <a:buNone/>
            </a:pPr>
            <a:r>
              <a:rPr lang="en-US" sz="4000" b="1" dirty="0">
                <a:solidFill>
                  <a:srgbClr val="FF0000"/>
                </a:solidFill>
                <a:cs typeface="Times New Roman" pitchFamily="18" charset="0"/>
                <a:sym typeface="Times New Roman" pitchFamily="18" charset="0"/>
              </a:rPr>
              <a:t> </a:t>
            </a:r>
            <a:r>
              <a:rPr lang="en-US" sz="4000" b="1" dirty="0" smtClean="0">
                <a:solidFill>
                  <a:srgbClr val="FF0000"/>
                </a:solidFill>
                <a:cs typeface="Times New Roman" pitchFamily="18" charset="0"/>
                <a:sym typeface="Times New Roman" pitchFamily="18" charset="0"/>
              </a:rPr>
              <a:t>      </a:t>
            </a:r>
            <a:r>
              <a:rPr lang="en-US" sz="3400" b="1" u="sng" dirty="0" smtClean="0">
                <a:solidFill>
                  <a:srgbClr val="FF0000"/>
                </a:solidFill>
                <a:cs typeface="Times New Roman" pitchFamily="18" charset="0"/>
                <a:sym typeface="Times New Roman" pitchFamily="18" charset="0"/>
              </a:rPr>
              <a:t>Programmable </a:t>
            </a:r>
            <a:r>
              <a:rPr lang="en-US" sz="3400" b="1" u="sng" dirty="0">
                <a:solidFill>
                  <a:srgbClr val="FF0000"/>
                </a:solidFill>
                <a:cs typeface="Times New Roman" pitchFamily="18" charset="0"/>
                <a:sym typeface="Times New Roman" pitchFamily="18" charset="0"/>
              </a:rPr>
              <a:t>Interrupt </a:t>
            </a:r>
            <a:r>
              <a:rPr lang="en-US" sz="3400" b="1" u="sng" dirty="0" smtClean="0">
                <a:solidFill>
                  <a:srgbClr val="FF0000"/>
                </a:solidFill>
                <a:cs typeface="Times New Roman" pitchFamily="18" charset="0"/>
                <a:sym typeface="Times New Roman" pitchFamily="18" charset="0"/>
              </a:rPr>
              <a:t>Controller</a:t>
            </a:r>
          </a:p>
          <a:p>
            <a:pPr algn="ctr" rtl="0">
              <a:buClr>
                <a:srgbClr val="000000"/>
              </a:buClr>
              <a:buSzPct val="25000"/>
              <a:buFont typeface="Times New Roman" pitchFamily="18" charset="0"/>
              <a:buNone/>
            </a:pPr>
            <a:endParaRPr lang="en-US" sz="3400" b="1" u="sng" dirty="0" smtClean="0">
              <a:solidFill>
                <a:srgbClr val="FF0000"/>
              </a:solidFill>
              <a:cs typeface="Times New Roman" pitchFamily="18" charset="0"/>
              <a:sym typeface="Times New Roman" pitchFamily="18" charset="0"/>
            </a:endParaRPr>
          </a:p>
          <a:p>
            <a:pPr algn="ctr" rtl="0">
              <a:buClr>
                <a:srgbClr val="000000"/>
              </a:buClr>
              <a:buSzPct val="25000"/>
              <a:buFont typeface="Times New Roman" pitchFamily="18" charset="0"/>
              <a:buNone/>
            </a:pPr>
            <a:r>
              <a:rPr lang="en-US" sz="3400" b="1" dirty="0" smtClean="0">
                <a:solidFill>
                  <a:srgbClr val="FF0000"/>
                </a:solidFill>
                <a:cs typeface="Times New Roman" pitchFamily="18" charset="0"/>
                <a:sym typeface="Times New Roman" pitchFamily="18" charset="0"/>
              </a:rPr>
              <a:t>     (SUB: Microprocessor and Interfaces)</a:t>
            </a:r>
            <a:endParaRPr lang="en-US" sz="3400" b="1" dirty="0">
              <a:solidFill>
                <a:srgbClr val="FF0000"/>
              </a:solidFill>
              <a:cs typeface="Times New Roman" pitchFamily="18" charset="0"/>
              <a:sym typeface="Times New Roman" pitchFamily="18" charset="0"/>
            </a:endParaRPr>
          </a:p>
          <a:p>
            <a:pPr algn="ctr" rtl="0">
              <a:buClr>
                <a:srgbClr val="000000"/>
              </a:buClr>
              <a:buSzPct val="25000"/>
              <a:buFont typeface="Times New Roman" pitchFamily="18" charset="0"/>
              <a:buNone/>
            </a:pPr>
            <a:endParaRPr lang="en-US" sz="4000" b="1" dirty="0">
              <a:solidFill>
                <a:srgbClr val="FF0000"/>
              </a:solidFill>
              <a:cs typeface="Times New Roman" pitchFamily="18" charset="0"/>
              <a:sym typeface="Times New Roman" pitchFamily="18" charset="0"/>
            </a:endParaRPr>
          </a:p>
          <a:p>
            <a:pPr algn="ctr" rtl="0">
              <a:buClr>
                <a:srgbClr val="000000"/>
              </a:buClr>
              <a:buSzPct val="25000"/>
              <a:buFont typeface="Times New Roman" pitchFamily="18" charset="0"/>
              <a:buNone/>
            </a:pPr>
            <a:r>
              <a:rPr lang="en-US" sz="3000" b="1" dirty="0">
                <a:solidFill>
                  <a:srgbClr val="FF0000"/>
                </a:solidFill>
                <a:cs typeface="Times New Roman" pitchFamily="18" charset="0"/>
                <a:sym typeface="Times New Roman" pitchFamily="18" charset="0"/>
              </a:rPr>
              <a:t>PREPARED BY:</a:t>
            </a:r>
          </a:p>
          <a:p>
            <a:pPr algn="ctr" rtl="0">
              <a:buClr>
                <a:srgbClr val="000000"/>
              </a:buClr>
              <a:buSzPct val="25000"/>
              <a:buFont typeface="Times New Roman" pitchFamily="18" charset="0"/>
              <a:buNone/>
            </a:pPr>
            <a:r>
              <a:rPr lang="en-US" sz="3000" b="1" dirty="0">
                <a:solidFill>
                  <a:srgbClr val="FF0000"/>
                </a:solidFill>
                <a:cs typeface="Times New Roman" pitchFamily="18" charset="0"/>
                <a:sym typeface="Times New Roman" pitchFamily="18" charset="0"/>
              </a:rPr>
              <a:t>ER. </a:t>
            </a:r>
            <a:r>
              <a:rPr lang="en-US" sz="3000" b="1" smtClean="0">
                <a:solidFill>
                  <a:srgbClr val="FF0000"/>
                </a:solidFill>
                <a:cs typeface="Times New Roman" pitchFamily="18" charset="0"/>
                <a:sym typeface="Times New Roman" pitchFamily="18" charset="0"/>
              </a:rPr>
              <a:t>MOHIT MISHRA</a:t>
            </a:r>
            <a:endParaRPr lang="en-US" sz="3000" b="1" dirty="0" smtClean="0">
              <a:solidFill>
                <a:srgbClr val="FF0000"/>
              </a:solidFill>
              <a:cs typeface="Times New Roman" pitchFamily="18" charset="0"/>
              <a:sym typeface="Times New Roman" pitchFamily="18" charset="0"/>
            </a:endParaRPr>
          </a:p>
          <a:p>
            <a:pPr algn="ctr" rtl="0">
              <a:buClr>
                <a:srgbClr val="000000"/>
              </a:buClr>
              <a:buSzPct val="25000"/>
              <a:buFont typeface="Times New Roman" pitchFamily="18" charset="0"/>
              <a:buNone/>
            </a:pPr>
            <a:r>
              <a:rPr lang="en-US" sz="3000" b="1" dirty="0" smtClean="0">
                <a:solidFill>
                  <a:srgbClr val="FF0000"/>
                </a:solidFill>
                <a:cs typeface="Times New Roman" pitchFamily="18" charset="0"/>
                <a:sym typeface="Times New Roman" pitchFamily="18" charset="0"/>
              </a:rPr>
              <a:t>ASSOCIATE PROFESSOR</a:t>
            </a:r>
            <a:endParaRPr lang="en-US" sz="3000" b="1" dirty="0">
              <a:solidFill>
                <a:srgbClr val="FF0000"/>
              </a:solidFill>
              <a:cs typeface="Times New Roman" pitchFamily="18" charset="0"/>
              <a:sym typeface="Times New Roman" pitchFamily="18" charset="0"/>
            </a:endParaRPr>
          </a:p>
          <a:p>
            <a:pPr algn="ctr" rtl="0">
              <a:buClr>
                <a:srgbClr val="000000"/>
              </a:buClr>
              <a:buSzPct val="25000"/>
              <a:buFont typeface="Times New Roman" pitchFamily="18" charset="0"/>
              <a:buNone/>
            </a:pPr>
            <a:r>
              <a:rPr lang="en-US" sz="3000" b="1" dirty="0" smtClean="0">
                <a:solidFill>
                  <a:srgbClr val="FF0000"/>
                </a:solidFill>
                <a:cs typeface="Times New Roman" pitchFamily="18" charset="0"/>
                <a:sym typeface="Times New Roman" pitchFamily="18" charset="0"/>
              </a:rPr>
              <a:t>INFORMATION TECHNOLOGY</a:t>
            </a:r>
            <a:r>
              <a:rPr lang="en-US" sz="4000" b="1" dirty="0">
                <a:solidFill>
                  <a:srgbClr val="FF0000"/>
                </a:solidFill>
                <a:cs typeface="Times New Roman" pitchFamily="18" charset="0"/>
                <a:sym typeface="Times New Roman" pitchFamily="18" charset="0"/>
              </a:rPr>
              <a:t/>
            </a:r>
            <a:br>
              <a:rPr lang="en-US" sz="4000" b="1" dirty="0">
                <a:solidFill>
                  <a:srgbClr val="FF0000"/>
                </a:solidFill>
                <a:cs typeface="Times New Roman" pitchFamily="18" charset="0"/>
                <a:sym typeface="Times New Roman" pitchFamily="18" charset="0"/>
              </a:rPr>
            </a:br>
            <a:endParaRPr lang="en-US" sz="4000" b="1" dirty="0">
              <a:solidFill>
                <a:srgbClr val="FF0000"/>
              </a:solidFill>
              <a:cs typeface="Times New Roman" pitchFamily="18" charset="0"/>
              <a:sym typeface="Times New Roman" pitchFamily="18" charset="0"/>
            </a:endParaRPr>
          </a:p>
        </p:txBody>
      </p:sp>
      <p:pic>
        <p:nvPicPr>
          <p:cNvPr id="3" name="Content Placeholder 4"/>
          <p:cNvPicPr>
            <a:picLocks/>
          </p:cNvPicPr>
          <p:nvPr/>
        </p:nvPicPr>
        <p:blipFill>
          <a:blip r:embed="rId3"/>
          <a:srcRect/>
          <a:stretch>
            <a:fillRect/>
          </a:stretch>
        </p:blipFill>
        <p:spPr>
          <a:xfrm>
            <a:off x="0" y="0"/>
            <a:ext cx="9144000" cy="838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u="sng" dirty="0" smtClean="0"/>
              <a:t>TOPIC COVERED</a:t>
            </a:r>
            <a:endParaRPr lang="en-IN" u="sng" dirty="0"/>
          </a:p>
        </p:txBody>
      </p:sp>
      <p:sp>
        <p:nvSpPr>
          <p:cNvPr id="3" name="Content Placeholder 2"/>
          <p:cNvSpPr>
            <a:spLocks noGrp="1"/>
          </p:cNvSpPr>
          <p:nvPr>
            <p:ph idx="1"/>
          </p:nvPr>
        </p:nvSpPr>
        <p:spPr/>
        <p:txBody>
          <a:bodyPr/>
          <a:lstStyle/>
          <a:p>
            <a:r>
              <a:rPr lang="en-US" dirty="0" smtClean="0">
                <a:latin typeface="+mj-lt"/>
                <a:cs typeface="Times New Roman" pitchFamily="18" charset="0"/>
                <a:sym typeface="Times New Roman" pitchFamily="18" charset="0"/>
              </a:rPr>
              <a:t>BASICS AND FEATURES OF 8259 </a:t>
            </a:r>
          </a:p>
          <a:p>
            <a:r>
              <a:rPr lang="en-US" dirty="0" smtClean="0"/>
              <a:t>PIN DIAGRAM AND DESCRIPTION</a:t>
            </a:r>
          </a:p>
          <a:p>
            <a:r>
              <a:rPr lang="en-US" dirty="0" smtClean="0"/>
              <a:t>BLOCK DIAGRAM AND ITS DESCRIPTION</a:t>
            </a:r>
          </a:p>
        </p:txBody>
      </p:sp>
      <p:pic>
        <p:nvPicPr>
          <p:cNvPr id="4" name="Content Placeholder 4"/>
          <p:cNvPicPr>
            <a:picLocks/>
          </p:cNvPicPr>
          <p:nvPr/>
        </p:nvPicPr>
        <p:blipFill>
          <a:blip r:embed="rId3"/>
          <a:srcRect/>
          <a:stretch>
            <a:fillRect/>
          </a:stretch>
        </p:blipFill>
        <p:spPr>
          <a:xfrm>
            <a:off x="0" y="0"/>
            <a:ext cx="9144000" cy="838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hape 530"/>
          <p:cNvSpPr>
            <a:spLocks noGrp="1"/>
          </p:cNvSpPr>
          <p:nvPr>
            <p:ph type="title"/>
          </p:nvPr>
        </p:nvSpPr>
        <p:spPr>
          <a:xfrm>
            <a:off x="228600" y="228600"/>
            <a:ext cx="8229600" cy="1143000"/>
          </a:xfrm>
        </p:spPr>
        <p:txBody>
          <a:bodyPr lIns="91425" tIns="45700" rIns="91425" bIns="45700">
            <a:normAutofit fontScale="90000"/>
          </a:bodyPr>
          <a:lstStyle/>
          <a:p>
            <a:pPr eaLnBrk="1" hangingPunct="1">
              <a:buClr>
                <a:srgbClr val="000000"/>
              </a:buClr>
              <a:buSzPct val="25000"/>
              <a:buFont typeface="Times New Roman" pitchFamily="18" charset="0"/>
              <a:buNone/>
            </a:pPr>
            <a:r>
              <a:rPr lang="en-US" sz="3200" b="1" u="sng" dirty="0" smtClean="0">
                <a:solidFill>
                  <a:srgbClr val="FF0000"/>
                </a:solidFill>
                <a:latin typeface="Times New Roman" pitchFamily="18" charset="0"/>
                <a:cs typeface="Times New Roman" pitchFamily="18" charset="0"/>
                <a:sym typeface="Times New Roman" pitchFamily="18" charset="0"/>
              </a:rPr>
              <a:t/>
            </a:r>
            <a:br>
              <a:rPr lang="en-US" sz="3200" b="1" u="sng" dirty="0" smtClean="0">
                <a:solidFill>
                  <a:srgbClr val="FF0000"/>
                </a:solidFill>
                <a:latin typeface="Times New Roman" pitchFamily="18" charset="0"/>
                <a:cs typeface="Times New Roman" pitchFamily="18" charset="0"/>
                <a:sym typeface="Times New Roman" pitchFamily="18" charset="0"/>
              </a:rPr>
            </a:br>
            <a:r>
              <a:rPr lang="en-US" sz="3200" b="1" u="sng" dirty="0" smtClean="0">
                <a:solidFill>
                  <a:srgbClr val="FF0000"/>
                </a:solidFill>
                <a:latin typeface="Times New Roman" pitchFamily="18" charset="0"/>
                <a:cs typeface="Times New Roman" pitchFamily="18" charset="0"/>
                <a:sym typeface="Times New Roman" pitchFamily="18" charset="0"/>
              </a:rPr>
              <a:t/>
            </a:r>
            <a:br>
              <a:rPr lang="en-US" sz="3200" b="1" u="sng" dirty="0" smtClean="0">
                <a:solidFill>
                  <a:srgbClr val="FF0000"/>
                </a:solidFill>
                <a:latin typeface="Times New Roman" pitchFamily="18" charset="0"/>
                <a:cs typeface="Times New Roman" pitchFamily="18" charset="0"/>
                <a:sym typeface="Times New Roman" pitchFamily="18" charset="0"/>
              </a:rPr>
            </a:br>
            <a:r>
              <a:rPr lang="en-US" sz="3200" b="1" u="sng" dirty="0" smtClean="0">
                <a:solidFill>
                  <a:srgbClr val="FF0000"/>
                </a:solidFill>
                <a:latin typeface="Times New Roman" pitchFamily="18" charset="0"/>
                <a:cs typeface="Times New Roman" pitchFamily="18" charset="0"/>
                <a:sym typeface="Times New Roman" pitchFamily="18" charset="0"/>
              </a:rPr>
              <a:t>BASICS AND FEATURES OF 8259</a:t>
            </a:r>
            <a:r>
              <a:rPr lang="en-US" sz="3200" b="1" dirty="0" smtClean="0">
                <a:solidFill>
                  <a:srgbClr val="FF0000"/>
                </a:solidFill>
                <a:latin typeface="Times New Roman" pitchFamily="18" charset="0"/>
                <a:cs typeface="Times New Roman" pitchFamily="18" charset="0"/>
                <a:sym typeface="Times New Roman" pitchFamily="18" charset="0"/>
              </a:rPr>
              <a:t/>
            </a:r>
            <a:br>
              <a:rPr lang="en-US" sz="3200" b="1" dirty="0" smtClean="0">
                <a:solidFill>
                  <a:srgbClr val="FF0000"/>
                </a:solidFill>
                <a:latin typeface="Times New Roman" pitchFamily="18" charset="0"/>
                <a:cs typeface="Times New Roman" pitchFamily="18" charset="0"/>
                <a:sym typeface="Times New Roman" pitchFamily="18" charset="0"/>
              </a:rPr>
            </a:br>
            <a:endParaRPr lang="en-US" sz="3200" b="1" dirty="0" smtClean="0">
              <a:solidFill>
                <a:srgbClr val="FF0000"/>
              </a:solidFill>
              <a:latin typeface="Times New Roman" pitchFamily="18" charset="0"/>
              <a:cs typeface="Times New Roman" pitchFamily="18" charset="0"/>
              <a:sym typeface="Times New Roman" pitchFamily="18" charset="0"/>
            </a:endParaRPr>
          </a:p>
        </p:txBody>
      </p:sp>
      <p:sp>
        <p:nvSpPr>
          <p:cNvPr id="53251" name="Shape 531"/>
          <p:cNvSpPr>
            <a:spLocks noGrp="1"/>
          </p:cNvSpPr>
          <p:nvPr>
            <p:ph type="body" idx="1"/>
          </p:nvPr>
        </p:nvSpPr>
        <p:spPr>
          <a:xfrm>
            <a:off x="457200" y="1371600"/>
            <a:ext cx="8229600" cy="4754563"/>
          </a:xfrm>
        </p:spPr>
        <p:txBody>
          <a:bodyPr lIns="91425" tIns="45700" rIns="91425" bIns="45700">
            <a:normAutofit fontScale="92500" lnSpcReduction="10000"/>
          </a:bodyPr>
          <a:lstStyle/>
          <a:p>
            <a:pPr algn="just" eaLnBrk="1" hangingPunct="1">
              <a:spcBef>
                <a:spcPts val="638"/>
              </a:spcBef>
              <a:buClr>
                <a:srgbClr val="000000"/>
              </a:buClr>
              <a:buSzPct val="59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The 8259 programmable interrupt controller (PIC) adds eight vectored priority encoded interrupts to the microprocessor. </a:t>
            </a:r>
          </a:p>
          <a:p>
            <a:pPr algn="just" eaLnBrk="1" hangingPunct="1">
              <a:spcBef>
                <a:spcPts val="638"/>
              </a:spcBef>
              <a:buClr>
                <a:srgbClr val="000000"/>
              </a:buClr>
              <a:buSzPct val="59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It accepts request from the peripheral equipment, determine which of the incoming requests is of the highest importance</a:t>
            </a:r>
          </a:p>
          <a:p>
            <a:pPr algn="just" eaLnBrk="1" hangingPunct="1">
              <a:spcBef>
                <a:spcPts val="638"/>
              </a:spcBef>
              <a:buClr>
                <a:srgbClr val="000000"/>
              </a:buClr>
              <a:buSzPct val="59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Special features of 8259:</a:t>
            </a:r>
          </a:p>
          <a:p>
            <a:pPr lvl="2" algn="just" eaLnBrk="1" hangingPunct="1">
              <a:spcBef>
                <a:spcPts val="475"/>
              </a:spcBef>
              <a:buClr>
                <a:srgbClr val="000000"/>
              </a:buClr>
              <a:buSzPct val="60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Eight level priority controller</a:t>
            </a:r>
          </a:p>
          <a:p>
            <a:pPr lvl="2" algn="just" eaLnBrk="1" hangingPunct="1">
              <a:spcBef>
                <a:spcPts val="475"/>
              </a:spcBef>
              <a:buClr>
                <a:srgbClr val="000000"/>
              </a:buClr>
              <a:buSzPct val="60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Expandable to 64 levels</a:t>
            </a:r>
          </a:p>
          <a:p>
            <a:pPr lvl="2" algn="just" eaLnBrk="1" hangingPunct="1">
              <a:spcBef>
                <a:spcPts val="475"/>
              </a:spcBef>
              <a:buClr>
                <a:srgbClr val="000000"/>
              </a:buClr>
              <a:buSzPct val="60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Programmable interrupt modes</a:t>
            </a:r>
          </a:p>
          <a:p>
            <a:pPr lvl="2" algn="just" eaLnBrk="1" hangingPunct="1">
              <a:spcBef>
                <a:spcPts val="475"/>
              </a:spcBef>
              <a:buClr>
                <a:srgbClr val="000000"/>
              </a:buClr>
              <a:buSzPct val="60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Individual request mash capability</a:t>
            </a:r>
          </a:p>
          <a:p>
            <a:pPr eaLnBrk="1" hangingPunct="1">
              <a:spcBef>
                <a:spcPts val="638"/>
              </a:spcBef>
              <a:buClr>
                <a:srgbClr val="000000"/>
              </a:buClr>
              <a:buSzPct val="59000"/>
              <a:buFont typeface="Calibri" pitchFamily="34" charset="0"/>
              <a:buNone/>
            </a:pPr>
            <a:endParaRPr lang="en-US" dirty="0" smtClean="0">
              <a:solidFill>
                <a:srgbClr val="000000"/>
              </a:solidFill>
              <a:cs typeface="Arial" charset="0"/>
              <a:sym typeface="Calibri" pitchFamily="34" charset="0"/>
            </a:endParaRPr>
          </a:p>
        </p:txBody>
      </p:sp>
      <p:pic>
        <p:nvPicPr>
          <p:cNvPr id="4" name="Content Placeholder 4"/>
          <p:cNvPicPr>
            <a:picLocks/>
          </p:cNvPicPr>
          <p:nvPr/>
        </p:nvPicPr>
        <p:blipFill>
          <a:blip r:embed="rId3"/>
          <a:srcRect/>
          <a:stretch>
            <a:fillRect/>
          </a:stretch>
        </p:blipFill>
        <p:spPr>
          <a:xfrm>
            <a:off x="0" y="0"/>
            <a:ext cx="9144000" cy="838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Shape 536"/>
          <p:cNvPicPr preferRelativeResize="0">
            <a:picLocks noChangeAspect="1" noChangeArrowheads="1"/>
          </p:cNvPicPr>
          <p:nvPr/>
        </p:nvPicPr>
        <p:blipFill>
          <a:blip r:embed="rId3"/>
          <a:srcRect/>
          <a:stretch>
            <a:fillRect/>
          </a:stretch>
        </p:blipFill>
        <p:spPr bwMode="auto">
          <a:xfrm>
            <a:off x="0" y="762000"/>
            <a:ext cx="9144000" cy="4038600"/>
          </a:xfrm>
          <a:prstGeom prst="rect">
            <a:avLst/>
          </a:prstGeom>
          <a:noFill/>
          <a:ln w="9525">
            <a:noFill/>
            <a:miter lim="800000"/>
            <a:headEnd/>
            <a:tailEnd/>
          </a:ln>
        </p:spPr>
      </p:pic>
      <p:sp>
        <p:nvSpPr>
          <p:cNvPr id="54275" name="Shape 537"/>
          <p:cNvSpPr txBox="1">
            <a:spLocks noChangeArrowheads="1"/>
          </p:cNvSpPr>
          <p:nvPr/>
        </p:nvSpPr>
        <p:spPr bwMode="auto">
          <a:xfrm>
            <a:off x="304800" y="4495800"/>
            <a:ext cx="8382000" cy="1752600"/>
          </a:xfrm>
          <a:prstGeom prst="rect">
            <a:avLst/>
          </a:prstGeom>
          <a:noFill/>
          <a:ln w="9525">
            <a:noFill/>
            <a:miter lim="800000"/>
            <a:headEnd/>
            <a:tailEnd/>
          </a:ln>
        </p:spPr>
        <p:txBody>
          <a:bodyPr lIns="91425" tIns="45700" rIns="91425" bIns="45700"/>
          <a:lstStyle/>
          <a:p>
            <a:pPr algn="l" rtl="0">
              <a:buClr>
                <a:srgbClr val="000000"/>
              </a:buClr>
              <a:buSzPct val="25000"/>
              <a:buFont typeface="Times New Roman" pitchFamily="18" charset="0"/>
              <a:buNone/>
            </a:pPr>
            <a:r>
              <a:rPr lang="en-US" sz="1800" dirty="0">
                <a:solidFill>
                  <a:srgbClr val="000000"/>
                </a:solidFill>
                <a:cs typeface="Times New Roman" pitchFamily="18" charset="0"/>
                <a:sym typeface="Times New Roman" pitchFamily="18" charset="0"/>
              </a:rPr>
              <a:t>	</a:t>
            </a:r>
            <a:endParaRPr lang="en-US" sz="1800" dirty="0" smtClean="0">
              <a:solidFill>
                <a:srgbClr val="000000"/>
              </a:solidFill>
              <a:cs typeface="Times New Roman" pitchFamily="18" charset="0"/>
              <a:sym typeface="Times New Roman" pitchFamily="18" charset="0"/>
            </a:endParaRPr>
          </a:p>
          <a:p>
            <a:pPr algn="l" rtl="0">
              <a:buClr>
                <a:srgbClr val="000000"/>
              </a:buClr>
              <a:buSzPct val="25000"/>
              <a:buFont typeface="Times New Roman" pitchFamily="18" charset="0"/>
              <a:buNone/>
            </a:pPr>
            <a:endParaRPr lang="en-US" dirty="0" smtClean="0">
              <a:solidFill>
                <a:srgbClr val="000000"/>
              </a:solidFill>
              <a:cs typeface="Times New Roman" pitchFamily="18" charset="0"/>
              <a:sym typeface="Times New Roman" pitchFamily="18" charset="0"/>
            </a:endParaRPr>
          </a:p>
          <a:p>
            <a:pPr algn="l" rtl="0">
              <a:buClr>
                <a:srgbClr val="000000"/>
              </a:buClr>
              <a:buSzPct val="25000"/>
              <a:buFont typeface="Times New Roman" pitchFamily="18" charset="0"/>
              <a:buNone/>
            </a:pPr>
            <a:r>
              <a:rPr lang="en-US" sz="1800" dirty="0" smtClean="0">
                <a:solidFill>
                  <a:srgbClr val="000000"/>
                </a:solidFill>
                <a:cs typeface="Times New Roman" pitchFamily="18" charset="0"/>
                <a:sym typeface="Times New Roman" pitchFamily="18" charset="0"/>
              </a:rPr>
              <a:t>It </a:t>
            </a:r>
            <a:r>
              <a:rPr lang="en-US" sz="1800" dirty="0">
                <a:solidFill>
                  <a:srgbClr val="000000"/>
                </a:solidFill>
                <a:cs typeface="Times New Roman" pitchFamily="18" charset="0"/>
                <a:sym typeface="Times New Roman" pitchFamily="18" charset="0"/>
              </a:rPr>
              <a:t>is packaged in a 28-pin DIP, uses NMOS technology and requires a single a5V supply. Circuitry is static, requiring no clock input.</a:t>
            </a:r>
          </a:p>
          <a:p>
            <a:pPr algn="l" rtl="0">
              <a:buClr>
                <a:srgbClr val="000000"/>
              </a:buClr>
              <a:buSzPct val="25000"/>
              <a:buFont typeface="Calibri" pitchFamily="34" charset="0"/>
              <a:buNone/>
            </a:pPr>
            <a:r>
              <a:rPr lang="en-US" sz="1800" dirty="0">
                <a:solidFill>
                  <a:srgbClr val="000000"/>
                </a:solidFill>
                <a:latin typeface="Calibri" pitchFamily="34" charset="0"/>
                <a:sym typeface="Calibri" pitchFamily="34" charset="0"/>
              </a:rPr>
              <a:t>	The 8259A is designed to minimize the software and real time overhead in handling multi-level priority interrupts.</a:t>
            </a:r>
          </a:p>
          <a:p>
            <a:pPr algn="l" rtl="0">
              <a:buClr>
                <a:srgbClr val="000000"/>
              </a:buClr>
              <a:buSzPct val="25000"/>
              <a:buFont typeface="Calibri" pitchFamily="34" charset="0"/>
              <a:buNone/>
            </a:pPr>
            <a:r>
              <a:rPr lang="en-US" sz="1800" dirty="0">
                <a:solidFill>
                  <a:srgbClr val="000000"/>
                </a:solidFill>
                <a:latin typeface="Calibri" pitchFamily="34" charset="0"/>
                <a:sym typeface="Calibri" pitchFamily="34" charset="0"/>
              </a:rPr>
              <a:t>	It has several modes, permitting optimization for a variety of system requirements</a:t>
            </a:r>
          </a:p>
        </p:txBody>
      </p:sp>
      <p:pic>
        <p:nvPicPr>
          <p:cNvPr id="54276" name="Picture 4" descr="E:\ABC.jpg"/>
          <p:cNvPicPr>
            <a:picLocks noChangeAspect="1" noChangeArrowheads="1"/>
          </p:cNvPicPr>
          <p:nvPr/>
        </p:nvPicPr>
        <p:blipFill>
          <a:blip r:embed="rId4"/>
          <a:srcRect/>
          <a:stretch>
            <a:fillRect/>
          </a:stretch>
        </p:blipFill>
        <p:spPr bwMode="auto">
          <a:xfrm flipV="1">
            <a:off x="5410200" y="6477000"/>
            <a:ext cx="3598863" cy="381000"/>
          </a:xfrm>
          <a:prstGeom prst="rect">
            <a:avLst/>
          </a:prstGeom>
          <a:noFill/>
          <a:ln w="9525">
            <a:noFill/>
            <a:miter lim="800000"/>
            <a:headEnd/>
            <a:tailEnd/>
          </a:ln>
        </p:spPr>
      </p:pic>
      <p:pic>
        <p:nvPicPr>
          <p:cNvPr id="5" name="Content Placeholder 4"/>
          <p:cNvPicPr>
            <a:picLocks/>
          </p:cNvPicPr>
          <p:nvPr/>
        </p:nvPicPr>
        <p:blipFill>
          <a:blip r:embed="rId5"/>
          <a:srcRect/>
          <a:stretch>
            <a:fillRect/>
          </a:stretch>
        </p:blipFill>
        <p:spPr>
          <a:xfrm>
            <a:off x="0" y="0"/>
            <a:ext cx="9144000" cy="838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Shape 542"/>
          <p:cNvPicPr preferRelativeResize="0">
            <a:picLocks noChangeAspect="1" noChangeArrowheads="1"/>
          </p:cNvPicPr>
          <p:nvPr/>
        </p:nvPicPr>
        <p:blipFill>
          <a:blip r:embed="rId3"/>
          <a:srcRect/>
          <a:stretch>
            <a:fillRect/>
          </a:stretch>
        </p:blipFill>
        <p:spPr bwMode="auto">
          <a:xfrm>
            <a:off x="0" y="1143000"/>
            <a:ext cx="9144000" cy="5715000"/>
          </a:xfrm>
          <a:prstGeom prst="rect">
            <a:avLst/>
          </a:prstGeom>
          <a:noFill/>
          <a:ln w="9525">
            <a:noFill/>
            <a:miter lim="800000"/>
            <a:headEnd/>
            <a:tailEnd/>
          </a:ln>
        </p:spPr>
      </p:pic>
      <p:pic>
        <p:nvPicPr>
          <p:cNvPr id="55299" name="Picture 4" descr="E:\ABC.jpg"/>
          <p:cNvPicPr>
            <a:picLocks noChangeAspect="1" noChangeArrowheads="1"/>
          </p:cNvPicPr>
          <p:nvPr/>
        </p:nvPicPr>
        <p:blipFill>
          <a:blip r:embed="rId4"/>
          <a:srcRect/>
          <a:stretch>
            <a:fillRect/>
          </a:stretch>
        </p:blipFill>
        <p:spPr bwMode="auto">
          <a:xfrm>
            <a:off x="4876800" y="6248400"/>
            <a:ext cx="4132263" cy="609600"/>
          </a:xfrm>
          <a:prstGeom prst="rect">
            <a:avLst/>
          </a:prstGeom>
          <a:noFill/>
          <a:ln w="9525">
            <a:noFill/>
            <a:miter lim="800000"/>
            <a:headEnd/>
            <a:tailEnd/>
          </a:ln>
        </p:spPr>
      </p:pic>
      <p:pic>
        <p:nvPicPr>
          <p:cNvPr id="4" name="Content Placeholder 4"/>
          <p:cNvPicPr>
            <a:picLocks/>
          </p:cNvPicPr>
          <p:nvPr/>
        </p:nvPicPr>
        <p:blipFill>
          <a:blip r:embed="rId5"/>
          <a:srcRect/>
          <a:stretch>
            <a:fillRect/>
          </a:stretch>
        </p:blipFill>
        <p:spPr>
          <a:xfrm>
            <a:off x="0" y="0"/>
            <a:ext cx="9144000" cy="838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hape 530"/>
          <p:cNvSpPr>
            <a:spLocks noGrp="1"/>
          </p:cNvSpPr>
          <p:nvPr>
            <p:ph type="title"/>
          </p:nvPr>
        </p:nvSpPr>
        <p:spPr>
          <a:xfrm>
            <a:off x="228600" y="228600"/>
            <a:ext cx="8229600" cy="1143000"/>
          </a:xfrm>
        </p:spPr>
        <p:txBody>
          <a:bodyPr lIns="91425" tIns="45700" rIns="91425" bIns="45700">
            <a:normAutofit fontScale="90000"/>
          </a:bodyPr>
          <a:lstStyle/>
          <a:p>
            <a:pPr eaLnBrk="1" hangingPunct="1">
              <a:buClr>
                <a:srgbClr val="000000"/>
              </a:buClr>
              <a:buSzPct val="25000"/>
              <a:buFont typeface="Times New Roman" pitchFamily="18" charset="0"/>
              <a:buNone/>
            </a:pPr>
            <a:r>
              <a:rPr lang="en-US" sz="3200" b="1" u="sng" dirty="0" smtClean="0">
                <a:solidFill>
                  <a:srgbClr val="FF0000"/>
                </a:solidFill>
                <a:latin typeface="Times New Roman" pitchFamily="18" charset="0"/>
                <a:cs typeface="Times New Roman" pitchFamily="18" charset="0"/>
                <a:sym typeface="Times New Roman" pitchFamily="18" charset="0"/>
              </a:rPr>
              <a:t/>
            </a:r>
            <a:br>
              <a:rPr lang="en-US" sz="3200" b="1" u="sng" dirty="0" smtClean="0">
                <a:solidFill>
                  <a:srgbClr val="FF0000"/>
                </a:solidFill>
                <a:latin typeface="Times New Roman" pitchFamily="18" charset="0"/>
                <a:cs typeface="Times New Roman" pitchFamily="18" charset="0"/>
                <a:sym typeface="Times New Roman" pitchFamily="18" charset="0"/>
              </a:rPr>
            </a:br>
            <a:r>
              <a:rPr lang="en-US" sz="3200" b="1" u="sng" dirty="0" smtClean="0">
                <a:solidFill>
                  <a:srgbClr val="FF0000"/>
                </a:solidFill>
                <a:latin typeface="Times New Roman" pitchFamily="18" charset="0"/>
                <a:cs typeface="Times New Roman" pitchFamily="18" charset="0"/>
                <a:sym typeface="Times New Roman" pitchFamily="18" charset="0"/>
              </a:rPr>
              <a:t/>
            </a:r>
            <a:br>
              <a:rPr lang="en-US" sz="3200" b="1" u="sng" dirty="0" smtClean="0">
                <a:solidFill>
                  <a:srgbClr val="FF0000"/>
                </a:solidFill>
                <a:latin typeface="Times New Roman" pitchFamily="18" charset="0"/>
                <a:cs typeface="Times New Roman" pitchFamily="18" charset="0"/>
                <a:sym typeface="Times New Roman" pitchFamily="18" charset="0"/>
              </a:rPr>
            </a:br>
            <a:r>
              <a:rPr lang="en-US" sz="3200" b="1" u="sng" dirty="0" smtClean="0">
                <a:solidFill>
                  <a:srgbClr val="FF0000"/>
                </a:solidFill>
                <a:latin typeface="Times New Roman" pitchFamily="18" charset="0"/>
                <a:cs typeface="Times New Roman" pitchFamily="18" charset="0"/>
                <a:sym typeface="Times New Roman" pitchFamily="18" charset="0"/>
              </a:rPr>
              <a:t>WORKING OF 8259 (PIC)</a:t>
            </a:r>
            <a:r>
              <a:rPr lang="en-US" sz="3200" b="1" dirty="0" smtClean="0">
                <a:solidFill>
                  <a:srgbClr val="FF0000"/>
                </a:solidFill>
                <a:latin typeface="Times New Roman" pitchFamily="18" charset="0"/>
                <a:cs typeface="Times New Roman" pitchFamily="18" charset="0"/>
                <a:sym typeface="Times New Roman" pitchFamily="18" charset="0"/>
              </a:rPr>
              <a:t/>
            </a:r>
            <a:br>
              <a:rPr lang="en-US" sz="3200" b="1" dirty="0" smtClean="0">
                <a:solidFill>
                  <a:srgbClr val="FF0000"/>
                </a:solidFill>
                <a:latin typeface="Times New Roman" pitchFamily="18" charset="0"/>
                <a:cs typeface="Times New Roman" pitchFamily="18" charset="0"/>
                <a:sym typeface="Times New Roman" pitchFamily="18" charset="0"/>
              </a:rPr>
            </a:br>
            <a:endParaRPr lang="en-US" sz="3200" b="1" dirty="0" smtClean="0">
              <a:solidFill>
                <a:srgbClr val="FF0000"/>
              </a:solidFill>
              <a:latin typeface="Times New Roman" pitchFamily="18" charset="0"/>
              <a:cs typeface="Times New Roman" pitchFamily="18" charset="0"/>
              <a:sym typeface="Times New Roman" pitchFamily="18" charset="0"/>
            </a:endParaRPr>
          </a:p>
        </p:txBody>
      </p:sp>
      <p:sp>
        <p:nvSpPr>
          <p:cNvPr id="53251" name="Shape 531"/>
          <p:cNvSpPr>
            <a:spLocks noGrp="1"/>
          </p:cNvSpPr>
          <p:nvPr>
            <p:ph type="body" idx="1"/>
          </p:nvPr>
        </p:nvSpPr>
        <p:spPr>
          <a:xfrm>
            <a:off x="457200" y="1371600"/>
            <a:ext cx="8229600" cy="4754563"/>
          </a:xfrm>
        </p:spPr>
        <p:txBody>
          <a:bodyPr lIns="91425" tIns="45700" rIns="91425" bIns="45700">
            <a:normAutofit fontScale="92500" lnSpcReduction="10000"/>
          </a:bodyPr>
          <a:lstStyle/>
          <a:p>
            <a:pPr algn="just" eaLnBrk="1" hangingPunct="1">
              <a:spcBef>
                <a:spcPts val="638"/>
              </a:spcBef>
              <a:buClr>
                <a:srgbClr val="000000"/>
              </a:buClr>
              <a:buSzPct val="59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One or more interrupt request lines go high on service.</a:t>
            </a:r>
          </a:p>
          <a:p>
            <a:pPr algn="just" eaLnBrk="1" hangingPunct="1">
              <a:spcBef>
                <a:spcPts val="638"/>
              </a:spcBef>
              <a:buClr>
                <a:srgbClr val="000000"/>
              </a:buClr>
              <a:buSzPct val="59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8259A  resolves priority and sends INTR to microprocessor.</a:t>
            </a:r>
          </a:p>
          <a:p>
            <a:pPr algn="just" eaLnBrk="1" hangingPunct="1">
              <a:spcBef>
                <a:spcPts val="638"/>
              </a:spcBef>
              <a:buClr>
                <a:srgbClr val="000000"/>
              </a:buClr>
              <a:buSzPct val="59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The microprocessor acknowledge the interrupts by </a:t>
            </a:r>
          </a:p>
          <a:p>
            <a:pPr algn="just" eaLnBrk="1" hangingPunct="1">
              <a:spcBef>
                <a:spcPts val="638"/>
              </a:spcBef>
              <a:buClr>
                <a:srgbClr val="000000"/>
              </a:buClr>
              <a:buSzPct val="59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After          , </a:t>
            </a:r>
            <a:r>
              <a:rPr lang="en-US" dirty="0" err="1" smtClean="0">
                <a:solidFill>
                  <a:srgbClr val="000000"/>
                </a:solidFill>
                <a:latin typeface="Times New Roman" pitchFamily="18" charset="0"/>
                <a:cs typeface="Times New Roman" pitchFamily="18" charset="0"/>
                <a:sym typeface="Times New Roman" pitchFamily="18" charset="0"/>
              </a:rPr>
              <a:t>opcode</a:t>
            </a:r>
            <a:r>
              <a:rPr lang="en-US" dirty="0" smtClean="0">
                <a:solidFill>
                  <a:srgbClr val="000000"/>
                </a:solidFill>
                <a:latin typeface="Times New Roman" pitchFamily="18" charset="0"/>
                <a:cs typeface="Times New Roman" pitchFamily="18" charset="0"/>
                <a:sym typeface="Times New Roman" pitchFamily="18" charset="0"/>
              </a:rPr>
              <a:t> for CALL </a:t>
            </a:r>
            <a:r>
              <a:rPr lang="en-US" dirty="0" err="1" smtClean="0">
                <a:solidFill>
                  <a:srgbClr val="000000"/>
                </a:solidFill>
                <a:latin typeface="Times New Roman" pitchFamily="18" charset="0"/>
                <a:cs typeface="Times New Roman" pitchFamily="18" charset="0"/>
                <a:sym typeface="Times New Roman" pitchFamily="18" charset="0"/>
              </a:rPr>
              <a:t>intruction</a:t>
            </a:r>
            <a:r>
              <a:rPr lang="en-US" dirty="0" smtClean="0">
                <a:solidFill>
                  <a:srgbClr val="000000"/>
                </a:solidFill>
                <a:latin typeface="Times New Roman" pitchFamily="18" charset="0"/>
                <a:cs typeface="Times New Roman" pitchFamily="18" charset="0"/>
                <a:sym typeface="Times New Roman" pitchFamily="18" charset="0"/>
              </a:rPr>
              <a:t> is placed on data bus.</a:t>
            </a:r>
          </a:p>
          <a:p>
            <a:pPr algn="just" eaLnBrk="1" hangingPunct="1">
              <a:spcBef>
                <a:spcPts val="638"/>
              </a:spcBef>
              <a:buClr>
                <a:srgbClr val="000000"/>
              </a:buClr>
              <a:buSzPct val="59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Due to CALL instruction microprocessor send two more         signals      </a:t>
            </a:r>
          </a:p>
        </p:txBody>
      </p:sp>
      <p:pic>
        <p:nvPicPr>
          <p:cNvPr id="4" name="Content Placeholder 4"/>
          <p:cNvPicPr>
            <a:picLocks/>
          </p:cNvPicPr>
          <p:nvPr/>
        </p:nvPicPr>
        <p:blipFill>
          <a:blip r:embed="rId4"/>
          <a:srcRect/>
          <a:stretch>
            <a:fillRect/>
          </a:stretch>
        </p:blipFill>
        <p:spPr>
          <a:xfrm>
            <a:off x="0" y="0"/>
            <a:ext cx="9144000" cy="838200"/>
          </a:xfrm>
          <a:prstGeom prst="rect">
            <a:avLst/>
          </a:prstGeom>
        </p:spPr>
      </p:pic>
      <p:graphicFrame>
        <p:nvGraphicFramePr>
          <p:cNvPr id="5" name="Object 4"/>
          <p:cNvGraphicFramePr>
            <a:graphicFrameLocks noChangeAspect="1"/>
          </p:cNvGraphicFramePr>
          <p:nvPr/>
        </p:nvGraphicFramePr>
        <p:xfrm>
          <a:off x="1752600" y="4114800"/>
          <a:ext cx="838200" cy="457200"/>
        </p:xfrm>
        <a:graphic>
          <a:graphicData uri="http://schemas.openxmlformats.org/presentationml/2006/ole">
            <p:oleObj spid="_x0000_s1026" name="Equation" r:id="rId5" imgW="380880" imgH="215640" progId="Equation.3">
              <p:embed/>
            </p:oleObj>
          </a:graphicData>
        </a:graphic>
      </p:graphicFrame>
      <p:graphicFrame>
        <p:nvGraphicFramePr>
          <p:cNvPr id="1028" name="Object 4"/>
          <p:cNvGraphicFramePr>
            <a:graphicFrameLocks noChangeAspect="1"/>
          </p:cNvGraphicFramePr>
          <p:nvPr/>
        </p:nvGraphicFramePr>
        <p:xfrm>
          <a:off x="1371600" y="3581400"/>
          <a:ext cx="838200" cy="457200"/>
        </p:xfrm>
        <a:graphic>
          <a:graphicData uri="http://schemas.openxmlformats.org/presentationml/2006/ole">
            <p:oleObj spid="_x0000_s1028" name="Equation" r:id="rId6" imgW="380880" imgH="215640" progId="Equation.3">
              <p:embed/>
            </p:oleObj>
          </a:graphicData>
        </a:graphic>
      </p:graphicFrame>
      <p:graphicFrame>
        <p:nvGraphicFramePr>
          <p:cNvPr id="1029" name="Object 5"/>
          <p:cNvGraphicFramePr>
            <a:graphicFrameLocks noChangeAspect="1"/>
          </p:cNvGraphicFramePr>
          <p:nvPr/>
        </p:nvGraphicFramePr>
        <p:xfrm>
          <a:off x="2362200" y="5410200"/>
          <a:ext cx="838200" cy="457200"/>
        </p:xfrm>
        <a:graphic>
          <a:graphicData uri="http://schemas.openxmlformats.org/presentationml/2006/ole">
            <p:oleObj spid="_x0000_s1029" name="Equation" r:id="rId7" imgW="380880" imgH="215640" progId="Equation.3">
              <p:embed/>
            </p:oleObj>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hape 530"/>
          <p:cNvSpPr>
            <a:spLocks noGrp="1"/>
          </p:cNvSpPr>
          <p:nvPr>
            <p:ph type="title"/>
          </p:nvPr>
        </p:nvSpPr>
        <p:spPr>
          <a:xfrm>
            <a:off x="228600" y="228600"/>
            <a:ext cx="8229600" cy="1143000"/>
          </a:xfrm>
        </p:spPr>
        <p:txBody>
          <a:bodyPr lIns="91425" tIns="45700" rIns="91425" bIns="45700">
            <a:normAutofit fontScale="90000"/>
          </a:bodyPr>
          <a:lstStyle/>
          <a:p>
            <a:pPr eaLnBrk="1" hangingPunct="1">
              <a:buClr>
                <a:srgbClr val="000000"/>
              </a:buClr>
              <a:buSzPct val="25000"/>
              <a:buFont typeface="Times New Roman" pitchFamily="18" charset="0"/>
              <a:buNone/>
            </a:pPr>
            <a:r>
              <a:rPr lang="en-US" sz="3200" b="1" u="sng" dirty="0" smtClean="0">
                <a:solidFill>
                  <a:srgbClr val="FF0000"/>
                </a:solidFill>
                <a:latin typeface="Times New Roman" pitchFamily="18" charset="0"/>
                <a:cs typeface="Times New Roman" pitchFamily="18" charset="0"/>
                <a:sym typeface="Times New Roman" pitchFamily="18" charset="0"/>
              </a:rPr>
              <a:t/>
            </a:r>
            <a:br>
              <a:rPr lang="en-US" sz="3200" b="1" u="sng" dirty="0" smtClean="0">
                <a:solidFill>
                  <a:srgbClr val="FF0000"/>
                </a:solidFill>
                <a:latin typeface="Times New Roman" pitchFamily="18" charset="0"/>
                <a:cs typeface="Times New Roman" pitchFamily="18" charset="0"/>
                <a:sym typeface="Times New Roman" pitchFamily="18" charset="0"/>
              </a:rPr>
            </a:br>
            <a:r>
              <a:rPr lang="en-US" sz="3200" b="1" u="sng" dirty="0" smtClean="0">
                <a:solidFill>
                  <a:srgbClr val="FF0000"/>
                </a:solidFill>
                <a:latin typeface="Times New Roman" pitchFamily="18" charset="0"/>
                <a:cs typeface="Times New Roman" pitchFamily="18" charset="0"/>
                <a:sym typeface="Times New Roman" pitchFamily="18" charset="0"/>
              </a:rPr>
              <a:t/>
            </a:r>
            <a:br>
              <a:rPr lang="en-US" sz="3200" b="1" u="sng" dirty="0" smtClean="0">
                <a:solidFill>
                  <a:srgbClr val="FF0000"/>
                </a:solidFill>
                <a:latin typeface="Times New Roman" pitchFamily="18" charset="0"/>
                <a:cs typeface="Times New Roman" pitchFamily="18" charset="0"/>
                <a:sym typeface="Times New Roman" pitchFamily="18" charset="0"/>
              </a:rPr>
            </a:br>
            <a:r>
              <a:rPr lang="en-US" sz="3200" b="1" u="sng" dirty="0" smtClean="0">
                <a:solidFill>
                  <a:srgbClr val="FF0000"/>
                </a:solidFill>
                <a:latin typeface="Times New Roman" pitchFamily="18" charset="0"/>
                <a:cs typeface="Times New Roman" pitchFamily="18" charset="0"/>
                <a:sym typeface="Times New Roman" pitchFamily="18" charset="0"/>
              </a:rPr>
              <a:t>WORKING OF 8259 (PIC) </a:t>
            </a:r>
            <a:r>
              <a:rPr lang="en-US" sz="3200" b="1" u="sng" dirty="0" err="1" smtClean="0">
                <a:solidFill>
                  <a:srgbClr val="FF0000"/>
                </a:solidFill>
                <a:latin typeface="Times New Roman" pitchFamily="18" charset="0"/>
                <a:cs typeface="Times New Roman" pitchFamily="18" charset="0"/>
                <a:sym typeface="Times New Roman" pitchFamily="18" charset="0"/>
              </a:rPr>
              <a:t>Contd</a:t>
            </a:r>
            <a:r>
              <a:rPr lang="en-US" sz="3200" b="1" u="sng" dirty="0" smtClean="0">
                <a:solidFill>
                  <a:srgbClr val="FF0000"/>
                </a:solidFill>
                <a:latin typeface="Times New Roman" pitchFamily="18" charset="0"/>
                <a:cs typeface="Times New Roman" pitchFamily="18" charset="0"/>
                <a:sym typeface="Times New Roman" pitchFamily="18" charset="0"/>
              </a:rPr>
              <a:t>…</a:t>
            </a:r>
            <a:r>
              <a:rPr lang="en-US" sz="3200" b="1" dirty="0" smtClean="0">
                <a:solidFill>
                  <a:srgbClr val="FF0000"/>
                </a:solidFill>
                <a:latin typeface="Times New Roman" pitchFamily="18" charset="0"/>
                <a:cs typeface="Times New Roman" pitchFamily="18" charset="0"/>
                <a:sym typeface="Times New Roman" pitchFamily="18" charset="0"/>
              </a:rPr>
              <a:t/>
            </a:r>
            <a:br>
              <a:rPr lang="en-US" sz="3200" b="1" dirty="0" smtClean="0">
                <a:solidFill>
                  <a:srgbClr val="FF0000"/>
                </a:solidFill>
                <a:latin typeface="Times New Roman" pitchFamily="18" charset="0"/>
                <a:cs typeface="Times New Roman" pitchFamily="18" charset="0"/>
                <a:sym typeface="Times New Roman" pitchFamily="18" charset="0"/>
              </a:rPr>
            </a:br>
            <a:endParaRPr lang="en-US" sz="3200" b="1" dirty="0" smtClean="0">
              <a:solidFill>
                <a:srgbClr val="FF0000"/>
              </a:solidFill>
              <a:latin typeface="Times New Roman" pitchFamily="18" charset="0"/>
              <a:cs typeface="Times New Roman" pitchFamily="18" charset="0"/>
              <a:sym typeface="Times New Roman" pitchFamily="18" charset="0"/>
            </a:endParaRPr>
          </a:p>
        </p:txBody>
      </p:sp>
      <p:sp>
        <p:nvSpPr>
          <p:cNvPr id="53251" name="Shape 531"/>
          <p:cNvSpPr>
            <a:spLocks noGrp="1"/>
          </p:cNvSpPr>
          <p:nvPr>
            <p:ph type="body" idx="1"/>
          </p:nvPr>
        </p:nvSpPr>
        <p:spPr>
          <a:xfrm>
            <a:off x="457200" y="1371600"/>
            <a:ext cx="8229600" cy="4754563"/>
          </a:xfrm>
        </p:spPr>
        <p:txBody>
          <a:bodyPr lIns="91425" tIns="45700" rIns="91425" bIns="45700">
            <a:normAutofit/>
          </a:bodyPr>
          <a:lstStyle/>
          <a:p>
            <a:pPr algn="just" eaLnBrk="1" hangingPunct="1">
              <a:spcBef>
                <a:spcPts val="638"/>
              </a:spcBef>
              <a:buClr>
                <a:srgbClr val="000000"/>
              </a:buClr>
              <a:buSzPct val="59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At 1</a:t>
            </a:r>
            <a:r>
              <a:rPr lang="en-US" baseline="30000" dirty="0" smtClean="0">
                <a:solidFill>
                  <a:srgbClr val="000000"/>
                </a:solidFill>
                <a:latin typeface="Times New Roman" pitchFamily="18" charset="0"/>
                <a:cs typeface="Times New Roman" pitchFamily="18" charset="0"/>
                <a:sym typeface="Times New Roman" pitchFamily="18" charset="0"/>
              </a:rPr>
              <a:t>st</a:t>
            </a:r>
            <a:r>
              <a:rPr lang="en-US" dirty="0" smtClean="0">
                <a:solidFill>
                  <a:srgbClr val="000000"/>
                </a:solidFill>
                <a:latin typeface="Times New Roman" pitchFamily="18" charset="0"/>
                <a:cs typeface="Times New Roman" pitchFamily="18" charset="0"/>
                <a:sym typeface="Times New Roman" pitchFamily="18" charset="0"/>
              </a:rPr>
              <a:t>         ,8259A place lower order address on data bus.</a:t>
            </a:r>
          </a:p>
          <a:p>
            <a:pPr algn="just">
              <a:spcBef>
                <a:spcPts val="638"/>
              </a:spcBef>
              <a:buClr>
                <a:srgbClr val="000000"/>
              </a:buClr>
              <a:buSzPct val="59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At 2</a:t>
            </a:r>
            <a:r>
              <a:rPr lang="en-US" baseline="30000" dirty="0" smtClean="0">
                <a:solidFill>
                  <a:srgbClr val="000000"/>
                </a:solidFill>
                <a:latin typeface="Times New Roman" pitchFamily="18" charset="0"/>
                <a:cs typeface="Times New Roman" pitchFamily="18" charset="0"/>
                <a:sym typeface="Times New Roman" pitchFamily="18" charset="0"/>
              </a:rPr>
              <a:t>nd</a:t>
            </a:r>
            <a:r>
              <a:rPr lang="en-US" dirty="0" smtClean="0">
                <a:solidFill>
                  <a:srgbClr val="000000"/>
                </a:solidFill>
                <a:latin typeface="Times New Roman" pitchFamily="18" charset="0"/>
                <a:cs typeface="Times New Roman" pitchFamily="18" charset="0"/>
                <a:sym typeface="Times New Roman" pitchFamily="18" charset="0"/>
              </a:rPr>
              <a:t>          ,8259A place lower order address on data bus.</a:t>
            </a:r>
          </a:p>
          <a:p>
            <a:pPr algn="just">
              <a:spcBef>
                <a:spcPts val="638"/>
              </a:spcBef>
              <a:buClr>
                <a:srgbClr val="000000"/>
              </a:buClr>
              <a:buSzPct val="59000"/>
              <a:buFont typeface="Arial" charset="0"/>
              <a:buChar char="●"/>
            </a:pPr>
            <a:r>
              <a:rPr lang="en-US" dirty="0" smtClean="0">
                <a:solidFill>
                  <a:srgbClr val="000000"/>
                </a:solidFill>
                <a:latin typeface="Times New Roman" pitchFamily="18" charset="0"/>
                <a:cs typeface="Times New Roman" pitchFamily="18" charset="0"/>
                <a:sym typeface="Times New Roman" pitchFamily="18" charset="0"/>
              </a:rPr>
              <a:t>Program sequence now transmitted to location specified by CALL Instruction.</a:t>
            </a:r>
          </a:p>
          <a:p>
            <a:pPr algn="just" eaLnBrk="1" hangingPunct="1">
              <a:spcBef>
                <a:spcPts val="638"/>
              </a:spcBef>
              <a:buClr>
                <a:srgbClr val="000000"/>
              </a:buClr>
              <a:buSzPct val="59000"/>
              <a:buFont typeface="Arial" charset="0"/>
              <a:buChar char="●"/>
            </a:pPr>
            <a:endParaRPr lang="en-US" dirty="0" smtClean="0">
              <a:solidFill>
                <a:srgbClr val="000000"/>
              </a:solidFill>
              <a:latin typeface="Times New Roman" pitchFamily="18" charset="0"/>
              <a:cs typeface="Times New Roman" pitchFamily="18" charset="0"/>
              <a:sym typeface="Times New Roman" pitchFamily="18" charset="0"/>
            </a:endParaRPr>
          </a:p>
        </p:txBody>
      </p:sp>
      <p:pic>
        <p:nvPicPr>
          <p:cNvPr id="4" name="Content Placeholder 4"/>
          <p:cNvPicPr>
            <a:picLocks/>
          </p:cNvPicPr>
          <p:nvPr/>
        </p:nvPicPr>
        <p:blipFill>
          <a:blip r:embed="rId4"/>
          <a:srcRect/>
          <a:stretch>
            <a:fillRect/>
          </a:stretch>
        </p:blipFill>
        <p:spPr>
          <a:xfrm>
            <a:off x="0" y="0"/>
            <a:ext cx="9144000" cy="838200"/>
          </a:xfrm>
          <a:prstGeom prst="rect">
            <a:avLst/>
          </a:prstGeom>
        </p:spPr>
      </p:pic>
      <p:graphicFrame>
        <p:nvGraphicFramePr>
          <p:cNvPr id="26629" name="Object 5"/>
          <p:cNvGraphicFramePr>
            <a:graphicFrameLocks noChangeAspect="1"/>
          </p:cNvGraphicFramePr>
          <p:nvPr/>
        </p:nvGraphicFramePr>
        <p:xfrm>
          <a:off x="1981200" y="1447800"/>
          <a:ext cx="838200" cy="457200"/>
        </p:xfrm>
        <a:graphic>
          <a:graphicData uri="http://schemas.openxmlformats.org/presentationml/2006/ole">
            <p:oleObj spid="_x0000_s26629" name="Equation" r:id="rId5" imgW="380880" imgH="215640" progId="Equation.3">
              <p:embed/>
            </p:oleObj>
          </a:graphicData>
        </a:graphic>
      </p:graphicFrame>
      <p:graphicFrame>
        <p:nvGraphicFramePr>
          <p:cNvPr id="26630" name="Object 6"/>
          <p:cNvGraphicFramePr>
            <a:graphicFrameLocks noChangeAspect="1"/>
          </p:cNvGraphicFramePr>
          <p:nvPr/>
        </p:nvGraphicFramePr>
        <p:xfrm>
          <a:off x="2057400" y="2514600"/>
          <a:ext cx="838200" cy="457200"/>
        </p:xfrm>
        <a:graphic>
          <a:graphicData uri="http://schemas.openxmlformats.org/presentationml/2006/ole">
            <p:oleObj spid="_x0000_s26630" name="Equation" r:id="rId6" imgW="380880" imgH="215640" progId="Equation.3">
              <p:embed/>
            </p:oleObj>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hape 552"/>
          <p:cNvSpPr txBox="1">
            <a:spLocks noChangeArrowheads="1"/>
          </p:cNvSpPr>
          <p:nvPr/>
        </p:nvSpPr>
        <p:spPr bwMode="auto">
          <a:xfrm>
            <a:off x="0" y="1143000"/>
            <a:ext cx="9144000" cy="5715000"/>
          </a:xfrm>
          <a:prstGeom prst="rect">
            <a:avLst/>
          </a:prstGeom>
          <a:noFill/>
          <a:ln w="9525">
            <a:noFill/>
            <a:miter lim="800000"/>
            <a:headEnd/>
            <a:tailEnd/>
          </a:ln>
        </p:spPr>
        <p:txBody>
          <a:bodyPr lIns="91425" tIns="45700" rIns="91425" bIns="45700"/>
          <a:lstStyle/>
          <a:p>
            <a:pPr algn="l" rtl="0">
              <a:buClr>
                <a:srgbClr val="000000"/>
              </a:buClr>
              <a:buSzPct val="25000"/>
              <a:buFont typeface="Times New Roman" pitchFamily="18" charset="0"/>
              <a:buNone/>
            </a:pPr>
            <a:r>
              <a:rPr lang="en-US" sz="1800" dirty="0">
                <a:solidFill>
                  <a:srgbClr val="000000"/>
                </a:solidFill>
                <a:cs typeface="Times New Roman" pitchFamily="18" charset="0"/>
                <a:sym typeface="Times New Roman" pitchFamily="18" charset="0"/>
              </a:rPr>
              <a:t>	</a:t>
            </a:r>
            <a:endParaRPr lang="en-US" sz="1800" dirty="0" smtClean="0">
              <a:solidFill>
                <a:srgbClr val="000000"/>
              </a:solidFill>
              <a:cs typeface="Times New Roman" pitchFamily="18" charset="0"/>
              <a:sym typeface="Times New Roman" pitchFamily="18" charset="0"/>
            </a:endParaRPr>
          </a:p>
          <a:p>
            <a:pPr algn="l" rtl="0">
              <a:buClr>
                <a:srgbClr val="000000"/>
              </a:buClr>
              <a:buSzPct val="25000"/>
              <a:buFont typeface="Times New Roman" pitchFamily="18" charset="0"/>
              <a:buNone/>
            </a:pPr>
            <a:endParaRPr lang="en-US" sz="1800" dirty="0" smtClean="0">
              <a:solidFill>
                <a:srgbClr val="000000"/>
              </a:solidFill>
              <a:cs typeface="Times New Roman" pitchFamily="18" charset="0"/>
              <a:sym typeface="Times New Roman" pitchFamily="18" charset="0"/>
            </a:endParaRPr>
          </a:p>
          <a:p>
            <a:pPr algn="l" rtl="0">
              <a:buClr>
                <a:srgbClr val="000000"/>
              </a:buClr>
              <a:buSzPct val="25000"/>
              <a:buFont typeface="Times New Roman" pitchFamily="18" charset="0"/>
              <a:buNone/>
            </a:pPr>
            <a:r>
              <a:rPr lang="en-US" sz="1800" dirty="0" smtClean="0">
                <a:solidFill>
                  <a:srgbClr val="000000"/>
                </a:solidFill>
                <a:cs typeface="Times New Roman" pitchFamily="18" charset="0"/>
                <a:sym typeface="Times New Roman" pitchFamily="18" charset="0"/>
              </a:rPr>
              <a:t>The </a:t>
            </a:r>
            <a:r>
              <a:rPr lang="en-US" sz="1800" dirty="0">
                <a:solidFill>
                  <a:srgbClr val="000000"/>
                </a:solidFill>
                <a:cs typeface="Times New Roman" pitchFamily="18" charset="0"/>
                <a:sym typeface="Times New Roman" pitchFamily="18" charset="0"/>
              </a:rPr>
              <a:t>interrupts at the IR input lines are handled by two registers in cascade, the Interrupt Request Register </a:t>
            </a:r>
            <a:r>
              <a:rPr lang="en-US" sz="1800" b="1" dirty="0">
                <a:solidFill>
                  <a:srgbClr val="000000"/>
                </a:solidFill>
                <a:cs typeface="Times New Roman" pitchFamily="18" charset="0"/>
                <a:sym typeface="Times New Roman" pitchFamily="18" charset="0"/>
              </a:rPr>
              <a:t>(IRR) </a:t>
            </a:r>
            <a:r>
              <a:rPr lang="en-US" sz="1800" dirty="0">
                <a:solidFill>
                  <a:srgbClr val="000000"/>
                </a:solidFill>
                <a:cs typeface="Times New Roman" pitchFamily="18" charset="0"/>
                <a:sym typeface="Times New Roman" pitchFamily="18" charset="0"/>
              </a:rPr>
              <a:t>and the In-Service (</a:t>
            </a:r>
            <a:r>
              <a:rPr lang="en-US" sz="1800" b="1" dirty="0">
                <a:solidFill>
                  <a:srgbClr val="000000"/>
                </a:solidFill>
                <a:cs typeface="Times New Roman" pitchFamily="18" charset="0"/>
                <a:sym typeface="Times New Roman" pitchFamily="18" charset="0"/>
              </a:rPr>
              <a:t>ISR)</a:t>
            </a:r>
            <a:r>
              <a:rPr lang="en-US" sz="1800" dirty="0">
                <a:solidFill>
                  <a:srgbClr val="000000"/>
                </a:solidFill>
                <a:cs typeface="Times New Roman" pitchFamily="18" charset="0"/>
                <a:sym typeface="Times New Roman" pitchFamily="18" charset="0"/>
              </a:rPr>
              <a:t>. The IRR is used to store all the interrupt levels which are requesting service; and the ISR is used to store all the interrupt levels which are being serviced.</a:t>
            </a:r>
          </a:p>
          <a:p>
            <a:pPr algn="l" rtl="0"/>
            <a:endParaRPr lang="en-US" sz="1800" dirty="0">
              <a:solidFill>
                <a:srgbClr val="000000"/>
              </a:solidFill>
              <a:latin typeface="Calibri" pitchFamily="34" charset="0"/>
              <a:sym typeface="Calibri" pitchFamily="34" charset="0"/>
            </a:endParaRPr>
          </a:p>
          <a:p>
            <a:pPr algn="l" rtl="0">
              <a:buClr>
                <a:srgbClr val="000000"/>
              </a:buClr>
              <a:buSzPct val="25000"/>
              <a:buFont typeface="Times New Roman" pitchFamily="18" charset="0"/>
              <a:buNone/>
            </a:pPr>
            <a:r>
              <a:rPr lang="en-US" sz="1800" b="1" dirty="0">
                <a:solidFill>
                  <a:srgbClr val="000000"/>
                </a:solidFill>
                <a:cs typeface="Times New Roman" pitchFamily="18" charset="0"/>
                <a:sym typeface="Times New Roman" pitchFamily="18" charset="0"/>
              </a:rPr>
              <a:t>PRIORITY RESOLVER</a:t>
            </a:r>
          </a:p>
          <a:p>
            <a:pPr algn="l" rtl="0">
              <a:buClr>
                <a:srgbClr val="000000"/>
              </a:buClr>
              <a:buSzPct val="25000"/>
              <a:buFont typeface="Times New Roman" pitchFamily="18" charset="0"/>
              <a:buNone/>
            </a:pPr>
            <a:r>
              <a:rPr lang="en-US" sz="1800" dirty="0">
                <a:solidFill>
                  <a:srgbClr val="000000"/>
                </a:solidFill>
                <a:cs typeface="Times New Roman" pitchFamily="18" charset="0"/>
                <a:sym typeface="Times New Roman" pitchFamily="18" charset="0"/>
              </a:rPr>
              <a:t>	This logic block determines the priorities of the bits set in the IRR. The highest priority is selected and </a:t>
            </a:r>
            <a:r>
              <a:rPr lang="en-US" sz="1800" dirty="0" err="1">
                <a:solidFill>
                  <a:srgbClr val="000000"/>
                </a:solidFill>
                <a:cs typeface="Times New Roman" pitchFamily="18" charset="0"/>
                <a:sym typeface="Times New Roman" pitchFamily="18" charset="0"/>
              </a:rPr>
              <a:t>stroed</a:t>
            </a:r>
            <a:r>
              <a:rPr lang="en-US" sz="1800" dirty="0">
                <a:solidFill>
                  <a:srgbClr val="000000"/>
                </a:solidFill>
                <a:cs typeface="Times New Roman" pitchFamily="18" charset="0"/>
                <a:sym typeface="Times New Roman" pitchFamily="18" charset="0"/>
              </a:rPr>
              <a:t> into the corresponding bit of the ISR during INTA pulse.</a:t>
            </a:r>
          </a:p>
          <a:p>
            <a:pPr algn="l" rtl="0"/>
            <a:endParaRPr lang="en-US" sz="1800" dirty="0">
              <a:solidFill>
                <a:srgbClr val="000000"/>
              </a:solidFill>
              <a:latin typeface="Calibri" pitchFamily="34" charset="0"/>
              <a:sym typeface="Calibri" pitchFamily="34" charset="0"/>
            </a:endParaRPr>
          </a:p>
          <a:p>
            <a:pPr algn="l" rtl="0">
              <a:buClr>
                <a:srgbClr val="000000"/>
              </a:buClr>
              <a:buSzPct val="25000"/>
              <a:buFont typeface="Times New Roman" pitchFamily="18" charset="0"/>
              <a:buNone/>
            </a:pPr>
            <a:r>
              <a:rPr lang="en-US" sz="1800" b="1" dirty="0">
                <a:solidFill>
                  <a:srgbClr val="000000"/>
                </a:solidFill>
                <a:cs typeface="Times New Roman" pitchFamily="18" charset="0"/>
                <a:sym typeface="Times New Roman" pitchFamily="18" charset="0"/>
              </a:rPr>
              <a:t>INTERRUPT MASK REGISTER (IMR</a:t>
            </a:r>
          </a:p>
          <a:p>
            <a:pPr algn="l" rtl="0">
              <a:buClr>
                <a:srgbClr val="000000"/>
              </a:buClr>
              <a:buSzPct val="25000"/>
              <a:buFont typeface="Times New Roman" pitchFamily="18" charset="0"/>
              <a:buNone/>
            </a:pPr>
            <a:r>
              <a:rPr lang="en-US" sz="1800" dirty="0">
                <a:solidFill>
                  <a:srgbClr val="000000"/>
                </a:solidFill>
                <a:cs typeface="Times New Roman" pitchFamily="18" charset="0"/>
                <a:sym typeface="Times New Roman" pitchFamily="18" charset="0"/>
              </a:rPr>
              <a:t>	The IMR stores the bits which mask the interrupt lines to be masked. The IMR operates on the IRR. Masking of a higher priority input will not affect the interrupt request lines of lower quality.</a:t>
            </a:r>
          </a:p>
          <a:p>
            <a:pPr algn="l" rtl="0"/>
            <a:endParaRPr lang="en-US" sz="1800" dirty="0">
              <a:solidFill>
                <a:srgbClr val="000000"/>
              </a:solidFill>
              <a:latin typeface="Calibri" pitchFamily="34" charset="0"/>
              <a:sym typeface="Calibri" pitchFamily="34" charset="0"/>
            </a:endParaRPr>
          </a:p>
          <a:p>
            <a:pPr algn="l" rtl="0">
              <a:buClr>
                <a:srgbClr val="000000"/>
              </a:buClr>
              <a:buSzPct val="25000"/>
              <a:buFont typeface="Times New Roman" pitchFamily="18" charset="0"/>
              <a:buNone/>
            </a:pPr>
            <a:r>
              <a:rPr lang="en-US" sz="1800" b="1" dirty="0">
                <a:solidFill>
                  <a:srgbClr val="000000"/>
                </a:solidFill>
                <a:cs typeface="Times New Roman" pitchFamily="18" charset="0"/>
                <a:sym typeface="Times New Roman" pitchFamily="18" charset="0"/>
              </a:rPr>
              <a:t>INT (INTERRUPT)</a:t>
            </a:r>
          </a:p>
          <a:p>
            <a:pPr algn="l" rtl="0">
              <a:buClr>
                <a:srgbClr val="000000"/>
              </a:buClr>
              <a:buSzPct val="25000"/>
              <a:buFont typeface="Times New Roman" pitchFamily="18" charset="0"/>
              <a:buNone/>
            </a:pPr>
            <a:r>
              <a:rPr lang="en-US" sz="1800" dirty="0">
                <a:solidFill>
                  <a:srgbClr val="000000"/>
                </a:solidFill>
                <a:cs typeface="Times New Roman" pitchFamily="18" charset="0"/>
                <a:sym typeface="Times New Roman" pitchFamily="18" charset="0"/>
              </a:rPr>
              <a:t>	This output goes directly to the CPU interrupt input. The V level on this line is designed to be fully compatible with the 8080A, 8085A and 8086 input</a:t>
            </a:r>
          </a:p>
          <a:p>
            <a:pPr algn="l" rtl="0">
              <a:buClr>
                <a:srgbClr val="000000"/>
              </a:buClr>
              <a:buSzPct val="25000"/>
              <a:buFont typeface="Times New Roman" pitchFamily="18" charset="0"/>
              <a:buNone/>
            </a:pPr>
            <a:r>
              <a:rPr lang="en-US" sz="1800" dirty="0">
                <a:solidFill>
                  <a:srgbClr val="000000"/>
                </a:solidFill>
                <a:cs typeface="Times New Roman" pitchFamily="18" charset="0"/>
                <a:sym typeface="Times New Roman" pitchFamily="18" charset="0"/>
              </a:rPr>
              <a:t>levels.</a:t>
            </a:r>
          </a:p>
        </p:txBody>
      </p:sp>
      <p:sp>
        <p:nvSpPr>
          <p:cNvPr id="57347" name="Shape 553"/>
          <p:cNvSpPr txBox="1">
            <a:spLocks noChangeArrowheads="1"/>
          </p:cNvSpPr>
          <p:nvPr/>
        </p:nvSpPr>
        <p:spPr bwMode="auto">
          <a:xfrm>
            <a:off x="0" y="0"/>
            <a:ext cx="9144000" cy="954088"/>
          </a:xfrm>
          <a:prstGeom prst="rect">
            <a:avLst/>
          </a:prstGeom>
          <a:noFill/>
          <a:ln w="9525">
            <a:noFill/>
            <a:miter lim="800000"/>
            <a:headEnd/>
            <a:tailEnd/>
          </a:ln>
        </p:spPr>
        <p:txBody>
          <a:bodyPr lIns="91425" tIns="45700" rIns="91425" bIns="45700"/>
          <a:lstStyle/>
          <a:p>
            <a:pPr algn="ctr" rtl="0">
              <a:buClr>
                <a:srgbClr val="000000"/>
              </a:buClr>
              <a:buSzPct val="25000"/>
              <a:buFont typeface="Times New Roman" pitchFamily="18" charset="0"/>
              <a:buNone/>
            </a:pPr>
            <a:endParaRPr lang="en-US" sz="2800" dirty="0" smtClean="0">
              <a:solidFill>
                <a:srgbClr val="FF0000"/>
              </a:solidFill>
              <a:cs typeface="Times New Roman" pitchFamily="18" charset="0"/>
              <a:sym typeface="Times New Roman" pitchFamily="18" charset="0"/>
            </a:endParaRPr>
          </a:p>
          <a:p>
            <a:pPr algn="ctr" rtl="0">
              <a:buClr>
                <a:srgbClr val="000000"/>
              </a:buClr>
              <a:buSzPct val="25000"/>
              <a:buFont typeface="Times New Roman" pitchFamily="18" charset="0"/>
              <a:buNone/>
            </a:pPr>
            <a:endParaRPr lang="en-US" sz="2800" dirty="0" smtClean="0">
              <a:solidFill>
                <a:srgbClr val="FF0000"/>
              </a:solidFill>
              <a:cs typeface="Times New Roman" pitchFamily="18" charset="0"/>
              <a:sym typeface="Times New Roman" pitchFamily="18" charset="0"/>
            </a:endParaRPr>
          </a:p>
          <a:p>
            <a:pPr algn="ctr" rtl="0">
              <a:buClr>
                <a:srgbClr val="000000"/>
              </a:buClr>
              <a:buSzPct val="25000"/>
              <a:buFont typeface="Times New Roman" pitchFamily="18" charset="0"/>
              <a:buNone/>
            </a:pPr>
            <a:r>
              <a:rPr lang="en-US" sz="2800" dirty="0" smtClean="0">
                <a:solidFill>
                  <a:srgbClr val="FF0000"/>
                </a:solidFill>
                <a:cs typeface="Times New Roman" pitchFamily="18" charset="0"/>
                <a:sym typeface="Times New Roman" pitchFamily="18" charset="0"/>
              </a:rPr>
              <a:t>INTERRUPT </a:t>
            </a:r>
            <a:r>
              <a:rPr lang="en-US" sz="2800" dirty="0">
                <a:solidFill>
                  <a:srgbClr val="FF0000"/>
                </a:solidFill>
                <a:cs typeface="Times New Roman" pitchFamily="18" charset="0"/>
                <a:sym typeface="Times New Roman" pitchFamily="18" charset="0"/>
              </a:rPr>
              <a:t>REQUEST REGISTER (IRR) AND </a:t>
            </a:r>
          </a:p>
          <a:p>
            <a:pPr algn="ctr" rtl="0">
              <a:buClr>
                <a:srgbClr val="000000"/>
              </a:buClr>
              <a:buSzPct val="25000"/>
              <a:buFont typeface="Times New Roman" pitchFamily="18" charset="0"/>
              <a:buNone/>
            </a:pPr>
            <a:r>
              <a:rPr lang="en-US" sz="2800" dirty="0">
                <a:solidFill>
                  <a:srgbClr val="FF0000"/>
                </a:solidFill>
                <a:cs typeface="Times New Roman" pitchFamily="18" charset="0"/>
                <a:sym typeface="Times New Roman" pitchFamily="18" charset="0"/>
              </a:rPr>
              <a:t>IN-SERVICE REGISTER (ISR)</a:t>
            </a:r>
          </a:p>
        </p:txBody>
      </p:sp>
      <p:pic>
        <p:nvPicPr>
          <p:cNvPr id="4" name="Content Placeholder 4"/>
          <p:cNvPicPr>
            <a:picLocks/>
          </p:cNvPicPr>
          <p:nvPr/>
        </p:nvPicPr>
        <p:blipFill>
          <a:blip r:embed="rId3"/>
          <a:srcRect/>
          <a:stretch>
            <a:fillRect/>
          </a:stretch>
        </p:blipFill>
        <p:spPr>
          <a:xfrm>
            <a:off x="0" y="0"/>
            <a:ext cx="9144000" cy="838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hape 558"/>
          <p:cNvSpPr>
            <a:spLocks noGrp="1"/>
          </p:cNvSpPr>
          <p:nvPr>
            <p:ph type="body" idx="1"/>
          </p:nvPr>
        </p:nvSpPr>
        <p:spPr>
          <a:xfrm>
            <a:off x="0" y="0"/>
            <a:ext cx="8991600" cy="6858000"/>
          </a:xfrm>
        </p:spPr>
        <p:txBody>
          <a:bodyPr tIns="45700" bIns="45700">
            <a:normAutofit lnSpcReduction="10000"/>
          </a:bodyPr>
          <a:lstStyle/>
          <a:p>
            <a:pPr marL="0" indent="0" eaLnBrk="1" hangingPunct="1">
              <a:spcBef>
                <a:spcPct val="0"/>
              </a:spcBef>
              <a:spcAft>
                <a:spcPct val="0"/>
              </a:spcAft>
              <a:buClr>
                <a:srgbClr val="000000"/>
              </a:buClr>
              <a:buSzPct val="25000"/>
              <a:buFont typeface="Times New Roman" pitchFamily="18" charset="0"/>
              <a:buNone/>
            </a:pPr>
            <a:endParaRPr lang="en-US" sz="1600" b="1" dirty="0" smtClean="0">
              <a:solidFill>
                <a:srgbClr val="000000"/>
              </a:solidFill>
              <a:latin typeface="Times New Roman" pitchFamily="18" charset="0"/>
              <a:ea typeface="Calibri" pitchFamily="34" charset="0"/>
              <a:cs typeface="Times New Roman" pitchFamily="18" charset="0"/>
              <a:sym typeface="Times New Roman" pitchFamily="18" charset="0"/>
            </a:endParaRPr>
          </a:p>
          <a:p>
            <a:pPr marL="0" indent="0" eaLnBrk="1" hangingPunct="1">
              <a:spcBef>
                <a:spcPct val="0"/>
              </a:spcBef>
              <a:spcAft>
                <a:spcPct val="0"/>
              </a:spcAft>
              <a:buClr>
                <a:srgbClr val="000000"/>
              </a:buClr>
              <a:buSzPct val="25000"/>
              <a:buFont typeface="Times New Roman" pitchFamily="18" charset="0"/>
              <a:buNone/>
            </a:pPr>
            <a:endParaRPr lang="en-US" sz="1600" b="1" dirty="0" smtClean="0">
              <a:solidFill>
                <a:srgbClr val="000000"/>
              </a:solidFill>
              <a:latin typeface="Times New Roman" pitchFamily="18" charset="0"/>
              <a:ea typeface="Calibri" pitchFamily="34" charset="0"/>
              <a:cs typeface="Times New Roman" pitchFamily="18" charset="0"/>
              <a:sym typeface="Times New Roman" pitchFamily="18" charset="0"/>
            </a:endParaRPr>
          </a:p>
          <a:p>
            <a:pPr marL="0" indent="0" eaLnBrk="1" hangingPunct="1">
              <a:spcBef>
                <a:spcPct val="0"/>
              </a:spcBef>
              <a:spcAft>
                <a:spcPct val="0"/>
              </a:spcAft>
              <a:buClr>
                <a:srgbClr val="000000"/>
              </a:buClr>
              <a:buSzPct val="25000"/>
              <a:buFont typeface="Times New Roman" pitchFamily="18" charset="0"/>
              <a:buNone/>
            </a:pPr>
            <a:endParaRPr lang="en-US" sz="1600" b="1" dirty="0" smtClean="0">
              <a:solidFill>
                <a:srgbClr val="000000"/>
              </a:solidFill>
              <a:latin typeface="Times New Roman" pitchFamily="18" charset="0"/>
              <a:ea typeface="Calibri" pitchFamily="34" charset="0"/>
              <a:cs typeface="Times New Roman" pitchFamily="18" charset="0"/>
              <a:sym typeface="Times New Roman" pitchFamily="18" charset="0"/>
            </a:endParaRPr>
          </a:p>
          <a:p>
            <a:pPr marL="0" indent="0" eaLnBrk="1" hangingPunct="1">
              <a:spcBef>
                <a:spcPct val="0"/>
              </a:spcBef>
              <a:spcAft>
                <a:spcPct val="0"/>
              </a:spcAft>
              <a:buClr>
                <a:srgbClr val="000000"/>
              </a:buClr>
              <a:buSzPct val="25000"/>
              <a:buFont typeface="Times New Roman" pitchFamily="18" charset="0"/>
              <a:buNone/>
            </a:pPr>
            <a:endParaRPr lang="en-US" sz="1600" b="1" dirty="0" smtClean="0">
              <a:solidFill>
                <a:srgbClr val="000000"/>
              </a:solidFill>
              <a:latin typeface="Times New Roman" pitchFamily="18" charset="0"/>
              <a:ea typeface="Calibri" pitchFamily="34" charset="0"/>
              <a:cs typeface="Times New Roman" pitchFamily="18" charset="0"/>
              <a:sym typeface="Times New Roman" pitchFamily="18" charset="0"/>
            </a:endParaRPr>
          </a:p>
          <a:p>
            <a:pPr marL="0" indent="0" eaLnBrk="1" hangingPunct="1">
              <a:spcBef>
                <a:spcPct val="0"/>
              </a:spcBef>
              <a:spcAft>
                <a:spcPct val="0"/>
              </a:spcAft>
              <a:buClr>
                <a:srgbClr val="000000"/>
              </a:buClr>
              <a:buSzPct val="25000"/>
              <a:buFont typeface="Times New Roman" pitchFamily="18" charset="0"/>
              <a:buNone/>
            </a:pPr>
            <a:r>
              <a:rPr lang="en-US" sz="1600" b="1" dirty="0" smtClean="0">
                <a:solidFill>
                  <a:srgbClr val="000000"/>
                </a:solidFill>
                <a:latin typeface="Times New Roman" pitchFamily="18" charset="0"/>
                <a:ea typeface="Calibri" pitchFamily="34" charset="0"/>
                <a:cs typeface="Times New Roman" pitchFamily="18" charset="0"/>
                <a:sym typeface="Times New Roman" pitchFamily="18" charset="0"/>
              </a:rPr>
              <a:t>INTA (INTERRUPT ACKNOWLEDGE)</a:t>
            </a:r>
          </a:p>
          <a:p>
            <a:pPr marL="0" indent="0" eaLnBrk="1" hangingPunct="1">
              <a:spcBef>
                <a:spcPct val="0"/>
              </a:spcBef>
              <a:spcAft>
                <a:spcPct val="0"/>
              </a:spcAft>
              <a:buClr>
                <a:srgbClr val="000000"/>
              </a:buClr>
              <a:buSzPct val="25000"/>
              <a:buFont typeface="Times New Roman" pitchFamily="18" charset="0"/>
              <a:buNone/>
            </a:pPr>
            <a:r>
              <a:rPr lang="en-US" sz="1600" dirty="0" smtClean="0">
                <a:solidFill>
                  <a:srgbClr val="000000"/>
                </a:solidFill>
                <a:latin typeface="Times New Roman" pitchFamily="18" charset="0"/>
                <a:ea typeface="Calibri" pitchFamily="34" charset="0"/>
                <a:cs typeface="Times New Roman" pitchFamily="18" charset="0"/>
                <a:sym typeface="Times New Roman" pitchFamily="18" charset="0"/>
              </a:rPr>
              <a:t>        INTA pulses will cause the 8259A to release vectoring information onto the data bus. The format of this data depends on the system mode (</a:t>
            </a:r>
            <a:r>
              <a:rPr lang="en-US" sz="1600" dirty="0" err="1" smtClean="0">
                <a:solidFill>
                  <a:srgbClr val="000000"/>
                </a:solidFill>
                <a:latin typeface="Times New Roman" pitchFamily="18" charset="0"/>
                <a:ea typeface="Calibri" pitchFamily="34" charset="0"/>
                <a:cs typeface="Times New Roman" pitchFamily="18" charset="0"/>
                <a:sym typeface="Times New Roman" pitchFamily="18" charset="0"/>
              </a:rPr>
              <a:t>mPM</a:t>
            </a:r>
            <a:r>
              <a:rPr lang="en-US" sz="1600" dirty="0" smtClean="0">
                <a:solidFill>
                  <a:srgbClr val="000000"/>
                </a:solidFill>
                <a:latin typeface="Times New Roman" pitchFamily="18" charset="0"/>
                <a:ea typeface="Calibri" pitchFamily="34" charset="0"/>
                <a:cs typeface="Times New Roman" pitchFamily="18" charset="0"/>
                <a:sym typeface="Times New Roman" pitchFamily="18" charset="0"/>
              </a:rPr>
              <a:t>) of the 8259A.</a:t>
            </a:r>
          </a:p>
          <a:p>
            <a:pPr marL="0" indent="0" eaLnBrk="1" hangingPunct="1">
              <a:spcBef>
                <a:spcPct val="0"/>
              </a:spcBef>
              <a:spcAft>
                <a:spcPct val="0"/>
              </a:spcAft>
              <a:buClr>
                <a:srgbClr val="000000"/>
              </a:buClr>
              <a:buSzPct val="25000"/>
              <a:buFont typeface="Times New Roman" pitchFamily="18" charset="0"/>
              <a:buNone/>
            </a:pPr>
            <a:r>
              <a:rPr lang="en-US" sz="1600" b="1" dirty="0" smtClean="0">
                <a:solidFill>
                  <a:srgbClr val="000000"/>
                </a:solidFill>
                <a:latin typeface="Times New Roman" pitchFamily="18" charset="0"/>
                <a:ea typeface="Calibri" pitchFamily="34" charset="0"/>
                <a:cs typeface="Times New Roman" pitchFamily="18" charset="0"/>
                <a:sym typeface="Times New Roman" pitchFamily="18" charset="0"/>
              </a:rPr>
              <a:t>DATA BUS BUFFER</a:t>
            </a:r>
          </a:p>
          <a:p>
            <a:pPr marL="0" indent="0" eaLnBrk="1" hangingPunct="1">
              <a:spcBef>
                <a:spcPct val="0"/>
              </a:spcBef>
              <a:spcAft>
                <a:spcPct val="0"/>
              </a:spcAft>
              <a:buClr>
                <a:srgbClr val="000000"/>
              </a:buClr>
              <a:buSzPct val="25000"/>
              <a:buFont typeface="Times New Roman" pitchFamily="18" charset="0"/>
              <a:buNone/>
            </a:pPr>
            <a:r>
              <a:rPr lang="en-US" sz="1600" dirty="0" smtClean="0">
                <a:solidFill>
                  <a:srgbClr val="000000"/>
                </a:solidFill>
                <a:latin typeface="Times New Roman" pitchFamily="18" charset="0"/>
                <a:ea typeface="Calibri" pitchFamily="34" charset="0"/>
                <a:cs typeface="Times New Roman" pitchFamily="18" charset="0"/>
                <a:sym typeface="Times New Roman" pitchFamily="18" charset="0"/>
              </a:rPr>
              <a:t>	This 3-state, bidirectional 8-bit buffer is used to interface the 8259A to the system Data Bus. Control words and status information are transferred through the Data Bus Buffer.</a:t>
            </a:r>
          </a:p>
          <a:p>
            <a:pPr marL="0" indent="0" eaLnBrk="1" hangingPunct="1">
              <a:spcBef>
                <a:spcPct val="0"/>
              </a:spcBef>
              <a:spcAft>
                <a:spcPct val="0"/>
              </a:spcAft>
              <a:buClr>
                <a:srgbClr val="000000"/>
              </a:buClr>
              <a:buSzPct val="25000"/>
              <a:buFont typeface="Times New Roman" pitchFamily="18" charset="0"/>
              <a:buNone/>
            </a:pPr>
            <a:r>
              <a:rPr lang="en-US" sz="1600" b="1" dirty="0" smtClean="0">
                <a:solidFill>
                  <a:srgbClr val="000000"/>
                </a:solidFill>
                <a:latin typeface="Times New Roman" pitchFamily="18" charset="0"/>
                <a:ea typeface="Calibri" pitchFamily="34" charset="0"/>
                <a:cs typeface="Times New Roman" pitchFamily="18" charset="0"/>
                <a:sym typeface="Times New Roman" pitchFamily="18" charset="0"/>
              </a:rPr>
              <a:t>READ/WRITE CONTROL LOGIC</a:t>
            </a:r>
          </a:p>
          <a:p>
            <a:pPr marL="0" indent="0" eaLnBrk="1" hangingPunct="1">
              <a:spcBef>
                <a:spcPct val="0"/>
              </a:spcBef>
              <a:spcAft>
                <a:spcPct val="0"/>
              </a:spcAft>
              <a:buClr>
                <a:srgbClr val="000000"/>
              </a:buClr>
              <a:buSzPct val="25000"/>
              <a:buFont typeface="Times New Roman" pitchFamily="18" charset="0"/>
              <a:buNone/>
            </a:pPr>
            <a:r>
              <a:rPr lang="en-US" sz="1600" dirty="0" smtClean="0">
                <a:solidFill>
                  <a:srgbClr val="000000"/>
                </a:solidFill>
                <a:latin typeface="Times New Roman" pitchFamily="18" charset="0"/>
                <a:ea typeface="Calibri" pitchFamily="34" charset="0"/>
                <a:cs typeface="Times New Roman" pitchFamily="18" charset="0"/>
                <a:sym typeface="Times New Roman" pitchFamily="18" charset="0"/>
              </a:rPr>
              <a:t>	The function of this block is to accept Output commands from the CPU. It contains the Initialization Command Word (ICW) registers and Operation Command Word (OCW) registers which store the various control formats for device operation. This function block also allows the status of the 8259A to be transferred onto the Data Bus.</a:t>
            </a:r>
          </a:p>
          <a:p>
            <a:pPr marL="0" indent="0" eaLnBrk="1" hangingPunct="1">
              <a:spcBef>
                <a:spcPct val="0"/>
              </a:spcBef>
              <a:spcAft>
                <a:spcPct val="0"/>
              </a:spcAft>
              <a:buClr>
                <a:srgbClr val="000000"/>
              </a:buClr>
              <a:buSzPct val="25000"/>
              <a:buFont typeface="Times New Roman" pitchFamily="18" charset="0"/>
              <a:buNone/>
            </a:pPr>
            <a:r>
              <a:rPr lang="en-US" sz="1600" b="1" dirty="0" smtClean="0">
                <a:solidFill>
                  <a:srgbClr val="000000"/>
                </a:solidFill>
                <a:latin typeface="Times New Roman" pitchFamily="18" charset="0"/>
                <a:ea typeface="Calibri" pitchFamily="34" charset="0"/>
                <a:cs typeface="Times New Roman" pitchFamily="18" charset="0"/>
                <a:sym typeface="Times New Roman" pitchFamily="18" charset="0"/>
              </a:rPr>
              <a:t>CS (CHIP SELECT)</a:t>
            </a:r>
          </a:p>
          <a:p>
            <a:pPr marL="0" indent="0" eaLnBrk="1" hangingPunct="1">
              <a:spcBef>
                <a:spcPct val="0"/>
              </a:spcBef>
              <a:spcAft>
                <a:spcPct val="0"/>
              </a:spcAft>
              <a:buClr>
                <a:srgbClr val="000000"/>
              </a:buClr>
              <a:buSzPct val="25000"/>
              <a:buFont typeface="Times New Roman" pitchFamily="18" charset="0"/>
              <a:buNone/>
            </a:pPr>
            <a:r>
              <a:rPr lang="en-US" sz="1600" dirty="0" smtClean="0">
                <a:solidFill>
                  <a:srgbClr val="000000"/>
                </a:solidFill>
                <a:latin typeface="Times New Roman" pitchFamily="18" charset="0"/>
                <a:ea typeface="Calibri" pitchFamily="34" charset="0"/>
                <a:cs typeface="Times New Roman" pitchFamily="18" charset="0"/>
                <a:sym typeface="Times New Roman" pitchFamily="18" charset="0"/>
              </a:rPr>
              <a:t>	A LOW on this input enables the 8259A. No reading or writing of the chip will occur unless the device is selected.</a:t>
            </a:r>
          </a:p>
          <a:p>
            <a:pPr marL="0" indent="0" eaLnBrk="1" hangingPunct="1">
              <a:spcBef>
                <a:spcPct val="0"/>
              </a:spcBef>
              <a:spcAft>
                <a:spcPct val="0"/>
              </a:spcAft>
              <a:buClr>
                <a:srgbClr val="000000"/>
              </a:buClr>
              <a:buSzPct val="25000"/>
              <a:buFont typeface="Times New Roman" pitchFamily="18" charset="0"/>
              <a:buNone/>
            </a:pPr>
            <a:r>
              <a:rPr lang="en-US" sz="1600" b="1" dirty="0" smtClean="0">
                <a:solidFill>
                  <a:srgbClr val="000000"/>
                </a:solidFill>
                <a:latin typeface="Times New Roman" pitchFamily="18" charset="0"/>
                <a:ea typeface="Calibri" pitchFamily="34" charset="0"/>
                <a:cs typeface="Times New Roman" pitchFamily="18" charset="0"/>
                <a:sym typeface="Times New Roman" pitchFamily="18" charset="0"/>
              </a:rPr>
              <a:t>WR (WRITE)</a:t>
            </a:r>
          </a:p>
          <a:p>
            <a:pPr marL="0" indent="0" eaLnBrk="1" hangingPunct="1">
              <a:spcBef>
                <a:spcPct val="0"/>
              </a:spcBef>
              <a:spcAft>
                <a:spcPct val="0"/>
              </a:spcAft>
              <a:buClr>
                <a:srgbClr val="000000"/>
              </a:buClr>
              <a:buSzPct val="25000"/>
              <a:buFont typeface="Times New Roman" pitchFamily="18" charset="0"/>
              <a:buNone/>
            </a:pPr>
            <a:r>
              <a:rPr lang="en-US" sz="1600" dirty="0" smtClean="0">
                <a:solidFill>
                  <a:srgbClr val="000000"/>
                </a:solidFill>
                <a:latin typeface="Times New Roman" pitchFamily="18" charset="0"/>
                <a:ea typeface="Calibri" pitchFamily="34" charset="0"/>
                <a:cs typeface="Times New Roman" pitchFamily="18" charset="0"/>
                <a:sym typeface="Times New Roman" pitchFamily="18" charset="0"/>
              </a:rPr>
              <a:t>	A LOW on this input enables the CPU to write control words (ICWs and OCWs) to the 8259A.</a:t>
            </a:r>
          </a:p>
          <a:p>
            <a:pPr marL="0" indent="0" eaLnBrk="1" hangingPunct="1">
              <a:spcBef>
                <a:spcPct val="0"/>
              </a:spcBef>
              <a:spcAft>
                <a:spcPct val="0"/>
              </a:spcAft>
              <a:buClr>
                <a:srgbClr val="000000"/>
              </a:buClr>
              <a:buSzPct val="25000"/>
              <a:buFont typeface="Times New Roman" pitchFamily="18" charset="0"/>
              <a:buNone/>
            </a:pPr>
            <a:r>
              <a:rPr lang="en-US" sz="1600" b="1" dirty="0" smtClean="0">
                <a:solidFill>
                  <a:srgbClr val="000000"/>
                </a:solidFill>
                <a:latin typeface="Times New Roman" pitchFamily="18" charset="0"/>
                <a:ea typeface="Calibri" pitchFamily="34" charset="0"/>
                <a:cs typeface="Times New Roman" pitchFamily="18" charset="0"/>
                <a:sym typeface="Times New Roman" pitchFamily="18" charset="0"/>
              </a:rPr>
              <a:t>RD (READ)</a:t>
            </a:r>
          </a:p>
          <a:p>
            <a:pPr marL="0" indent="0" eaLnBrk="1" hangingPunct="1">
              <a:spcBef>
                <a:spcPct val="0"/>
              </a:spcBef>
              <a:spcAft>
                <a:spcPct val="0"/>
              </a:spcAft>
              <a:buClr>
                <a:srgbClr val="000000"/>
              </a:buClr>
              <a:buSzPct val="25000"/>
              <a:buFont typeface="Times New Roman" pitchFamily="18" charset="0"/>
              <a:buNone/>
            </a:pPr>
            <a:r>
              <a:rPr lang="en-US" sz="1600" dirty="0" smtClean="0">
                <a:solidFill>
                  <a:srgbClr val="000000"/>
                </a:solidFill>
                <a:latin typeface="Times New Roman" pitchFamily="18" charset="0"/>
                <a:ea typeface="Calibri" pitchFamily="34" charset="0"/>
                <a:cs typeface="Times New Roman" pitchFamily="18" charset="0"/>
                <a:sym typeface="Times New Roman" pitchFamily="18" charset="0"/>
              </a:rPr>
              <a:t>	A LOW on this input enables the 8259A to send the status of the Interrupt Request Register (IRR), In Service Register (ISR), the Interrupt Mask Register (IMR), or the Interrupt level onto the Data Bus.</a:t>
            </a:r>
          </a:p>
          <a:p>
            <a:pPr marL="0" indent="0" eaLnBrk="1" hangingPunct="1">
              <a:spcBef>
                <a:spcPct val="0"/>
              </a:spcBef>
              <a:spcAft>
                <a:spcPct val="0"/>
              </a:spcAft>
              <a:buClr>
                <a:srgbClr val="000000"/>
              </a:buClr>
              <a:buSzPct val="25000"/>
              <a:buFont typeface="Times New Roman" pitchFamily="18" charset="0"/>
              <a:buNone/>
            </a:pPr>
            <a:r>
              <a:rPr lang="en-US" sz="1600" b="1" dirty="0" smtClean="0">
                <a:solidFill>
                  <a:srgbClr val="000000"/>
                </a:solidFill>
                <a:latin typeface="Times New Roman" pitchFamily="18" charset="0"/>
                <a:ea typeface="Calibri" pitchFamily="34" charset="0"/>
                <a:cs typeface="Times New Roman" pitchFamily="18" charset="0"/>
                <a:sym typeface="Times New Roman" pitchFamily="18" charset="0"/>
              </a:rPr>
              <a:t>A0</a:t>
            </a:r>
          </a:p>
          <a:p>
            <a:pPr marL="0" indent="0" eaLnBrk="1" hangingPunct="1">
              <a:spcBef>
                <a:spcPct val="0"/>
              </a:spcBef>
              <a:spcAft>
                <a:spcPct val="0"/>
              </a:spcAft>
              <a:buClr>
                <a:srgbClr val="000000"/>
              </a:buClr>
              <a:buSzPct val="25000"/>
              <a:buFont typeface="Times New Roman" pitchFamily="18" charset="0"/>
              <a:buNone/>
            </a:pPr>
            <a:r>
              <a:rPr lang="en-US" sz="1600" dirty="0" smtClean="0">
                <a:solidFill>
                  <a:srgbClr val="000000"/>
                </a:solidFill>
                <a:latin typeface="Times New Roman" pitchFamily="18" charset="0"/>
                <a:ea typeface="Calibri" pitchFamily="34" charset="0"/>
                <a:cs typeface="Times New Roman" pitchFamily="18" charset="0"/>
                <a:sym typeface="Times New Roman" pitchFamily="18" charset="0"/>
              </a:rPr>
              <a:t>	This input signal is used in conjunction with WR and RD signals to write commands into the various command registers, as well as reading the various status registers of the chip. This line can be tied directly to one of the address lines</a:t>
            </a:r>
          </a:p>
          <a:p>
            <a:pPr marL="0" indent="0" eaLnBrk="1" hangingPunct="1">
              <a:spcBef>
                <a:spcPct val="0"/>
              </a:spcBef>
              <a:spcAft>
                <a:spcPct val="0"/>
              </a:spcAft>
              <a:buClr>
                <a:srgbClr val="000000"/>
              </a:buClr>
              <a:buSzPct val="25000"/>
              <a:buFont typeface="Times New Roman" pitchFamily="18" charset="0"/>
              <a:buNone/>
            </a:pPr>
            <a:r>
              <a:rPr lang="en-US" sz="1600" dirty="0" smtClean="0">
                <a:solidFill>
                  <a:srgbClr val="000000"/>
                </a:solidFill>
                <a:latin typeface="Times New Roman" pitchFamily="18" charset="0"/>
                <a:ea typeface="Calibri" pitchFamily="34" charset="0"/>
                <a:cs typeface="Times New Roman" pitchFamily="18" charset="0"/>
                <a:sym typeface="Times New Roman" pitchFamily="18" charset="0"/>
              </a:rPr>
              <a:t>.</a:t>
            </a:r>
          </a:p>
        </p:txBody>
      </p:sp>
      <p:pic>
        <p:nvPicPr>
          <p:cNvPr id="58371" name="Picture 4" descr="E:\ABC.jpg"/>
          <p:cNvPicPr>
            <a:picLocks noChangeAspect="1" noChangeArrowheads="1"/>
          </p:cNvPicPr>
          <p:nvPr/>
        </p:nvPicPr>
        <p:blipFill>
          <a:blip r:embed="rId3"/>
          <a:srcRect/>
          <a:stretch>
            <a:fillRect/>
          </a:stretch>
        </p:blipFill>
        <p:spPr bwMode="auto">
          <a:xfrm>
            <a:off x="3429000" y="6477000"/>
            <a:ext cx="5580063" cy="381000"/>
          </a:xfrm>
          <a:prstGeom prst="rect">
            <a:avLst/>
          </a:prstGeom>
          <a:noFill/>
          <a:ln w="9525">
            <a:noFill/>
            <a:miter lim="800000"/>
            <a:headEnd/>
            <a:tailEnd/>
          </a:ln>
        </p:spPr>
      </p:pic>
      <p:pic>
        <p:nvPicPr>
          <p:cNvPr id="5" name="Content Placeholder 4"/>
          <p:cNvPicPr>
            <a:picLocks/>
          </p:cNvPicPr>
          <p:nvPr/>
        </p:nvPicPr>
        <p:blipFill>
          <a:blip r:embed="rId4"/>
          <a:srcRect/>
          <a:stretch>
            <a:fillRect/>
          </a:stretch>
        </p:blipFill>
        <p:spPr>
          <a:xfrm>
            <a:off x="0" y="0"/>
            <a:ext cx="9144000" cy="8382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239</Words>
  <Application>Microsoft Office PowerPoint</Application>
  <PresentationFormat>On-screen Show (4:3)</PresentationFormat>
  <Paragraphs>81</Paragraphs>
  <Slides>9</Slides>
  <Notes>9</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1" baseType="lpstr">
      <vt:lpstr>Office Theme</vt:lpstr>
      <vt:lpstr>Equation</vt:lpstr>
      <vt:lpstr>Slide 1</vt:lpstr>
      <vt:lpstr> TOPIC COVERED</vt:lpstr>
      <vt:lpstr>  BASICS AND FEATURES OF 8259 </vt:lpstr>
      <vt:lpstr>Slide 4</vt:lpstr>
      <vt:lpstr>Slide 5</vt:lpstr>
      <vt:lpstr>  WORKING OF 8259 (PIC) </vt:lpstr>
      <vt:lpstr>  WORKING OF 8259 (PIC) Contd… </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arya</cp:lastModifiedBy>
  <cp:revision>22</cp:revision>
  <dcterms:created xsi:type="dcterms:W3CDTF">2006-08-16T00:00:00Z</dcterms:created>
  <dcterms:modified xsi:type="dcterms:W3CDTF">2024-05-02T05:10:24Z</dcterms:modified>
</cp:coreProperties>
</file>