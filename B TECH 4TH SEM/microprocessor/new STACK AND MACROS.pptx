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0" r:id="rId2"/>
    <p:sldId id="267" r:id="rId3"/>
    <p:sldId id="261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HIIIIIIIIIIIIIIIIIIIIIIIIIIIIIIIIIIIIIIII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3E571-A4A2-48E5-A4B2-9ECA887FCDF1}" type="datetimeFigureOut">
              <a:rPr lang="en-US" smtClean="0"/>
              <a:pPr/>
              <a:t>4/16/2020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5FCCB-DD00-4231-841A-F96E0FDA358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HIIIIIIIIIIIIIIIIIIIIIIIIIIIIIIIIIIIIIIII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3D69E-2706-4795-9653-014C3A2B6B59}" type="datetimeFigureOut">
              <a:rPr lang="en-US" smtClean="0"/>
              <a:pPr/>
              <a:t>4/16/2020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6E906-C85D-4294-886D-A776EE64852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hape 522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5539" name="Shape 523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hape 527"/>
          <p:cNvSpPr>
            <a:spLocks noGrp="1"/>
          </p:cNvSpPr>
          <p:nvPr>
            <p:ph type="body" idx="1"/>
          </p:nvPr>
        </p:nvSpPr>
        <p:spPr>
          <a:xfrm>
            <a:off x="685959" y="4343481"/>
            <a:ext cx="5486083" cy="4114960"/>
          </a:xfrm>
          <a:noFill/>
          <a:ln/>
        </p:spPr>
        <p:txBody>
          <a:bodyPr lIns="91414" tIns="91414" rIns="91414" bIns="91414" anchor="ctr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3" name="Shape 528"/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HIIIIIIIIIIIIIIIIIIIIIIIIIIIIIIIIIIIIIIII</a:t>
            </a:r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hape 525"/>
          <p:cNvSpPr txBox="1">
            <a:spLocks noChangeArrowheads="1"/>
          </p:cNvSpPr>
          <p:nvPr/>
        </p:nvSpPr>
        <p:spPr bwMode="auto">
          <a:xfrm>
            <a:off x="228600" y="1192213"/>
            <a:ext cx="8763000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45700" rIns="91425" bIns="45700"/>
          <a:lstStyle/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r>
              <a:rPr lang="en-US" sz="4000" b="1" u="sng" dirty="0" smtClean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STACK AND MACROS IN 8085</a:t>
            </a: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r>
              <a:rPr lang="en-US" sz="4000" b="1" u="sng" dirty="0" smtClean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(UNIT-3)</a:t>
            </a:r>
            <a:endParaRPr lang="en-US" sz="3400" b="1" u="sng" dirty="0" smtClean="0">
              <a:solidFill>
                <a:srgbClr val="FF0000"/>
              </a:solidFill>
              <a:cs typeface="Times New Roman" pitchFamily="18" charset="0"/>
              <a:sym typeface="Times New Roman" pitchFamily="18" charset="0"/>
            </a:endParaRP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endParaRPr lang="en-US" sz="3400" b="1" u="sng" dirty="0" smtClean="0">
              <a:solidFill>
                <a:srgbClr val="FF0000"/>
              </a:solidFill>
              <a:cs typeface="Times New Roman" pitchFamily="18" charset="0"/>
              <a:sym typeface="Times New Roman" pitchFamily="18" charset="0"/>
            </a:endParaRP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r>
              <a:rPr lang="en-US" sz="3400" b="1" dirty="0" smtClean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     (SUB: Microprocessor and Interfaces)</a:t>
            </a:r>
            <a:endParaRPr lang="en-US" sz="3400" b="1" dirty="0">
              <a:solidFill>
                <a:srgbClr val="FF0000"/>
              </a:solidFill>
              <a:cs typeface="Times New Roman" pitchFamily="18" charset="0"/>
              <a:sym typeface="Times New Roman" pitchFamily="18" charset="0"/>
            </a:endParaRP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endParaRPr lang="en-US" sz="4000" b="1" dirty="0">
              <a:solidFill>
                <a:srgbClr val="FF0000"/>
              </a:solidFill>
              <a:cs typeface="Times New Roman" pitchFamily="18" charset="0"/>
              <a:sym typeface="Times New Roman" pitchFamily="18" charset="0"/>
            </a:endParaRP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r>
              <a:rPr lang="en-US" sz="3000" b="1" dirty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PREPARED BY:</a:t>
            </a: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r>
              <a:rPr lang="en-US" sz="3000" b="1" dirty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ER. MOHIT </a:t>
            </a:r>
            <a:r>
              <a:rPr lang="en-US" sz="3000" b="1" dirty="0" smtClean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MISHRA</a:t>
            </a: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r>
              <a:rPr lang="en-US" sz="3000" b="1" dirty="0" smtClean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ASSOCIATE PROFESSOR</a:t>
            </a:r>
            <a:endParaRPr lang="en-US" sz="3000" b="1" dirty="0">
              <a:solidFill>
                <a:srgbClr val="FF0000"/>
              </a:solidFill>
              <a:cs typeface="Times New Roman" pitchFamily="18" charset="0"/>
              <a:sym typeface="Times New Roman" pitchFamily="18" charset="0"/>
            </a:endParaRPr>
          </a:p>
          <a:p>
            <a:pPr algn="ctr" rtl="0">
              <a:buClr>
                <a:srgbClr val="000000"/>
              </a:buClr>
              <a:buSzPct val="25000"/>
              <a:buFont typeface="Times New Roman" pitchFamily="18" charset="0"/>
              <a:buNone/>
            </a:pPr>
            <a:r>
              <a:rPr lang="en-US" sz="3000" b="1" dirty="0" smtClean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COMPUTER SCIENCE DEPARTMENT</a:t>
            </a:r>
            <a:r>
              <a:rPr lang="en-US" sz="4000" b="1" dirty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4000" b="1" dirty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</a:br>
            <a:endParaRPr lang="en-US" sz="4000" b="1" dirty="0">
              <a:solidFill>
                <a:srgbClr val="FF0000"/>
              </a:solidFill>
              <a:cs typeface="Times New Roman" pitchFamily="18" charset="0"/>
              <a:sym typeface="Times New Roman" pitchFamily="18" charset="0"/>
            </a:endParaRPr>
          </a:p>
        </p:txBody>
      </p:sp>
      <p:pic>
        <p:nvPicPr>
          <p:cNvPr id="3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smtClean="0"/>
              <a:t>TOPIC COVERED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>
            <a:normAutofit/>
          </a:bodyPr>
          <a:lstStyle/>
          <a:p>
            <a:r>
              <a:rPr lang="en-IN" sz="2800" dirty="0" smtClean="0"/>
              <a:t>WHAT IS STACK? </a:t>
            </a:r>
          </a:p>
          <a:p>
            <a:r>
              <a:rPr lang="en-IN" sz="2800" smtClean="0"/>
              <a:t>PUSH </a:t>
            </a:r>
            <a:r>
              <a:rPr lang="en-IN" sz="2800" dirty="0" smtClean="0"/>
              <a:t>AND POP INSTRUCTION</a:t>
            </a:r>
          </a:p>
          <a:p>
            <a:r>
              <a:rPr lang="en-IN" sz="2800" dirty="0" smtClean="0"/>
              <a:t>OPERATION OF THE STACK BY PUSH AND POP INSTRUCTION</a:t>
            </a:r>
          </a:p>
          <a:p>
            <a:r>
              <a:rPr lang="en-IN" sz="2800" dirty="0" smtClean="0"/>
              <a:t>LOOPING AND COUNTING TECHNIQUES </a:t>
            </a:r>
          </a:p>
          <a:p>
            <a:r>
              <a:rPr lang="en-IN" sz="2800" dirty="0" smtClean="0"/>
              <a:t>DESIGING OF MACRO</a:t>
            </a:r>
          </a:p>
          <a:p>
            <a:r>
              <a:rPr lang="en-IN" sz="2800" dirty="0" smtClean="0"/>
              <a:t>MACRO LIBRARIES</a:t>
            </a:r>
            <a:endParaRPr lang="en-US" sz="2800" dirty="0" smtClean="0"/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4000" b="1" dirty="0" smtClean="0"/>
              <a:t>WHAT IS STACK? </a:t>
            </a: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</p:spPr>
        <p:txBody>
          <a:bodyPr lIns="91425" tIns="45700" rIns="91425" bIns="45700">
            <a:normAutofit/>
          </a:bodyPr>
          <a:lstStyle/>
          <a:p>
            <a:pPr>
              <a:buNone/>
            </a:pPr>
            <a:endParaRPr lang="en-IN" dirty="0" smtClean="0"/>
          </a:p>
          <a:p>
            <a:r>
              <a:rPr lang="en-IN" dirty="0" smtClean="0"/>
              <a:t>The stack is a group of memory location in the R/W memory (RAM) that is used for temporary storage of data during the execution of a program. </a:t>
            </a:r>
          </a:p>
          <a:p>
            <a:r>
              <a:rPr lang="en-IN" dirty="0" smtClean="0"/>
              <a:t>Address of the stack is stored into the stack pointer register. </a:t>
            </a:r>
          </a:p>
          <a:p>
            <a:pPr algn="just"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Arial" charset="0"/>
              <a:buChar char="●"/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4000" b="1" dirty="0" smtClean="0"/>
              <a:t>PUSH AND POP INSTRUCTIONS</a:t>
            </a: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</p:spPr>
        <p:txBody>
          <a:bodyPr lIns="91425" tIns="45700" rIns="91425" bIns="45700">
            <a:normAutofit fontScale="85000" lnSpcReduction="10000"/>
          </a:bodyPr>
          <a:lstStyle/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The 8085 provide two instructions PUSH &amp; POP for</a:t>
            </a:r>
          </a:p>
          <a:p>
            <a:pPr>
              <a:buNone/>
            </a:pPr>
            <a:r>
              <a:rPr lang="en-IN" dirty="0" smtClean="0"/>
              <a:t>storing information on the stack and reading it back. 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• Data in the register pairs stored on the stack by using the instruction PUSH. </a:t>
            </a:r>
          </a:p>
          <a:p>
            <a:pPr>
              <a:buNone/>
            </a:pPr>
            <a:r>
              <a:rPr lang="en-IN" dirty="0" smtClean="0"/>
              <a:t>• Data is read from the stack by using the instruction POP. </a:t>
            </a:r>
          </a:p>
          <a:p>
            <a:pPr>
              <a:buNone/>
            </a:pPr>
            <a:r>
              <a:rPr lang="en-IN" dirty="0" smtClean="0"/>
              <a:t>• PUSH &amp; POP both instruction works with register pairs only. </a:t>
            </a:r>
          </a:p>
          <a:p>
            <a:pPr>
              <a:buNone/>
            </a:pPr>
            <a:r>
              <a:rPr lang="en-IN" dirty="0" smtClean="0"/>
              <a:t>• The storage and retrieval of the content of registers on the stack fallows the LIFO(Last-In-First-Out) sequence. </a:t>
            </a:r>
          </a:p>
          <a:p>
            <a:pPr algn="just" eaLnBrk="1" hangingPunct="1">
              <a:spcBef>
                <a:spcPts val="638"/>
              </a:spcBef>
              <a:buClr>
                <a:srgbClr val="000000"/>
              </a:buClr>
              <a:buSzPct val="59000"/>
              <a:buNone/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600" dirty="0" smtClean="0"/>
              <a:t/>
            </a:r>
            <a:br>
              <a:rPr lang="en-IN" sz="3600" dirty="0" smtClean="0"/>
            </a:br>
            <a:r>
              <a:rPr lang="en-IN" sz="3600" dirty="0" smtClean="0"/>
              <a:t> </a:t>
            </a:r>
            <a:r>
              <a:rPr lang="en-IN" sz="3600" b="1" dirty="0" smtClean="0"/>
              <a:t>OPERATION OF THE STACK BY PUSH AND POP INSTRUCTION </a:t>
            </a: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</p:spPr>
        <p:txBody>
          <a:bodyPr lIns="91425" tIns="45700" rIns="91425" bIns="45700">
            <a:normAutofit/>
          </a:bodyPr>
          <a:lstStyle/>
          <a:p>
            <a:pPr marL="457200" indent="-457200">
              <a:buAutoNum type="arabicPlain" startAt="2000"/>
            </a:pPr>
            <a:r>
              <a:rPr lang="en-IN" sz="2400" dirty="0" smtClean="0"/>
              <a:t>         LXI SP, 2099H ; this instruction define stack </a:t>
            </a:r>
          </a:p>
          <a:p>
            <a:pPr marL="457200" indent="-457200">
              <a:buNone/>
            </a:pPr>
            <a:endParaRPr lang="en-IN" sz="2400" dirty="0" smtClean="0"/>
          </a:p>
          <a:p>
            <a:pPr marL="457200" indent="-457200">
              <a:buAutoNum type="arabicPlain" startAt="2003"/>
            </a:pPr>
            <a:r>
              <a:rPr lang="en-IN" sz="2400" dirty="0" smtClean="0"/>
              <a:t>         LXI H, 42F2H ; this instruction store 42F2 in to the HL pair</a:t>
            </a:r>
          </a:p>
          <a:p>
            <a:pPr marL="457200" indent="-457200">
              <a:buNone/>
            </a:pPr>
            <a:r>
              <a:rPr lang="en-IN" sz="2400" dirty="0" smtClean="0"/>
              <a:t> </a:t>
            </a:r>
          </a:p>
          <a:p>
            <a:pPr marL="457200" indent="-457200">
              <a:buAutoNum type="arabicPlain" startAt="2006"/>
            </a:pPr>
            <a:r>
              <a:rPr lang="en-IN" sz="2400" dirty="0" smtClean="0"/>
              <a:t>         PUSH H ; store HL pair on to the stack </a:t>
            </a:r>
          </a:p>
          <a:p>
            <a:pPr marL="457200" indent="-457200">
              <a:buNone/>
            </a:pPr>
            <a:endParaRPr lang="en-IN" sz="2400" dirty="0" smtClean="0"/>
          </a:p>
          <a:p>
            <a:pPr>
              <a:buNone/>
            </a:pPr>
            <a:r>
              <a:rPr lang="en-IN" sz="2400" smtClean="0"/>
              <a:t>2010          POP </a:t>
            </a:r>
            <a:r>
              <a:rPr lang="en-IN" sz="2400" dirty="0" smtClean="0"/>
              <a:t>H ; store data from top of the stack to HL pair</a:t>
            </a:r>
            <a:endParaRPr lang="en-US" sz="2400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pPr algn="l"/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600" b="1" dirty="0" smtClean="0"/>
              <a:t>For PUSH H: </a:t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181600"/>
          </a:xfrm>
        </p:spPr>
        <p:txBody>
          <a:bodyPr lIns="91425" tIns="45700" rIns="91425" bIns="45700">
            <a:normAutofit/>
          </a:bodyPr>
          <a:lstStyle/>
          <a:p>
            <a:r>
              <a:rPr lang="en-IN" sz="2400" dirty="0" smtClean="0"/>
              <a:t>The stack pointer is decremented by one to 2098H, and the contents of the h register are copied to memory location 2098H.</a:t>
            </a:r>
          </a:p>
          <a:p>
            <a:r>
              <a:rPr lang="en-IN" sz="2400" dirty="0" smtClean="0"/>
              <a:t>The stack pointer register is again decremented by one to 2097H,and the contents of the L register are copied to memory location 2097H.</a:t>
            </a:r>
          </a:p>
          <a:p>
            <a:r>
              <a:rPr lang="en-IN" sz="2400" dirty="0" smtClean="0"/>
              <a:t>The contents of the register pair HL are not destroyed. </a:t>
            </a:r>
          </a:p>
          <a:p>
            <a:pPr algn="just"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Arial" charset="0"/>
              <a:buChar char="●"/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19400" y="4267200"/>
            <a:ext cx="3124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pPr algn="l"/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600" b="1" dirty="0" smtClean="0"/>
              <a:t>For POP H: </a:t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486400"/>
          </a:xfrm>
        </p:spPr>
        <p:txBody>
          <a:bodyPr lIns="91425" tIns="45700" rIns="91425" bIns="45700">
            <a:normAutofit/>
          </a:bodyPr>
          <a:lstStyle/>
          <a:p>
            <a:pPr algn="just"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Arial" charset="0"/>
              <a:buChar char="●"/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4191000"/>
            <a:ext cx="2743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1000" y="1447800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 smtClean="0"/>
              <a:t>The stack pointer is decremented by one to 2098H, and the contents of the h register are copied to memory location 2098H.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/>
          </a:p>
          <a:p>
            <a:pPr>
              <a:buFont typeface="Arial" pitchFamily="34" charset="0"/>
              <a:buChar char="•"/>
            </a:pPr>
            <a:r>
              <a:rPr lang="en-IN" sz="2400" dirty="0" smtClean="0"/>
              <a:t>The stack pointer register is again decremented by one to 2097H,and the contents of the L register are copied to memory location 2097H.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 smtClean="0"/>
              <a:t>The contents of the register pair HL are not destroyed.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600" dirty="0" smtClean="0"/>
              <a:t/>
            </a:r>
            <a:br>
              <a:rPr lang="en-IN" sz="3600" dirty="0" smtClean="0"/>
            </a:br>
            <a:r>
              <a:rPr lang="en-IN" sz="3600" b="1" dirty="0" smtClean="0"/>
              <a:t>LOOPING AND COUNTING TECHNIQUES</a:t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</p:spPr>
        <p:txBody>
          <a:bodyPr lIns="91425" tIns="45700" rIns="91425" bIns="45700">
            <a:normAutofit lnSpcReduction="10000"/>
          </a:bodyPr>
          <a:lstStyle/>
          <a:p>
            <a:pPr>
              <a:buNone/>
            </a:pPr>
            <a:endParaRPr lang="en-IN" dirty="0" smtClean="0"/>
          </a:p>
          <a:p>
            <a:r>
              <a:rPr lang="en-IN" dirty="0" smtClean="0"/>
              <a:t>The Programming Technique used to instruct the microprocessor to repeat task is called looping. This process is accomplished by using jump instructions. </a:t>
            </a:r>
          </a:p>
          <a:p>
            <a:r>
              <a:rPr lang="en-IN" dirty="0" smtClean="0"/>
              <a:t>A loop can be classified into two groups:</a:t>
            </a:r>
          </a:p>
          <a:p>
            <a:r>
              <a:rPr lang="en-IN" dirty="0" smtClean="0"/>
              <a:t>Continuous loop- repeats a task continuously </a:t>
            </a:r>
          </a:p>
          <a:p>
            <a:r>
              <a:rPr lang="en-IN" dirty="0" smtClean="0"/>
              <a:t>Conditional loop-repeats a task until certain data condition are met</a:t>
            </a: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600" dirty="0" smtClean="0"/>
              <a:t/>
            </a:r>
            <a:br>
              <a:rPr lang="en-IN" sz="3600" dirty="0" smtClean="0"/>
            </a:br>
            <a:r>
              <a:rPr lang="en-IN" sz="3200" b="1" dirty="0" smtClean="0"/>
              <a:t>CONTINUOUS LOOP(TIMING DELAY LOOP) </a:t>
            </a: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5410200"/>
          </a:xfrm>
        </p:spPr>
        <p:txBody>
          <a:bodyPr lIns="91425" tIns="45700" rIns="91425" bIns="45700">
            <a:normAutofit/>
          </a:bodyPr>
          <a:lstStyle/>
          <a:p>
            <a:r>
              <a:rPr lang="en-IN" sz="2400" dirty="0" smtClean="0"/>
              <a:t> A continuous loop is set up by using the unconditional jump Instruction shown in the flowchart. </a:t>
            </a:r>
          </a:p>
          <a:p>
            <a:r>
              <a:rPr lang="en-IN" sz="2400" dirty="0" smtClean="0"/>
              <a:t>A program with Continuous loop does not stop repeating the tasks until the system is reset. </a:t>
            </a: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0400" y="3124200"/>
            <a:ext cx="2895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100" b="1" dirty="0" smtClean="0"/>
              <a:t>CONDITIONAL LOOP(COUNTER LOOP)</a:t>
            </a: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0" y="1143000"/>
            <a:ext cx="9144000" cy="5715000"/>
          </a:xfrm>
        </p:spPr>
        <p:txBody>
          <a:bodyPr lIns="91425" tIns="45700" rIns="91425" bIns="45700">
            <a:normAutofit/>
          </a:bodyPr>
          <a:lstStyle/>
          <a:p>
            <a:pPr>
              <a:buNone/>
            </a:pPr>
            <a:r>
              <a:rPr lang="en-IN" sz="2200" dirty="0" smtClean="0"/>
              <a:t>  A Conditional loop is setup by the conditional jump instructions.</a:t>
            </a:r>
          </a:p>
          <a:p>
            <a:r>
              <a:rPr lang="en-IN" sz="2200" dirty="0" smtClean="0"/>
              <a:t>These instructions Check flags (zero, carry, etc.) and repeat the specified task if the conditions are satisfied. </a:t>
            </a:r>
          </a:p>
          <a:p>
            <a:r>
              <a:rPr lang="en-IN" sz="2200" dirty="0" smtClean="0"/>
              <a:t>These loops usually include counting and indexing. Conditional loop is shown by the Flowchart as follow. </a:t>
            </a:r>
          </a:p>
          <a:p>
            <a:pPr>
              <a:buNone/>
            </a:pPr>
            <a:endParaRPr lang="en-IN" sz="2200" dirty="0" smtClean="0"/>
          </a:p>
          <a:p>
            <a:pPr>
              <a:buNone/>
            </a:pPr>
            <a:r>
              <a:rPr lang="en-IN" sz="1800" dirty="0" smtClean="0"/>
              <a:t>The Flowchart is translated into the program as follows: </a:t>
            </a:r>
          </a:p>
          <a:p>
            <a:pPr>
              <a:buAutoNum type="arabicPeriod"/>
            </a:pPr>
            <a:r>
              <a:rPr lang="en-IN" sz="1800" dirty="0" smtClean="0"/>
              <a:t>Counter is setup by loading an appropriate </a:t>
            </a:r>
          </a:p>
          <a:p>
            <a:pPr>
              <a:buNone/>
            </a:pPr>
            <a:r>
              <a:rPr lang="en-IN" sz="1800" dirty="0" smtClean="0"/>
              <a:t>       count in a register. </a:t>
            </a:r>
          </a:p>
          <a:p>
            <a:pPr>
              <a:buAutoNum type="arabicPeriod"/>
            </a:pPr>
            <a:endParaRPr lang="en-IN" sz="1800" dirty="0" smtClean="0"/>
          </a:p>
          <a:p>
            <a:pPr>
              <a:buAutoNum type="arabicPeriod" startAt="2"/>
            </a:pPr>
            <a:r>
              <a:rPr lang="en-IN" sz="1800" dirty="0" smtClean="0"/>
              <a:t>Counting is performed by either incrementing </a:t>
            </a:r>
          </a:p>
          <a:p>
            <a:pPr>
              <a:buNone/>
            </a:pPr>
            <a:r>
              <a:rPr lang="en-IN" sz="1800" dirty="0" smtClean="0"/>
              <a:t>       or decrementing the counter. </a:t>
            </a:r>
          </a:p>
          <a:p>
            <a:pPr>
              <a:buNone/>
            </a:pPr>
            <a:endParaRPr lang="en-IN" sz="1800" dirty="0" smtClean="0"/>
          </a:p>
          <a:p>
            <a:pPr>
              <a:buAutoNum type="arabicPeriod" startAt="3"/>
            </a:pPr>
            <a:r>
              <a:rPr lang="en-IN" sz="1800" dirty="0" smtClean="0"/>
              <a:t>Loop is set up by a conditional jump instruction. </a:t>
            </a:r>
          </a:p>
          <a:p>
            <a:pPr>
              <a:buAutoNum type="arabicPeriod" startAt="3"/>
            </a:pPr>
            <a:endParaRPr lang="en-IN" sz="1800" dirty="0" smtClean="0"/>
          </a:p>
          <a:p>
            <a:pPr>
              <a:buNone/>
            </a:pPr>
            <a:r>
              <a:rPr lang="en-IN" sz="1800" dirty="0" smtClean="0"/>
              <a:t>4.   End of counting is indicated by a flag. </a:t>
            </a:r>
          </a:p>
          <a:p>
            <a:pPr>
              <a:buNone/>
            </a:pPr>
            <a:endParaRPr lang="en-IN" sz="2200" dirty="0" smtClean="0"/>
          </a:p>
          <a:p>
            <a:endParaRPr lang="en-IN" sz="2400" dirty="0" smtClean="0"/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2667000"/>
            <a:ext cx="3048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600" b="1" dirty="0" smtClean="0"/>
              <a:t>MACRO </a:t>
            </a:r>
            <a:br>
              <a:rPr lang="en-IN" sz="3600" b="1" dirty="0" smtClean="0"/>
            </a:b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 lIns="91425" tIns="45700" rIns="91425" bIns="45700">
            <a:normAutofit fontScale="85000" lnSpcReduction="20000"/>
          </a:bodyPr>
          <a:lstStyle/>
          <a:p>
            <a:pPr>
              <a:buNone/>
            </a:pPr>
            <a:endParaRPr lang="en-IN" dirty="0" smtClean="0"/>
          </a:p>
          <a:p>
            <a:r>
              <a:rPr lang="en-IN" sz="3000" dirty="0" smtClean="0"/>
              <a:t>A macro is a group of repetitive instructions in a program which are codified only once and can be used as many times as necessary.</a:t>
            </a:r>
          </a:p>
          <a:p>
            <a:r>
              <a:rPr lang="en-IN" sz="3000" dirty="0" smtClean="0"/>
              <a:t> </a:t>
            </a:r>
          </a:p>
          <a:p>
            <a:r>
              <a:rPr lang="en-IN" sz="3000" dirty="0" smtClean="0"/>
              <a:t>At the moment when the macro is executed, each parameter is substituted by the name or value specified at the time of the call. </a:t>
            </a:r>
          </a:p>
          <a:p>
            <a:endParaRPr lang="en-IN" sz="3000" dirty="0" smtClean="0"/>
          </a:p>
          <a:p>
            <a:r>
              <a:rPr lang="en-IN" sz="3000" dirty="0" smtClean="0"/>
              <a:t>We can say that a procedure is an extension of a determined program, while the macro is a module with specific functions which can be used by different programs. </a:t>
            </a:r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600" b="1" dirty="0" smtClean="0"/>
              <a:t> DESIGING OF MACRO </a:t>
            </a:r>
            <a:br>
              <a:rPr lang="en-IN" sz="3600" b="1" dirty="0" smtClean="0"/>
            </a:b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 lIns="91425" tIns="45700" rIns="91425" bIns="45700">
            <a:normAutofit/>
          </a:bodyPr>
          <a:lstStyle/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sz="2400" dirty="0" smtClean="0"/>
              <a:t>Parts which make a macro are:</a:t>
            </a:r>
          </a:p>
          <a:p>
            <a:pPr>
              <a:buNone/>
            </a:pPr>
            <a:r>
              <a:rPr lang="en-IN" sz="2400" dirty="0" smtClean="0"/>
              <a:t> </a:t>
            </a:r>
          </a:p>
          <a:p>
            <a:pPr>
              <a:buNone/>
            </a:pPr>
            <a:r>
              <a:rPr lang="en-IN" sz="2400" dirty="0" err="1" smtClean="0"/>
              <a:t>i</a:t>
            </a:r>
            <a:r>
              <a:rPr lang="en-IN" sz="2400" dirty="0" smtClean="0"/>
              <a:t>. Declaration of the macro. </a:t>
            </a:r>
          </a:p>
          <a:p>
            <a:endParaRPr lang="en-IN" sz="2400" dirty="0" smtClean="0"/>
          </a:p>
          <a:p>
            <a:pPr>
              <a:buNone/>
            </a:pPr>
            <a:r>
              <a:rPr lang="en-IN" sz="2400" dirty="0" smtClean="0"/>
              <a:t>ii. Code of the macro. </a:t>
            </a:r>
          </a:p>
          <a:p>
            <a:endParaRPr lang="en-IN" sz="2400" dirty="0" smtClean="0"/>
          </a:p>
          <a:p>
            <a:pPr>
              <a:buNone/>
            </a:pPr>
            <a:r>
              <a:rPr lang="en-IN" sz="2400" dirty="0" smtClean="0"/>
              <a:t>iii. Macro termination directive </a:t>
            </a:r>
          </a:p>
          <a:p>
            <a:endParaRPr lang="en-IN" sz="2400" dirty="0" smtClean="0"/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600" b="1" dirty="0" smtClean="0"/>
              <a:t> </a:t>
            </a:r>
            <a:br>
              <a:rPr lang="en-IN" sz="3600" b="1" dirty="0" smtClean="0"/>
            </a:br>
            <a:r>
              <a:rPr lang="en-IN" sz="3600" b="1" dirty="0" smtClean="0"/>
              <a:t>DESIGING OF MACRO </a:t>
            </a:r>
            <a:br>
              <a:rPr lang="en-IN" sz="3600" b="1" dirty="0" smtClean="0"/>
            </a:b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 lIns="91425" tIns="45700" rIns="91425" bIns="45700">
            <a:normAutofit/>
          </a:bodyPr>
          <a:lstStyle/>
          <a:p>
            <a:pPr>
              <a:buNone/>
            </a:pPr>
            <a:endParaRPr lang="en-IN" dirty="0" smtClean="0"/>
          </a:p>
          <a:p>
            <a:endParaRPr lang="en-IN" sz="2400" dirty="0" smtClean="0"/>
          </a:p>
          <a:p>
            <a:r>
              <a:rPr lang="en-IN" sz="2400" dirty="0" smtClean="0"/>
              <a:t>Declaration of the macro: Name Of Macro MACRO [parameter1, parameter2...] </a:t>
            </a:r>
          </a:p>
          <a:p>
            <a:endParaRPr lang="en-IN" sz="2400" dirty="0" smtClean="0"/>
          </a:p>
          <a:p>
            <a:r>
              <a:rPr lang="en-IN" sz="2400" dirty="0" smtClean="0"/>
              <a:t>Even though we have the functionality of the parameters it is possible to create a macro which does not need them. </a:t>
            </a:r>
          </a:p>
          <a:p>
            <a:endParaRPr lang="en-IN" sz="2400" dirty="0" smtClean="0"/>
          </a:p>
          <a:p>
            <a:r>
              <a:rPr lang="en-IN" sz="2400" dirty="0" smtClean="0"/>
              <a:t>The directive for the termination of the macro is: ENDM </a:t>
            </a: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600" b="1" dirty="0" smtClean="0"/>
              <a:t> </a:t>
            </a:r>
            <a:br>
              <a:rPr lang="en-IN" sz="3600" b="1" dirty="0" smtClean="0"/>
            </a:br>
            <a:r>
              <a:rPr lang="en-IN" sz="3600" b="1" dirty="0" smtClean="0"/>
              <a:t>DESIGING OF MACRO </a:t>
            </a:r>
            <a:br>
              <a:rPr lang="en-IN" sz="3600" b="1" dirty="0" smtClean="0"/>
            </a:b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 lIns="91425" tIns="45700" rIns="91425" bIns="45700">
            <a:normAutofit/>
          </a:bodyPr>
          <a:lstStyle/>
          <a:p>
            <a:pPr>
              <a:buNone/>
            </a:pPr>
            <a:endParaRPr lang="en-IN" dirty="0" smtClean="0"/>
          </a:p>
          <a:p>
            <a:endParaRPr lang="en-IN" sz="2400" dirty="0" smtClean="0"/>
          </a:p>
          <a:p>
            <a:r>
              <a:rPr lang="en-IN" sz="2400" dirty="0" smtClean="0"/>
              <a:t>Declaration of the macro: Name Of Macro MACRO [parameter1, parameter2...] </a:t>
            </a:r>
          </a:p>
          <a:p>
            <a:endParaRPr lang="en-IN" sz="2400" dirty="0" smtClean="0"/>
          </a:p>
          <a:p>
            <a:r>
              <a:rPr lang="en-IN" sz="2400" dirty="0" smtClean="0"/>
              <a:t>Even though we have the functionality of the parameters it is possible to create a macro which does not need them. </a:t>
            </a:r>
          </a:p>
          <a:p>
            <a:endParaRPr lang="en-IN" sz="2400" dirty="0" smtClean="0"/>
          </a:p>
          <a:p>
            <a:r>
              <a:rPr lang="en-IN" sz="2400" dirty="0" smtClean="0"/>
              <a:t>The directive for the termination of the macro is: ENDM </a:t>
            </a: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530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 lIns="91425" tIns="45700" rIns="91425" bIns="45700">
            <a:normAutofit fontScale="90000"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sz="3600" b="1" dirty="0" smtClean="0"/>
              <a:t> MACRO LIBRARIES </a:t>
            </a:r>
            <a:br>
              <a:rPr lang="en-IN" sz="3600" b="1" dirty="0" smtClean="0"/>
            </a:b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2800" b="1" dirty="0" smtClean="0"/>
              <a:t/>
            </a:r>
            <a:br>
              <a:rPr lang="en-IN" sz="2800" b="1" dirty="0" smtClean="0"/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53251" name="Shape 531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 lIns="91425" tIns="45700" rIns="91425" bIns="45700">
            <a:normAutofit/>
          </a:bodyPr>
          <a:lstStyle/>
          <a:p>
            <a:pPr>
              <a:buNone/>
            </a:pPr>
            <a:endParaRPr lang="en-IN" sz="2400" dirty="0" smtClean="0"/>
          </a:p>
          <a:p>
            <a:r>
              <a:rPr lang="en-IN" sz="2400" dirty="0" smtClean="0"/>
              <a:t> One of the facilities that the use of macros offers is the creation of libraries, which are groups of macros which can be included in a program from a different file. </a:t>
            </a:r>
          </a:p>
          <a:p>
            <a:r>
              <a:rPr lang="en-IN" sz="2400" dirty="0" smtClean="0"/>
              <a:t>The creation of these libraries is very simple, we only have to write a file with all the macros which will be needed and save it as a text file. </a:t>
            </a:r>
          </a:p>
          <a:p>
            <a:r>
              <a:rPr lang="en-IN" sz="2400" dirty="0" smtClean="0"/>
              <a:t>To call these macros it is only necessary to use the following instruction Include </a:t>
            </a:r>
            <a:r>
              <a:rPr lang="en-IN" sz="2400" b="1" dirty="0" smtClean="0"/>
              <a:t>Name Of The File</a:t>
            </a:r>
            <a:r>
              <a:rPr lang="en-IN" sz="2400" dirty="0" smtClean="0"/>
              <a:t>, on the part of our program where we would normally write the macros, this is, at the beginning of our program, before the declaration of the memory model. </a:t>
            </a:r>
          </a:p>
          <a:p>
            <a:pPr eaLnBrk="1" hangingPunct="1">
              <a:spcBef>
                <a:spcPts val="638"/>
              </a:spcBef>
              <a:buClr>
                <a:srgbClr val="000000"/>
              </a:buClr>
              <a:buSzPct val="59000"/>
              <a:buFont typeface="Calibri" pitchFamily="34" charset="0"/>
              <a:buNone/>
            </a:pPr>
            <a:endParaRPr lang="en-US" dirty="0" smtClean="0">
              <a:solidFill>
                <a:srgbClr val="000000"/>
              </a:solidFill>
              <a:cs typeface="Arial" charset="0"/>
              <a:sym typeface="Calibri" pitchFamily="34" charset="0"/>
            </a:endParaRPr>
          </a:p>
        </p:txBody>
      </p:sp>
      <p:pic>
        <p:nvPicPr>
          <p:cNvPr id="4" name="Content Placeholder 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873</Words>
  <Application>Microsoft Office PowerPoint</Application>
  <PresentationFormat>On-screen Show (4:3)</PresentationFormat>
  <Paragraphs>122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 TOPIC COVERED</vt:lpstr>
      <vt:lpstr>     WHAT IS STACK?   </vt:lpstr>
      <vt:lpstr>     PUSH AND POP INSTRUCTIONS  </vt:lpstr>
      <vt:lpstr>       OPERATION OF THE STACK BY PUSH AND POP INSTRUCTION   </vt:lpstr>
      <vt:lpstr>     For PUSH H:    </vt:lpstr>
      <vt:lpstr>     For POP H:    </vt:lpstr>
      <vt:lpstr>      LOOPING AND COUNTING TECHNIQUES   </vt:lpstr>
      <vt:lpstr>      CONTINUOUS LOOP(TIMING DELAY LOOP)    </vt:lpstr>
      <vt:lpstr>     CONDITIONAL LOOP(COUNTER LOOP)   </vt:lpstr>
      <vt:lpstr>       MACRO     </vt:lpstr>
      <vt:lpstr>        DESIGING OF MACRO     </vt:lpstr>
      <vt:lpstr>        DESIGING OF MACRO     </vt:lpstr>
      <vt:lpstr>        DESIGING OF MACRO     </vt:lpstr>
      <vt:lpstr>        MACRO LIBRARIES    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37</cp:revision>
  <dcterms:created xsi:type="dcterms:W3CDTF">2006-08-16T00:00:00Z</dcterms:created>
  <dcterms:modified xsi:type="dcterms:W3CDTF">2020-04-16T03:38:51Z</dcterms:modified>
</cp:coreProperties>
</file>