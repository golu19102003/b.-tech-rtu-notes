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slides/slide8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83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30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7" r:id="rId43"/>
    <p:sldId id="298" r:id="rId44"/>
    <p:sldId id="299" r:id="rId45"/>
    <p:sldId id="300" r:id="rId46"/>
    <p:sldId id="301" r:id="rId47"/>
    <p:sldId id="302" r:id="rId48"/>
    <p:sldId id="304" r:id="rId49"/>
    <p:sldId id="305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B03FCF3-F4D4-467E-80A4-38A06E61457E}" type="datetimeFigureOut">
              <a:rPr lang="en-US"/>
              <a:pPr>
                <a:defRPr/>
              </a:pPr>
              <a:t>4/16/2020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E049FE8-1F97-4A41-A3DD-292A48B2AF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049FE8-1F97-4A41-A3DD-292A48B2AF3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2400"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455B87-537A-4CD7-930C-6554B5C367E9}" type="datetime1">
              <a:rPr lang="en-US" smtClean="0"/>
              <a:pPr>
                <a:defRPr/>
              </a:pPr>
              <a:t>4/16/2020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BCAD527-1F94-42D4-A0B2-956E274310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246A96-74FB-4522-BE5D-67864269433E}" type="datetime1">
              <a:rPr lang="en-US" smtClean="0"/>
              <a:pPr>
                <a:defRPr/>
              </a:pPr>
              <a:t>4/16/2020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246FF2-FF7E-4A68-9696-39D23887A22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F7D822-E6CC-4E18-BF9A-AF9EAA403EB5}" type="datetime1">
              <a:rPr lang="en-US" smtClean="0"/>
              <a:pPr>
                <a:defRPr/>
              </a:pPr>
              <a:t>4/16/2020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FB8813-CD12-425F-A284-A4CA3089D7B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A12DCE-3324-4336-8D41-629CB8184E26}" type="datetime1">
              <a:rPr lang="en-US" smtClean="0"/>
              <a:pPr>
                <a:defRPr/>
              </a:pPr>
              <a:t>4/16/2020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78350-DCF8-4515-AF75-18D0132F0F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29071D-47E3-4829-8CB6-5C3219A37336}" type="datetime1">
              <a:rPr lang="en-US" smtClean="0"/>
              <a:pPr>
                <a:defRPr/>
              </a:pPr>
              <a:t>4/16/2020</a:t>
            </a:fld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11270A-B0ED-4B83-906B-735BF510881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81C59-7E9F-41CE-A377-B39F17799E15}" type="datetime1">
              <a:rPr lang="en-US" smtClean="0"/>
              <a:pPr>
                <a:defRPr/>
              </a:pPr>
              <a:t>4/16/2020</a:t>
            </a:fld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B5E3B2-C699-4221-A150-9D348D4C0C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3A4D1B-0393-440C-A64A-8D7933F4DAC3}" type="datetime1">
              <a:rPr lang="en-US" smtClean="0"/>
              <a:pPr>
                <a:defRPr/>
              </a:pPr>
              <a:t>4/16/2020</a:t>
            </a:fld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EA58DB-75E3-4A1F-9FD1-F81726D24A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385BD6-BD57-46E5-B5F8-A6F5693EA487}" type="datetime1">
              <a:rPr lang="en-US" smtClean="0"/>
              <a:pPr>
                <a:defRPr/>
              </a:pPr>
              <a:t>4/16/2020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E2FCB6-421E-4CCC-ACB8-1984542950C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BF6D05-7971-4E88-849B-BAAF8C3DEAC2}" type="datetime1">
              <a:rPr lang="en-US" smtClean="0"/>
              <a:pPr>
                <a:defRPr/>
              </a:pPr>
              <a:t>4/16/2020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C3AEDF-8CDC-4E67-B82C-9F3FE6796E5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557B10-FBFF-45AD-9F05-C757659AB747}" type="datetime1">
              <a:rPr lang="en-US" smtClean="0"/>
              <a:pPr>
                <a:defRPr/>
              </a:pPr>
              <a:t>4/16/2020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7136E-CB40-43F6-9047-F4C2A2862C3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269B45-1C32-49ED-8645-DDAB4D1EEF28}" type="datetime1">
              <a:rPr lang="en-US" smtClean="0"/>
              <a:pPr>
                <a:defRPr/>
              </a:pPr>
              <a:t>4/16/2020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F3F8F-D2BE-4037-8EA4-93600886BD0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3A0BE4-68E2-410C-BD8A-0FBBCF1DD943}" type="datetime1">
              <a:rPr lang="en-US" smtClean="0"/>
              <a:pPr>
                <a:defRPr/>
              </a:pPr>
              <a:t>4/16/2020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54DE6C-E13F-4BEE-B218-C12802BDB5E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2400"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cs typeface="Arial" pitchFamily="34" charset="0"/>
              </a:defRPr>
            </a:lvl1pPr>
          </a:lstStyle>
          <a:p>
            <a:pPr>
              <a:defRPr/>
            </a:pPr>
            <a:fld id="{8D3A0BE4-68E2-410C-BD8A-0FBBCF1DD943}" type="datetime1">
              <a:rPr lang="en-US" smtClean="0"/>
              <a:pPr>
                <a:defRPr/>
              </a:pPr>
              <a:t>4/16/2020</a:t>
            </a:fld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smtClean="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cs typeface="Arial" pitchFamily="34" charset="0"/>
              </a:defRPr>
            </a:lvl1pPr>
          </a:lstStyle>
          <a:p>
            <a:pPr>
              <a:defRPr/>
            </a:pPr>
            <a:fld id="{A654DE6C-E13F-4BEE-B218-C12802BDB5E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cs typeface="+mn-cs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cs typeface="+mn-cs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42984"/>
            <a:ext cx="7772400" cy="2714644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 smtClean="0"/>
              <a:t>INSTRUCTION SET OF 8085(</a:t>
            </a:r>
            <a:r>
              <a:rPr lang="en-US" dirty="0" smtClean="0"/>
              <a:t>UNIT-2)</a:t>
            </a:r>
            <a:br>
              <a:rPr lang="en-US" dirty="0" smtClean="0"/>
            </a:br>
            <a:r>
              <a:rPr lang="en-US" dirty="0" smtClean="0"/>
              <a:t>SUB: Microprocessor &amp; Interfaces</a:t>
            </a:r>
            <a:endParaRPr lang="en-US" dirty="0"/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>
          <a:xfrm>
            <a:off x="4211638" y="4076700"/>
            <a:ext cx="4537075" cy="1924068"/>
          </a:xfrm>
        </p:spPr>
        <p:txBody>
          <a:bodyPr/>
          <a:lstStyle/>
          <a:p>
            <a:pPr marR="0" eaLnBrk="1" hangingPunct="1"/>
            <a:r>
              <a:rPr lang="en-US" dirty="0" smtClean="0"/>
              <a:t>Er. Mohit Mishra</a:t>
            </a:r>
          </a:p>
          <a:p>
            <a:pPr marR="0" eaLnBrk="1" hangingPunct="1"/>
            <a:r>
              <a:rPr lang="en-US" dirty="0" smtClean="0"/>
              <a:t>Associate Professor</a:t>
            </a:r>
          </a:p>
          <a:p>
            <a:pPr marR="0" eaLnBrk="1" hangingPunct="1"/>
            <a:r>
              <a:rPr lang="en-US" dirty="0" smtClean="0"/>
              <a:t>CS  DEPARTMENT</a:t>
            </a:r>
          </a:p>
          <a:p>
            <a:pPr marR="0" eaLnBrk="1" hangingPunct="1"/>
            <a:r>
              <a:rPr lang="en-US" dirty="0" smtClean="0"/>
              <a:t>ACEIT JAIPUR</a:t>
            </a:r>
          </a:p>
        </p:txBody>
      </p:sp>
      <p:sp>
        <p:nvSpPr>
          <p:cNvPr id="5126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endParaRPr lang="en-US" sz="1400" dirty="0">
              <a:solidFill>
                <a:srgbClr val="D1EAEE"/>
              </a:solidFill>
            </a:endParaRPr>
          </a:p>
        </p:txBody>
      </p:sp>
      <p:pic>
        <p:nvPicPr>
          <p:cNvPr id="5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Instruction Set of 8085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274320" indent="-274320" eaLnBrk="1" fontAlgn="auto" hangingPunct="1">
              <a:spcBef>
                <a:spcPts val="0"/>
              </a:spcBef>
              <a:spcAft>
                <a:spcPts val="240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An instruction is a binary pattern designed inside a microprocessor to perform a specific function.</a:t>
            </a:r>
          </a:p>
          <a:p>
            <a:pPr marL="274320" indent="-274320" eaLnBrk="1" fontAlgn="auto" hangingPunct="1">
              <a:spcBef>
                <a:spcPts val="0"/>
              </a:spcBef>
              <a:spcAft>
                <a:spcPts val="240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The entire group of instructions that a microprocessor supports is called </a:t>
            </a:r>
            <a:r>
              <a:rPr lang="en-US" b="1" i="1" dirty="0" smtClean="0"/>
              <a:t>Instruction Set</a:t>
            </a:r>
            <a:r>
              <a:rPr lang="en-US" dirty="0" smtClean="0"/>
              <a:t>.</a:t>
            </a:r>
          </a:p>
          <a:p>
            <a:pPr marL="274320" indent="-274320" eaLnBrk="1" fontAlgn="auto" hangingPunct="1">
              <a:spcBef>
                <a:spcPts val="0"/>
              </a:spcBef>
              <a:spcAft>
                <a:spcPts val="240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8085 has </a:t>
            </a:r>
            <a:r>
              <a:rPr lang="en-US" b="1" dirty="0" smtClean="0"/>
              <a:t>246</a:t>
            </a:r>
            <a:r>
              <a:rPr lang="en-US" dirty="0" smtClean="0"/>
              <a:t> instructions.</a:t>
            </a:r>
          </a:p>
          <a:p>
            <a:pPr marL="274320" indent="-274320" eaLnBrk="1" fontAlgn="auto" hangingPunct="1">
              <a:spcBef>
                <a:spcPts val="0"/>
              </a:spcBef>
              <a:spcAft>
                <a:spcPts val="240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Each instruction is represented by an 8-bit binary value.</a:t>
            </a:r>
          </a:p>
          <a:p>
            <a:pPr marL="274320" indent="-274320" eaLnBrk="1" fontAlgn="auto" hangingPunct="1">
              <a:spcBef>
                <a:spcPts val="0"/>
              </a:spcBef>
              <a:spcAft>
                <a:spcPts val="240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These 8-bits of binary value is called </a:t>
            </a:r>
            <a:r>
              <a:rPr lang="en-US" b="1" i="1" dirty="0" smtClean="0"/>
              <a:t>Op-Code</a:t>
            </a:r>
            <a:r>
              <a:rPr lang="en-US" dirty="0" smtClean="0"/>
              <a:t> or </a:t>
            </a:r>
            <a:r>
              <a:rPr lang="en-US" b="1" i="1" dirty="0" smtClean="0"/>
              <a:t>Instruction Byte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149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6150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pic>
        <p:nvPicPr>
          <p:cNvPr id="6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2800" b="1" dirty="0" smtClean="0"/>
              <a:t>Classification of Instruction Set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endParaRPr lang="en-US" smtClean="0"/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Data Transfer Instruction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Arithmetic Instructions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Logical Instructions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Branching Instructions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Control Instructions</a:t>
            </a:r>
          </a:p>
        </p:txBody>
      </p:sp>
      <p:sp>
        <p:nvSpPr>
          <p:cNvPr id="7173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7174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pic>
        <p:nvPicPr>
          <p:cNvPr id="6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sp>
        <p:nvSpPr>
          <p:cNvPr id="8198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These instructions move data between registers, or between memory and registers.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These instructions copy data from source to destination.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While copying, the contents of source are not modified.</a:t>
            </a:r>
          </a:p>
        </p:txBody>
      </p:sp>
      <p:sp>
        <p:nvSpPr>
          <p:cNvPr id="8196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8197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pic>
        <p:nvPicPr>
          <p:cNvPr id="6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71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2858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102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43" marB="45743"/>
                </a:tc>
              </a:tr>
              <a:tr h="91485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MOV</a:t>
                      </a:r>
                      <a:endParaRPr lang="en-US" sz="1800" dirty="0"/>
                    </a:p>
                  </a:txBody>
                  <a:tcPr marL="88900" marR="88900" marT="45743" marB="4574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Rd, </a:t>
                      </a:r>
                      <a:r>
                        <a:rPr lang="en-US" sz="1800" dirty="0" err="1" smtClean="0"/>
                        <a:t>Rs</a:t>
                      </a:r>
                      <a:endParaRPr lang="en-US" sz="1800" dirty="0" smtClean="0"/>
                    </a:p>
                    <a:p>
                      <a:r>
                        <a:rPr lang="en-US" sz="1800" dirty="0" smtClean="0"/>
                        <a:t>M, </a:t>
                      </a:r>
                      <a:r>
                        <a:rPr lang="en-US" sz="1800" dirty="0" err="1" smtClean="0"/>
                        <a:t>Rs</a:t>
                      </a:r>
                      <a:endParaRPr lang="en-US" sz="1800" dirty="0" smtClean="0"/>
                    </a:p>
                    <a:p>
                      <a:r>
                        <a:rPr lang="en-US" sz="1800" dirty="0" smtClean="0"/>
                        <a:t>Rd, M</a:t>
                      </a:r>
                      <a:endParaRPr lang="en-US" sz="1800" dirty="0"/>
                    </a:p>
                  </a:txBody>
                  <a:tcPr marL="88900" marR="88900" marT="45743" marB="4574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Copy from source to destination.</a:t>
                      </a:r>
                      <a:endParaRPr lang="en-US" sz="1800" dirty="0"/>
                    </a:p>
                  </a:txBody>
                  <a:tcPr marL="88900" marR="88900" marT="45743" marB="45743"/>
                </a:tc>
              </a:tr>
            </a:tbl>
          </a:graphicData>
        </a:graphic>
      </p:graphicFrame>
      <p:sp>
        <p:nvSpPr>
          <p:cNvPr id="9234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9235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/>
              <a:t>This instruction copies the contents of the </a:t>
            </a:r>
            <a:r>
              <a:rPr lang="en-US" dirty="0" smtClean="0"/>
              <a:t>source register </a:t>
            </a:r>
            <a:r>
              <a:rPr lang="en-US" dirty="0"/>
              <a:t>into the destination </a:t>
            </a:r>
            <a:r>
              <a:rPr lang="en-US" dirty="0" smtClean="0"/>
              <a:t>register. 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contents </a:t>
            </a:r>
            <a:r>
              <a:rPr lang="en-US" dirty="0" smtClean="0"/>
              <a:t>of the </a:t>
            </a:r>
            <a:r>
              <a:rPr lang="en-US" dirty="0"/>
              <a:t>source register are not </a:t>
            </a:r>
            <a:r>
              <a:rPr lang="en-US" dirty="0" smtClean="0"/>
              <a:t>altered.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If </a:t>
            </a:r>
            <a:r>
              <a:rPr lang="en-US" dirty="0"/>
              <a:t>one of the operands is </a:t>
            </a:r>
            <a:r>
              <a:rPr lang="en-US" dirty="0" smtClean="0"/>
              <a:t>a memory </a:t>
            </a:r>
            <a:r>
              <a:rPr lang="en-US" dirty="0"/>
              <a:t>location, its location is specified by the contents </a:t>
            </a:r>
            <a:r>
              <a:rPr lang="en-US" dirty="0" smtClean="0"/>
              <a:t>of the </a:t>
            </a:r>
            <a:r>
              <a:rPr lang="en-US" dirty="0"/>
              <a:t>HL registers.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b="1" dirty="0"/>
              <a:t>Example:</a:t>
            </a:r>
            <a:r>
              <a:rPr lang="en-US" dirty="0"/>
              <a:t> MOV B, C or MOV B, M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785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MVI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Rd,</a:t>
                      </a:r>
                      <a:r>
                        <a:rPr lang="en-US" sz="1800" baseline="0" dirty="0" smtClean="0"/>
                        <a:t> Data</a:t>
                      </a:r>
                    </a:p>
                    <a:p>
                      <a:r>
                        <a:rPr lang="en-US" sz="1800" baseline="0" dirty="0" smtClean="0"/>
                        <a:t>M, Data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Move immediate 8-bit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10258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10259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10260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8-bit data is stored in the destination register or memory.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If the operand is a memory location, its location is specified by the contents of the H-L registers.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MVI B, 57H or MVI M, 57H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07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LDA</a:t>
                      </a:r>
                      <a:endParaRPr lang="en-US" sz="1800" dirty="0"/>
                    </a:p>
                  </a:txBody>
                  <a:tcPr marL="88900" marR="88900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16-bit address</a:t>
                      </a:r>
                      <a:endParaRPr lang="en-US" sz="1800" dirty="0"/>
                    </a:p>
                  </a:txBody>
                  <a:tcPr marL="88900" marR="88900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Load</a:t>
                      </a:r>
                      <a:r>
                        <a:rPr lang="en-US" sz="1800" baseline="0" dirty="0" smtClean="0"/>
                        <a:t> Accumulator</a:t>
                      </a:r>
                      <a:endParaRPr lang="en-US" sz="1800" dirty="0"/>
                    </a:p>
                  </a:txBody>
                  <a:tcPr marL="88900" marR="88900" marT="45700" marB="45700"/>
                </a:tc>
              </a:tr>
            </a:tbl>
          </a:graphicData>
        </a:graphic>
      </p:graphicFrame>
      <p:sp>
        <p:nvSpPr>
          <p:cNvPr id="11282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11283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11284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a memory location, specified by a 16-bit address in the operand, are copied to the accumulator.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the source are not altered.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LDA 2034H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LDAX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B/D Register Pair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Load accumulator indirect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12306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12307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/>
              <a:t>The contents of the designated register pair point to a </a:t>
            </a:r>
            <a:r>
              <a:rPr lang="en-US" dirty="0" smtClean="0"/>
              <a:t>memory location.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This </a:t>
            </a:r>
            <a:r>
              <a:rPr lang="en-US" dirty="0"/>
              <a:t>instruction copies the contents of that </a:t>
            </a:r>
            <a:r>
              <a:rPr lang="en-US" dirty="0" smtClean="0"/>
              <a:t>memory location </a:t>
            </a:r>
            <a:r>
              <a:rPr lang="en-US" dirty="0"/>
              <a:t>into the </a:t>
            </a:r>
            <a:r>
              <a:rPr lang="en-US" dirty="0" smtClean="0"/>
              <a:t>accumulator.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</a:t>
            </a:r>
            <a:r>
              <a:rPr lang="en-US" dirty="0"/>
              <a:t>contents of either </a:t>
            </a:r>
            <a:r>
              <a:rPr lang="en-US" dirty="0" smtClean="0"/>
              <a:t>the register </a:t>
            </a:r>
            <a:r>
              <a:rPr lang="en-US" dirty="0"/>
              <a:t>pair or the memory location are not altered.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b="1" dirty="0"/>
              <a:t>Example:</a:t>
            </a:r>
            <a:r>
              <a:rPr lang="en-US" dirty="0"/>
              <a:t> LDAX B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LXI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Reg.</a:t>
                      </a:r>
                      <a:r>
                        <a:rPr lang="en-US" sz="1800" baseline="0" dirty="0" smtClean="0"/>
                        <a:t> pair, 16-bit data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Load register pair immediate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13330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13331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13332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This instruction loads 16-bit data in the register pair.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LXI H, 2034 H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LHLD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16-bit address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Load H-L registers direct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14354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14355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14356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This instruction copies the contents of memory location pointed out by 16-bit address into register L.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It copies the contents of next memory location into register H.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LHLD 2040 H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STA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16-bit address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Store accumulator direct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15378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15379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15380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accumulator are copied into the memory location specified by the operand.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STA 2500 H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STAX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Reg. pair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Store accumulator indirect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16402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16403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16404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accumulator are copied into the memory location specified by the contents of the register pair.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STAX B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SHLD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16-bit address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Store H-L registers direct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17426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17427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17428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register L are stored into memory location specified by the 16-bit address.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register H are stored into the next memory location.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SHLD 2550 H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XCHG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Exchange H-L with D-E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18450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18451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18452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register H are exchanged with the contents of register D.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register L are exchanged with the contents of register E.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XCHG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SPHL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Copy H-L pair to the Stack Pointer (SP)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19474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19475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19476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This instruction loads the contents of H-L pair into SP.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SPHL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XTHL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Exchange H–L with top of stack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20498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20499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20500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L register are exchanged with the location pointed out by the contents of the SP.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H register are exchanged with the next location (SP + 1).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XTHL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PCHL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Load program counter with H-L contents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21522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21523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21524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registers H and L are copied into the program counter (PC).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H are placed as the high-order byte and the contents of L as the low-order byte.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PCHL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PUSH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Reg. pair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Push register pair onto stack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22546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22547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contents of register pair are copied onto stack.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SP is decremented and the contents of high-order registers (B, D, H, A) are copied into stack.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SP is again decremented and the contents of low-order registers (C, E, L, Flags) are copied into stack.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b="1" dirty="0" smtClean="0"/>
              <a:t>Example:</a:t>
            </a:r>
            <a:r>
              <a:rPr lang="en-US" dirty="0"/>
              <a:t> </a:t>
            </a:r>
            <a:r>
              <a:rPr lang="en-US" dirty="0" smtClean="0"/>
              <a:t>PUSH B</a:t>
            </a:r>
            <a:endParaRPr lang="en-US" dirty="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POP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Reg. pair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Pop stack to register pair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23570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23571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contents of top of stack are copied into register pair.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contents of location pointed out by SP are copied to the low-order register (C, E, L, Flags).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SP is incremented and the contents of location are copied to the high-order register (B, D, H, A).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b="1" dirty="0" smtClean="0"/>
              <a:t>Example:</a:t>
            </a:r>
            <a:r>
              <a:rPr lang="en-US" dirty="0"/>
              <a:t> </a:t>
            </a:r>
            <a:r>
              <a:rPr lang="en-US" dirty="0" smtClean="0"/>
              <a:t>POP 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OUT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8-bit port address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Copy data from accumulator to a port with 8-bit address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24594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24595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24596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accumulator are copied into the I/O port.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OUT 78 H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Data Transfer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8-bit port address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Copy data to accumulator from a port with 8-bit address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25618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25619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25620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I/O port are copied into accumulator.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IN 8C H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Arithmetic Instructions</a:t>
            </a:r>
          </a:p>
        </p:txBody>
      </p:sp>
      <p:sp>
        <p:nvSpPr>
          <p:cNvPr id="266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These instructions perform the operations like:</a:t>
            </a:r>
          </a:p>
          <a:p>
            <a:pPr lvl="1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Addition</a:t>
            </a:r>
          </a:p>
          <a:p>
            <a:pPr lvl="1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Subtract</a:t>
            </a:r>
          </a:p>
          <a:p>
            <a:pPr lvl="1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Increment</a:t>
            </a:r>
          </a:p>
          <a:p>
            <a:pPr lvl="1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Decrement</a:t>
            </a:r>
          </a:p>
        </p:txBody>
      </p:sp>
      <p:sp>
        <p:nvSpPr>
          <p:cNvPr id="26628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26629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pic>
        <p:nvPicPr>
          <p:cNvPr id="6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Addition</a:t>
            </a:r>
          </a:p>
        </p:txBody>
      </p:sp>
      <p:sp>
        <p:nvSpPr>
          <p:cNvPr id="276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z="2400" dirty="0" smtClean="0"/>
              <a:t>Any 8-bit number, or the contents of register, or the contents of memory location can be added to the contents of accumulator.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z="2400" dirty="0" smtClean="0"/>
              <a:t>The result (sum) is stored in the accumulator.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z="2400" dirty="0" smtClean="0"/>
              <a:t>No two other 8-bit registers can be added directly.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z="2400" b="1" dirty="0" smtClean="0"/>
              <a:t>Example:</a:t>
            </a:r>
            <a:r>
              <a:rPr lang="en-US" sz="2400" dirty="0" smtClean="0"/>
              <a:t> The contents of register B cannot  be added directly to the contents of register C.</a:t>
            </a:r>
          </a:p>
        </p:txBody>
      </p:sp>
      <p:sp>
        <p:nvSpPr>
          <p:cNvPr id="27652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27653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pic>
        <p:nvPicPr>
          <p:cNvPr id="6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Subtraction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Any 8-bit number, or the contents of register, or the contents of memory location can be subtracted from the contents of accumulator.</a:t>
            </a:r>
          </a:p>
          <a:p>
            <a:pPr eaLnBrk="1" hangingPunct="1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result is stored in the accumulator.</a:t>
            </a:r>
          </a:p>
          <a:p>
            <a:pPr eaLnBrk="1" hangingPunct="1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Subtraction is performed in 2’s complement form.</a:t>
            </a:r>
          </a:p>
          <a:p>
            <a:pPr eaLnBrk="1" hangingPunct="1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If the result is negative, it is stored in 2’s complement form.</a:t>
            </a:r>
          </a:p>
          <a:p>
            <a:pPr eaLnBrk="1" hangingPunct="1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No two other 8-bit registers can be subtracted directly.</a:t>
            </a:r>
          </a:p>
        </p:txBody>
      </p:sp>
      <p:sp>
        <p:nvSpPr>
          <p:cNvPr id="28676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28677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pic>
        <p:nvPicPr>
          <p:cNvPr id="6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Increment / Decrement</a:t>
            </a:r>
          </a:p>
        </p:txBody>
      </p:sp>
      <p:sp>
        <p:nvSpPr>
          <p:cNvPr id="297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The 8-bit contents of a register or a memory location can be incremented or decremented by 1.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The 16-bit contents of a register pair can be incremented or decremented by 1.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Increment or decrement can be performed on any register or a memory location.</a:t>
            </a:r>
          </a:p>
        </p:txBody>
      </p:sp>
      <p:sp>
        <p:nvSpPr>
          <p:cNvPr id="29700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29701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pic>
        <p:nvPicPr>
          <p:cNvPr id="6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Arithmetic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</a:t>
                      </a:r>
                    </a:p>
                    <a:p>
                      <a:r>
                        <a:rPr lang="en-US" sz="1800" baseline="0" dirty="0" smtClean="0"/>
                        <a:t>M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Add register or memory to accumulator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30738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30739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contents of register or memory are added to the contents of accumulator.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result is stored in accumulator.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If the operand is memory location, its address is specified by H-L pair.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All flags are modified to reflect the result of the addition.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b="1" dirty="0" smtClean="0"/>
              <a:t>Example:</a:t>
            </a:r>
            <a:r>
              <a:rPr lang="en-US" dirty="0"/>
              <a:t> </a:t>
            </a:r>
            <a:r>
              <a:rPr lang="en-US" dirty="0" smtClean="0"/>
              <a:t>ADD B or ADD M</a:t>
            </a:r>
            <a:endParaRPr lang="en-US" dirty="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Arithmetic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ADC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</a:t>
                      </a:r>
                    </a:p>
                    <a:p>
                      <a:r>
                        <a:rPr lang="en-US" sz="1800" baseline="0" dirty="0" smtClean="0"/>
                        <a:t>M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Add register or memory to accumulator with carry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31762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31763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contents of register or memory and Carry Flag (CY) are added to the contents of accumulator.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result is stored in accumulator.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If the operand is memory location, its address is specified by H-L pair.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All flags are modified to reflect the result of the addition.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b="1" dirty="0" smtClean="0"/>
              <a:t>Example:</a:t>
            </a:r>
            <a:r>
              <a:rPr lang="en-US" dirty="0"/>
              <a:t> </a:t>
            </a:r>
            <a:r>
              <a:rPr lang="en-US" dirty="0" smtClean="0"/>
              <a:t>ADC B or ADC M</a:t>
            </a:r>
            <a:endParaRPr lang="en-US" dirty="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Arithmetic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ADI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8-bit data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Add immediate to accumulator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32786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32787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32788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8-bit data is added to the contents of accumulator.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result is stored in accumulator.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All flags are modified to reflect the result of the addition.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ADI 45 H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Arithmetic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ACI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8-bit data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Add immediate to accumulator with carry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33810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33811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8-bit data and the Carry Flag (CY) are added to the contents of accumulator.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result is stored in accumulator.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All flags are modified to reflect the result of the addition.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b="1" dirty="0" smtClean="0"/>
              <a:t>Example:</a:t>
            </a:r>
            <a:r>
              <a:rPr lang="en-US" dirty="0"/>
              <a:t> </a:t>
            </a:r>
            <a:r>
              <a:rPr lang="en-US" dirty="0" smtClean="0"/>
              <a:t>ACI 45 H</a:t>
            </a:r>
            <a:endParaRPr lang="en-US" dirty="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Arithmetic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DAD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Reg. pair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Add register pair to H-L pair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34834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34835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16-bit contents of the register pair are added to the contents of H-L pair.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result is stored in H-L pair.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If the result is larger than 16 bits, then CY is set.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No other flags are changed.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b="1" dirty="0" smtClean="0"/>
              <a:t>Example:</a:t>
            </a:r>
            <a:r>
              <a:rPr lang="en-US" dirty="0"/>
              <a:t> </a:t>
            </a:r>
            <a:r>
              <a:rPr lang="en-US" dirty="0" smtClean="0"/>
              <a:t>DAD B</a:t>
            </a:r>
            <a:endParaRPr lang="en-US" dirty="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Arithmetic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SUB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</a:t>
                      </a:r>
                    </a:p>
                    <a:p>
                      <a:r>
                        <a:rPr lang="en-US" sz="1800" baseline="0" dirty="0" smtClean="0"/>
                        <a:t>M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Subtract register or memory from accumulator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35858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35859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contents of the register or memory location are subtracted from the contents of the accumulator.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result is stored in accumulator.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/>
              <a:t>If the operand is memory location, its address is specified by H-L </a:t>
            </a:r>
            <a:r>
              <a:rPr lang="en-US" dirty="0" smtClean="0"/>
              <a:t>pair.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/>
              <a:t>All flags are modified to reflect the result </a:t>
            </a:r>
            <a:r>
              <a:rPr lang="en-US" dirty="0" smtClean="0"/>
              <a:t>of subtraction.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b="1" dirty="0" smtClean="0"/>
              <a:t>Example:</a:t>
            </a:r>
            <a:r>
              <a:rPr lang="en-US" dirty="0"/>
              <a:t> </a:t>
            </a:r>
            <a:r>
              <a:rPr lang="en-US" dirty="0" smtClean="0"/>
              <a:t>SUB B or SUB M</a:t>
            </a:r>
            <a:endParaRPr lang="en-US" dirty="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Arithmetic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SBB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</a:t>
                      </a:r>
                    </a:p>
                    <a:p>
                      <a:r>
                        <a:rPr lang="en-US" sz="1800" baseline="0" dirty="0" smtClean="0"/>
                        <a:t>M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Subtract register or memory from accumulator with borrow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36882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36883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contents of the register or memory location</a:t>
            </a:r>
            <a:r>
              <a:rPr lang="en-US" dirty="0"/>
              <a:t> and Borrow Flag (i.e. CY)</a:t>
            </a:r>
            <a:r>
              <a:rPr lang="en-US" dirty="0" smtClean="0"/>
              <a:t> are subtracted from the contents of the accumulator.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result is stored in accumulator.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/>
              <a:t>If the operand is memory location, its address is specified by H-L </a:t>
            </a:r>
            <a:r>
              <a:rPr lang="en-US" dirty="0" smtClean="0"/>
              <a:t>pair.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/>
              <a:t>All flags are modified to reflect the result </a:t>
            </a:r>
            <a:r>
              <a:rPr lang="en-US" dirty="0" smtClean="0"/>
              <a:t>of subtraction.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b="1" dirty="0" smtClean="0"/>
              <a:t>Example:</a:t>
            </a:r>
            <a:r>
              <a:rPr lang="en-US" dirty="0"/>
              <a:t> </a:t>
            </a:r>
            <a:r>
              <a:rPr lang="en-US" dirty="0" smtClean="0"/>
              <a:t>SBB B or SBB M</a:t>
            </a:r>
            <a:endParaRPr lang="en-US" dirty="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Arithmetic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SUI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8-bit data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Subtract immediate from accumulator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37906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37907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8-bit data is subtracted from the contents of the accumulator.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result is stored in accumulator.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/>
              <a:t>All flags are modified to reflect the result </a:t>
            </a:r>
            <a:r>
              <a:rPr lang="en-US" dirty="0" smtClean="0"/>
              <a:t>of subtraction.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b="1" dirty="0" smtClean="0"/>
              <a:t>Example:</a:t>
            </a:r>
            <a:r>
              <a:rPr lang="en-US" dirty="0"/>
              <a:t> </a:t>
            </a:r>
            <a:r>
              <a:rPr lang="en-US" dirty="0" smtClean="0"/>
              <a:t>SUI 45 H</a:t>
            </a:r>
            <a:endParaRPr lang="en-US" dirty="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Arithmetic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SBI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8-bit data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Subtract immediate from accumulator with borrow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38930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38931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00034" y="2857496"/>
            <a:ext cx="8229600" cy="31115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8-bit data and the Borrow Flag (i.e. CY) is subtracted from the contents of the accumulator.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result is stored in accumulator.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/>
              <a:t>All flags are modified to reflect the result </a:t>
            </a:r>
            <a:r>
              <a:rPr lang="en-US" dirty="0" smtClean="0"/>
              <a:t>of subtraction.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b="1" dirty="0" smtClean="0"/>
              <a:t>Example:</a:t>
            </a:r>
            <a:r>
              <a:rPr lang="en-US" dirty="0"/>
              <a:t> </a:t>
            </a:r>
            <a:r>
              <a:rPr lang="en-US" dirty="0" smtClean="0"/>
              <a:t>SBI 45 H</a:t>
            </a:r>
            <a:endParaRPr lang="en-US" dirty="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Arithmetic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</a:t>
                      </a:r>
                    </a:p>
                    <a:p>
                      <a:r>
                        <a:rPr lang="en-US" sz="1800" baseline="0" dirty="0" smtClean="0"/>
                        <a:t>M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Increment register or memory by 1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39954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39955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contents of register or memory location are incremented by 1.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result is stored in the same place.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If the operand is a memory location, its address is specified by the contents of H-L pair.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b="1" dirty="0" smtClean="0"/>
              <a:t>Example:</a:t>
            </a:r>
            <a:r>
              <a:rPr lang="en-US" dirty="0"/>
              <a:t> </a:t>
            </a:r>
            <a:r>
              <a:rPr lang="en-US" dirty="0" smtClean="0"/>
              <a:t>INR B or INR M</a:t>
            </a:r>
            <a:endParaRPr lang="en-US" dirty="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Arithmetic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INX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Increment register pair by 1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40978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40979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40980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register pair are incremented by 1.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result is stored in the same place.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INX H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Arithmetic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DCR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</a:t>
                      </a:r>
                    </a:p>
                    <a:p>
                      <a:r>
                        <a:rPr lang="en-US" sz="1800" baseline="0" dirty="0" smtClean="0"/>
                        <a:t>M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Decrement register or memory by 1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42002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42003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contents of register or memory location are decremented by 1.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result is stored in the same place.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/>
              <a:t>If the operand is a memory location, its address is specified by the contents of H-L </a:t>
            </a:r>
            <a:r>
              <a:rPr lang="en-US" dirty="0" smtClean="0"/>
              <a:t>pair.</a:t>
            </a:r>
          </a:p>
          <a:p>
            <a:pPr fontAlgn="auto">
              <a:spcBef>
                <a:spcPts val="0"/>
              </a:spcBef>
              <a:spcAft>
                <a:spcPts val="2400"/>
              </a:spcAft>
              <a:defRPr/>
            </a:pPr>
            <a:r>
              <a:rPr lang="en-US" b="1" dirty="0" smtClean="0"/>
              <a:t>Example:</a:t>
            </a:r>
            <a:r>
              <a:rPr lang="en-US" dirty="0"/>
              <a:t> </a:t>
            </a:r>
            <a:r>
              <a:rPr lang="en-US" dirty="0" smtClean="0"/>
              <a:t>DCR B or DCR M</a:t>
            </a:r>
            <a:endParaRPr lang="en-US" dirty="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Arithmetic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DCX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Decrement register pair by 1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43026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43027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43028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register pair are decremented by 1.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result is stored in the same place.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DCX H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These instructions perform logical operations on data stored in registers, memory and status flags.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endParaRPr lang="en-US" dirty="0" smtClean="0"/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The logical operations are: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AND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OR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XOR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Rotate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Compare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Complement</a:t>
            </a:r>
            <a:endParaRPr lang="en-US" dirty="0"/>
          </a:p>
        </p:txBody>
      </p:sp>
      <p:sp>
        <p:nvSpPr>
          <p:cNvPr id="44036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44037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44038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endParaRPr lang="en-US" sz="260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AND, OR, XOR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Any 8-bit data, or the contents of register, or memory location can logically have</a:t>
            </a:r>
          </a:p>
          <a:p>
            <a:pPr lvl="1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AND operation</a:t>
            </a:r>
          </a:p>
          <a:p>
            <a:pPr lvl="1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OR operation</a:t>
            </a:r>
          </a:p>
          <a:p>
            <a:pPr lvl="1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XOR operation</a:t>
            </a:r>
          </a:p>
          <a:p>
            <a:pPr marL="0" indent="0">
              <a:spcBef>
                <a:spcPts val="0"/>
              </a:spcBef>
              <a:spcAft>
                <a:spcPts val="2400"/>
              </a:spcAft>
              <a:buFont typeface="Wingdings 2" pitchFamily="18" charset="2"/>
              <a:buNone/>
              <a:defRPr/>
            </a:pPr>
            <a:r>
              <a:rPr lang="en-US" dirty="0"/>
              <a:t> </a:t>
            </a:r>
            <a:r>
              <a:rPr lang="en-US" dirty="0" smtClean="0"/>
              <a:t>   with the contents of accumulator.</a:t>
            </a:r>
          </a:p>
          <a:p>
            <a:pPr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result is stored in accumulator.</a:t>
            </a:r>
            <a:endParaRPr lang="en-US" dirty="0"/>
          </a:p>
        </p:txBody>
      </p:sp>
      <p:sp>
        <p:nvSpPr>
          <p:cNvPr id="45060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45061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45062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endParaRPr lang="en-US" sz="260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Rotate</a:t>
            </a:r>
          </a:p>
        </p:txBody>
      </p:sp>
      <p:sp>
        <p:nvSpPr>
          <p:cNvPr id="46087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Each bit in the accumulator can be shifted either left or right to the next position.</a:t>
            </a:r>
          </a:p>
        </p:txBody>
      </p:sp>
      <p:sp>
        <p:nvSpPr>
          <p:cNvPr id="46084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46085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46086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endParaRPr lang="en-US" sz="260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Compare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Any 8-bit data, or the contents of register, or memory location can be compares for:</a:t>
            </a:r>
          </a:p>
          <a:p>
            <a:pPr lvl="1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Equality</a:t>
            </a:r>
          </a:p>
          <a:p>
            <a:pPr lvl="1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Greater Than</a:t>
            </a:r>
          </a:p>
          <a:p>
            <a:pPr lvl="1"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Less Than</a:t>
            </a:r>
          </a:p>
          <a:p>
            <a:pPr marL="0" indent="0">
              <a:spcBef>
                <a:spcPts val="0"/>
              </a:spcBef>
              <a:spcAft>
                <a:spcPts val="2400"/>
              </a:spcAft>
              <a:buFont typeface="Wingdings 2" pitchFamily="18" charset="2"/>
              <a:buNone/>
              <a:defRPr/>
            </a:pPr>
            <a:r>
              <a:rPr lang="en-US" dirty="0"/>
              <a:t> </a:t>
            </a:r>
            <a:r>
              <a:rPr lang="en-US" dirty="0" smtClean="0"/>
              <a:t>   with the contents of accumulator.</a:t>
            </a:r>
          </a:p>
          <a:p>
            <a:pPr>
              <a:spcBef>
                <a:spcPts val="0"/>
              </a:spcBef>
              <a:spcAft>
                <a:spcPts val="2400"/>
              </a:spcAft>
              <a:defRPr/>
            </a:pPr>
            <a:r>
              <a:rPr lang="en-US" dirty="0" smtClean="0"/>
              <a:t>The result is reflected in status flags.</a:t>
            </a:r>
            <a:endParaRPr lang="en-US" dirty="0"/>
          </a:p>
        </p:txBody>
      </p:sp>
      <p:sp>
        <p:nvSpPr>
          <p:cNvPr id="47108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47109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47110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endParaRPr lang="en-US" sz="260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Complement</a:t>
            </a:r>
          </a:p>
        </p:txBody>
      </p:sp>
      <p:sp>
        <p:nvSpPr>
          <p:cNvPr id="4813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The contents of accumulator can be complemented.</a:t>
            </a:r>
          </a:p>
          <a:p>
            <a:pPr>
              <a:spcBef>
                <a:spcPct val="0"/>
              </a:spcBef>
              <a:spcAft>
                <a:spcPts val="2400"/>
              </a:spcAft>
            </a:pPr>
            <a:r>
              <a:rPr lang="en-US" smtClean="0"/>
              <a:t>Each 0 is replaced by 1 and each 1 is replaced by 0.</a:t>
            </a:r>
          </a:p>
        </p:txBody>
      </p:sp>
      <p:sp>
        <p:nvSpPr>
          <p:cNvPr id="48132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48133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48134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endParaRPr lang="en-US" sz="260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CMP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</a:t>
                      </a:r>
                    </a:p>
                    <a:p>
                      <a:r>
                        <a:rPr lang="en-US" sz="1800" baseline="0" dirty="0" smtClean="0"/>
                        <a:t>M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Compare register or memory with accumulator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49170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49171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49172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the operand (register or memory) are compared with the contents of the accumulator.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Both contents are preserved 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result of the comparison is shown by setting the flags of the PSW as follows: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CMP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</a:t>
                      </a:r>
                    </a:p>
                    <a:p>
                      <a:r>
                        <a:rPr lang="en-US" sz="1800" baseline="0" dirty="0" smtClean="0"/>
                        <a:t>M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Compare register or memory with accumulator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50194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50195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50196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if (A) &lt; (reg/mem): carry flag is set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if (A) = (reg/mem): zero flag is set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if (A) &gt; (reg/mem): carry and zero flags are reset.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CMP B or CMP M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CPI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8-bit data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Compare immediate with accumulator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51218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51219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51220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8-bit data is compared with the contents of accumulator.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values being compared remain unchanged.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result of the comparison is shown by setting the flags of the PSW as follows: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CPI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8-bit data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u="none" strike="noStrike" kern="1200" baseline="0" dirty="0" smtClean="0"/>
                        <a:t>Compare immediate with accumulator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52242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52243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52244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if (A) &lt; data: carry flag is set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if (A) = data: zero flag is set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if (A) &gt; data: carry and zero flags are reset</a:t>
            </a:r>
          </a:p>
          <a:p>
            <a:pPr marL="273050" indent="-273050">
              <a:spcAft>
                <a:spcPts val="24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CPI 89H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ANA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</a:t>
                      </a:r>
                    </a:p>
                    <a:p>
                      <a:r>
                        <a:rPr lang="en-US" sz="1800" baseline="0" dirty="0" smtClean="0"/>
                        <a:t>M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Logical AND register or memory with accumulator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53266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53267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/>
              <a:t>The contents of the accumulator are logically </a:t>
            </a:r>
            <a:r>
              <a:rPr lang="en-US" dirty="0" err="1"/>
              <a:t>ANDed</a:t>
            </a:r>
            <a:r>
              <a:rPr lang="en-US" dirty="0"/>
              <a:t> </a:t>
            </a:r>
            <a:r>
              <a:rPr lang="en-US" dirty="0" smtClean="0"/>
              <a:t>with the </a:t>
            </a:r>
            <a:r>
              <a:rPr lang="en-US" dirty="0"/>
              <a:t>contents of </a:t>
            </a:r>
            <a:r>
              <a:rPr lang="en-US" dirty="0" smtClean="0"/>
              <a:t>register </a:t>
            </a:r>
            <a:r>
              <a:rPr lang="en-US" dirty="0"/>
              <a:t>or </a:t>
            </a:r>
            <a:r>
              <a:rPr lang="en-US" dirty="0" smtClean="0"/>
              <a:t>memory.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The</a:t>
            </a:r>
            <a:r>
              <a:rPr lang="en-US" dirty="0"/>
              <a:t> </a:t>
            </a:r>
            <a:r>
              <a:rPr lang="en-US" dirty="0" smtClean="0"/>
              <a:t>result </a:t>
            </a:r>
            <a:r>
              <a:rPr lang="en-US" dirty="0"/>
              <a:t>is placed in the </a:t>
            </a:r>
            <a:r>
              <a:rPr lang="en-US" dirty="0" smtClean="0"/>
              <a:t>accumulator.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If </a:t>
            </a:r>
            <a:r>
              <a:rPr lang="en-US" dirty="0"/>
              <a:t>the operand is </a:t>
            </a:r>
            <a:r>
              <a:rPr lang="en-US" dirty="0" smtClean="0"/>
              <a:t>a memory </a:t>
            </a:r>
            <a:r>
              <a:rPr lang="en-US" dirty="0"/>
              <a:t>location, its address is specified by the contents </a:t>
            </a:r>
            <a:r>
              <a:rPr lang="en-US" dirty="0" smtClean="0"/>
              <a:t>of H-L pair.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S</a:t>
            </a:r>
            <a:r>
              <a:rPr lang="en-US" dirty="0"/>
              <a:t>, Z, P are modified to reflect the result of </a:t>
            </a:r>
            <a:r>
              <a:rPr lang="en-US" dirty="0" smtClean="0"/>
              <a:t>the operation.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CY </a:t>
            </a:r>
            <a:r>
              <a:rPr lang="en-US" dirty="0"/>
              <a:t>is </a:t>
            </a:r>
            <a:r>
              <a:rPr lang="en-US" dirty="0" smtClean="0"/>
              <a:t>reset and AC </a:t>
            </a:r>
            <a:r>
              <a:rPr lang="en-US" dirty="0"/>
              <a:t>is set.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b="1" dirty="0"/>
              <a:t>Example: </a:t>
            </a:r>
            <a:r>
              <a:rPr lang="en-US" dirty="0"/>
              <a:t> ANA B or ANA M</a:t>
            </a:r>
            <a:r>
              <a:rPr lang="en-US" dirty="0" smtClean="0"/>
              <a:t>.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ANI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8-bit data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Logical AND immediate with accumulator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54290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54291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800"/>
              </a:spcAft>
              <a:defRPr/>
            </a:pPr>
            <a:r>
              <a:rPr lang="en-US" dirty="0" smtClean="0"/>
              <a:t>The </a:t>
            </a:r>
            <a:r>
              <a:rPr lang="en-US" dirty="0"/>
              <a:t>contents of the accumulator are logically </a:t>
            </a:r>
            <a:r>
              <a:rPr lang="en-US" dirty="0" err="1"/>
              <a:t>ANDed</a:t>
            </a:r>
            <a:r>
              <a:rPr lang="en-US" dirty="0"/>
              <a:t> with </a:t>
            </a:r>
            <a:r>
              <a:rPr lang="en-US" dirty="0" smtClean="0"/>
              <a:t>the 8-bit data.</a:t>
            </a:r>
          </a:p>
          <a:p>
            <a:pPr>
              <a:spcBef>
                <a:spcPts val="0"/>
              </a:spcBef>
              <a:spcAft>
                <a:spcPts val="1800"/>
              </a:spcAft>
              <a:defRPr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result is placed in </a:t>
            </a:r>
            <a:r>
              <a:rPr lang="en-US" dirty="0" smtClean="0"/>
              <a:t>the accumulator.</a:t>
            </a:r>
          </a:p>
          <a:p>
            <a:pPr>
              <a:spcBef>
                <a:spcPts val="0"/>
              </a:spcBef>
              <a:spcAft>
                <a:spcPts val="1800"/>
              </a:spcAft>
              <a:defRPr/>
            </a:pPr>
            <a:r>
              <a:rPr lang="en-US" dirty="0" smtClean="0"/>
              <a:t>S</a:t>
            </a:r>
            <a:r>
              <a:rPr lang="en-US" dirty="0"/>
              <a:t>, Z, P are modified to reflect the </a:t>
            </a:r>
            <a:r>
              <a:rPr lang="en-US" dirty="0" smtClean="0"/>
              <a:t>result.</a:t>
            </a:r>
            <a:endParaRPr lang="en-US" dirty="0"/>
          </a:p>
          <a:p>
            <a:pPr>
              <a:spcBef>
                <a:spcPts val="0"/>
              </a:spcBef>
              <a:spcAft>
                <a:spcPts val="1800"/>
              </a:spcAft>
              <a:defRPr/>
            </a:pPr>
            <a:r>
              <a:rPr lang="en-US" dirty="0" smtClean="0"/>
              <a:t>CY </a:t>
            </a:r>
            <a:r>
              <a:rPr lang="en-US" dirty="0"/>
              <a:t>is </a:t>
            </a:r>
            <a:r>
              <a:rPr lang="en-US" dirty="0" smtClean="0"/>
              <a:t>reset, AC </a:t>
            </a:r>
            <a:r>
              <a:rPr lang="en-US" dirty="0"/>
              <a:t>is set.</a:t>
            </a:r>
          </a:p>
          <a:p>
            <a:pPr>
              <a:spcBef>
                <a:spcPts val="0"/>
              </a:spcBef>
              <a:spcAft>
                <a:spcPts val="1800"/>
              </a:spcAft>
              <a:defRPr/>
            </a:pPr>
            <a:r>
              <a:rPr lang="en-US" b="1" dirty="0"/>
              <a:t>Example: </a:t>
            </a:r>
            <a:r>
              <a:rPr lang="en-US" dirty="0"/>
              <a:t> ANI 86H</a:t>
            </a:r>
            <a:r>
              <a:rPr lang="en-US" dirty="0" smtClean="0"/>
              <a:t>.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ORA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</a:t>
                      </a:r>
                    </a:p>
                    <a:p>
                      <a:r>
                        <a:rPr lang="en-US" sz="1800" baseline="0" dirty="0" smtClean="0"/>
                        <a:t>M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Logical OR register or memory with accumulator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55314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55315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1600" dirty="0" smtClean="0"/>
              <a:t>The </a:t>
            </a:r>
            <a:r>
              <a:rPr lang="en-US" sz="1600" dirty="0"/>
              <a:t>contents of the accumulator are logically </a:t>
            </a:r>
            <a:r>
              <a:rPr lang="en-US" sz="1600" dirty="0" err="1"/>
              <a:t>ORed</a:t>
            </a:r>
            <a:r>
              <a:rPr lang="en-US" sz="1600" dirty="0"/>
              <a:t> </a:t>
            </a:r>
            <a:r>
              <a:rPr lang="en-US" sz="1600" dirty="0" smtClean="0"/>
              <a:t>with the </a:t>
            </a:r>
            <a:r>
              <a:rPr lang="en-US" sz="1600" dirty="0"/>
              <a:t>contents of the </a:t>
            </a:r>
            <a:r>
              <a:rPr lang="en-US" sz="1600" dirty="0" smtClean="0"/>
              <a:t>register </a:t>
            </a:r>
            <a:r>
              <a:rPr lang="en-US" sz="1600" dirty="0"/>
              <a:t>or </a:t>
            </a:r>
            <a:r>
              <a:rPr lang="en-US" sz="1600" dirty="0" smtClean="0"/>
              <a:t>memory.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1600" dirty="0" smtClean="0"/>
              <a:t>The</a:t>
            </a:r>
            <a:r>
              <a:rPr lang="en-US" sz="1600" dirty="0"/>
              <a:t> </a:t>
            </a:r>
            <a:r>
              <a:rPr lang="en-US" sz="1600" dirty="0" smtClean="0"/>
              <a:t>result </a:t>
            </a:r>
            <a:r>
              <a:rPr lang="en-US" sz="1600" dirty="0"/>
              <a:t>is placed in the </a:t>
            </a:r>
            <a:r>
              <a:rPr lang="en-US" sz="1600" dirty="0" smtClean="0"/>
              <a:t>accumulator.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1600" dirty="0" smtClean="0"/>
              <a:t>If </a:t>
            </a:r>
            <a:r>
              <a:rPr lang="en-US" sz="1600" dirty="0"/>
              <a:t>the operand is </a:t>
            </a:r>
            <a:r>
              <a:rPr lang="en-US" sz="1600" dirty="0" smtClean="0"/>
              <a:t>a memory </a:t>
            </a:r>
            <a:r>
              <a:rPr lang="en-US" sz="1600" dirty="0"/>
              <a:t>location, its address is specified by the contents </a:t>
            </a:r>
            <a:r>
              <a:rPr lang="en-US" sz="1600" dirty="0" smtClean="0"/>
              <a:t>of H-L pair.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1600" dirty="0" smtClean="0"/>
              <a:t>S</a:t>
            </a:r>
            <a:r>
              <a:rPr lang="en-US" sz="1600" dirty="0"/>
              <a:t>, Z, P are modified to reflect the </a:t>
            </a:r>
            <a:r>
              <a:rPr lang="en-US" sz="1600" dirty="0" smtClean="0"/>
              <a:t>result.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1600" dirty="0" smtClean="0"/>
              <a:t>CY </a:t>
            </a:r>
            <a:r>
              <a:rPr lang="en-US" sz="1600" dirty="0"/>
              <a:t>and AC are reset.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1600" b="1" dirty="0"/>
              <a:t>Example:</a:t>
            </a:r>
            <a:r>
              <a:rPr lang="en-US" sz="1600" dirty="0"/>
              <a:t>  ORA B or ORA M</a:t>
            </a:r>
            <a:r>
              <a:rPr lang="en-US" sz="1600" dirty="0" smtClean="0"/>
              <a:t>.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ORI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8-bit data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Logical OR immediate with accumulator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56338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56339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dirty="0"/>
              <a:t>The contents of the accumulator are logically </a:t>
            </a:r>
            <a:r>
              <a:rPr lang="en-US" dirty="0" err="1"/>
              <a:t>ORed</a:t>
            </a:r>
            <a:r>
              <a:rPr lang="en-US" dirty="0"/>
              <a:t> with </a:t>
            </a:r>
            <a:r>
              <a:rPr lang="en-US" dirty="0" smtClean="0"/>
              <a:t>the 8-bit data.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result is placed in </a:t>
            </a:r>
            <a:r>
              <a:rPr lang="en-US" dirty="0" smtClean="0"/>
              <a:t>the accumulator.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dirty="0" smtClean="0"/>
              <a:t>S</a:t>
            </a:r>
            <a:r>
              <a:rPr lang="en-US" dirty="0"/>
              <a:t>, Z, P are modified to reflect the </a:t>
            </a:r>
            <a:r>
              <a:rPr lang="en-US" dirty="0" smtClean="0"/>
              <a:t>result.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dirty="0" smtClean="0"/>
              <a:t>CY </a:t>
            </a:r>
            <a:r>
              <a:rPr lang="en-US" dirty="0"/>
              <a:t>and AC are reset.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b="1" dirty="0"/>
              <a:t>Example:</a:t>
            </a:r>
            <a:r>
              <a:rPr lang="en-US" dirty="0"/>
              <a:t>  ORI 86H</a:t>
            </a:r>
            <a:r>
              <a:rPr lang="en-US" dirty="0" smtClean="0"/>
              <a:t>.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XRA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</a:t>
                      </a:r>
                    </a:p>
                    <a:p>
                      <a:r>
                        <a:rPr lang="en-US" sz="1800" baseline="0" dirty="0" smtClean="0"/>
                        <a:t>M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Logical XOR </a:t>
                      </a:r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register or memory with accumulator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57362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57363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/>
              <a:t>The contents of the accumulator are </a:t>
            </a:r>
            <a:r>
              <a:rPr lang="en-US" dirty="0" err="1" smtClean="0"/>
              <a:t>XORed</a:t>
            </a:r>
            <a:r>
              <a:rPr lang="en-US" dirty="0" smtClean="0"/>
              <a:t> with the </a:t>
            </a:r>
            <a:r>
              <a:rPr lang="en-US" dirty="0"/>
              <a:t>contents of the </a:t>
            </a:r>
            <a:r>
              <a:rPr lang="en-US" dirty="0" smtClean="0"/>
              <a:t>register </a:t>
            </a:r>
            <a:r>
              <a:rPr lang="en-US" dirty="0"/>
              <a:t>or </a:t>
            </a:r>
            <a:r>
              <a:rPr lang="en-US" dirty="0" smtClean="0"/>
              <a:t>memory.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The result </a:t>
            </a:r>
            <a:r>
              <a:rPr lang="en-US" dirty="0"/>
              <a:t>is placed in the </a:t>
            </a:r>
            <a:r>
              <a:rPr lang="en-US" dirty="0" smtClean="0"/>
              <a:t>accumulator.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If </a:t>
            </a:r>
            <a:r>
              <a:rPr lang="en-US" dirty="0"/>
              <a:t>the operand is </a:t>
            </a:r>
            <a:r>
              <a:rPr lang="en-US" dirty="0" smtClean="0"/>
              <a:t>a memory </a:t>
            </a:r>
            <a:r>
              <a:rPr lang="en-US" dirty="0"/>
              <a:t>location, its address is specified by the contents </a:t>
            </a:r>
            <a:r>
              <a:rPr lang="en-US" dirty="0" smtClean="0"/>
              <a:t>of H-L pair.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S</a:t>
            </a:r>
            <a:r>
              <a:rPr lang="en-US" dirty="0"/>
              <a:t>, Z, P are modified to reflect the result of </a:t>
            </a:r>
            <a:r>
              <a:rPr lang="en-US" dirty="0" smtClean="0"/>
              <a:t>the operation.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CY </a:t>
            </a:r>
            <a:r>
              <a:rPr lang="en-US" dirty="0"/>
              <a:t>and AC are reset</a:t>
            </a:r>
            <a:r>
              <a:rPr lang="en-US" dirty="0" smtClean="0"/>
              <a:t>.</a:t>
            </a:r>
            <a:endParaRPr lang="en-US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b="1" dirty="0"/>
              <a:t>Example:</a:t>
            </a:r>
            <a:r>
              <a:rPr lang="en-US" dirty="0"/>
              <a:t> XRA B or XRA M</a:t>
            </a:r>
            <a:r>
              <a:rPr lang="en-US" dirty="0" smtClean="0"/>
              <a:t>.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XRI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8-bit data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XOR immediate with accumulator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58386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58387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58388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12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the accumulator are XORed with the 8-bit data.</a:t>
            </a:r>
          </a:p>
          <a:p>
            <a:pPr marL="273050" indent="-273050">
              <a:spcAft>
                <a:spcPts val="12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result is placed in the accumulator.</a:t>
            </a:r>
          </a:p>
          <a:p>
            <a:pPr marL="273050" indent="-273050">
              <a:spcAft>
                <a:spcPts val="12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S, Z, P are modified to reflect the result.</a:t>
            </a:r>
          </a:p>
          <a:p>
            <a:pPr marL="273050" indent="-273050">
              <a:spcAft>
                <a:spcPts val="12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CY and AC are reset.</a:t>
            </a:r>
          </a:p>
          <a:p>
            <a:pPr marL="273050" indent="-273050">
              <a:spcAft>
                <a:spcPts val="12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XRI 86H.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RLC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Rotate accumulator left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59410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59411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/>
              <a:t>Each binary bit of the accumulator is rotated left by </a:t>
            </a:r>
            <a:r>
              <a:rPr lang="en-US" dirty="0" smtClean="0"/>
              <a:t>one position.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Bit </a:t>
            </a:r>
            <a:r>
              <a:rPr lang="en-US" dirty="0"/>
              <a:t>D7 is placed in the position of D0 as well as </a:t>
            </a:r>
            <a:r>
              <a:rPr lang="en-US" dirty="0" smtClean="0"/>
              <a:t>in the </a:t>
            </a:r>
            <a:r>
              <a:rPr lang="en-US" dirty="0"/>
              <a:t>Carry </a:t>
            </a:r>
            <a:r>
              <a:rPr lang="en-US" dirty="0" smtClean="0"/>
              <a:t>flag.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CY </a:t>
            </a:r>
            <a:r>
              <a:rPr lang="en-US" dirty="0"/>
              <a:t>is modified according to bit </a:t>
            </a:r>
            <a:r>
              <a:rPr lang="en-US" dirty="0" smtClean="0"/>
              <a:t>D7.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S</a:t>
            </a:r>
            <a:r>
              <a:rPr lang="en-US" dirty="0"/>
              <a:t>, Z, </a:t>
            </a:r>
            <a:r>
              <a:rPr lang="en-US" dirty="0" smtClean="0"/>
              <a:t>P, AC </a:t>
            </a:r>
            <a:r>
              <a:rPr lang="en-US" dirty="0"/>
              <a:t>are not affected.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b="1" dirty="0"/>
              <a:t>Example:</a:t>
            </a:r>
            <a:r>
              <a:rPr lang="en-US" dirty="0"/>
              <a:t> RLC.</a:t>
            </a:r>
            <a:endParaRPr lang="en-US" dirty="0" smtClean="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9032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RRC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Rotate accumulator right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60434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60435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/>
              <a:t>Each binary bit of the accumulator is rotated right by </a:t>
            </a:r>
            <a:r>
              <a:rPr lang="en-US" dirty="0" smtClean="0"/>
              <a:t>one position.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Bit </a:t>
            </a:r>
            <a:r>
              <a:rPr lang="en-US" dirty="0"/>
              <a:t>D0 is placed in the position of D7 as well as </a:t>
            </a:r>
            <a:r>
              <a:rPr lang="en-US" dirty="0" smtClean="0"/>
              <a:t>in the </a:t>
            </a:r>
            <a:r>
              <a:rPr lang="en-US" dirty="0"/>
              <a:t>Carry </a:t>
            </a:r>
            <a:r>
              <a:rPr lang="en-US" dirty="0" smtClean="0"/>
              <a:t>flag.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CY </a:t>
            </a:r>
            <a:r>
              <a:rPr lang="en-US" dirty="0"/>
              <a:t>is modified according to bit </a:t>
            </a:r>
            <a:r>
              <a:rPr lang="en-US" dirty="0" smtClean="0"/>
              <a:t>D0.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S</a:t>
            </a:r>
            <a:r>
              <a:rPr lang="en-US" dirty="0"/>
              <a:t>, Z, </a:t>
            </a:r>
            <a:r>
              <a:rPr lang="en-US" dirty="0" smtClean="0"/>
              <a:t>P, AC </a:t>
            </a:r>
            <a:r>
              <a:rPr lang="en-US" dirty="0"/>
              <a:t>are not affected.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b="1" dirty="0"/>
              <a:t>Example:</a:t>
            </a:r>
            <a:r>
              <a:rPr lang="en-US" dirty="0"/>
              <a:t> RRC.</a:t>
            </a:r>
            <a:endParaRPr lang="en-US" dirty="0" smtClean="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RAL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Rotate accumulator left through carry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61458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61459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/>
              <a:t>Each binary bit of the accumulator is rotated left by </a:t>
            </a:r>
            <a:r>
              <a:rPr lang="en-US" dirty="0" smtClean="0"/>
              <a:t>one position </a:t>
            </a:r>
            <a:r>
              <a:rPr lang="en-US" dirty="0"/>
              <a:t>through the Carry </a:t>
            </a:r>
            <a:r>
              <a:rPr lang="en-US" dirty="0" smtClean="0"/>
              <a:t>flag.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Bit </a:t>
            </a:r>
            <a:r>
              <a:rPr lang="en-US" dirty="0"/>
              <a:t>D7 is placed in the </a:t>
            </a:r>
            <a:r>
              <a:rPr lang="en-US" dirty="0" smtClean="0"/>
              <a:t>Carry flag</a:t>
            </a:r>
            <a:r>
              <a:rPr lang="en-US" dirty="0"/>
              <a:t>, and the Carry flag is placed in the least </a:t>
            </a:r>
            <a:r>
              <a:rPr lang="en-US" dirty="0" smtClean="0"/>
              <a:t>significant position D0.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CY </a:t>
            </a:r>
            <a:r>
              <a:rPr lang="en-US" dirty="0"/>
              <a:t>is modified according to bit </a:t>
            </a:r>
            <a:r>
              <a:rPr lang="en-US" dirty="0" smtClean="0"/>
              <a:t>D7.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S</a:t>
            </a:r>
            <a:r>
              <a:rPr lang="en-US" dirty="0"/>
              <a:t>, Z, P, </a:t>
            </a:r>
            <a:r>
              <a:rPr lang="en-US" dirty="0" smtClean="0"/>
              <a:t>AC are </a:t>
            </a:r>
            <a:r>
              <a:rPr lang="en-US" dirty="0"/>
              <a:t>not affected.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b="1" dirty="0"/>
              <a:t>Example:</a:t>
            </a:r>
            <a:r>
              <a:rPr lang="en-US" dirty="0"/>
              <a:t> RAL.</a:t>
            </a:r>
            <a:endParaRPr lang="en-US" dirty="0" smtClean="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RAR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Rotate accumulator right through carry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62482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62483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213100"/>
            <a:ext cx="8229600" cy="31115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/>
              <a:t>Each binary bit of the accumulator is rotated right by </a:t>
            </a:r>
            <a:r>
              <a:rPr lang="en-US" dirty="0" smtClean="0"/>
              <a:t>one position </a:t>
            </a:r>
            <a:r>
              <a:rPr lang="en-US" dirty="0"/>
              <a:t>through the Carry </a:t>
            </a:r>
            <a:r>
              <a:rPr lang="en-US" dirty="0" smtClean="0"/>
              <a:t>flag.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Bit </a:t>
            </a:r>
            <a:r>
              <a:rPr lang="en-US" dirty="0"/>
              <a:t>D0 is placed in the </a:t>
            </a:r>
            <a:r>
              <a:rPr lang="en-US" dirty="0" smtClean="0"/>
              <a:t>Carry flag</a:t>
            </a:r>
            <a:r>
              <a:rPr lang="en-US" dirty="0"/>
              <a:t>, and the Carry flag is placed in the most </a:t>
            </a:r>
            <a:r>
              <a:rPr lang="en-US" dirty="0" smtClean="0"/>
              <a:t>significant position D7.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CY </a:t>
            </a:r>
            <a:r>
              <a:rPr lang="en-US" dirty="0"/>
              <a:t>is modified according to bit </a:t>
            </a:r>
            <a:r>
              <a:rPr lang="en-US" dirty="0" smtClean="0"/>
              <a:t>D0.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S</a:t>
            </a:r>
            <a:r>
              <a:rPr lang="en-US" dirty="0"/>
              <a:t>, Z, P, </a:t>
            </a:r>
            <a:r>
              <a:rPr lang="en-US" dirty="0" smtClean="0"/>
              <a:t>AC are </a:t>
            </a:r>
            <a:r>
              <a:rPr lang="en-US" dirty="0"/>
              <a:t>not affected.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b="1" dirty="0"/>
              <a:t>Example:</a:t>
            </a:r>
            <a:r>
              <a:rPr lang="en-US" dirty="0"/>
              <a:t> RAR.</a:t>
            </a:r>
            <a:endParaRPr lang="en-US" dirty="0" smtClean="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CMA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Complement accumulator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63506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63507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63508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contents of the accumulator are complemented.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No flags are affected.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CMA.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CMC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Complement carry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64530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64531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64532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Carry flag is complemented.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No other flags are affected.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CMC.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Logical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STC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Set carry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65554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65555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65556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Carry flag is set to 1.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No other flags are affected.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STC.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Branching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The branching instruction alter the normal sequential flow.</a:t>
            </a:r>
          </a:p>
          <a:p>
            <a:pPr marL="0" indent="0">
              <a:buFont typeface="Wingdings 2" pitchFamily="18" charset="2"/>
              <a:buNone/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These instructions alter either unconditionally or conditionally.</a:t>
            </a:r>
            <a:endParaRPr lang="en-US" dirty="0"/>
          </a:p>
        </p:txBody>
      </p:sp>
      <p:sp>
        <p:nvSpPr>
          <p:cNvPr id="66564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66565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66566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endParaRPr lang="en-US" sz="260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Branching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smtClean="0"/>
                        <a:t>JMP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16-bit address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Jump unconditionally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67602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67603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67604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program sequence is transferred to the memory location specified by the 16-bit address given in the operand.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JMP 2034 H.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Branching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smtClean="0"/>
                        <a:t>Jx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16-bit address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Jump </a:t>
                      </a:r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conditionally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68626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68627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68628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program sequence is transferred to the memory location specified by the 16-bit address given in the operand based on the specified flag of the PSW.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JZ 2034 H.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Jump Conditionally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410527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0329"/>
                <a:gridCol w="2800311"/>
                <a:gridCol w="2740360"/>
              </a:tblGrid>
              <a:tr h="3657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Status Flags</a:t>
                      </a:r>
                      <a:endParaRPr lang="en-US" sz="1800" i="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JC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smtClean="0"/>
                        <a:t>Jump </a:t>
                      </a:r>
                      <a:r>
                        <a:rPr lang="en-US" sz="1800" baseline="0" dirty="0" smtClean="0"/>
                        <a:t>if Carry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CY = 1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JNC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smtClean="0"/>
                        <a:t>Jump </a:t>
                      </a:r>
                      <a:r>
                        <a:rPr lang="en-US" sz="1800" baseline="0" dirty="0" smtClean="0"/>
                        <a:t>if No Carry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CY = 0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JP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smtClean="0"/>
                        <a:t>Jump </a:t>
                      </a:r>
                      <a:r>
                        <a:rPr lang="en-US" sz="1800" baseline="0" dirty="0" smtClean="0"/>
                        <a:t>if Positive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 = 0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JM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smtClean="0"/>
                        <a:t>Jump </a:t>
                      </a:r>
                      <a:r>
                        <a:rPr lang="en-US" sz="1800" baseline="0" dirty="0" smtClean="0"/>
                        <a:t>if Minus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 = 1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JZ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smtClean="0"/>
                        <a:t>Jump </a:t>
                      </a:r>
                      <a:r>
                        <a:rPr lang="en-US" sz="1800" baseline="0" dirty="0" smtClean="0"/>
                        <a:t>if Zero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Z = 1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JNZ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smtClean="0"/>
                        <a:t>Jump </a:t>
                      </a:r>
                      <a:r>
                        <a:rPr lang="en-US" sz="1800" baseline="0" dirty="0" smtClean="0"/>
                        <a:t>if No Zero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Z = 0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JPE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smtClean="0"/>
                        <a:t>Jump </a:t>
                      </a:r>
                      <a:r>
                        <a:rPr lang="en-US" sz="1800" baseline="0" dirty="0" smtClean="0"/>
                        <a:t>if Parity Even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P = 1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JPO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smtClean="0"/>
                        <a:t>Jump </a:t>
                      </a:r>
                      <a:r>
                        <a:rPr lang="en-US" sz="1800" baseline="0" dirty="0" smtClean="0"/>
                        <a:t>if Parity Odd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P = 0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</a:tbl>
          </a:graphicData>
        </a:graphic>
      </p:graphicFrame>
      <p:sp>
        <p:nvSpPr>
          <p:cNvPr id="69678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69679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pic>
        <p:nvPicPr>
          <p:cNvPr id="6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Branching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CALL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16-bit address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Call unconditionally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70674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70675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68628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024188"/>
          </a:xfrm>
          <a:prstGeom prst="rect">
            <a:avLst/>
          </a:prstGeom>
          <a:noFill/>
          <a:extLst>
            <a:ext uri="{909E8E84-426E-40dd-AFC4-6F175D3DCCD1}"/>
            <a:ext uri="{91240B29-F687-4f45-9708-019B960494DF}"/>
          </a:extLst>
        </p:spPr>
        <p:txBody>
          <a:bodyPr>
            <a:normAutofit fontScale="92500" lnSpcReduction="10000"/>
          </a:bodyPr>
          <a:lstStyle>
            <a:lvl1pPr marL="273050" indent="-27305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9pPr>
          </a:lstStyle>
          <a:p>
            <a:pPr eaLnBrk="1" hangingPunct="1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sz="2600" dirty="0" smtClean="0"/>
              <a:t>The program sequence is transferred to the memory location specified by the 16-bit address given in the operand.</a:t>
            </a:r>
          </a:p>
          <a:p>
            <a:pPr eaLnBrk="1" hangingPunct="1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sz="2600" dirty="0" smtClean="0"/>
              <a:t>Before the transfer, the address of the next instruction after CALL (the contents of the program counter) is pushed onto the stack.</a:t>
            </a:r>
          </a:p>
          <a:p>
            <a:pPr eaLnBrk="1" hangingPunct="1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sz="2600" b="1" dirty="0" smtClean="0"/>
              <a:t>Example:</a:t>
            </a:r>
            <a:r>
              <a:rPr lang="en-US" sz="2600" dirty="0" smtClean="0"/>
              <a:t> CALL 2034 H.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Branching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Cx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16-bit address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Call conditionally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71698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71699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69652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extLst>
            <a:ext uri="{909E8E84-426E-40dd-AFC4-6F175D3DCCD1}"/>
            <a:ext uri="{91240B29-F687-4f45-9708-019B960494DF}"/>
          </a:extLst>
        </p:spPr>
        <p:txBody>
          <a:bodyPr>
            <a:normAutofit lnSpcReduction="10000"/>
          </a:bodyPr>
          <a:lstStyle>
            <a:lvl1pPr marL="273050" indent="-27305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9pPr>
          </a:lstStyle>
          <a:p>
            <a:pPr eaLnBrk="1" hangingPunct="1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sz="2600" dirty="0" smtClean="0"/>
              <a:t>The program sequence is transferred to the memory location specified by the 16-bit address given in the operand based on the specified flag of the PSW.</a:t>
            </a:r>
          </a:p>
          <a:p>
            <a:pPr eaLnBrk="1" hangingPunct="1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sz="2600" dirty="0" smtClean="0"/>
              <a:t>Before the transfer, the address of the next instruction after the call (the contents of the program counter) is pushed onto the stack.</a:t>
            </a:r>
          </a:p>
          <a:p>
            <a:pPr eaLnBrk="1" hangingPunct="1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sz="2600" b="1" dirty="0" smtClean="0"/>
              <a:t>Example:</a:t>
            </a:r>
            <a:r>
              <a:rPr lang="en-US" sz="2600" dirty="0" smtClean="0"/>
              <a:t> CZ 2034 H.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Call Conditionally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410527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0329"/>
                <a:gridCol w="2800311"/>
                <a:gridCol w="2740360"/>
              </a:tblGrid>
              <a:tr h="3657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Status Flags</a:t>
                      </a:r>
                      <a:endParaRPr lang="en-US" sz="1800" i="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CC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Call if Carry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CY = 1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CNC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Call if No Carry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CY = 0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CP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Call if Positive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 = 0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CM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Call if Minus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 = 1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CZ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Call if Zero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Z = 1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CNZ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Call if No Zero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Z = 0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CPE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Call if Parity Even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P = 1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CPO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Call if Parity Odd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P = 0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</a:tbl>
          </a:graphicData>
        </a:graphic>
      </p:graphicFrame>
      <p:sp>
        <p:nvSpPr>
          <p:cNvPr id="72750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72751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pic>
        <p:nvPicPr>
          <p:cNvPr id="6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Branching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RET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 unconditionally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73746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73747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73748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program sequence is transferred from the subroutine to the calling program.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two bytes from the top of the stack are copied into the program counter, and program execution begins at the new address.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RET.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Branching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Rx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Call conditionally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74770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74771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69652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extLst>
            <a:ext uri="{909E8E84-426E-40dd-AFC4-6F175D3DCCD1}"/>
            <a:ext uri="{91240B29-F687-4f45-9708-019B960494DF}"/>
          </a:extLst>
        </p:spPr>
        <p:txBody>
          <a:bodyPr>
            <a:normAutofit lnSpcReduction="10000"/>
          </a:bodyPr>
          <a:lstStyle>
            <a:lvl1pPr marL="273050" indent="-27305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9pPr>
          </a:lstStyle>
          <a:p>
            <a:pPr eaLnBrk="1" hangingPunct="1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sz="2600" dirty="0" smtClean="0"/>
              <a:t>The program sequence is transferred from the subroutine to the calling program based on the specified flag of the PSW.</a:t>
            </a:r>
          </a:p>
          <a:p>
            <a:pPr eaLnBrk="1" hangingPunct="1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sz="2600" dirty="0" smtClean="0"/>
              <a:t>The two bytes from the top of the stack are copied into the program counter, and program execution begins at the new address.</a:t>
            </a:r>
          </a:p>
          <a:p>
            <a:pPr eaLnBrk="1" hangingPunct="1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sz="2600" b="1" dirty="0" smtClean="0"/>
              <a:t>Example:</a:t>
            </a:r>
            <a:r>
              <a:rPr lang="en-US" sz="2600" dirty="0" smtClean="0"/>
              <a:t> RZ.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Return Conditionally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410527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0329"/>
                <a:gridCol w="2800311"/>
                <a:gridCol w="2740360"/>
              </a:tblGrid>
              <a:tr h="3657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Status Flags</a:t>
                      </a:r>
                      <a:endParaRPr lang="en-US" sz="1800" i="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RC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Return if Carry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CY = 1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RNC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Return if No Carry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CY = 0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RP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Return if Positive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 = 0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RM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Return if Minus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 = 1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RZ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Return if Zero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Z = 1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RNZ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Return if No Zero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Z = 0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RPE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Return if Parity Even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P = 1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RPO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Return if Parity Odd</a:t>
                      </a:r>
                    </a:p>
                  </a:txBody>
                  <a:tcPr marL="88900" marR="88900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P = 0</a:t>
                      </a:r>
                      <a:endParaRPr lang="en-US" sz="1800" dirty="0"/>
                    </a:p>
                  </a:txBody>
                  <a:tcPr marL="88900" marR="88900" marT="45735" marB="45735"/>
                </a:tc>
              </a:tr>
            </a:tbl>
          </a:graphicData>
        </a:graphic>
      </p:graphicFrame>
      <p:sp>
        <p:nvSpPr>
          <p:cNvPr id="75822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75823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pic>
        <p:nvPicPr>
          <p:cNvPr id="6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Branching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RST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0 – 7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Restart (Software Interrupts)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76818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76819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76820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RST instruction jumps the control to one of eight memory locations depending upon the number.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These are used as software instructions in a program to transfer program execution to one of the eight locations.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RST 3.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Restart Address Table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1835150" y="1935163"/>
          <a:ext cx="5473700" cy="410527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64033"/>
                <a:gridCol w="2709667"/>
              </a:tblGrid>
              <a:tr h="365799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 smtClean="0"/>
                        <a:t>Instructions</a:t>
                      </a:r>
                      <a:endParaRPr lang="en-US" sz="1800" i="0" dirty="0"/>
                    </a:p>
                  </a:txBody>
                  <a:tcPr marL="91458" marR="91458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Restart Address</a:t>
                      </a:r>
                      <a:endParaRPr lang="en-US" sz="1800" i="0" dirty="0"/>
                    </a:p>
                  </a:txBody>
                  <a:tcPr marL="91458" marR="91458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RST</a:t>
                      </a:r>
                      <a:r>
                        <a:rPr lang="en-US" sz="1800" baseline="0" dirty="0" smtClean="0"/>
                        <a:t> 0</a:t>
                      </a:r>
                      <a:endParaRPr lang="en-US" sz="1800" dirty="0"/>
                    </a:p>
                  </a:txBody>
                  <a:tcPr marL="91458" marR="91458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 smtClean="0"/>
                        <a:t>0000 H</a:t>
                      </a:r>
                    </a:p>
                  </a:txBody>
                  <a:tcPr marL="91458" marR="91458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RST</a:t>
                      </a:r>
                      <a:r>
                        <a:rPr lang="en-US" sz="1800" baseline="0" dirty="0" smtClean="0"/>
                        <a:t> 1</a:t>
                      </a:r>
                      <a:endParaRPr lang="en-US" sz="1800" dirty="0"/>
                    </a:p>
                  </a:txBody>
                  <a:tcPr marL="91458" marR="91458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 smtClean="0"/>
                        <a:t>0008 H</a:t>
                      </a:r>
                    </a:p>
                  </a:txBody>
                  <a:tcPr marL="91458" marR="91458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RST</a:t>
                      </a:r>
                      <a:r>
                        <a:rPr lang="en-US" sz="1800" baseline="0" dirty="0" smtClean="0"/>
                        <a:t> 2</a:t>
                      </a:r>
                      <a:endParaRPr lang="en-US" sz="1800" dirty="0"/>
                    </a:p>
                  </a:txBody>
                  <a:tcPr marL="91458" marR="91458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 smtClean="0"/>
                        <a:t>0010 H</a:t>
                      </a:r>
                    </a:p>
                  </a:txBody>
                  <a:tcPr marL="91458" marR="91458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RST</a:t>
                      </a:r>
                      <a:r>
                        <a:rPr lang="en-US" sz="1800" baseline="0" dirty="0" smtClean="0"/>
                        <a:t> 3</a:t>
                      </a:r>
                      <a:endParaRPr lang="en-US" sz="1800" dirty="0"/>
                    </a:p>
                  </a:txBody>
                  <a:tcPr marL="91458" marR="91458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 smtClean="0"/>
                        <a:t>0018 H</a:t>
                      </a:r>
                    </a:p>
                  </a:txBody>
                  <a:tcPr marL="91458" marR="91458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RST</a:t>
                      </a:r>
                      <a:r>
                        <a:rPr lang="en-US" sz="1800" baseline="0" dirty="0" smtClean="0"/>
                        <a:t> 4</a:t>
                      </a:r>
                      <a:endParaRPr lang="en-US" sz="1800" dirty="0"/>
                    </a:p>
                  </a:txBody>
                  <a:tcPr marL="91458" marR="91458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 smtClean="0"/>
                        <a:t>0020 H</a:t>
                      </a:r>
                    </a:p>
                  </a:txBody>
                  <a:tcPr marL="91458" marR="91458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RST</a:t>
                      </a:r>
                      <a:r>
                        <a:rPr lang="en-US" sz="1800" baseline="0" dirty="0" smtClean="0"/>
                        <a:t> 5</a:t>
                      </a:r>
                      <a:endParaRPr lang="en-US" sz="1800" dirty="0"/>
                    </a:p>
                  </a:txBody>
                  <a:tcPr marL="91458" marR="91458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 smtClean="0"/>
                        <a:t>0028 H</a:t>
                      </a:r>
                    </a:p>
                  </a:txBody>
                  <a:tcPr marL="91458" marR="91458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RST</a:t>
                      </a:r>
                      <a:r>
                        <a:rPr lang="en-US" sz="1800" baseline="0" dirty="0" smtClean="0"/>
                        <a:t> 6</a:t>
                      </a:r>
                      <a:endParaRPr lang="en-US" sz="1800" dirty="0"/>
                    </a:p>
                  </a:txBody>
                  <a:tcPr marL="91458" marR="91458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 smtClean="0"/>
                        <a:t>0030 H</a:t>
                      </a:r>
                    </a:p>
                  </a:txBody>
                  <a:tcPr marL="91458" marR="91458" marT="45735" marB="45735"/>
                </a:tc>
              </a:tr>
              <a:tr h="467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RST</a:t>
                      </a:r>
                      <a:r>
                        <a:rPr lang="en-US" sz="1800" baseline="0" dirty="0" smtClean="0"/>
                        <a:t> 7</a:t>
                      </a:r>
                      <a:endParaRPr lang="en-US" sz="1800" dirty="0"/>
                    </a:p>
                  </a:txBody>
                  <a:tcPr marL="91458" marR="91458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 smtClean="0"/>
                        <a:t>0038 H</a:t>
                      </a:r>
                    </a:p>
                  </a:txBody>
                  <a:tcPr marL="91458" marR="91458" marT="45735" marB="45735"/>
                </a:tc>
              </a:tr>
            </a:tbl>
          </a:graphicData>
        </a:graphic>
      </p:graphicFrame>
      <p:sp>
        <p:nvSpPr>
          <p:cNvPr id="77860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77861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pic>
        <p:nvPicPr>
          <p:cNvPr id="6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Control Instructions</a:t>
            </a:r>
          </a:p>
        </p:txBody>
      </p:sp>
      <p:sp>
        <p:nvSpPr>
          <p:cNvPr id="788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control instructions control the operation of microprocessor.</a:t>
            </a:r>
          </a:p>
        </p:txBody>
      </p:sp>
      <p:sp>
        <p:nvSpPr>
          <p:cNvPr id="78852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78853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78854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endParaRPr lang="en-US" sz="2600"/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Control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NOP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operation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79890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79891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79892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No operation is performed.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instruction is fetched and decoded but no operation is executed.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NOP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Control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HLT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Halt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80914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80915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80916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CPU finishes executing the current instruction and halts any further execution.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An interrupt or reset is necessary to exit from the halt state.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HLT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Control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DI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Disable interrupt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81938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81939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81940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interrupt enable flip-flop is reset and all the interrupts except the TRAP are disabled.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No flags are affected.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DI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Control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EI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Enable interrupt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82962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82963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69652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extLst>
            <a:ext uri="{909E8E84-426E-40dd-AFC4-6F175D3DCCD1}"/>
            <a:ext uri="{91240B29-F687-4f45-9708-019B960494DF}"/>
          </a:extLst>
        </p:spPr>
        <p:txBody>
          <a:bodyPr>
            <a:normAutofit lnSpcReduction="10000"/>
          </a:bodyPr>
          <a:lstStyle>
            <a:lvl1pPr marL="273050" indent="-27305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9pPr>
          </a:lstStyle>
          <a:p>
            <a:pPr eaLnBrk="1" hangingPunct="1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sz="2600" dirty="0"/>
              <a:t>The interrupt enable flip-flop is set and all interrupts </a:t>
            </a:r>
            <a:r>
              <a:rPr lang="en-US" sz="2600" dirty="0" smtClean="0"/>
              <a:t>are enabled.</a:t>
            </a:r>
          </a:p>
          <a:p>
            <a:pPr eaLnBrk="1" hangingPunct="1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sz="2600" dirty="0" smtClean="0"/>
              <a:t>No </a:t>
            </a:r>
            <a:r>
              <a:rPr lang="en-US" sz="2600" dirty="0"/>
              <a:t>flags are affected</a:t>
            </a:r>
            <a:r>
              <a:rPr lang="en-US" sz="2600" dirty="0" smtClean="0"/>
              <a:t>.</a:t>
            </a:r>
          </a:p>
          <a:p>
            <a:pPr eaLnBrk="1" hangingPunct="1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sz="2600" dirty="0"/>
              <a:t>This instruction </a:t>
            </a:r>
            <a:r>
              <a:rPr lang="en-US" sz="2600" dirty="0" smtClean="0"/>
              <a:t>is necessary </a:t>
            </a:r>
            <a:r>
              <a:rPr lang="en-US" sz="2600" dirty="0"/>
              <a:t>to </a:t>
            </a:r>
            <a:r>
              <a:rPr lang="en-US" sz="2600" dirty="0" smtClean="0"/>
              <a:t>re-enable </a:t>
            </a:r>
            <a:r>
              <a:rPr lang="en-US" sz="2600" dirty="0"/>
              <a:t>the interrupts (except TRAP).</a:t>
            </a:r>
            <a:endParaRPr lang="en-US" sz="2600" dirty="0" smtClean="0"/>
          </a:p>
          <a:p>
            <a:pPr eaLnBrk="1" hangingPunct="1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sz="2600" b="1" dirty="0" smtClean="0"/>
              <a:t>Example:</a:t>
            </a:r>
            <a:r>
              <a:rPr lang="en-US" sz="2600" dirty="0" smtClean="0"/>
              <a:t> </a:t>
            </a:r>
            <a:r>
              <a:rPr lang="en-US" sz="2600" dirty="0"/>
              <a:t>E</a:t>
            </a:r>
            <a:r>
              <a:rPr lang="en-US" sz="2600" dirty="0" smtClean="0"/>
              <a:t>I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Control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RIM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Read Interrupt Mask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83986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83987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83988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This is a multipurpose instruction used to read the status of interrupts 7.5, 6.5, 5.5 and read serial data input bit.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instruction loads eight bits in the accumulator with the following interpretations.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RIM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RIM Instruction</a:t>
            </a:r>
          </a:p>
        </p:txBody>
      </p:sp>
      <p:pic>
        <p:nvPicPr>
          <p:cNvPr id="84998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738" y="2300475"/>
            <a:ext cx="8001000" cy="3171449"/>
          </a:xfrm>
          <a:noFill/>
        </p:spPr>
      </p:pic>
      <p:sp>
        <p:nvSpPr>
          <p:cNvPr id="84996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84997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pic>
        <p:nvPicPr>
          <p:cNvPr id="6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Control Instructions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10112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228"/>
                <a:gridCol w="1820202"/>
                <a:gridCol w="463057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Opcode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Operand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Description</a:t>
                      </a:r>
                      <a:endParaRPr lang="en-US" sz="1800" i="0" dirty="0"/>
                    </a:p>
                  </a:txBody>
                  <a:tcPr marL="88900" marR="88900" marT="45734" marB="45734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SIM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None</a:t>
                      </a:r>
                    </a:p>
                  </a:txBody>
                  <a:tcPr marL="88900" marR="88900" marT="45734" marB="45734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Set Interrupt Mask</a:t>
                      </a:r>
                      <a:endParaRPr lang="en-US" sz="1800" dirty="0"/>
                    </a:p>
                  </a:txBody>
                  <a:tcPr marL="88900" marR="88900" marT="45734" marB="45734"/>
                </a:tc>
              </a:tr>
            </a:tbl>
          </a:graphicData>
        </a:graphic>
      </p:graphicFrame>
      <p:sp>
        <p:nvSpPr>
          <p:cNvPr id="86034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86035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sp>
        <p:nvSpPr>
          <p:cNvPr id="86036" name="Content Placeholder 2"/>
          <p:cNvSpPr txBox="1">
            <a:spLocks/>
          </p:cNvSpPr>
          <p:nvPr/>
        </p:nvSpPr>
        <p:spPr bwMode="auto">
          <a:xfrm>
            <a:off x="457200" y="3213100"/>
            <a:ext cx="82296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This is a multipurpose instruction and used to implement the 8085 interrupts 7.5, 6.5, 5.5, and serial data output.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/>
              <a:t>The instruction interprets the accumulator contents as follows.</a:t>
            </a:r>
          </a:p>
          <a:p>
            <a:pPr marL="273050" indent="-273050">
              <a:spcAft>
                <a:spcPts val="180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</a:pPr>
            <a:r>
              <a:rPr lang="en-US" sz="2600" b="1"/>
              <a:t>Example:</a:t>
            </a:r>
            <a:r>
              <a:rPr lang="en-US" sz="2600"/>
              <a:t> SIM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smtClean="0"/>
              <a:t>SIM Instruction</a:t>
            </a:r>
          </a:p>
        </p:txBody>
      </p:sp>
      <p:pic>
        <p:nvPicPr>
          <p:cNvPr id="87046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738" y="2536530"/>
            <a:ext cx="8001000" cy="2699339"/>
          </a:xfrm>
        </p:spPr>
      </p:pic>
      <p:sp>
        <p:nvSpPr>
          <p:cNvPr id="87044" name="Footer Placeholder 3"/>
          <p:cNvSpPr txBox="1">
            <a:spLocks/>
          </p:cNvSpPr>
          <p:nvPr/>
        </p:nvSpPr>
        <p:spPr bwMode="auto">
          <a:xfrm>
            <a:off x="6516688" y="6381750"/>
            <a:ext cx="1976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</p:txBody>
      </p:sp>
      <p:sp>
        <p:nvSpPr>
          <p:cNvPr id="87045" name="Footer Placeholder 3"/>
          <p:cNvSpPr txBox="1">
            <a:spLocks/>
          </p:cNvSpPr>
          <p:nvPr/>
        </p:nvSpPr>
        <p:spPr bwMode="auto">
          <a:xfrm>
            <a:off x="107950" y="6237288"/>
            <a:ext cx="3240088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1400" b="1" dirty="0" smtClean="0">
                <a:solidFill>
                  <a:srgbClr val="045C75"/>
                </a:solidFill>
              </a:rPr>
              <a:t> </a:t>
            </a:r>
            <a:endParaRPr lang="en-US" sz="1400" b="1" dirty="0">
              <a:solidFill>
                <a:srgbClr val="045C75"/>
              </a:solidFill>
            </a:endParaRPr>
          </a:p>
          <a:p>
            <a:r>
              <a:rPr lang="en-US" sz="1400" dirty="0" smtClean="0">
                <a:solidFill>
                  <a:srgbClr val="045C75"/>
                </a:solidFill>
              </a:rPr>
              <a:t> </a:t>
            </a:r>
            <a:endParaRPr lang="en-US" sz="1400" dirty="0">
              <a:solidFill>
                <a:srgbClr val="045C75"/>
              </a:solidFill>
            </a:endParaRPr>
          </a:p>
        </p:txBody>
      </p:sp>
      <p:pic>
        <p:nvPicPr>
          <p:cNvPr id="6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487</TotalTime>
  <Words>4188</Words>
  <Application>Microsoft Office PowerPoint</Application>
  <PresentationFormat>On-screen Show (4:3)</PresentationFormat>
  <Paragraphs>1076</Paragraphs>
  <Slides>81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2" baseType="lpstr">
      <vt:lpstr>Theme1</vt:lpstr>
      <vt:lpstr>INSTRUCTION SET OF 8085(UNIT-2) SUB: Microprocessor &amp; Interfaces</vt:lpstr>
      <vt:lpstr>Instruction Set of 8085</vt:lpstr>
      <vt:lpstr>   Classification of Instruction Set</vt:lpstr>
      <vt:lpstr>Data Transfer Instructions</vt:lpstr>
      <vt:lpstr>Data Transfer Instructions</vt:lpstr>
      <vt:lpstr>Data Transfer Instructions</vt:lpstr>
      <vt:lpstr>Data Transfer Instructions</vt:lpstr>
      <vt:lpstr>Data Transfer Instructions</vt:lpstr>
      <vt:lpstr>Data Transfer Instructions</vt:lpstr>
      <vt:lpstr>Data Transfer Instructions</vt:lpstr>
      <vt:lpstr>Data Transfer Instructions</vt:lpstr>
      <vt:lpstr>Data Transfer Instructions</vt:lpstr>
      <vt:lpstr>Data Transfer Instructions</vt:lpstr>
      <vt:lpstr>Data Transfer Instructions</vt:lpstr>
      <vt:lpstr>Data Transfer Instructions</vt:lpstr>
      <vt:lpstr>Data Transfer Instructions</vt:lpstr>
      <vt:lpstr>Data Transfer Instructions</vt:lpstr>
      <vt:lpstr>Data Transfer Instructions</vt:lpstr>
      <vt:lpstr>Data Transfer Instructions</vt:lpstr>
      <vt:lpstr>Data Transfer Instructions</vt:lpstr>
      <vt:lpstr>Data Transfer Instructions</vt:lpstr>
      <vt:lpstr>Arithmetic Instructions</vt:lpstr>
      <vt:lpstr>Addition</vt:lpstr>
      <vt:lpstr>Subtraction</vt:lpstr>
      <vt:lpstr>Increment / Decrement</vt:lpstr>
      <vt:lpstr>Arithmetic Instructions</vt:lpstr>
      <vt:lpstr>Arithmetic Instructions</vt:lpstr>
      <vt:lpstr>Arithmetic Instructions</vt:lpstr>
      <vt:lpstr>Arithmetic Instructions</vt:lpstr>
      <vt:lpstr>Arithmetic Instructions</vt:lpstr>
      <vt:lpstr>Arithmetic Instructions</vt:lpstr>
      <vt:lpstr>Arithmetic Instructions</vt:lpstr>
      <vt:lpstr>Arithmetic Instructions</vt:lpstr>
      <vt:lpstr>Arithmetic Instructions</vt:lpstr>
      <vt:lpstr>Arithmetic Instructions</vt:lpstr>
      <vt:lpstr>Arithmetic Instructions</vt:lpstr>
      <vt:lpstr>Arithmetic Instructions</vt:lpstr>
      <vt:lpstr>Arithmetic Instructions</vt:lpstr>
      <vt:lpstr>Logical Instructions</vt:lpstr>
      <vt:lpstr>AND, OR, XOR</vt:lpstr>
      <vt:lpstr>Rotate</vt:lpstr>
      <vt:lpstr>Compare</vt:lpstr>
      <vt:lpstr>Complement</vt:lpstr>
      <vt:lpstr>Logical Instructions</vt:lpstr>
      <vt:lpstr>Logical Instructions</vt:lpstr>
      <vt:lpstr>Logical Instructions</vt:lpstr>
      <vt:lpstr>Logical Instructions</vt:lpstr>
      <vt:lpstr>Logical Instructions</vt:lpstr>
      <vt:lpstr>Logical Instructions</vt:lpstr>
      <vt:lpstr>Logical Instructions</vt:lpstr>
      <vt:lpstr>Logical Instructions</vt:lpstr>
      <vt:lpstr>Logical Instructions</vt:lpstr>
      <vt:lpstr>Logical Instructions</vt:lpstr>
      <vt:lpstr>Logical Instructions</vt:lpstr>
      <vt:lpstr>Logical Instructions</vt:lpstr>
      <vt:lpstr>Logical Instructions</vt:lpstr>
      <vt:lpstr>Logical Instructions</vt:lpstr>
      <vt:lpstr>Logical Instructions</vt:lpstr>
      <vt:lpstr>Logical Instructions</vt:lpstr>
      <vt:lpstr>Logical Instructions</vt:lpstr>
      <vt:lpstr>Branching Instructions</vt:lpstr>
      <vt:lpstr>Branching Instructions</vt:lpstr>
      <vt:lpstr>Branching Instructions</vt:lpstr>
      <vt:lpstr>Jump Conditionally</vt:lpstr>
      <vt:lpstr>Branching Instructions</vt:lpstr>
      <vt:lpstr>Branching Instructions</vt:lpstr>
      <vt:lpstr>Call Conditionally</vt:lpstr>
      <vt:lpstr>Branching Instructions</vt:lpstr>
      <vt:lpstr>Branching Instructions</vt:lpstr>
      <vt:lpstr>Return Conditionally</vt:lpstr>
      <vt:lpstr>Branching Instructions</vt:lpstr>
      <vt:lpstr>Restart Address Table</vt:lpstr>
      <vt:lpstr>Control Instructions</vt:lpstr>
      <vt:lpstr>Control Instructions</vt:lpstr>
      <vt:lpstr>Control Instructions</vt:lpstr>
      <vt:lpstr>Control Instructions</vt:lpstr>
      <vt:lpstr>Control Instructions</vt:lpstr>
      <vt:lpstr>Control Instructions</vt:lpstr>
      <vt:lpstr>RIM Instruction</vt:lpstr>
      <vt:lpstr>Control Instructions</vt:lpstr>
      <vt:lpstr>SIM Instruction</vt:lpstr>
    </vt:vector>
  </TitlesOfParts>
  <Company>PCTE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 SET OF 8085</dc:title>
  <dc:creator>Gursharan Singh</dc:creator>
  <cp:lastModifiedBy>LENOVO</cp:lastModifiedBy>
  <cp:revision>94</cp:revision>
  <dcterms:created xsi:type="dcterms:W3CDTF">2009-08-23T17:37:54Z</dcterms:created>
  <dcterms:modified xsi:type="dcterms:W3CDTF">2020-04-16T13:45:24Z</dcterms:modified>
</cp:coreProperties>
</file>