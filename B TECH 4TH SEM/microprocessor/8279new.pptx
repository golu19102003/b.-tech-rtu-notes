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72" r:id="rId2"/>
    <p:sldId id="273" r:id="rId3"/>
    <p:sldId id="275" r:id="rId4"/>
    <p:sldId id="276" r:id="rId5"/>
    <p:sldId id="277" r:id="rId6"/>
    <p:sldId id="278" r:id="rId7"/>
    <p:sldId id="279" r:id="rId8"/>
    <p:sldId id="280" r:id="rId9"/>
    <p:sldId id="281" r:id="rId10"/>
    <p:sldId id="282" r:id="rId11"/>
    <p:sldId id="283" r:id="rId12"/>
    <p:sldId id="285" r:id="rId13"/>
    <p:sldId id="286" r:id="rId14"/>
    <p:sldId id="287" r:id="rId15"/>
    <p:sldId id="288" r:id="rId16"/>
    <p:sldId id="289" r:id="rId17"/>
    <p:sldId id="290" r:id="rId18"/>
    <p:sldId id="291" r:id="rId19"/>
    <p:sldId id="292" r:id="rId20"/>
    <p:sldId id="293" r:id="rId21"/>
    <p:sldId id="266" r:id="rId22"/>
    <p:sldId id="294" r:id="rId23"/>
    <p:sldId id="257" r:id="rId24"/>
    <p:sldId id="258" r:id="rId25"/>
    <p:sldId id="269" r:id="rId26"/>
    <p:sldId id="270" r:id="rId27"/>
    <p:sldId id="267" r:id="rId28"/>
    <p:sldId id="265" r:id="rId29"/>
    <p:sldId id="271" r:id="rId30"/>
    <p:sldId id="264" r:id="rId31"/>
    <p:sldId id="262" r:id="rId32"/>
    <p:sldId id="268" r:id="rId3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5" autoAdjust="0"/>
    <p:restoredTop sz="94624" autoAdjust="0"/>
  </p:normalViewPr>
  <p:slideViewPr>
    <p:cSldViewPr>
      <p:cViewPr varScale="1">
        <p:scale>
          <a:sx n="69" d="100"/>
          <a:sy n="69" d="100"/>
        </p:scale>
        <p:origin x="-792" y="-102"/>
      </p:cViewPr>
      <p:guideLst>
        <p:guide orient="horz" pos="2160"/>
        <p:guide pos="2880"/>
      </p:guideLst>
    </p:cSldViewPr>
  </p:slideViewPr>
  <p:outlineViewPr>
    <p:cViewPr>
      <p:scale>
        <a:sx n="33" d="100"/>
        <a:sy n="33" d="100"/>
      </p:scale>
      <p:origin x="42"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A526A0-1D1D-4C6A-9BAD-26003C529CC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IN"/>
          </a:p>
        </p:txBody>
      </p:sp>
      <p:sp>
        <p:nvSpPr>
          <p:cNvPr id="3" name="Date Placeholder 2">
            <a:extLst>
              <a:ext uri="{FF2B5EF4-FFF2-40B4-BE49-F238E27FC236}">
                <a16:creationId xmlns:a16="http://schemas.microsoft.com/office/drawing/2014/main" id="{4321EDC0-16EA-4514-A231-5C03C2CE4976}"/>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5E19F838-FFC1-49FD-944B-3E9771F779C4}" type="datetimeFigureOut">
              <a:rPr lang="en-US"/>
              <a:pPr>
                <a:defRPr/>
              </a:pPr>
              <a:t>4/23/2020</a:t>
            </a:fld>
            <a:endParaRPr lang="en-IN"/>
          </a:p>
        </p:txBody>
      </p:sp>
      <p:sp>
        <p:nvSpPr>
          <p:cNvPr id="4" name="Slide Image Placeholder 3">
            <a:extLst>
              <a:ext uri="{FF2B5EF4-FFF2-40B4-BE49-F238E27FC236}">
                <a16:creationId xmlns:a16="http://schemas.microsoft.com/office/drawing/2014/main" id="{B910EF0A-FB1B-4BB6-AD68-5C683B4781B4}"/>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EACF7061-1014-4D8E-86C4-815469D0E71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74ABC28F-5934-4B6D-8D53-A78689EAD52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IN"/>
          </a:p>
        </p:txBody>
      </p:sp>
      <p:sp>
        <p:nvSpPr>
          <p:cNvPr id="7" name="Slide Number Placeholder 6">
            <a:extLst>
              <a:ext uri="{FF2B5EF4-FFF2-40B4-BE49-F238E27FC236}">
                <a16:creationId xmlns:a16="http://schemas.microsoft.com/office/drawing/2014/main" id="{44E0F99C-FE89-445B-8569-EC7EDF4F7D0F}"/>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53EA6DA-C448-4BDE-9FA2-D97B3803D3C5}"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Shape 522">
            <a:extLst>
              <a:ext uri="{FF2B5EF4-FFF2-40B4-BE49-F238E27FC236}">
                <a16:creationId xmlns:a16="http://schemas.microsoft.com/office/drawing/2014/main" id="{81234A20-6D53-477D-9DAF-0BE9B09A38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4" tIns="91414" rIns="91414" bIns="91414" numCol="1" anchor="ctr" anchorCtr="0" compatLnSpc="1">
            <a:prstTxWarp prst="textNoShape">
              <a:avLst/>
            </a:prstTxWarp>
          </a:bodyPr>
          <a:lstStyle/>
          <a:p>
            <a:pPr eaLnBrk="1" hangingPunct="1">
              <a:spcBef>
                <a:spcPct val="0"/>
              </a:spcBef>
            </a:pPr>
            <a:endParaRPr lang="en-US" altLang="en-US"/>
          </a:p>
        </p:txBody>
      </p:sp>
      <p:sp>
        <p:nvSpPr>
          <p:cNvPr id="34819" name="Shape 523">
            <a:extLst>
              <a:ext uri="{FF2B5EF4-FFF2-40B4-BE49-F238E27FC236}">
                <a16:creationId xmlns:a16="http://schemas.microsoft.com/office/drawing/2014/main" id="{B61E92BE-A5A8-49F1-BCBE-A16EC5EC209D}"/>
              </a:ext>
            </a:extLst>
          </p:cNvPr>
          <p:cNvSpPr>
            <a:spLocks noGrp="1" noRot="1" noChangeAspect="1" noTextEdit="1"/>
          </p:cNvSpPr>
          <p:nvPr>
            <p:ph type="sldImg" idx="2"/>
          </p:nvPr>
        </p:nvSpPr>
        <p:spPr bwMode="auto">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Header Placeholder 3">
            <a:extLst>
              <a:ext uri="{FF2B5EF4-FFF2-40B4-BE49-F238E27FC236}">
                <a16:creationId xmlns:a16="http://schemas.microsoft.com/office/drawing/2014/main" id="{9C1C385D-8F6C-4BF9-80BC-A88204D1464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IN" altLang="en-US"/>
              <a:t>HIIIIIIIIIIIIIIIIIIIIIIIIIIIIIIIIIIIIIIII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AC4150FA-F15A-424C-83D1-FA477A0CA8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97F98656-E333-45BC-9F36-5E79CB3ABF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N" altLang="en-US"/>
          </a:p>
        </p:txBody>
      </p:sp>
      <p:sp>
        <p:nvSpPr>
          <p:cNvPr id="35844" name="Header Placeholder 3">
            <a:extLst>
              <a:ext uri="{FF2B5EF4-FFF2-40B4-BE49-F238E27FC236}">
                <a16:creationId xmlns:a16="http://schemas.microsoft.com/office/drawing/2014/main" id="{3A4B34F5-A84F-48AA-9665-D1DEBC8112F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IN" altLang="en-US"/>
              <a:t>HIIIIIIIIIIIIIIIIIIIIIIIIIIIIIIIIIIIIIIII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C41B3C8C-626C-4023-8579-99BB4C4F3A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33CC5CEF-A429-4852-98C7-F2CF174B7C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6868" name="Slide Number Placeholder 3">
            <a:extLst>
              <a:ext uri="{FF2B5EF4-FFF2-40B4-BE49-F238E27FC236}">
                <a16:creationId xmlns:a16="http://schemas.microsoft.com/office/drawing/2014/main" id="{7C04D11D-5F24-438F-8667-8A732B8385E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63A9AE7-2AE6-44B6-806D-14249520B52D}" type="slidenum">
              <a:rPr lang="en-US" altLang="en-US"/>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8A0266A4-D90E-4A59-A93B-85835F1177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2A3FDB7E-C2A4-4690-BEC1-D07884EF50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3">
            <a:extLst>
              <a:ext uri="{FF2B5EF4-FFF2-40B4-BE49-F238E27FC236}">
                <a16:creationId xmlns:a16="http://schemas.microsoft.com/office/drawing/2014/main" id="{E6E1B924-37F8-4D3C-BE6A-E39B704E3B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2F0A75-F229-48D1-9044-ED4D764F8D49}" type="slidenum">
              <a:rPr lang="en-US" altLang="en-US"/>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2A91FC23-8657-4909-9B80-C8ADE653BDA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7281162C-5052-48EA-8DF1-E3E20F0EC8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8916" name="Slide Number Placeholder 3">
            <a:extLst>
              <a:ext uri="{FF2B5EF4-FFF2-40B4-BE49-F238E27FC236}">
                <a16:creationId xmlns:a16="http://schemas.microsoft.com/office/drawing/2014/main" id="{27DB0842-E5E4-4A14-8F26-49E09E785E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7F9BD7B-50EE-4AD9-840F-B41E149D1FF4}" type="slidenum">
              <a:rPr lang="en-US" altLang="en-US"/>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816E4C67-02D7-4B9A-841B-0C644A6C21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a:extLst>
              <a:ext uri="{FF2B5EF4-FFF2-40B4-BE49-F238E27FC236}">
                <a16:creationId xmlns:a16="http://schemas.microsoft.com/office/drawing/2014/main" id="{082761B9-A5CD-49C8-A468-4F5B529D60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9940" name="Slide Number Placeholder 3">
            <a:extLst>
              <a:ext uri="{FF2B5EF4-FFF2-40B4-BE49-F238E27FC236}">
                <a16:creationId xmlns:a16="http://schemas.microsoft.com/office/drawing/2014/main" id="{1732292B-71AD-4DEF-B8FA-8BE581AFBCF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514B259-AF19-4730-8768-8F284166D892}" type="slidenum">
              <a:rPr lang="en-US" altLang="en-US"/>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1FF85A9F-C8FA-462F-800E-34C7045095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EA87F7D0-8BC5-4695-9B03-E34C8596C7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0964" name="Slide Number Placeholder 3">
            <a:extLst>
              <a:ext uri="{FF2B5EF4-FFF2-40B4-BE49-F238E27FC236}">
                <a16:creationId xmlns:a16="http://schemas.microsoft.com/office/drawing/2014/main" id="{AC60CDD1-2DB1-4537-8115-B532F68149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08F3847-DFB2-4CBC-A652-E4CE2EB28CFD}" type="slidenum">
              <a:rPr lang="en-US" altLang="en-US"/>
              <a:pPr/>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E38E4BCB-631B-4A90-916A-E9816BF609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a:extLst>
              <a:ext uri="{FF2B5EF4-FFF2-40B4-BE49-F238E27FC236}">
                <a16:creationId xmlns:a16="http://schemas.microsoft.com/office/drawing/2014/main" id="{33659306-C4EC-40FC-A2C7-07FFB8B993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1988" name="Slide Number Placeholder 3">
            <a:extLst>
              <a:ext uri="{FF2B5EF4-FFF2-40B4-BE49-F238E27FC236}">
                <a16:creationId xmlns:a16="http://schemas.microsoft.com/office/drawing/2014/main" id="{D74AD208-4D00-49D2-8F97-3F068546B0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FFCFBFB-580F-4028-A338-A7B201F3C749}" type="slidenum">
              <a:rPr lang="en-US" altLang="en-US"/>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02D5B113-3454-43BA-9BDB-ADC800FFF9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09D69E4F-6898-4A21-940A-0B9B9EFA7E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3012" name="Slide Number Placeholder 3">
            <a:extLst>
              <a:ext uri="{FF2B5EF4-FFF2-40B4-BE49-F238E27FC236}">
                <a16:creationId xmlns:a16="http://schemas.microsoft.com/office/drawing/2014/main" id="{3AAE0D55-E674-4140-B20F-551F3DE123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1FC36AF-727D-4BE8-8173-1FAD5EA61AD1}" type="slidenum">
              <a:rPr lang="en-US" altLang="en-US"/>
              <a:pPr/>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7B775632-A316-40A1-B76E-D0F2F7C6EB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3F034B02-3D3F-4C7D-92A9-B4F963D495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4036" name="Slide Number Placeholder 3">
            <a:extLst>
              <a:ext uri="{FF2B5EF4-FFF2-40B4-BE49-F238E27FC236}">
                <a16:creationId xmlns:a16="http://schemas.microsoft.com/office/drawing/2014/main" id="{0825CFB9-B229-4FFF-A454-671A511541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0812060-8674-4FB3-91DC-18729E510164}" type="slidenum">
              <a:rPr lang="en-US" altLang="en-US"/>
              <a:pPr/>
              <a:t>10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D94442F7-329F-4147-8412-BDF538BE08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5D74854F-ECD5-4BC5-828F-D31CC9B7BE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5060" name="Slide Number Placeholder 3">
            <a:extLst>
              <a:ext uri="{FF2B5EF4-FFF2-40B4-BE49-F238E27FC236}">
                <a16:creationId xmlns:a16="http://schemas.microsoft.com/office/drawing/2014/main" id="{7C5425EF-CA5B-4F53-8F5B-41E87C7623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2EAED1C-361A-4203-9B35-E7C1CEB1E581}" type="slidenum">
              <a:rPr lang="en-US" altLang="en-US"/>
              <a:pPr/>
              <a:t>11</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332F2261-7735-4CD3-B049-08351A339E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D8C79070-1C99-46D2-AC11-25C87330E2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38D24916-FE1B-4D16-9335-9CB5219162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E0A890-8630-463E-A2A4-3AFA35CBE9DE}" type="slidenum">
              <a:rPr lang="en-US" altLang="en-US"/>
              <a:pPr/>
              <a:t>12</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D2F2D813-B3D5-4EC6-A59A-F343D67718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273BCE6D-FCE7-41CB-A45D-2549010EB6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7108" name="Slide Number Placeholder 3">
            <a:extLst>
              <a:ext uri="{FF2B5EF4-FFF2-40B4-BE49-F238E27FC236}">
                <a16:creationId xmlns:a16="http://schemas.microsoft.com/office/drawing/2014/main" id="{37E76580-5A80-4737-90BE-453DC622FF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560B94-0B28-4EC5-990F-B104A6360EBD}" type="slidenum">
              <a:rPr lang="en-US" altLang="en-US"/>
              <a:pPr/>
              <a:t>13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EBE9F99B-FFEF-4FC0-B800-C9A7105EF1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a:extLst>
              <a:ext uri="{FF2B5EF4-FFF2-40B4-BE49-F238E27FC236}">
                <a16:creationId xmlns:a16="http://schemas.microsoft.com/office/drawing/2014/main" id="{87EBBA5B-522B-41DF-9247-3FDE16B8A9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8132" name="Slide Number Placeholder 3">
            <a:extLst>
              <a:ext uri="{FF2B5EF4-FFF2-40B4-BE49-F238E27FC236}">
                <a16:creationId xmlns:a16="http://schemas.microsoft.com/office/drawing/2014/main" id="{08CBFF69-7A06-49C4-A926-85EA169599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F1E0FAB-8E63-42CE-8D00-7AFF79B4DEE9}" type="slidenum">
              <a:rPr lang="en-US" altLang="en-US"/>
              <a:pPr/>
              <a:t>14</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70EFF2BB-7524-4DE7-A44E-0B92F7AED4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722E5756-4815-4A15-AD8E-18892F248B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9156" name="Slide Number Placeholder 3">
            <a:extLst>
              <a:ext uri="{FF2B5EF4-FFF2-40B4-BE49-F238E27FC236}">
                <a16:creationId xmlns:a16="http://schemas.microsoft.com/office/drawing/2014/main" id="{1A3EDDE8-DA71-47A5-88C6-BD529860AD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726A9AD-47D4-4FAE-90F2-C436503E20FE}" type="slidenum">
              <a:rPr lang="en-US" altLang="en-US"/>
              <a:pPr/>
              <a:t>15</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117DF1B1-AA0B-46D3-80FD-813D25CDBC6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1359A153-799F-4087-9AC0-AC1C039BE3B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0180" name="Slide Number Placeholder 3">
            <a:extLst>
              <a:ext uri="{FF2B5EF4-FFF2-40B4-BE49-F238E27FC236}">
                <a16:creationId xmlns:a16="http://schemas.microsoft.com/office/drawing/2014/main" id="{9E28AB7F-8083-4EC4-A2EA-CE2031338D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F850074-8753-47E6-AEAC-1935E72B6D7A}" type="slidenum">
              <a:rPr lang="en-US" altLang="en-US"/>
              <a:pPr/>
              <a:t>16</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3390B7BC-7E06-452C-8656-E0A1FABFB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E5FF2532-D184-4293-AAB7-F420C6A0E5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04" name="Slide Number Placeholder 3">
            <a:extLst>
              <a:ext uri="{FF2B5EF4-FFF2-40B4-BE49-F238E27FC236}">
                <a16:creationId xmlns:a16="http://schemas.microsoft.com/office/drawing/2014/main" id="{C16EBD63-7CDF-4164-AE5A-C325608B0A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19815A5-91B4-4A7C-9339-064CC2EC9C12}" type="slidenum">
              <a:rPr lang="en-US" altLang="en-US"/>
              <a:pPr/>
              <a:t>17</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E3637B4C-4E45-4F60-BEF6-ADD7F88380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C1B7C415-B0B0-4471-A07D-380A273BC1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2228" name="Slide Number Placeholder 3">
            <a:extLst>
              <a:ext uri="{FF2B5EF4-FFF2-40B4-BE49-F238E27FC236}">
                <a16:creationId xmlns:a16="http://schemas.microsoft.com/office/drawing/2014/main" id="{DA3A6222-2BE0-43DE-BC40-9A54645E83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EE76970-2174-4EFF-A5F4-5C7AE47CFEF3}" type="slidenum">
              <a:rPr lang="en-US" altLang="en-US"/>
              <a:pPr/>
              <a:t>18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76F94D33-8F6B-4D6A-800F-1B2950E440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4A3F718D-3B2E-4B20-BC48-38CDF5999E0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3252" name="Slide Number Placeholder 3">
            <a:extLst>
              <a:ext uri="{FF2B5EF4-FFF2-40B4-BE49-F238E27FC236}">
                <a16:creationId xmlns:a16="http://schemas.microsoft.com/office/drawing/2014/main" id="{66FC1991-DF34-4DF1-87AC-8BB375E8FD2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C4CAF38-79E5-4D5B-9F1A-9EF854390AAF}" type="slidenum">
              <a:rPr lang="en-US" altLang="en-US"/>
              <a:pPr/>
              <a:t>19</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B613580F-70DE-4EC0-A6F0-9CA7A321C6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6D724547-BD27-41D2-83CE-05CFDFDB72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4276" name="Slide Number Placeholder 3">
            <a:extLst>
              <a:ext uri="{FF2B5EF4-FFF2-40B4-BE49-F238E27FC236}">
                <a16:creationId xmlns:a16="http://schemas.microsoft.com/office/drawing/2014/main" id="{D586D6AE-20EA-4627-A32B-15A61BBE807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C7547F0-629A-41E2-85CE-2A8F16125AE1}" type="slidenum">
              <a:rPr lang="en-US" altLang="en-US"/>
              <a:pPr/>
              <a:t>20</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4351E393-482F-41B8-BE19-59119B3A156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AFE7BBE-E57F-4A36-86F4-11A29363D022}" type="slidenum">
              <a:rPr lang="en-US" altLang="en-US"/>
              <a:pPr/>
              <a:t>21</a:t>
            </a:fld>
            <a:endParaRPr lang="en-US" altLang="en-US"/>
          </a:p>
        </p:txBody>
      </p:sp>
      <p:sp>
        <p:nvSpPr>
          <p:cNvPr id="55299" name="Rectangle 2">
            <a:extLst>
              <a:ext uri="{FF2B5EF4-FFF2-40B4-BE49-F238E27FC236}">
                <a16:creationId xmlns:a16="http://schemas.microsoft.com/office/drawing/2014/main" id="{FA5EA580-61D1-470D-8CF1-6D1F61D4974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a:extLst>
              <a:ext uri="{FF2B5EF4-FFF2-40B4-BE49-F238E27FC236}">
                <a16:creationId xmlns:a16="http://schemas.microsoft.com/office/drawing/2014/main" id="{19BF68D7-F1A2-4DCB-9A65-6BAF9D4E056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6322" name="Shape 91">
            <a:extLst>
              <a:ext uri="{FF2B5EF4-FFF2-40B4-BE49-F238E27FC236}">
                <a16:creationId xmlns:a16="http://schemas.microsoft.com/office/drawing/2014/main" id="{F5DE2ABB-C56F-4C10-9F09-A7F8F7C76B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ctr" anchorCtr="0" compatLnSpc="1">
            <a:prstTxWarp prst="textNoShape">
              <a:avLst/>
            </a:prstTxWarp>
          </a:bodyPr>
          <a:lstStyle/>
          <a:p>
            <a:pPr eaLnBrk="1" hangingPunct="1">
              <a:spcBef>
                <a:spcPct val="0"/>
              </a:spcBef>
            </a:pPr>
            <a:endParaRPr lang="en-US" altLang="en-US"/>
          </a:p>
        </p:txBody>
      </p:sp>
      <p:sp>
        <p:nvSpPr>
          <p:cNvPr id="56323" name="Shape 92">
            <a:extLst>
              <a:ext uri="{FF2B5EF4-FFF2-40B4-BE49-F238E27FC236}">
                <a16:creationId xmlns:a16="http://schemas.microsoft.com/office/drawing/2014/main" id="{CA90A9DB-5C6C-4A5F-8AAA-65856C5E2467}"/>
              </a:ext>
            </a:extLst>
          </p:cNvPr>
          <p:cNvSpPr>
            <a:spLocks noGrp="1" noRot="1" noChangeAspect="1" noTextEdit="1"/>
          </p:cNvSpPr>
          <p:nvPr>
            <p:ph type="sldImg" idx="2"/>
          </p:nvPr>
        </p:nvSpPr>
        <p:spPr bwMode="auto">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6" name="Shape 96">
            <a:extLst>
              <a:ext uri="{FF2B5EF4-FFF2-40B4-BE49-F238E27FC236}">
                <a16:creationId xmlns:a16="http://schemas.microsoft.com/office/drawing/2014/main" id="{203C2AE9-DFBB-4FB0-AFC2-AF317D71EE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ctr" anchorCtr="0" compatLnSpc="1">
            <a:prstTxWarp prst="textNoShape">
              <a:avLst/>
            </a:prstTxWarp>
          </a:bodyPr>
          <a:lstStyle/>
          <a:p>
            <a:pPr eaLnBrk="1" hangingPunct="1">
              <a:spcBef>
                <a:spcPct val="0"/>
              </a:spcBef>
            </a:pPr>
            <a:endParaRPr lang="en-US" altLang="en-US"/>
          </a:p>
        </p:txBody>
      </p:sp>
      <p:sp>
        <p:nvSpPr>
          <p:cNvPr id="57347" name="Shape 97">
            <a:extLst>
              <a:ext uri="{FF2B5EF4-FFF2-40B4-BE49-F238E27FC236}">
                <a16:creationId xmlns:a16="http://schemas.microsoft.com/office/drawing/2014/main" id="{F7ADEDFE-CB8A-4688-BE03-51AD910E1AA2}"/>
              </a:ext>
            </a:extLst>
          </p:cNvPr>
          <p:cNvSpPr>
            <a:spLocks noGrp="1" noRot="1" noChangeAspect="1" noTextEdit="1"/>
          </p:cNvSpPr>
          <p:nvPr>
            <p:ph type="sldImg" idx="2"/>
          </p:nvPr>
        </p:nvSpPr>
        <p:spPr bwMode="auto">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EB9F6370-5E7A-4C08-9B6F-9D6D2BEF2D1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0741B8-EC7D-4554-BB95-A82F395BB92F}" type="slidenum">
              <a:rPr lang="en-US" altLang="en-US"/>
              <a:pPr/>
              <a:t>27</a:t>
            </a:fld>
            <a:endParaRPr lang="en-US" altLang="en-US"/>
          </a:p>
        </p:txBody>
      </p:sp>
      <p:sp>
        <p:nvSpPr>
          <p:cNvPr id="58371" name="Rectangle 2">
            <a:extLst>
              <a:ext uri="{FF2B5EF4-FFF2-40B4-BE49-F238E27FC236}">
                <a16:creationId xmlns:a16="http://schemas.microsoft.com/office/drawing/2014/main" id="{97167442-2D9F-4F64-8807-2BFF4B2BB72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a:extLst>
              <a:ext uri="{FF2B5EF4-FFF2-40B4-BE49-F238E27FC236}">
                <a16:creationId xmlns:a16="http://schemas.microsoft.com/office/drawing/2014/main" id="{7F3AC012-CB6B-446F-A74F-09CFF4F35B1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CE149259-D3C3-4482-8885-BDB99023761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1983E0F-2ECF-4047-92D3-250F69EC3ED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DABC099-AA3A-4061-ADAF-0FA48375E432}"/>
              </a:ext>
            </a:extLst>
          </p:cNvPr>
          <p:cNvSpPr>
            <a:spLocks noGrp="1" noChangeArrowheads="1"/>
          </p:cNvSpPr>
          <p:nvPr>
            <p:ph type="sldNum" sz="quarter" idx="12"/>
          </p:nvPr>
        </p:nvSpPr>
        <p:spPr>
          <a:ln/>
        </p:spPr>
        <p:txBody>
          <a:bodyPr/>
          <a:lstStyle>
            <a:lvl1pPr>
              <a:defRPr/>
            </a:lvl1pPr>
          </a:lstStyle>
          <a:p>
            <a:fld id="{EB4CCE52-E863-4D02-83BD-02F1A62FB519}" type="slidenum">
              <a:rPr lang="en-US" altLang="en-US"/>
              <a:pPr/>
              <a:t>‹#›</a:t>
            </a:fld>
            <a:endParaRPr lang="en-US" altLang="en-US"/>
          </a:p>
        </p:txBody>
      </p:sp>
    </p:spTree>
    <p:extLst>
      <p:ext uri="{BB962C8B-B14F-4D97-AF65-F5344CB8AC3E}">
        <p14:creationId xmlns:p14="http://schemas.microsoft.com/office/powerpoint/2010/main" val="2668035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68E6175-60CE-42DE-953C-F08377615D7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4A2E86E-FA03-44C6-B967-D2139688B57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26A2AD7-84E3-428A-98EA-D181AF736DCE}"/>
              </a:ext>
            </a:extLst>
          </p:cNvPr>
          <p:cNvSpPr>
            <a:spLocks noGrp="1" noChangeArrowheads="1"/>
          </p:cNvSpPr>
          <p:nvPr>
            <p:ph type="sldNum" sz="quarter" idx="12"/>
          </p:nvPr>
        </p:nvSpPr>
        <p:spPr>
          <a:ln/>
        </p:spPr>
        <p:txBody>
          <a:bodyPr/>
          <a:lstStyle>
            <a:lvl1pPr>
              <a:defRPr/>
            </a:lvl1pPr>
          </a:lstStyle>
          <a:p>
            <a:fld id="{713CF809-DB86-4869-9C90-9B4669E765A9}" type="slidenum">
              <a:rPr lang="en-US" altLang="en-US"/>
              <a:pPr/>
              <a:t>‹#›</a:t>
            </a:fld>
            <a:endParaRPr lang="en-US" altLang="en-US"/>
          </a:p>
        </p:txBody>
      </p:sp>
    </p:spTree>
    <p:extLst>
      <p:ext uri="{BB962C8B-B14F-4D97-AF65-F5344CB8AC3E}">
        <p14:creationId xmlns:p14="http://schemas.microsoft.com/office/powerpoint/2010/main" val="46566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B10A00D8-8865-40B7-8B2F-3C9E13FEDCE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2D5C790-88DC-4E5E-A471-D370921EA00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050870F-0924-4A3B-8E54-0ACE44EE06FC}"/>
              </a:ext>
            </a:extLst>
          </p:cNvPr>
          <p:cNvSpPr>
            <a:spLocks noGrp="1" noChangeArrowheads="1"/>
          </p:cNvSpPr>
          <p:nvPr>
            <p:ph type="sldNum" sz="quarter" idx="12"/>
          </p:nvPr>
        </p:nvSpPr>
        <p:spPr>
          <a:ln/>
        </p:spPr>
        <p:txBody>
          <a:bodyPr/>
          <a:lstStyle>
            <a:lvl1pPr>
              <a:defRPr/>
            </a:lvl1pPr>
          </a:lstStyle>
          <a:p>
            <a:fld id="{76E29C4C-EFF7-43AC-8E43-B1A253C698B3}" type="slidenum">
              <a:rPr lang="en-US" altLang="en-US"/>
              <a:pPr/>
              <a:t>‹#›</a:t>
            </a:fld>
            <a:endParaRPr lang="en-US" altLang="en-US"/>
          </a:p>
        </p:txBody>
      </p:sp>
    </p:spTree>
    <p:extLst>
      <p:ext uri="{BB962C8B-B14F-4D97-AF65-F5344CB8AC3E}">
        <p14:creationId xmlns:p14="http://schemas.microsoft.com/office/powerpoint/2010/main" val="1620241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EAC3964-FE15-4777-9B24-98781BE0053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3C8816D-401E-4441-9A69-D5840983B43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C33D630-0A30-4397-A6C8-86B1D412E177}"/>
              </a:ext>
            </a:extLst>
          </p:cNvPr>
          <p:cNvSpPr>
            <a:spLocks noGrp="1" noChangeArrowheads="1"/>
          </p:cNvSpPr>
          <p:nvPr>
            <p:ph type="sldNum" sz="quarter" idx="12"/>
          </p:nvPr>
        </p:nvSpPr>
        <p:spPr>
          <a:ln/>
        </p:spPr>
        <p:txBody>
          <a:bodyPr/>
          <a:lstStyle>
            <a:lvl1pPr>
              <a:defRPr/>
            </a:lvl1pPr>
          </a:lstStyle>
          <a:p>
            <a:fld id="{C1B45591-01A5-46A9-AADE-589EC4FC988D}" type="slidenum">
              <a:rPr lang="en-US" altLang="en-US"/>
              <a:pPr/>
              <a:t>‹#›</a:t>
            </a:fld>
            <a:endParaRPr lang="en-US" altLang="en-US"/>
          </a:p>
        </p:txBody>
      </p:sp>
    </p:spTree>
    <p:extLst>
      <p:ext uri="{BB962C8B-B14F-4D97-AF65-F5344CB8AC3E}">
        <p14:creationId xmlns:p14="http://schemas.microsoft.com/office/powerpoint/2010/main" val="143123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3962B1C-B2A3-4201-907D-1262D173E84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660F966A-DD16-4F43-88E5-7212FAE69DC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DC5A04D7-98FF-47E4-980D-9146F7242086}"/>
              </a:ext>
            </a:extLst>
          </p:cNvPr>
          <p:cNvSpPr>
            <a:spLocks noGrp="1" noChangeArrowheads="1"/>
          </p:cNvSpPr>
          <p:nvPr>
            <p:ph type="sldNum" sz="quarter" idx="12"/>
          </p:nvPr>
        </p:nvSpPr>
        <p:spPr>
          <a:ln/>
        </p:spPr>
        <p:txBody>
          <a:bodyPr/>
          <a:lstStyle>
            <a:lvl1pPr>
              <a:defRPr/>
            </a:lvl1pPr>
          </a:lstStyle>
          <a:p>
            <a:fld id="{B1FC4549-8DCA-4B38-9901-9EF8B5586AD7}" type="slidenum">
              <a:rPr lang="en-US" altLang="en-US"/>
              <a:pPr/>
              <a:t>‹#›</a:t>
            </a:fld>
            <a:endParaRPr lang="en-US" altLang="en-US"/>
          </a:p>
        </p:txBody>
      </p:sp>
    </p:spTree>
    <p:extLst>
      <p:ext uri="{BB962C8B-B14F-4D97-AF65-F5344CB8AC3E}">
        <p14:creationId xmlns:p14="http://schemas.microsoft.com/office/powerpoint/2010/main" val="370254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2DD62D27-7F3A-4C4A-92A9-7969B60D72E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6EEAB47-2D11-4D34-9C00-D6612809640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79266F4-D0F5-4A67-9907-8D0D3514C976}"/>
              </a:ext>
            </a:extLst>
          </p:cNvPr>
          <p:cNvSpPr>
            <a:spLocks noGrp="1" noChangeArrowheads="1"/>
          </p:cNvSpPr>
          <p:nvPr>
            <p:ph type="sldNum" sz="quarter" idx="12"/>
          </p:nvPr>
        </p:nvSpPr>
        <p:spPr>
          <a:ln/>
        </p:spPr>
        <p:txBody>
          <a:bodyPr/>
          <a:lstStyle>
            <a:lvl1pPr>
              <a:defRPr/>
            </a:lvl1pPr>
          </a:lstStyle>
          <a:p>
            <a:fld id="{0DE7F270-5DB1-4A2E-B0E2-7FDCF6911603}" type="slidenum">
              <a:rPr lang="en-US" altLang="en-US"/>
              <a:pPr/>
              <a:t>‹#›</a:t>
            </a:fld>
            <a:endParaRPr lang="en-US" altLang="en-US"/>
          </a:p>
        </p:txBody>
      </p:sp>
    </p:spTree>
    <p:extLst>
      <p:ext uri="{BB962C8B-B14F-4D97-AF65-F5344CB8AC3E}">
        <p14:creationId xmlns:p14="http://schemas.microsoft.com/office/powerpoint/2010/main" val="780650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E56B7A2-9E58-453A-930B-7E3A1B75F21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42578C11-36B8-474B-BD93-A81ED51536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9CD05D5-E59D-49F3-8B0A-4614BF9FF096}"/>
              </a:ext>
            </a:extLst>
          </p:cNvPr>
          <p:cNvSpPr>
            <a:spLocks noGrp="1" noChangeArrowheads="1"/>
          </p:cNvSpPr>
          <p:nvPr>
            <p:ph type="sldNum" sz="quarter" idx="12"/>
          </p:nvPr>
        </p:nvSpPr>
        <p:spPr>
          <a:ln/>
        </p:spPr>
        <p:txBody>
          <a:bodyPr/>
          <a:lstStyle>
            <a:lvl1pPr>
              <a:defRPr/>
            </a:lvl1pPr>
          </a:lstStyle>
          <a:p>
            <a:fld id="{0D5DB577-A729-49C8-A7E8-9428F64F350C}" type="slidenum">
              <a:rPr lang="en-US" altLang="en-US"/>
              <a:pPr/>
              <a:t>‹#›</a:t>
            </a:fld>
            <a:endParaRPr lang="en-US" altLang="en-US"/>
          </a:p>
        </p:txBody>
      </p:sp>
    </p:spTree>
    <p:extLst>
      <p:ext uri="{BB962C8B-B14F-4D97-AF65-F5344CB8AC3E}">
        <p14:creationId xmlns:p14="http://schemas.microsoft.com/office/powerpoint/2010/main" val="3085197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4B95EEED-17BC-4565-A2B1-BEF5B693088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8D9C4D9-E21B-4F25-B438-03886B5DDE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E1C122E-6802-4A09-A27D-A45B3E2C094B}"/>
              </a:ext>
            </a:extLst>
          </p:cNvPr>
          <p:cNvSpPr>
            <a:spLocks noGrp="1" noChangeArrowheads="1"/>
          </p:cNvSpPr>
          <p:nvPr>
            <p:ph type="sldNum" sz="quarter" idx="12"/>
          </p:nvPr>
        </p:nvSpPr>
        <p:spPr>
          <a:ln/>
        </p:spPr>
        <p:txBody>
          <a:bodyPr/>
          <a:lstStyle>
            <a:lvl1pPr>
              <a:defRPr/>
            </a:lvl1pPr>
          </a:lstStyle>
          <a:p>
            <a:fld id="{813673D4-926A-485B-96E8-14A1B4048504}" type="slidenum">
              <a:rPr lang="en-US" altLang="en-US"/>
              <a:pPr/>
              <a:t>‹#›</a:t>
            </a:fld>
            <a:endParaRPr lang="en-US" altLang="en-US"/>
          </a:p>
        </p:txBody>
      </p:sp>
    </p:spTree>
    <p:extLst>
      <p:ext uri="{BB962C8B-B14F-4D97-AF65-F5344CB8AC3E}">
        <p14:creationId xmlns:p14="http://schemas.microsoft.com/office/powerpoint/2010/main" val="75065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642F9E4A-1A72-4FEF-8AF7-E4C9424BCEC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E19B781-23A6-4B28-9970-6709AE79EDF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97F79D3-BCC4-41CA-883F-7C1E41A266FA}"/>
              </a:ext>
            </a:extLst>
          </p:cNvPr>
          <p:cNvSpPr>
            <a:spLocks noGrp="1" noChangeArrowheads="1"/>
          </p:cNvSpPr>
          <p:nvPr>
            <p:ph type="sldNum" sz="quarter" idx="12"/>
          </p:nvPr>
        </p:nvSpPr>
        <p:spPr>
          <a:ln/>
        </p:spPr>
        <p:txBody>
          <a:bodyPr/>
          <a:lstStyle>
            <a:lvl1pPr>
              <a:defRPr/>
            </a:lvl1pPr>
          </a:lstStyle>
          <a:p>
            <a:fld id="{A10A3E7A-68E1-40EC-87F8-6DA5F6634A0A}" type="slidenum">
              <a:rPr lang="en-US" altLang="en-US"/>
              <a:pPr/>
              <a:t>‹#›</a:t>
            </a:fld>
            <a:endParaRPr lang="en-US" altLang="en-US"/>
          </a:p>
        </p:txBody>
      </p:sp>
    </p:spTree>
    <p:extLst>
      <p:ext uri="{BB962C8B-B14F-4D97-AF65-F5344CB8AC3E}">
        <p14:creationId xmlns:p14="http://schemas.microsoft.com/office/powerpoint/2010/main" val="109325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04CA06A-DDB4-40AC-9FA2-721596C6CA3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94FE7FE-FD40-4E92-BD9F-58C85AB40C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07BBCCA-B0F9-442F-8BC6-8D2018FBC838}"/>
              </a:ext>
            </a:extLst>
          </p:cNvPr>
          <p:cNvSpPr>
            <a:spLocks noGrp="1" noChangeArrowheads="1"/>
          </p:cNvSpPr>
          <p:nvPr>
            <p:ph type="sldNum" sz="quarter" idx="12"/>
          </p:nvPr>
        </p:nvSpPr>
        <p:spPr>
          <a:ln/>
        </p:spPr>
        <p:txBody>
          <a:bodyPr/>
          <a:lstStyle>
            <a:lvl1pPr>
              <a:defRPr/>
            </a:lvl1pPr>
          </a:lstStyle>
          <a:p>
            <a:fld id="{1CCAE085-C39D-47D1-8EB8-00E6D7010F12}" type="slidenum">
              <a:rPr lang="en-US" altLang="en-US"/>
              <a:pPr/>
              <a:t>‹#›</a:t>
            </a:fld>
            <a:endParaRPr lang="en-US" altLang="en-US"/>
          </a:p>
        </p:txBody>
      </p:sp>
    </p:spTree>
    <p:extLst>
      <p:ext uri="{BB962C8B-B14F-4D97-AF65-F5344CB8AC3E}">
        <p14:creationId xmlns:p14="http://schemas.microsoft.com/office/powerpoint/2010/main" val="4089196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93C438E-8B16-42BC-A291-F1E9E36882E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DE3C635-004A-48AD-81B4-93B16927B6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898C444-685C-4395-BFD0-AF3E3803E096}"/>
              </a:ext>
            </a:extLst>
          </p:cNvPr>
          <p:cNvSpPr>
            <a:spLocks noGrp="1" noChangeArrowheads="1"/>
          </p:cNvSpPr>
          <p:nvPr>
            <p:ph type="sldNum" sz="quarter" idx="12"/>
          </p:nvPr>
        </p:nvSpPr>
        <p:spPr>
          <a:ln/>
        </p:spPr>
        <p:txBody>
          <a:bodyPr/>
          <a:lstStyle>
            <a:lvl1pPr>
              <a:defRPr/>
            </a:lvl1pPr>
          </a:lstStyle>
          <a:p>
            <a:fld id="{589BDDD7-E271-4054-A597-693ABBFC62AD}" type="slidenum">
              <a:rPr lang="en-US" altLang="en-US"/>
              <a:pPr/>
              <a:t>‹#›</a:t>
            </a:fld>
            <a:endParaRPr lang="en-US" altLang="en-US"/>
          </a:p>
        </p:txBody>
      </p:sp>
    </p:spTree>
    <p:extLst>
      <p:ext uri="{BB962C8B-B14F-4D97-AF65-F5344CB8AC3E}">
        <p14:creationId xmlns:p14="http://schemas.microsoft.com/office/powerpoint/2010/main" val="3299199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9648A6C-3170-434E-96C4-1CF6451633E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0673D21-80F2-48D6-B824-9C23827E186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2381CC0-474C-40C6-A0D4-9C73E35389DF}"/>
              </a:ext>
            </a:extLst>
          </p:cNvPr>
          <p:cNvSpPr>
            <a:spLocks noGrp="1" noChangeArrowheads="1"/>
          </p:cNvSpPr>
          <p:nvPr>
            <p:ph type="sldNum" sz="quarter" idx="12"/>
          </p:nvPr>
        </p:nvSpPr>
        <p:spPr>
          <a:ln/>
        </p:spPr>
        <p:txBody>
          <a:bodyPr/>
          <a:lstStyle>
            <a:lvl1pPr>
              <a:defRPr/>
            </a:lvl1pPr>
          </a:lstStyle>
          <a:p>
            <a:fld id="{73659A26-0F2B-409B-8A16-84BC2FE4C081}" type="slidenum">
              <a:rPr lang="en-US" altLang="en-US"/>
              <a:pPr/>
              <a:t>‹#›</a:t>
            </a:fld>
            <a:endParaRPr lang="en-US" altLang="en-US"/>
          </a:p>
        </p:txBody>
      </p:sp>
    </p:spTree>
    <p:extLst>
      <p:ext uri="{BB962C8B-B14F-4D97-AF65-F5344CB8AC3E}">
        <p14:creationId xmlns:p14="http://schemas.microsoft.com/office/powerpoint/2010/main" val="3670885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269D895-96DA-4142-B07E-05546927A14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47512F0-909B-49B6-8ACF-BF55ED02944A}"/>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F167F156-C985-4723-B8CB-CCCF71F15726}"/>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cs typeface="Arial" panose="020B0604020202020204" pitchFamily="34" charset="0"/>
              </a:defRPr>
            </a:lvl1pPr>
          </a:lstStyle>
          <a:p>
            <a:pPr>
              <a:defRPr/>
            </a:pPr>
            <a:endParaRPr lang="en-US"/>
          </a:p>
        </p:txBody>
      </p:sp>
      <p:sp>
        <p:nvSpPr>
          <p:cNvPr id="1029" name="Rectangle 5">
            <a:extLst>
              <a:ext uri="{FF2B5EF4-FFF2-40B4-BE49-F238E27FC236}">
                <a16:creationId xmlns:a16="http://schemas.microsoft.com/office/drawing/2014/main" id="{49B56B39-9AB7-4288-861B-11B6A468A652}"/>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cs typeface="Arial" panose="020B0604020202020204" pitchFamily="34" charset="0"/>
              </a:defRPr>
            </a:lvl1pPr>
          </a:lstStyle>
          <a:p>
            <a:pPr>
              <a:defRPr/>
            </a:pPr>
            <a:endParaRPr lang="en-US"/>
          </a:p>
        </p:txBody>
      </p:sp>
      <p:sp>
        <p:nvSpPr>
          <p:cNvPr id="1030" name="Rectangle 6">
            <a:extLst>
              <a:ext uri="{FF2B5EF4-FFF2-40B4-BE49-F238E27FC236}">
                <a16:creationId xmlns:a16="http://schemas.microsoft.com/office/drawing/2014/main" id="{E669AA08-8962-4315-BE80-6FD172042014}"/>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86ECA724-889C-408E-AA2F-3EC33809F2E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2.xml" /><Relationship Id="rId4" Type="http://schemas.openxmlformats.org/officeDocument/2006/relationships/image" Target="../media/image1.png" /></Relationships>
</file>

<file path=ppt/slides/_rels/slide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5.xml" /><Relationship Id="rId1" Type="http://schemas.openxmlformats.org/officeDocument/2006/relationships/slideLayout" Target="../slideLayouts/slideLayout2.xml" /><Relationship Id="rId4" Type="http://schemas.openxmlformats.org/officeDocument/2006/relationships/image" Target="../media/image1.png"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1.xml" /><Relationship Id="rId1" Type="http://schemas.openxmlformats.org/officeDocument/2006/relationships/slideLayout" Target="../slideLayouts/slideLayout2.xml" /><Relationship Id="rId4" Type="http://schemas.openxmlformats.org/officeDocument/2006/relationships/image" Target="../media/image1.png"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4.xml" /><Relationship Id="rId1" Type="http://schemas.openxmlformats.org/officeDocument/2006/relationships/slideLayout" Target="../slideLayouts/slideLayout2.xml" /><Relationship Id="rId4" Type="http://schemas.openxmlformats.org/officeDocument/2006/relationships/image" Target="../media/image1.png" /></Relationships>
</file>

<file path=ppt/slides/_rels/slide1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20.xml" /><Relationship Id="rId1" Type="http://schemas.openxmlformats.org/officeDocument/2006/relationships/slideLayout" Target="../slideLayouts/slideLayout2.xml" /><Relationship Id="rId4" Type="http://schemas.openxmlformats.org/officeDocument/2006/relationships/image" Target="../media/image1.png" /></Relationships>
</file>

<file path=ppt/slides/_rels/slide2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2.xml" /><Relationship Id="rId4" Type="http://schemas.openxmlformats.org/officeDocument/2006/relationships/image" Target="../media/image1.png" /></Relationships>
</file>

<file path=ppt/slides/_rels/slide2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2.xml"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4.xml" /><Relationship Id="rId1" Type="http://schemas.openxmlformats.org/officeDocument/2006/relationships/slideLayout" Target="../slideLayouts/slideLayout12.xml" /></Relationships>
</file>

<file path=ppt/slides/_rels/slide2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hape 525">
            <a:extLst>
              <a:ext uri="{FF2B5EF4-FFF2-40B4-BE49-F238E27FC236}">
                <a16:creationId xmlns:a16="http://schemas.microsoft.com/office/drawing/2014/main" id="{06A94074-2AD3-4D92-A3FA-58895106F8D2}"/>
              </a:ext>
            </a:extLst>
          </p:cNvPr>
          <p:cNvSpPr txBox="1">
            <a:spLocks noChangeArrowheads="1"/>
          </p:cNvSpPr>
          <p:nvPr/>
        </p:nvSpPr>
        <p:spPr bwMode="auto">
          <a:xfrm>
            <a:off x="0" y="1192213"/>
            <a:ext cx="9144000"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rgbClr val="000000"/>
              </a:buClr>
              <a:buSzPct val="25000"/>
              <a:buFont typeface="Times New Roman" panose="02020603050405020304" pitchFamily="18" charset="0"/>
              <a:buNone/>
            </a:pPr>
            <a:r>
              <a:rPr lang="en-US" altLang="en-US" sz="4000" b="1" u="sng">
                <a:solidFill>
                  <a:srgbClr val="FF0000"/>
                </a:solidFill>
                <a:cs typeface="Times New Roman" panose="02020603050405020304" pitchFamily="18" charset="0"/>
                <a:sym typeface="Times New Roman" panose="02020603050405020304" pitchFamily="18" charset="0"/>
              </a:rPr>
              <a:t>8279 Keyboard/ Display Interface</a:t>
            </a:r>
          </a:p>
          <a:p>
            <a:pPr algn="ctr">
              <a:buClr>
                <a:srgbClr val="000000"/>
              </a:buClr>
              <a:buSzPct val="25000"/>
              <a:buFont typeface="Times New Roman" panose="02020603050405020304" pitchFamily="18" charset="0"/>
              <a:buNone/>
            </a:pPr>
            <a:r>
              <a:rPr lang="en-US" altLang="en-US" sz="4000" b="1" u="sng">
                <a:solidFill>
                  <a:srgbClr val="FF0000"/>
                </a:solidFill>
                <a:cs typeface="Times New Roman" panose="02020603050405020304" pitchFamily="18" charset="0"/>
                <a:sym typeface="Times New Roman" panose="02020603050405020304" pitchFamily="18" charset="0"/>
              </a:rPr>
              <a:t>(UNIT-4)</a:t>
            </a:r>
            <a:endParaRPr lang="en-US" altLang="en-US" sz="3400" b="1" u="sng">
              <a:solidFill>
                <a:srgbClr val="FF0000"/>
              </a:solidFill>
              <a:cs typeface="Times New Roman" panose="02020603050405020304" pitchFamily="18" charset="0"/>
              <a:sym typeface="Times New Roman" panose="02020603050405020304" pitchFamily="18" charset="0"/>
            </a:endParaRPr>
          </a:p>
          <a:p>
            <a:pPr algn="ctr">
              <a:buClr>
                <a:srgbClr val="000000"/>
              </a:buClr>
              <a:buSzPct val="25000"/>
              <a:buFont typeface="Times New Roman" panose="02020603050405020304" pitchFamily="18" charset="0"/>
              <a:buNone/>
            </a:pPr>
            <a:endParaRPr lang="en-US" altLang="en-US" sz="3400" b="1" u="sng">
              <a:solidFill>
                <a:srgbClr val="FF0000"/>
              </a:solidFill>
              <a:cs typeface="Times New Roman" panose="02020603050405020304" pitchFamily="18" charset="0"/>
              <a:sym typeface="Times New Roman" panose="02020603050405020304" pitchFamily="18" charset="0"/>
            </a:endParaRPr>
          </a:p>
          <a:p>
            <a:pPr algn="ctr">
              <a:buClr>
                <a:srgbClr val="000000"/>
              </a:buClr>
              <a:buSzPct val="25000"/>
              <a:buFont typeface="Times New Roman" panose="02020603050405020304" pitchFamily="18" charset="0"/>
              <a:buNone/>
            </a:pPr>
            <a:r>
              <a:rPr lang="en-US" altLang="en-US" sz="3400" b="1">
                <a:solidFill>
                  <a:srgbClr val="FF0000"/>
                </a:solidFill>
                <a:cs typeface="Times New Roman" panose="02020603050405020304" pitchFamily="18" charset="0"/>
                <a:sym typeface="Times New Roman" panose="02020603050405020304" pitchFamily="18" charset="0"/>
              </a:rPr>
              <a:t>     (SUB: Microprocessor and Interfaces)</a:t>
            </a:r>
          </a:p>
          <a:p>
            <a:pPr algn="ctr">
              <a:buClr>
                <a:srgbClr val="000000"/>
              </a:buClr>
              <a:buSzPct val="25000"/>
              <a:buFont typeface="Times New Roman" panose="02020603050405020304" pitchFamily="18" charset="0"/>
              <a:buNone/>
            </a:pPr>
            <a:endParaRPr lang="en-US" altLang="en-US" sz="4000" b="1">
              <a:solidFill>
                <a:srgbClr val="FF0000"/>
              </a:solidFill>
              <a:cs typeface="Times New Roman" panose="02020603050405020304" pitchFamily="18" charset="0"/>
              <a:sym typeface="Times New Roman" panose="02020603050405020304" pitchFamily="18" charset="0"/>
            </a:endParaRPr>
          </a:p>
          <a:p>
            <a:pPr algn="ctr">
              <a:buClr>
                <a:srgbClr val="000000"/>
              </a:buClr>
              <a:buSzPct val="25000"/>
              <a:buFont typeface="Times New Roman" panose="02020603050405020304" pitchFamily="18" charset="0"/>
              <a:buNone/>
            </a:pPr>
            <a:r>
              <a:rPr lang="en-US" altLang="en-US" sz="3000" b="1">
                <a:solidFill>
                  <a:srgbClr val="FF0000"/>
                </a:solidFill>
                <a:cs typeface="Times New Roman" panose="02020603050405020304" pitchFamily="18" charset="0"/>
                <a:sym typeface="Times New Roman" panose="02020603050405020304" pitchFamily="18" charset="0"/>
              </a:rPr>
              <a:t>PREPARED BY:</a:t>
            </a:r>
          </a:p>
          <a:p>
            <a:pPr algn="ctr">
              <a:buClr>
                <a:srgbClr val="000000"/>
              </a:buClr>
              <a:buSzPct val="25000"/>
              <a:buFont typeface="Times New Roman" panose="02020603050405020304" pitchFamily="18" charset="0"/>
              <a:buNone/>
            </a:pPr>
            <a:r>
              <a:rPr lang="en-US" altLang="en-US" sz="3000" b="1">
                <a:solidFill>
                  <a:srgbClr val="FF0000"/>
                </a:solidFill>
                <a:cs typeface="Times New Roman" panose="02020603050405020304" pitchFamily="18" charset="0"/>
                <a:sym typeface="Times New Roman" panose="02020603050405020304" pitchFamily="18" charset="0"/>
              </a:rPr>
              <a:t>ER. MOHIT MISHRA</a:t>
            </a:r>
          </a:p>
          <a:p>
            <a:pPr algn="ctr">
              <a:buClr>
                <a:srgbClr val="000000"/>
              </a:buClr>
              <a:buSzPct val="25000"/>
              <a:buFont typeface="Times New Roman" panose="02020603050405020304" pitchFamily="18" charset="0"/>
              <a:buNone/>
            </a:pPr>
            <a:r>
              <a:rPr lang="en-US" altLang="en-US" sz="3000" b="1">
                <a:solidFill>
                  <a:srgbClr val="FF0000"/>
                </a:solidFill>
                <a:cs typeface="Times New Roman" panose="02020603050405020304" pitchFamily="18" charset="0"/>
                <a:sym typeface="Times New Roman" panose="02020603050405020304" pitchFamily="18" charset="0"/>
              </a:rPr>
              <a:t>ASSOCIATE PROFESSOR</a:t>
            </a:r>
          </a:p>
          <a:p>
            <a:pPr algn="ctr">
              <a:buClr>
                <a:srgbClr val="000000"/>
              </a:buClr>
              <a:buSzPct val="25000"/>
              <a:buFont typeface="Times New Roman" panose="02020603050405020304" pitchFamily="18" charset="0"/>
              <a:buNone/>
            </a:pPr>
            <a:r>
              <a:rPr lang="en-US" altLang="en-US" sz="3000" b="1">
                <a:solidFill>
                  <a:srgbClr val="FF0000"/>
                </a:solidFill>
                <a:cs typeface="Times New Roman" panose="02020603050405020304" pitchFamily="18" charset="0"/>
                <a:sym typeface="Times New Roman" panose="02020603050405020304" pitchFamily="18" charset="0"/>
              </a:rPr>
              <a:t>COMPUTER SCIENCE DEPARTMENT</a:t>
            </a:r>
            <a:br>
              <a:rPr lang="en-US" altLang="en-US" sz="4000" b="1">
                <a:solidFill>
                  <a:srgbClr val="FF0000"/>
                </a:solidFill>
                <a:cs typeface="Times New Roman" panose="02020603050405020304" pitchFamily="18" charset="0"/>
                <a:sym typeface="Times New Roman" panose="02020603050405020304" pitchFamily="18" charset="0"/>
              </a:rPr>
            </a:br>
            <a:endParaRPr lang="en-US" altLang="en-US" sz="4000" b="1">
              <a:solidFill>
                <a:srgbClr val="FF0000"/>
              </a:solidFill>
              <a:cs typeface="Times New Roman" panose="02020603050405020304" pitchFamily="18" charset="0"/>
              <a:sym typeface="Times New Roman" panose="02020603050405020304" pitchFamily="18" charset="0"/>
            </a:endParaRPr>
          </a:p>
        </p:txBody>
      </p:sp>
      <p:pic>
        <p:nvPicPr>
          <p:cNvPr id="2051" name="Content Placeholder 4">
            <a:extLst>
              <a:ext uri="{FF2B5EF4-FFF2-40B4-BE49-F238E27FC236}">
                <a16:creationId xmlns:a16="http://schemas.microsoft.com/office/drawing/2014/main" id="{FD47BC32-3C75-45D1-AAC8-E433432DEDC9}"/>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AE27-E858-4855-A3B3-FC34372D3FEC}"/>
              </a:ext>
            </a:extLst>
          </p:cNvPr>
          <p:cNvSpPr>
            <a:spLocks noGrp="1"/>
          </p:cNvSpPr>
          <p:nvPr>
            <p:ph type="title"/>
          </p:nvPr>
        </p:nvSpPr>
        <p:spPr/>
        <p:txBody>
          <a:bodyPr>
            <a:normAutofit fontScale="90000"/>
          </a:bodyPr>
          <a:lstStyle/>
          <a:p>
            <a:pPr>
              <a:defRPr/>
            </a:pPr>
            <a:br>
              <a:rPr lang="en-US" dirty="0"/>
            </a:br>
            <a:r>
              <a:rPr lang="en-US" b="1" u="sng" dirty="0"/>
              <a:t>TOPIC COVERED</a:t>
            </a:r>
            <a:endParaRPr lang="en-IN" b="1" u="sng" dirty="0"/>
          </a:p>
        </p:txBody>
      </p:sp>
      <p:sp>
        <p:nvSpPr>
          <p:cNvPr id="3075" name="Content Placeholder 2">
            <a:extLst>
              <a:ext uri="{FF2B5EF4-FFF2-40B4-BE49-F238E27FC236}">
                <a16:creationId xmlns:a16="http://schemas.microsoft.com/office/drawing/2014/main" id="{6F7950D3-C809-48AB-96ED-A5DF09EB1B4B}"/>
              </a:ext>
            </a:extLst>
          </p:cNvPr>
          <p:cNvSpPr>
            <a:spLocks noGrp="1"/>
          </p:cNvSpPr>
          <p:nvPr>
            <p:ph idx="1"/>
          </p:nvPr>
        </p:nvSpPr>
        <p:spPr>
          <a:xfrm>
            <a:off x="457200" y="1828800"/>
            <a:ext cx="8229600" cy="4572000"/>
          </a:xfrm>
        </p:spPr>
        <p:txBody>
          <a:bodyPr/>
          <a:lstStyle/>
          <a:p>
            <a:r>
              <a:rPr lang="en-US" altLang="en-US" sz="2800">
                <a:latin typeface="Calibri" panose="020F0502020204030204" pitchFamily="34" charset="0"/>
              </a:rPr>
              <a:t>The BASICS OF 8279</a:t>
            </a:r>
          </a:p>
          <a:p>
            <a:r>
              <a:rPr lang="en-US" altLang="en-US" sz="2800">
                <a:latin typeface="Calibri" panose="020F0502020204030204" pitchFamily="34" charset="0"/>
              </a:rPr>
              <a:t>8279 SIGNALS</a:t>
            </a:r>
          </a:p>
          <a:p>
            <a:r>
              <a:rPr lang="en-US" altLang="en-US" sz="2800">
                <a:latin typeface="Calibri" panose="020F0502020204030204" pitchFamily="34" charset="0"/>
              </a:rPr>
              <a:t>PIN DETAILS OF 8279 </a:t>
            </a:r>
          </a:p>
          <a:p>
            <a:r>
              <a:rPr lang="en-US" altLang="en-US" sz="2800">
                <a:latin typeface="Calibri" panose="020F0502020204030204" pitchFamily="34" charset="0"/>
              </a:rPr>
              <a:t>8279 PIN DISCRIPTION</a:t>
            </a:r>
          </a:p>
          <a:p>
            <a:r>
              <a:rPr lang="en-US" altLang="en-US" sz="2800">
                <a:latin typeface="Calibri" panose="020F0502020204030204" pitchFamily="34" charset="0"/>
              </a:rPr>
              <a:t>BLOCK DIAGRAM OF 8279</a:t>
            </a:r>
          </a:p>
          <a:p>
            <a:r>
              <a:rPr lang="en-US" altLang="en-US" sz="2800">
                <a:solidFill>
                  <a:srgbClr val="000000"/>
                </a:solidFill>
                <a:latin typeface="Calibri" panose="020F0502020204030204" pitchFamily="34" charset="0"/>
                <a:ea typeface="Calibri" panose="020F0502020204030204" pitchFamily="34" charset="0"/>
                <a:cs typeface="Times New Roman" panose="02020603050405020304" pitchFamily="18" charset="0"/>
                <a:sym typeface="Times New Roman" panose="02020603050405020304" pitchFamily="18" charset="0"/>
              </a:rPr>
              <a:t>BLOCK DIAGRAM 8279</a:t>
            </a:r>
            <a:endParaRPr lang="en-US" altLang="en-US" sz="2800">
              <a:solidFill>
                <a:srgbClr val="000000"/>
              </a:solidFill>
              <a:latin typeface="Calibri" panose="020F0502020204030204" pitchFamily="34" charset="0"/>
              <a:sym typeface="Calibri" panose="020F0502020204030204" pitchFamily="34" charset="0"/>
            </a:endParaRPr>
          </a:p>
          <a:p>
            <a:r>
              <a:rPr lang="en-US" altLang="en-US" sz="2800">
                <a:latin typeface="Calibri" panose="020F0502020204030204" pitchFamily="34" charset="0"/>
              </a:rPr>
              <a:t>MODES OF 8279 </a:t>
            </a:r>
          </a:p>
          <a:p>
            <a:endParaRPr lang="en-US" altLang="en-US" sz="2800"/>
          </a:p>
        </p:txBody>
      </p:sp>
      <p:pic>
        <p:nvPicPr>
          <p:cNvPr id="3076" name="Content Placeholder 4">
            <a:extLst>
              <a:ext uri="{FF2B5EF4-FFF2-40B4-BE49-F238E27FC236}">
                <a16:creationId xmlns:a16="http://schemas.microsoft.com/office/drawing/2014/main" id="{E887F5EC-C0B5-4064-98DB-C970E073EF34}"/>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E0B7E27-B39D-4F7C-9610-4B48786344FF}"/>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BASICS OF8279</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4099" name="Rectangle 3">
            <a:extLst>
              <a:ext uri="{FF2B5EF4-FFF2-40B4-BE49-F238E27FC236}">
                <a16:creationId xmlns:a16="http://schemas.microsoft.com/office/drawing/2014/main" id="{F10BA946-FFD9-4090-BCAE-18EE648F21D0}"/>
              </a:ext>
            </a:extLst>
          </p:cNvPr>
          <p:cNvSpPr>
            <a:spLocks noGrp="1" noChangeArrowheads="1"/>
          </p:cNvSpPr>
          <p:nvPr>
            <p:ph type="body" idx="1"/>
          </p:nvPr>
        </p:nvSpPr>
        <p:spPr>
          <a:xfrm>
            <a:off x="304800" y="762000"/>
            <a:ext cx="8610600" cy="5791200"/>
          </a:xfrm>
        </p:spPr>
        <p:txBody>
          <a:bodyPr/>
          <a:lstStyle/>
          <a:p>
            <a:endParaRPr lang="en-US" altLang="en-US" sz="2400">
              <a:latin typeface="Times New Roman" panose="02020603050405020304" pitchFamily="18" charset="0"/>
              <a:cs typeface="Times New Roman" panose="02020603050405020304" pitchFamily="18" charset="0"/>
            </a:endParaRPr>
          </a:p>
          <a:p>
            <a:endParaRPr lang="en-US" altLang="en-US" sz="2400">
              <a:latin typeface="Times New Roman" panose="02020603050405020304" pitchFamily="18" charset="0"/>
              <a:cs typeface="Times New Roman" panose="02020603050405020304" pitchFamily="18" charset="0"/>
            </a:endParaRPr>
          </a:p>
          <a:p>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Intel 8279</a:t>
            </a:r>
            <a:r>
              <a:rPr lang="en-US" altLang="en-US" sz="2400">
                <a:latin typeface="Times New Roman" panose="02020603050405020304" pitchFamily="18" charset="0"/>
                <a:cs typeface="Times New Roman" panose="02020603050405020304" pitchFamily="18" charset="0"/>
              </a:rPr>
              <a:t> is a Keyboard/Display Controller is specially developed for interfacing keyboard and display devices for the Intel 8085, 8086 Microprocessors.</a:t>
            </a:r>
          </a:p>
          <a:p>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The device is well suited for driving seven or eighteen segment display units and for interfacing matrix key boards.</a:t>
            </a:r>
          </a:p>
          <a:p>
            <a:endParaRPr lang="en-US" altLang="en-US" sz="2400">
              <a:latin typeface="Times New Roman" panose="02020603050405020304" pitchFamily="18" charset="0"/>
              <a:cs typeface="Times New Roman" panose="02020603050405020304" pitchFamily="18" charset="0"/>
            </a:endParaRPr>
          </a:p>
        </p:txBody>
      </p:sp>
      <p:pic>
        <p:nvPicPr>
          <p:cNvPr id="4100" name="Content Placeholder 4">
            <a:extLst>
              <a:ext uri="{FF2B5EF4-FFF2-40B4-BE49-F238E27FC236}">
                <a16:creationId xmlns:a16="http://schemas.microsoft.com/office/drawing/2014/main" id="{3B039B33-04CB-4364-8983-8B6486C43E0D}"/>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143CF3B-942F-41F1-9674-DF27105A4C53}"/>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8279 signals</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7E46C788-A994-4BE3-BCEE-9A4640C1A510}"/>
              </a:ext>
            </a:extLst>
          </p:cNvPr>
          <p:cNvSpPr>
            <a:spLocks noGrp="1" noChangeArrowheads="1"/>
          </p:cNvSpPr>
          <p:nvPr>
            <p:ph type="body" idx="1"/>
          </p:nvPr>
        </p:nvSpPr>
        <p:spPr>
          <a:xfrm>
            <a:off x="304800" y="914400"/>
            <a:ext cx="8610600" cy="5638800"/>
          </a:xfrm>
        </p:spPr>
        <p:txBody>
          <a:bodyPr/>
          <a:lstStyle/>
          <a:p>
            <a:pPr marL="990600" lvl="1" indent="-533400" eaLnBrk="1" hangingPunct="1">
              <a:buFontTx/>
              <a:buNone/>
            </a:pPr>
            <a:endParaRPr lang="en-US" altLang="en-US" sz="3200"/>
          </a:p>
          <a:p>
            <a:pPr marL="990600" lvl="1" indent="-533400" eaLnBrk="1" hangingPunct="1">
              <a:buFontTx/>
              <a:buNone/>
            </a:pPr>
            <a:endParaRPr lang="en-US" altLang="en-US" sz="3200"/>
          </a:p>
          <a:p>
            <a:pPr marL="990600" lvl="1" indent="-533400" eaLnBrk="1" hangingPunct="1">
              <a:buFontTx/>
              <a:buNone/>
            </a:pPr>
            <a:endParaRPr lang="en-US" altLang="en-US" sz="3200"/>
          </a:p>
        </p:txBody>
      </p:sp>
      <p:pic>
        <p:nvPicPr>
          <p:cNvPr id="5124" name="Picture 2">
            <a:extLst>
              <a:ext uri="{FF2B5EF4-FFF2-40B4-BE49-F238E27FC236}">
                <a16:creationId xmlns:a16="http://schemas.microsoft.com/office/drawing/2014/main" id="{9B4C9AEE-A380-4020-85C1-C6F234753F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52600"/>
            <a:ext cx="6858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Content Placeholder 4">
            <a:extLst>
              <a:ext uri="{FF2B5EF4-FFF2-40B4-BE49-F238E27FC236}">
                <a16:creationId xmlns:a16="http://schemas.microsoft.com/office/drawing/2014/main" id="{7EB3DC33-EB8B-49A8-AFAE-E0ECFD5F1216}"/>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6AC5457-A276-4740-B084-6CED14D49D92}"/>
              </a:ext>
            </a:extLst>
          </p:cNvPr>
          <p:cNvSpPr>
            <a:spLocks noGrp="1" noChangeArrowheads="1"/>
          </p:cNvSpPr>
          <p:nvPr>
            <p:ph type="title"/>
          </p:nvPr>
        </p:nvSpPr>
        <p:spPr>
          <a:xfrm>
            <a:off x="838200" y="228600"/>
            <a:ext cx="7772400" cy="563563"/>
          </a:xfrm>
        </p:spPr>
        <p:txBody>
          <a:bodyPr/>
          <a:lstStyle/>
          <a:p>
            <a:pPr eaLnBrk="1" hangingPunct="1"/>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6147" name="Rectangle 3">
            <a:extLst>
              <a:ext uri="{FF2B5EF4-FFF2-40B4-BE49-F238E27FC236}">
                <a16:creationId xmlns:a16="http://schemas.microsoft.com/office/drawing/2014/main" id="{AFD4C47B-0345-49E0-B528-71F87D79CA44}"/>
              </a:ext>
            </a:extLst>
          </p:cNvPr>
          <p:cNvSpPr>
            <a:spLocks noGrp="1" noChangeArrowheads="1"/>
          </p:cNvSpPr>
          <p:nvPr>
            <p:ph type="body" idx="1"/>
          </p:nvPr>
        </p:nvSpPr>
        <p:spPr>
          <a:xfrm>
            <a:off x="304800" y="762000"/>
            <a:ext cx="8610600" cy="5791200"/>
          </a:xfrm>
        </p:spPr>
        <p:txBody>
          <a:bodyPr/>
          <a:lstStyle/>
          <a:p>
            <a:pPr marL="990600" lvl="1" indent="-533400" algn="ctr" eaLnBrk="1" hangingPunct="1">
              <a:buFontTx/>
              <a:buNone/>
            </a:pPr>
            <a:r>
              <a:rPr lang="en-US" altLang="en-US" sz="3200"/>
              <a:t>PIN DETAIL 8279</a:t>
            </a:r>
          </a:p>
        </p:txBody>
      </p:sp>
      <p:pic>
        <p:nvPicPr>
          <p:cNvPr id="6148" name="Picture 2">
            <a:extLst>
              <a:ext uri="{FF2B5EF4-FFF2-40B4-BE49-F238E27FC236}">
                <a16:creationId xmlns:a16="http://schemas.microsoft.com/office/drawing/2014/main" id="{DDF291A4-7CD4-4EA4-82D2-172E9830C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295400"/>
            <a:ext cx="5257800"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Content Placeholder 4">
            <a:extLst>
              <a:ext uri="{FF2B5EF4-FFF2-40B4-BE49-F238E27FC236}">
                <a16:creationId xmlns:a16="http://schemas.microsoft.com/office/drawing/2014/main" id="{B2A52FF2-9600-4B65-9220-4617DADDA1B0}"/>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D9C24F3-AA39-4586-9F95-4C22CF0CA493}"/>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r>
              <a:rPr lang="en-US" altLang="en-US" sz="2800" b="1">
                <a:solidFill>
                  <a:srgbClr val="FF0000"/>
                </a:solidFill>
              </a:rPr>
              <a:t>8279 PIN DISCRIPTION</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7171" name="Rectangle 3">
            <a:extLst>
              <a:ext uri="{FF2B5EF4-FFF2-40B4-BE49-F238E27FC236}">
                <a16:creationId xmlns:a16="http://schemas.microsoft.com/office/drawing/2014/main" id="{E3917323-A7A2-40FA-A45F-B84002B12E2F}"/>
              </a:ext>
            </a:extLst>
          </p:cNvPr>
          <p:cNvSpPr>
            <a:spLocks noGrp="1" noChangeArrowheads="1"/>
          </p:cNvSpPr>
          <p:nvPr>
            <p:ph type="body" idx="1"/>
          </p:nvPr>
        </p:nvSpPr>
        <p:spPr>
          <a:xfrm>
            <a:off x="304800" y="1447800"/>
            <a:ext cx="8610600" cy="5105400"/>
          </a:xfrm>
        </p:spPr>
        <p:txBody>
          <a:bodyPr/>
          <a:lstStyle/>
          <a:p>
            <a:pPr marL="265113" indent="-265113" eaLnBrk="1" hangingPunct="1">
              <a:buFont typeface="Wingdings" panose="05000000000000000000" pitchFamily="2" charset="2"/>
              <a:buChar char="Ø"/>
            </a:pPr>
            <a:r>
              <a:rPr lang="en-US" altLang="en-US" sz="2800" b="1"/>
              <a:t>DB</a:t>
            </a:r>
            <a:r>
              <a:rPr lang="en-US" altLang="en-US" sz="2800" b="1" baseline="-25000"/>
              <a:t>0</a:t>
            </a:r>
            <a:r>
              <a:rPr lang="en-US" altLang="en-US" sz="2800" b="1"/>
              <a:t>-DB</a:t>
            </a:r>
            <a:r>
              <a:rPr lang="en-US" altLang="en-US" sz="2800" b="1" baseline="-25000"/>
              <a:t>7</a:t>
            </a:r>
            <a:r>
              <a:rPr lang="en-US" altLang="en-US" sz="2800" b="1"/>
              <a:t> : </a:t>
            </a:r>
            <a:r>
              <a:rPr lang="en-US" altLang="en-US" sz="2800"/>
              <a:t>These are bidirectional data bus lines. The data and command words to and from the CPU are transferred on these lines.</a:t>
            </a:r>
          </a:p>
          <a:p>
            <a:pPr marL="265113" indent="-265113" eaLnBrk="1" hangingPunct="1">
              <a:buFont typeface="Wingdings 2" panose="05020102010507070707" pitchFamily="18" charset="2"/>
              <a:buNone/>
            </a:pPr>
            <a:endParaRPr lang="en-US" altLang="en-US" sz="2800"/>
          </a:p>
          <a:p>
            <a:pPr marL="265113" indent="-265113" eaLnBrk="1" hangingPunct="1">
              <a:buFont typeface="Wingdings" panose="05000000000000000000" pitchFamily="2" charset="2"/>
              <a:buChar char="Ø"/>
            </a:pPr>
            <a:r>
              <a:rPr lang="en-US" altLang="en-US" sz="2800"/>
              <a:t> </a:t>
            </a:r>
            <a:r>
              <a:rPr lang="en-US" altLang="en-US" sz="2800" b="1"/>
              <a:t>RD, WR ( Input / Output ) READ/WRITE                                                                                 :</a:t>
            </a:r>
            <a:r>
              <a:rPr lang="en-US" altLang="en-US" sz="2800"/>
              <a:t>These input pins enable the data buffers to receive or send data over the data bus.</a:t>
            </a:r>
          </a:p>
          <a:p>
            <a:pPr marL="265113" indent="-265113" eaLnBrk="1" hangingPunct="1">
              <a:buFont typeface="Wingdings" panose="05000000000000000000" pitchFamily="2" charset="2"/>
              <a:buChar char="Ø"/>
            </a:pPr>
            <a:r>
              <a:rPr lang="en-US" altLang="en-US" sz="2800" b="1"/>
              <a:t>A0(Address lines) : </a:t>
            </a:r>
            <a:r>
              <a:rPr lang="en-US" altLang="en-US" sz="2800"/>
              <a:t>A high on this line indicates the transfer of a command or status information. A low on this line indicates the transfer of data. This is used to select one of the internal registers of 8279.</a:t>
            </a:r>
          </a:p>
          <a:p>
            <a:pPr marL="990600" lvl="1" indent="-533400" eaLnBrk="1" hangingPunct="1">
              <a:buFontTx/>
              <a:buNone/>
            </a:pPr>
            <a:endParaRPr lang="en-US" altLang="en-US" sz="3200"/>
          </a:p>
        </p:txBody>
      </p:sp>
      <p:pic>
        <p:nvPicPr>
          <p:cNvPr id="7172" name="Content Placeholder 4">
            <a:extLst>
              <a:ext uri="{FF2B5EF4-FFF2-40B4-BE49-F238E27FC236}">
                <a16:creationId xmlns:a16="http://schemas.microsoft.com/office/drawing/2014/main" id="{C8CBC43E-1BF8-4C55-8F52-736462290E63}"/>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6E100F3-86CD-4184-B4A6-017A23AEC202}"/>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8279 PIN DISCRIPTION</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84995" name="Rectangle 3">
            <a:extLst>
              <a:ext uri="{FF2B5EF4-FFF2-40B4-BE49-F238E27FC236}">
                <a16:creationId xmlns:a16="http://schemas.microsoft.com/office/drawing/2014/main" id="{3353BC7B-998D-4F82-9EB4-3745338898E2}"/>
              </a:ext>
            </a:extLst>
          </p:cNvPr>
          <p:cNvSpPr>
            <a:spLocks noGrp="1" noChangeArrowheads="1"/>
          </p:cNvSpPr>
          <p:nvPr>
            <p:ph type="body" idx="1"/>
          </p:nvPr>
        </p:nvSpPr>
        <p:spPr>
          <a:xfrm>
            <a:off x="304800" y="1524000"/>
            <a:ext cx="8610600" cy="5029200"/>
          </a:xfrm>
          <a:ln>
            <a:miter lim="800000"/>
            <a:headEnd/>
            <a:tailEnd/>
          </a:ln>
        </p:spPr>
        <p:txBody>
          <a:bodyPr/>
          <a:lstStyle/>
          <a:p>
            <a:pPr marL="265113" lvl="8" indent="-265113" eaLnBrk="0" fontAlgn="base" hangingPunct="0">
              <a:spcBef>
                <a:spcPts val="250"/>
              </a:spcBef>
              <a:spcAft>
                <a:spcPct val="0"/>
              </a:spcAft>
              <a:buClr>
                <a:schemeClr val="accent1"/>
              </a:buClr>
              <a:buSzPct val="80000"/>
              <a:buFont typeface="Arial" panose="020B0604020202020204" pitchFamily="34" charset="0"/>
              <a:buNone/>
              <a:defRPr/>
            </a:pPr>
            <a:endParaRPr lang="en-US" sz="2800" b="1" dirty="0"/>
          </a:p>
          <a:p>
            <a:pPr marL="265113" lvl="8" indent="-265113" eaLnBrk="0" fontAlgn="base" hangingPunct="0">
              <a:spcBef>
                <a:spcPts val="250"/>
              </a:spcBef>
              <a:spcAft>
                <a:spcPct val="0"/>
              </a:spcAft>
              <a:buClr>
                <a:schemeClr val="accent1"/>
              </a:buClr>
              <a:buSzPct val="80000"/>
              <a:buFont typeface="Arial" panose="020B0604020202020204" pitchFamily="34" charset="0"/>
              <a:buNone/>
              <a:defRPr/>
            </a:pPr>
            <a:endParaRPr lang="en-US" sz="2800" b="1" dirty="0"/>
          </a:p>
          <a:p>
            <a:pPr marL="265113" lvl="8" indent="-265113" eaLnBrk="0" fontAlgn="base" hangingPunct="0">
              <a:spcBef>
                <a:spcPts val="250"/>
              </a:spcBef>
              <a:spcAft>
                <a:spcPct val="0"/>
              </a:spcAft>
              <a:buClr>
                <a:schemeClr val="accent1"/>
              </a:buClr>
              <a:buSzPct val="80000"/>
              <a:buFont typeface="Arial" panose="020B0604020202020204" pitchFamily="34" charset="0"/>
              <a:buNone/>
              <a:defRPr/>
            </a:pPr>
            <a:r>
              <a:rPr lang="en-US" sz="2800" b="1" dirty="0"/>
              <a:t>CS : </a:t>
            </a:r>
            <a:r>
              <a:rPr lang="en-US" sz="2800" dirty="0"/>
              <a:t>Chip Select – A low on this line enables 8279 for normal read or write operations. Other wise, this pin should remain high.</a:t>
            </a:r>
          </a:p>
          <a:p>
            <a:pPr marL="265113" lvl="8" indent="-265113" eaLnBrk="0" fontAlgn="base" hangingPunct="0">
              <a:spcBef>
                <a:spcPts val="250"/>
              </a:spcBef>
              <a:spcAft>
                <a:spcPct val="0"/>
              </a:spcAft>
              <a:buClr>
                <a:schemeClr val="accent1"/>
              </a:buClr>
              <a:buSzPct val="80000"/>
              <a:buFont typeface="Wingdings" pitchFamily="2" charset="2"/>
              <a:buChar char="Ø"/>
              <a:defRPr/>
            </a:pPr>
            <a:endParaRPr lang="en-US" sz="2800" dirty="0"/>
          </a:p>
          <a:p>
            <a:pPr marL="265113" lvl="8" indent="-265113" eaLnBrk="0" fontAlgn="base" hangingPunct="0">
              <a:spcBef>
                <a:spcPts val="250"/>
              </a:spcBef>
              <a:spcAft>
                <a:spcPct val="0"/>
              </a:spcAft>
              <a:buClr>
                <a:schemeClr val="accent1"/>
              </a:buClr>
              <a:buSzPct val="80000"/>
              <a:buFont typeface="Wingdings" pitchFamily="2" charset="2"/>
              <a:buChar char="Ø"/>
              <a:defRPr/>
            </a:pPr>
            <a:r>
              <a:rPr lang="en-US" sz="2800" b="1" dirty="0"/>
              <a:t>RESET : </a:t>
            </a:r>
            <a:r>
              <a:rPr lang="en-US" sz="2800" dirty="0"/>
              <a:t>This pin is used to reset 8279. A high on this line reset 8279. After resetting 8279, its in sixteen 8-bit display, left entry encoded scan, 2-key lock out mode. The clock </a:t>
            </a:r>
            <a:r>
              <a:rPr lang="en-US" sz="2800" dirty="0" err="1"/>
              <a:t>prescaler</a:t>
            </a:r>
            <a:r>
              <a:rPr lang="en-US" sz="2800" dirty="0"/>
              <a:t> is set to 31.</a:t>
            </a:r>
          </a:p>
          <a:p>
            <a:pPr marL="265113" lvl="8" indent="-265113" eaLnBrk="0" fontAlgn="base" hangingPunct="0">
              <a:spcBef>
                <a:spcPts val="250"/>
              </a:spcBef>
              <a:spcAft>
                <a:spcPct val="0"/>
              </a:spcAft>
              <a:buClr>
                <a:schemeClr val="accent1"/>
              </a:buClr>
              <a:buSzPct val="80000"/>
              <a:buFont typeface="Arial" panose="020B0604020202020204" pitchFamily="34" charset="0"/>
              <a:buNone/>
              <a:defRPr/>
            </a:pPr>
            <a:r>
              <a:rPr lang="en-US" sz="2800" b="1" dirty="0"/>
              <a:t>   CLK : </a:t>
            </a:r>
            <a:r>
              <a:rPr lang="en-US" sz="2800" dirty="0"/>
              <a:t>This is a clock input used to generate internal</a:t>
            </a:r>
            <a:r>
              <a:rPr lang="en-US" sz="2800" b="1" dirty="0"/>
              <a:t> </a:t>
            </a:r>
            <a:r>
              <a:rPr lang="en-US" sz="2800" dirty="0"/>
              <a:t>timing required by 8279.</a:t>
            </a:r>
            <a:endParaRPr lang="en-US" sz="3200" dirty="0"/>
          </a:p>
        </p:txBody>
      </p:sp>
      <p:pic>
        <p:nvPicPr>
          <p:cNvPr id="8196" name="Content Placeholder 4">
            <a:extLst>
              <a:ext uri="{FF2B5EF4-FFF2-40B4-BE49-F238E27FC236}">
                <a16:creationId xmlns:a16="http://schemas.microsoft.com/office/drawing/2014/main" id="{7E73FC29-DBAD-4635-8368-49350C65C8CE}"/>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E6981EB-E40C-4A35-BC4D-BCA33FF8ECDB}"/>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r>
              <a:rPr lang="en-US" altLang="en-US" sz="2800" b="1">
                <a:solidFill>
                  <a:srgbClr val="FF0000"/>
                </a:solidFill>
              </a:rPr>
              <a:t>8279 PIN DISCRIPTION</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9219" name="Rectangle 3">
            <a:extLst>
              <a:ext uri="{FF2B5EF4-FFF2-40B4-BE49-F238E27FC236}">
                <a16:creationId xmlns:a16="http://schemas.microsoft.com/office/drawing/2014/main" id="{EFEABBE9-B094-4423-92A2-018FC3785F76}"/>
              </a:ext>
            </a:extLst>
          </p:cNvPr>
          <p:cNvSpPr>
            <a:spLocks noGrp="1" noChangeArrowheads="1"/>
          </p:cNvSpPr>
          <p:nvPr>
            <p:ph type="body" idx="1"/>
          </p:nvPr>
        </p:nvSpPr>
        <p:spPr>
          <a:xfrm>
            <a:off x="304800" y="1066800"/>
            <a:ext cx="8610600" cy="5791200"/>
          </a:xfrm>
        </p:spPr>
        <p:txBody>
          <a:bodyPr/>
          <a:lstStyle/>
          <a:p>
            <a:pPr marL="265113" indent="-265113" eaLnBrk="1" hangingPunct="1">
              <a:buFontTx/>
              <a:buNone/>
            </a:pPr>
            <a:r>
              <a:rPr lang="en-US" altLang="en-US" sz="2400" b="1"/>
              <a:t>    </a:t>
            </a:r>
          </a:p>
          <a:p>
            <a:pPr marL="265113" indent="-265113" eaLnBrk="1" hangingPunct="1">
              <a:buFontTx/>
              <a:buNone/>
            </a:pPr>
            <a:r>
              <a:rPr lang="en-US" altLang="en-US" sz="2400" b="1"/>
              <a:t>IRQ : </a:t>
            </a:r>
            <a:r>
              <a:rPr lang="en-US" altLang="en-US" sz="2400"/>
              <a:t>This interrupt output lines goes high when there is a data in the FIFO sensor RAM. The interrupt lines goes low with each FIFO RAM read operation but if the FIFO RAM further contains any key-code entry to be read by the CPU, this pin again goes high to generate an interrupt to the CPU.</a:t>
            </a:r>
          </a:p>
          <a:p>
            <a:pPr marL="265113" indent="-265113" eaLnBrk="1" hangingPunct="1">
              <a:buFont typeface="Wingdings" panose="05000000000000000000" pitchFamily="2" charset="2"/>
              <a:buChar char="Ø"/>
            </a:pPr>
            <a:endParaRPr lang="en-US" altLang="en-US" sz="2400"/>
          </a:p>
          <a:p>
            <a:pPr marL="265113" indent="-265113" eaLnBrk="1" hangingPunct="1">
              <a:buFont typeface="Wingdings" panose="05000000000000000000" pitchFamily="2" charset="2"/>
              <a:buChar char="Ø"/>
            </a:pPr>
            <a:r>
              <a:rPr lang="en-US" altLang="en-US" sz="2400"/>
              <a:t> </a:t>
            </a:r>
            <a:r>
              <a:rPr lang="en-US" altLang="en-US" sz="2400" b="1"/>
              <a:t>Vss, Vcc : </a:t>
            </a:r>
            <a:r>
              <a:rPr lang="en-US" altLang="en-US" sz="2400"/>
              <a:t>These are the ground and power supply lines for the circuit.</a:t>
            </a:r>
          </a:p>
          <a:p>
            <a:pPr marL="265113" indent="-265113" eaLnBrk="1" hangingPunct="1">
              <a:buFont typeface="Wingdings" panose="05000000000000000000" pitchFamily="2" charset="2"/>
              <a:buChar char="Ø"/>
            </a:pPr>
            <a:endParaRPr lang="en-US" altLang="en-US" sz="2400"/>
          </a:p>
          <a:p>
            <a:pPr marL="265113" indent="-265113" eaLnBrk="1" hangingPunct="1">
              <a:buFont typeface="Wingdings" panose="05000000000000000000" pitchFamily="2" charset="2"/>
              <a:buChar char="Ø"/>
            </a:pPr>
            <a:r>
              <a:rPr lang="en-US" altLang="en-US" sz="2400"/>
              <a:t> </a:t>
            </a:r>
            <a:r>
              <a:rPr lang="en-US" altLang="en-US" sz="2400" b="1"/>
              <a:t>SL0-SL3-Scan Lines : </a:t>
            </a:r>
            <a:r>
              <a:rPr lang="en-US" altLang="en-US" sz="2400"/>
              <a:t>These lines are used to scan the key</a:t>
            </a:r>
            <a:r>
              <a:rPr lang="en-US" altLang="en-US" sz="2400" b="1"/>
              <a:t> </a:t>
            </a:r>
            <a:r>
              <a:rPr lang="en-US" altLang="en-US" sz="2400"/>
              <a:t>board matrix and display digits. These lines can be programmed as encoded or decoded, using the mode control register.</a:t>
            </a:r>
          </a:p>
        </p:txBody>
      </p:sp>
      <p:pic>
        <p:nvPicPr>
          <p:cNvPr id="9220" name="Content Placeholder 4">
            <a:extLst>
              <a:ext uri="{FF2B5EF4-FFF2-40B4-BE49-F238E27FC236}">
                <a16:creationId xmlns:a16="http://schemas.microsoft.com/office/drawing/2014/main" id="{F4C0EA33-9A9A-46DD-8383-2C003D807754}"/>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A1ABE5D-1689-4593-BCE0-26E38015CD5D}"/>
              </a:ext>
            </a:extLst>
          </p:cNvPr>
          <p:cNvSpPr>
            <a:spLocks noGrp="1" noChangeArrowheads="1"/>
          </p:cNvSpPr>
          <p:nvPr>
            <p:ph type="title"/>
          </p:nvPr>
        </p:nvSpPr>
        <p:spPr>
          <a:xfrm>
            <a:off x="838200" y="228600"/>
            <a:ext cx="7772400" cy="304800"/>
          </a:xfrm>
        </p:spPr>
        <p:txBody>
          <a:bodyPr/>
          <a:lstStyle/>
          <a:p>
            <a:pPr eaLnBrk="1" hangingPunct="1"/>
            <a:br>
              <a:rPr lang="en-US" altLang="en-US" sz="2800" b="1">
                <a:solidFill>
                  <a:srgbClr val="FF0000"/>
                </a:solidFill>
              </a:rPr>
            </a:br>
            <a:br>
              <a:rPr lang="en-US" altLang="en-US" sz="2800" b="1">
                <a:solidFill>
                  <a:srgbClr val="FF0000"/>
                </a:solidFill>
              </a:rPr>
            </a:br>
            <a:r>
              <a:rPr lang="en-US" altLang="en-US" sz="2800" b="1">
                <a:solidFill>
                  <a:srgbClr val="FF0000"/>
                </a:solidFill>
              </a:rPr>
              <a:t>8279 PIN DISCRIPTION</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0243" name="Rectangle 3">
            <a:extLst>
              <a:ext uri="{FF2B5EF4-FFF2-40B4-BE49-F238E27FC236}">
                <a16:creationId xmlns:a16="http://schemas.microsoft.com/office/drawing/2014/main" id="{1C97F8A8-0076-40D4-899B-DE76CB7C9D67}"/>
              </a:ext>
            </a:extLst>
          </p:cNvPr>
          <p:cNvSpPr>
            <a:spLocks noGrp="1" noChangeArrowheads="1"/>
          </p:cNvSpPr>
          <p:nvPr>
            <p:ph type="body" idx="1"/>
          </p:nvPr>
        </p:nvSpPr>
        <p:spPr>
          <a:xfrm>
            <a:off x="304800" y="1295400"/>
            <a:ext cx="8610600" cy="5257800"/>
          </a:xfrm>
        </p:spPr>
        <p:txBody>
          <a:bodyPr/>
          <a:lstStyle/>
          <a:p>
            <a:pPr marL="265113" indent="-265113" eaLnBrk="1" hangingPunct="1">
              <a:buFont typeface="Wingdings" panose="05000000000000000000" pitchFamily="2" charset="2"/>
              <a:buChar char="Ø"/>
            </a:pPr>
            <a:r>
              <a:rPr lang="en-US" altLang="en-US" sz="2200" b="1"/>
              <a:t>RL0 - RL7 - Return Lines : </a:t>
            </a:r>
            <a:r>
              <a:rPr lang="en-US" altLang="en-US" sz="2200"/>
              <a:t>These are the input lines</a:t>
            </a:r>
            <a:r>
              <a:rPr lang="en-US" altLang="en-US" sz="2200" b="1"/>
              <a:t> </a:t>
            </a:r>
            <a:r>
              <a:rPr lang="en-US" altLang="en-US" sz="2200"/>
              <a:t>which are connected to one terminal of keys, while the other terminal of the keys are connected to the decoded scan lines. These are normally high, but pulled low when a key is pressed.</a:t>
            </a:r>
          </a:p>
          <a:p>
            <a:pPr marL="265113" indent="-265113" eaLnBrk="1" hangingPunct="1">
              <a:buFont typeface="Wingdings" panose="05000000000000000000" pitchFamily="2" charset="2"/>
              <a:buChar char="Ø"/>
            </a:pPr>
            <a:endParaRPr lang="en-US" altLang="en-US" sz="2200"/>
          </a:p>
          <a:p>
            <a:pPr marL="265113" indent="-265113" eaLnBrk="1" hangingPunct="1">
              <a:buFont typeface="Wingdings" panose="05000000000000000000" pitchFamily="2" charset="2"/>
              <a:buChar char="Ø"/>
            </a:pPr>
            <a:r>
              <a:rPr lang="en-US" altLang="en-US" sz="2200"/>
              <a:t> </a:t>
            </a:r>
            <a:r>
              <a:rPr lang="en-US" altLang="en-US" sz="2200" b="1"/>
              <a:t>SHIFT : </a:t>
            </a:r>
            <a:r>
              <a:rPr lang="en-US" altLang="en-US" sz="2200"/>
              <a:t>The status of the shift input lines is stored along with each key code in FIFO, in scanned keyboard mode. It is pulled up internally to keep it high, till it is pulled low with a key closure.</a:t>
            </a:r>
          </a:p>
          <a:p>
            <a:pPr marL="265113" indent="-265113" eaLnBrk="1" hangingPunct="1">
              <a:buFont typeface="Wingdings" panose="05000000000000000000" pitchFamily="2" charset="2"/>
              <a:buChar char="Ø"/>
            </a:pPr>
            <a:endParaRPr lang="en-US" altLang="en-US" sz="2200"/>
          </a:p>
          <a:p>
            <a:pPr marL="265113" lvl="1" indent="-265113" eaLnBrk="1" hangingPunct="1">
              <a:buSzPct val="80000"/>
              <a:buFont typeface="Wingdings" panose="05000000000000000000" pitchFamily="2" charset="2"/>
              <a:buChar char="Ø"/>
            </a:pPr>
            <a:r>
              <a:rPr lang="en-US" altLang="en-US" sz="2200" b="1"/>
              <a:t>CNTL/STB- CONTROL/STROBED I/P Mode : </a:t>
            </a:r>
            <a:r>
              <a:rPr lang="en-US" altLang="en-US" sz="2200"/>
              <a:t>In</a:t>
            </a:r>
            <a:r>
              <a:rPr lang="en-US" altLang="en-US" sz="2200" b="1"/>
              <a:t> </a:t>
            </a:r>
            <a:r>
              <a:rPr lang="en-US" altLang="en-US" sz="2200"/>
              <a:t>keyboard mode, this lines is used as a control input and stored in FIFO on a key closure. The line is a strobed lines that enters the data into FIFO RAM, in strobed input mode. It has an interrupt pull up. The lines is pulled down with a key closer.</a:t>
            </a:r>
          </a:p>
          <a:p>
            <a:pPr marL="265113" indent="-265113" eaLnBrk="1" hangingPunct="1">
              <a:buFont typeface="Wingdings" panose="05000000000000000000" pitchFamily="2" charset="2"/>
              <a:buChar char="Ø"/>
            </a:pPr>
            <a:endParaRPr lang="en-US" altLang="en-US" sz="2400"/>
          </a:p>
        </p:txBody>
      </p:sp>
      <p:pic>
        <p:nvPicPr>
          <p:cNvPr id="10244" name="Content Placeholder 4">
            <a:extLst>
              <a:ext uri="{FF2B5EF4-FFF2-40B4-BE49-F238E27FC236}">
                <a16:creationId xmlns:a16="http://schemas.microsoft.com/office/drawing/2014/main" id="{B8393877-6ADF-44C2-828E-F5D7C0E14407}"/>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1EA77AF-88BB-4858-BCD9-802F8F33189A}"/>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8279 PIN DISCRIPTION</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1267" name="Rectangle 3">
            <a:extLst>
              <a:ext uri="{FF2B5EF4-FFF2-40B4-BE49-F238E27FC236}">
                <a16:creationId xmlns:a16="http://schemas.microsoft.com/office/drawing/2014/main" id="{190B47D8-E53B-422E-ABCA-138009CABE2A}"/>
              </a:ext>
            </a:extLst>
          </p:cNvPr>
          <p:cNvSpPr>
            <a:spLocks noGrp="1" noChangeArrowheads="1"/>
          </p:cNvSpPr>
          <p:nvPr>
            <p:ph type="body" idx="1"/>
          </p:nvPr>
        </p:nvSpPr>
        <p:spPr>
          <a:xfrm>
            <a:off x="304800" y="1752600"/>
            <a:ext cx="8610600" cy="4800600"/>
          </a:xfrm>
        </p:spPr>
        <p:txBody>
          <a:bodyPr/>
          <a:lstStyle/>
          <a:p>
            <a:pPr marL="265113" indent="-265113" eaLnBrk="1" hangingPunct="1">
              <a:buFont typeface="Wingdings" panose="05000000000000000000" pitchFamily="2" charset="2"/>
              <a:buChar char="Ø"/>
            </a:pPr>
            <a:r>
              <a:rPr lang="en-US" altLang="en-US" sz="2800" b="1"/>
              <a:t>OUT A0 – OUT A3 and OUT B0 – OUT B3 : </a:t>
            </a:r>
            <a:r>
              <a:rPr lang="en-US" altLang="en-US" sz="2800"/>
              <a:t>These are the output ports for two 16*4 or 16*8 internal display refresh registers. The data from these lines is synchronized with the scan lines to scan the display and keyboard. The two 4-bit ports may also as one 8-bit port.</a:t>
            </a:r>
          </a:p>
          <a:p>
            <a:pPr marL="265113" indent="-265113" eaLnBrk="1" hangingPunct="1">
              <a:buFont typeface="Wingdings" panose="05000000000000000000" pitchFamily="2" charset="2"/>
              <a:buChar char="Ø"/>
            </a:pPr>
            <a:r>
              <a:rPr lang="en-US" altLang="en-US" sz="2800"/>
              <a:t> </a:t>
            </a:r>
            <a:r>
              <a:rPr lang="en-US" altLang="en-US" sz="2800" b="1"/>
              <a:t>BD – Blank Display : </a:t>
            </a:r>
            <a:r>
              <a:rPr lang="en-US" altLang="en-US" sz="2800"/>
              <a:t>This output pin is used to blank the display during digit switching or by a blanking closure.</a:t>
            </a:r>
          </a:p>
          <a:p>
            <a:pPr marL="265113" indent="-265113" eaLnBrk="1" hangingPunct="1">
              <a:buFont typeface="Wingdings" panose="05000000000000000000" pitchFamily="2" charset="2"/>
              <a:buChar char="Ø"/>
            </a:pPr>
            <a:endParaRPr lang="en-US" altLang="en-US"/>
          </a:p>
        </p:txBody>
      </p:sp>
      <p:pic>
        <p:nvPicPr>
          <p:cNvPr id="11268" name="Content Placeholder 4">
            <a:extLst>
              <a:ext uri="{FF2B5EF4-FFF2-40B4-BE49-F238E27FC236}">
                <a16:creationId xmlns:a16="http://schemas.microsoft.com/office/drawing/2014/main" id="{8CF9453D-8D79-4B9D-9797-9E07635C33FD}"/>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1B1E445-5CAF-4F2C-91D7-16D85F477D47}"/>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r>
              <a:rPr lang="en-US" altLang="en-US" sz="2800" b="1">
                <a:solidFill>
                  <a:srgbClr val="FF0000"/>
                </a:solidFill>
              </a:rPr>
              <a:t>Block Diagram of 8279</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2291" name="Rectangle 3">
            <a:extLst>
              <a:ext uri="{FF2B5EF4-FFF2-40B4-BE49-F238E27FC236}">
                <a16:creationId xmlns:a16="http://schemas.microsoft.com/office/drawing/2014/main" id="{BD69045E-8638-400C-A0AE-AEC945A3D3E5}"/>
              </a:ext>
            </a:extLst>
          </p:cNvPr>
          <p:cNvSpPr>
            <a:spLocks noGrp="1" noChangeArrowheads="1"/>
          </p:cNvSpPr>
          <p:nvPr>
            <p:ph type="body" idx="1"/>
          </p:nvPr>
        </p:nvSpPr>
        <p:spPr>
          <a:xfrm>
            <a:off x="304800" y="1676400"/>
            <a:ext cx="8610600" cy="4876800"/>
          </a:xfrm>
        </p:spPr>
        <p:txBody>
          <a:bodyPr/>
          <a:lstStyle/>
          <a:p>
            <a:pPr marL="990600" lvl="1" indent="-533400" eaLnBrk="1" hangingPunct="1">
              <a:buFontTx/>
              <a:buNone/>
            </a:pPr>
            <a:endParaRPr lang="en-US" altLang="en-US" sz="3200"/>
          </a:p>
        </p:txBody>
      </p:sp>
      <p:pic>
        <p:nvPicPr>
          <p:cNvPr id="12292" name="Picture 2">
            <a:extLst>
              <a:ext uri="{FF2B5EF4-FFF2-40B4-BE49-F238E27FC236}">
                <a16:creationId xmlns:a16="http://schemas.microsoft.com/office/drawing/2014/main" id="{289BFCE5-D831-4CB7-B791-B3E79843D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47800"/>
            <a:ext cx="86868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Content Placeholder 4">
            <a:extLst>
              <a:ext uri="{FF2B5EF4-FFF2-40B4-BE49-F238E27FC236}">
                <a16:creationId xmlns:a16="http://schemas.microsoft.com/office/drawing/2014/main" id="{41572639-E78A-4D75-BF82-DBF7D800D729}"/>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457EDA5-06B9-4C7B-9F70-50E2B25B40B3}"/>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Block Diagram of 8279</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3315" name="Rectangle 3">
            <a:extLst>
              <a:ext uri="{FF2B5EF4-FFF2-40B4-BE49-F238E27FC236}">
                <a16:creationId xmlns:a16="http://schemas.microsoft.com/office/drawing/2014/main" id="{1DCAB53A-1A14-4294-97C4-93057F9F75B5}"/>
              </a:ext>
            </a:extLst>
          </p:cNvPr>
          <p:cNvSpPr>
            <a:spLocks noGrp="1" noChangeArrowheads="1"/>
          </p:cNvSpPr>
          <p:nvPr>
            <p:ph type="body" idx="1"/>
          </p:nvPr>
        </p:nvSpPr>
        <p:spPr>
          <a:xfrm>
            <a:off x="304800" y="1524000"/>
            <a:ext cx="8610600" cy="5029200"/>
          </a:xfrm>
        </p:spPr>
        <p:txBody>
          <a:bodyPr/>
          <a:lstStyle/>
          <a:p>
            <a:pPr>
              <a:buFont typeface="Wingdings" panose="05000000000000000000" pitchFamily="2" charset="2"/>
              <a:buChar char="Ø"/>
            </a:pPr>
            <a:r>
              <a:rPr lang="en-US" altLang="en-US" sz="2400"/>
              <a:t>It consists 4 main section.</a:t>
            </a:r>
          </a:p>
          <a:p>
            <a:pPr>
              <a:buFontTx/>
              <a:buAutoNum type="arabicPeriod"/>
            </a:pPr>
            <a:r>
              <a:rPr lang="en-US" altLang="en-US" sz="2400"/>
              <a:t>CPU interface and control section.</a:t>
            </a:r>
          </a:p>
          <a:p>
            <a:pPr>
              <a:buFontTx/>
              <a:buAutoNum type="arabicPeriod"/>
            </a:pPr>
            <a:r>
              <a:rPr lang="en-US" altLang="en-US" sz="2400"/>
              <a:t>Scan section</a:t>
            </a:r>
          </a:p>
          <a:p>
            <a:pPr>
              <a:buFontTx/>
              <a:buAutoNum type="arabicPeriod"/>
            </a:pPr>
            <a:r>
              <a:rPr lang="en-US" altLang="en-US" sz="2400"/>
              <a:t>Keyboard Section</a:t>
            </a:r>
          </a:p>
          <a:p>
            <a:pPr>
              <a:buFontTx/>
              <a:buAutoNum type="arabicPeriod"/>
            </a:pPr>
            <a:r>
              <a:rPr lang="en-US" altLang="en-US" sz="2400"/>
              <a:t>Display section.</a:t>
            </a:r>
          </a:p>
          <a:p>
            <a:pPr>
              <a:buFont typeface="Wingdings 2" panose="05020102010507070707" pitchFamily="18" charset="2"/>
              <a:buNone/>
            </a:pPr>
            <a:r>
              <a:rPr lang="en-US" altLang="en-US" sz="2400"/>
              <a:t>CPU INTERFACE AND CONTROL SECTION:</a:t>
            </a:r>
          </a:p>
          <a:p>
            <a:pPr>
              <a:buFont typeface="Wingdings 2" panose="05020102010507070707" pitchFamily="18" charset="2"/>
              <a:buNone/>
            </a:pPr>
            <a:r>
              <a:rPr lang="en-US" altLang="en-US" sz="2400"/>
              <a:t>It consists of </a:t>
            </a:r>
          </a:p>
          <a:p>
            <a:pPr>
              <a:buFontTx/>
              <a:buAutoNum type="arabicPeriod"/>
            </a:pPr>
            <a:r>
              <a:rPr lang="en-US" altLang="en-US" sz="2400"/>
              <a:t>Data buffers</a:t>
            </a:r>
          </a:p>
          <a:p>
            <a:pPr>
              <a:buFontTx/>
              <a:buAutoNum type="arabicPeriod"/>
            </a:pPr>
            <a:r>
              <a:rPr lang="en-US" altLang="en-US" sz="2400"/>
              <a:t>I/O control</a:t>
            </a:r>
          </a:p>
          <a:p>
            <a:pPr>
              <a:buFontTx/>
              <a:buAutoNum type="arabicPeriod"/>
            </a:pPr>
            <a:r>
              <a:rPr lang="en-US" altLang="en-US" sz="2400"/>
              <a:t>Control and timing registers.</a:t>
            </a:r>
          </a:p>
          <a:p>
            <a:pPr>
              <a:buFontTx/>
              <a:buAutoNum type="arabicPeriod"/>
            </a:pPr>
            <a:r>
              <a:rPr lang="en-US" altLang="en-US" sz="2400"/>
              <a:t>Timing and control logic.</a:t>
            </a:r>
          </a:p>
        </p:txBody>
      </p:sp>
      <p:pic>
        <p:nvPicPr>
          <p:cNvPr id="13316" name="Content Placeholder 4">
            <a:extLst>
              <a:ext uri="{FF2B5EF4-FFF2-40B4-BE49-F238E27FC236}">
                <a16:creationId xmlns:a16="http://schemas.microsoft.com/office/drawing/2014/main" id="{01249FCF-F477-41BF-B491-E33691EDECDF}"/>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98264B4-9559-49B1-88D6-891CC50EA594}"/>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r>
              <a:rPr lang="en-US" altLang="en-US" sz="2800" b="1">
                <a:solidFill>
                  <a:srgbClr val="FF0000"/>
                </a:solidFill>
              </a:rPr>
              <a:t>Block Diagram of 8279</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4339" name="Rectangle 3">
            <a:extLst>
              <a:ext uri="{FF2B5EF4-FFF2-40B4-BE49-F238E27FC236}">
                <a16:creationId xmlns:a16="http://schemas.microsoft.com/office/drawing/2014/main" id="{08A0A801-3A6D-45F2-BB24-8A720917A84D}"/>
              </a:ext>
            </a:extLst>
          </p:cNvPr>
          <p:cNvSpPr>
            <a:spLocks noGrp="1" noChangeArrowheads="1"/>
          </p:cNvSpPr>
          <p:nvPr>
            <p:ph type="body" idx="1"/>
          </p:nvPr>
        </p:nvSpPr>
        <p:spPr>
          <a:xfrm>
            <a:off x="304800" y="1295400"/>
            <a:ext cx="8610600" cy="5257800"/>
          </a:xfrm>
        </p:spPr>
        <p:txBody>
          <a:bodyPr/>
          <a:lstStyle/>
          <a:p>
            <a:pPr>
              <a:buFont typeface="Wingdings 2" panose="05020102010507070707" pitchFamily="18" charset="2"/>
              <a:buNone/>
            </a:pPr>
            <a:r>
              <a:rPr lang="en-US" altLang="en-US" sz="2400"/>
              <a:t>Data Buffers:</a:t>
            </a:r>
          </a:p>
          <a:p>
            <a:pPr>
              <a:buFont typeface="Wingdings" panose="05000000000000000000" pitchFamily="2" charset="2"/>
              <a:buChar char="Ø"/>
            </a:pPr>
            <a:r>
              <a:rPr lang="en-US" altLang="en-US" sz="2400"/>
              <a:t>8-bit bidirectional buffer.</a:t>
            </a:r>
          </a:p>
          <a:p>
            <a:pPr>
              <a:buFont typeface="Wingdings" panose="05000000000000000000" pitchFamily="2" charset="2"/>
              <a:buChar char="Ø"/>
            </a:pPr>
            <a:r>
              <a:rPr lang="en-US" altLang="en-US" sz="2400"/>
              <a:t>Used to connect the internal data bus and external data bus.</a:t>
            </a:r>
          </a:p>
          <a:p>
            <a:pPr>
              <a:buFont typeface="Wingdings 2" panose="05020102010507070707" pitchFamily="18" charset="2"/>
              <a:buNone/>
            </a:pPr>
            <a:r>
              <a:rPr lang="en-US" altLang="en-US" sz="2400"/>
              <a:t>I/O control:</a:t>
            </a:r>
          </a:p>
          <a:p>
            <a:pPr>
              <a:buFont typeface="Wingdings" panose="05000000000000000000" pitchFamily="2" charset="2"/>
              <a:buChar char="Ø"/>
            </a:pPr>
            <a:r>
              <a:rPr lang="en-US" altLang="en-US" sz="2400"/>
              <a:t>I/O control section uses the A0,CS,RD and WR signals to controls the data flow.</a:t>
            </a:r>
          </a:p>
          <a:p>
            <a:pPr>
              <a:buFont typeface="Wingdings" panose="05000000000000000000" pitchFamily="2" charset="2"/>
              <a:buChar char="Ø"/>
            </a:pPr>
            <a:r>
              <a:rPr lang="en-US" altLang="en-US" sz="2400"/>
              <a:t>The data flow is enabled by CS=0otherwise it is the high impedance state.</a:t>
            </a:r>
          </a:p>
          <a:p>
            <a:pPr>
              <a:buFont typeface="Wingdings" panose="05000000000000000000" pitchFamily="2" charset="2"/>
              <a:buChar char="Ø"/>
            </a:pPr>
            <a:r>
              <a:rPr lang="en-US" altLang="en-US" sz="2400"/>
              <a:t>A0=0 means the data is transferred.</a:t>
            </a:r>
          </a:p>
          <a:p>
            <a:pPr>
              <a:buFont typeface="Wingdings" panose="05000000000000000000" pitchFamily="2" charset="2"/>
              <a:buChar char="Ø"/>
            </a:pPr>
            <a:r>
              <a:rPr lang="en-US" altLang="en-US" sz="2400"/>
              <a:t>A0=1 means status or command word is transferred.</a:t>
            </a:r>
          </a:p>
          <a:p>
            <a:pPr>
              <a:buFont typeface="Wingdings" panose="05000000000000000000" pitchFamily="2" charset="2"/>
              <a:buChar char="Ø"/>
            </a:pPr>
            <a:endParaRPr lang="en-US" altLang="en-US" sz="2400"/>
          </a:p>
        </p:txBody>
      </p:sp>
      <p:pic>
        <p:nvPicPr>
          <p:cNvPr id="14340" name="Content Placeholder 4">
            <a:extLst>
              <a:ext uri="{FF2B5EF4-FFF2-40B4-BE49-F238E27FC236}">
                <a16:creationId xmlns:a16="http://schemas.microsoft.com/office/drawing/2014/main" id="{072B057F-ED41-42BC-9A0A-E515C3AFDBCB}"/>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E0A8D61-97E6-4B00-9346-C79E97D380A1}"/>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r>
              <a:rPr lang="en-US" altLang="en-US" sz="2800" b="1">
                <a:solidFill>
                  <a:srgbClr val="FF0000"/>
                </a:solidFill>
              </a:rPr>
              <a:t>Block Diagram of 8279</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5363" name="Rectangle 3">
            <a:extLst>
              <a:ext uri="{FF2B5EF4-FFF2-40B4-BE49-F238E27FC236}">
                <a16:creationId xmlns:a16="http://schemas.microsoft.com/office/drawing/2014/main" id="{96D047CD-9572-4106-A48D-91038082AB0A}"/>
              </a:ext>
            </a:extLst>
          </p:cNvPr>
          <p:cNvSpPr>
            <a:spLocks noGrp="1" noChangeArrowheads="1"/>
          </p:cNvSpPr>
          <p:nvPr>
            <p:ph type="body" idx="1"/>
          </p:nvPr>
        </p:nvSpPr>
        <p:spPr>
          <a:xfrm>
            <a:off x="304800" y="1295400"/>
            <a:ext cx="8610600" cy="5257800"/>
          </a:xfrm>
        </p:spPr>
        <p:txBody>
          <a:bodyPr/>
          <a:lstStyle/>
          <a:p>
            <a:pPr>
              <a:buFontTx/>
              <a:buNone/>
            </a:pPr>
            <a:r>
              <a:rPr lang="en-US" altLang="en-US"/>
              <a:t>I/O control signals</a:t>
            </a:r>
          </a:p>
        </p:txBody>
      </p:sp>
      <p:pic>
        <p:nvPicPr>
          <p:cNvPr id="15364" name="Picture 2">
            <a:extLst>
              <a:ext uri="{FF2B5EF4-FFF2-40B4-BE49-F238E27FC236}">
                <a16:creationId xmlns:a16="http://schemas.microsoft.com/office/drawing/2014/main" id="{1C7216E3-1224-4C33-B0C4-88D587BA3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286000"/>
            <a:ext cx="4924425"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Content Placeholder 4">
            <a:extLst>
              <a:ext uri="{FF2B5EF4-FFF2-40B4-BE49-F238E27FC236}">
                <a16:creationId xmlns:a16="http://schemas.microsoft.com/office/drawing/2014/main" id="{C6861B1C-5F43-4483-B33D-AD15C5E0765B}"/>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47E294C-07A1-4AD3-BE6D-5722055B140C}"/>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r>
              <a:rPr lang="en-US" altLang="en-US" sz="2800" b="1">
                <a:solidFill>
                  <a:srgbClr val="FF0000"/>
                </a:solidFill>
              </a:rPr>
              <a:t>Block Diagram of 8279</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6387" name="Rectangle 3">
            <a:extLst>
              <a:ext uri="{FF2B5EF4-FFF2-40B4-BE49-F238E27FC236}">
                <a16:creationId xmlns:a16="http://schemas.microsoft.com/office/drawing/2014/main" id="{1682032B-5A2B-48D2-84C4-B17810168B28}"/>
              </a:ext>
            </a:extLst>
          </p:cNvPr>
          <p:cNvSpPr>
            <a:spLocks noGrp="1" noChangeArrowheads="1"/>
          </p:cNvSpPr>
          <p:nvPr>
            <p:ph type="body" idx="1"/>
          </p:nvPr>
        </p:nvSpPr>
        <p:spPr>
          <a:xfrm>
            <a:off x="304800" y="1371600"/>
            <a:ext cx="8610600" cy="5181600"/>
          </a:xfrm>
        </p:spPr>
        <p:txBody>
          <a:bodyPr/>
          <a:lstStyle/>
          <a:p>
            <a:pPr lvl="1">
              <a:buFont typeface="Verdana" panose="020B0604030504040204" pitchFamily="34" charset="0"/>
              <a:buNone/>
            </a:pPr>
            <a:r>
              <a:rPr lang="en-US" altLang="en-US" sz="2400"/>
              <a:t>TIMING AND CONTROL REGISTERS:</a:t>
            </a:r>
          </a:p>
          <a:p>
            <a:pPr lvl="1">
              <a:buFont typeface="Wingdings" panose="05000000000000000000" pitchFamily="2" charset="2"/>
              <a:buChar char="Ø"/>
            </a:pPr>
            <a:r>
              <a:rPr lang="en-US" altLang="en-US" sz="2400"/>
              <a:t>Store the keyboard and display modes and others operating condition programmed by the CPU.</a:t>
            </a:r>
          </a:p>
          <a:p>
            <a:pPr lvl="1">
              <a:buFont typeface="Wingdings" panose="05000000000000000000" pitchFamily="2" charset="2"/>
              <a:buChar char="Ø"/>
            </a:pPr>
            <a:r>
              <a:rPr lang="en-US" altLang="en-US" sz="2400"/>
              <a:t>The modes are programmed by sending proper command A0=1.</a:t>
            </a:r>
          </a:p>
          <a:p>
            <a:pPr lvl="1">
              <a:buFont typeface="Verdana" panose="020B0604030504040204" pitchFamily="34" charset="0"/>
              <a:buNone/>
            </a:pPr>
            <a:endParaRPr lang="en-US" altLang="en-US" sz="2400"/>
          </a:p>
          <a:p>
            <a:pPr lvl="1">
              <a:buFont typeface="Verdana" panose="020B0604030504040204" pitchFamily="34" charset="0"/>
              <a:buNone/>
            </a:pPr>
            <a:r>
              <a:rPr lang="en-US" altLang="en-US" sz="2400"/>
              <a:t>TIMING AND CONTROL:</a:t>
            </a:r>
          </a:p>
          <a:p>
            <a:pPr lvl="1">
              <a:buFont typeface="Wingdings" panose="05000000000000000000" pitchFamily="2" charset="2"/>
              <a:buChar char="Ø"/>
            </a:pPr>
            <a:r>
              <a:rPr lang="en-US" altLang="en-US" sz="2400"/>
              <a:t>It consist timing counter chain.</a:t>
            </a:r>
          </a:p>
          <a:p>
            <a:pPr lvl="1">
              <a:buFont typeface="Wingdings" panose="05000000000000000000" pitchFamily="2" charset="2"/>
              <a:buChar char="Ø"/>
            </a:pPr>
            <a:r>
              <a:rPr lang="en-US" altLang="en-US" sz="2400"/>
              <a:t>First  counter is divided by N prescalar that can be programmed to give an internal frequency of  100 KHz.</a:t>
            </a:r>
          </a:p>
          <a:p>
            <a:pPr>
              <a:buFont typeface="Wingdings" panose="05000000000000000000" pitchFamily="2" charset="2"/>
              <a:buChar char="Ø"/>
            </a:pPr>
            <a:endParaRPr lang="en-US" altLang="en-US" sz="2400"/>
          </a:p>
        </p:txBody>
      </p:sp>
      <p:pic>
        <p:nvPicPr>
          <p:cNvPr id="16388" name="Content Placeholder 4">
            <a:extLst>
              <a:ext uri="{FF2B5EF4-FFF2-40B4-BE49-F238E27FC236}">
                <a16:creationId xmlns:a16="http://schemas.microsoft.com/office/drawing/2014/main" id="{FBEBF795-6C51-457F-BB9F-7FF0B5936EC5}"/>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7E7356E-E6A2-4932-9689-CD55F4FC85B4}"/>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8279 Modes</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7411" name="Rectangle 3">
            <a:extLst>
              <a:ext uri="{FF2B5EF4-FFF2-40B4-BE49-F238E27FC236}">
                <a16:creationId xmlns:a16="http://schemas.microsoft.com/office/drawing/2014/main" id="{DA732881-67FA-4807-8878-C73FAD73E6E7}"/>
              </a:ext>
            </a:extLst>
          </p:cNvPr>
          <p:cNvSpPr>
            <a:spLocks noGrp="1" noChangeArrowheads="1"/>
          </p:cNvSpPr>
          <p:nvPr>
            <p:ph type="body" idx="1"/>
          </p:nvPr>
        </p:nvSpPr>
        <p:spPr>
          <a:xfrm>
            <a:off x="304800" y="1524000"/>
            <a:ext cx="8610600" cy="5029200"/>
          </a:xfrm>
        </p:spPr>
        <p:txBody>
          <a:bodyPr/>
          <a:lstStyle/>
          <a:p>
            <a:r>
              <a:rPr lang="en-US" altLang="en-US" sz="2400"/>
              <a:t>The modes of operation of 8279 are as follows :</a:t>
            </a:r>
          </a:p>
          <a:p>
            <a:r>
              <a:rPr lang="en-US" altLang="en-US" sz="2400"/>
              <a:t>1. Input (Keyboard) modes.</a:t>
            </a:r>
          </a:p>
          <a:p>
            <a:r>
              <a:rPr lang="en-US" altLang="en-US" sz="2400"/>
              <a:t>2. Output (Display) modes.</a:t>
            </a:r>
          </a:p>
          <a:p>
            <a:r>
              <a:rPr lang="en-US" altLang="en-US" sz="2400"/>
              <a:t>Input ( Keyboard ) Modes :</a:t>
            </a:r>
          </a:p>
          <a:p>
            <a:r>
              <a:rPr lang="en-US" altLang="en-US" sz="2400"/>
              <a:t>8279 provides three input modes. These modes are as follows</a:t>
            </a:r>
          </a:p>
          <a:p>
            <a:r>
              <a:rPr lang="en-US" altLang="en-US" sz="2400" b="1"/>
              <a:t>1. Scanned Keyboard Mode: </a:t>
            </a:r>
            <a:r>
              <a:rPr lang="en-US" altLang="en-US" sz="2400"/>
              <a:t>This mode allows a key  matrix to be interfaced using either encoded or decoded scans. In encoded scan, an 8*8 keyboard or in decoded scan, a 4*8 keyboard can be interfaced. The code of key pressed with SHIFT and CONTROL status is stored into </a:t>
            </a:r>
          </a:p>
          <a:p>
            <a:pPr>
              <a:buFontTx/>
              <a:buNone/>
            </a:pPr>
            <a:r>
              <a:rPr lang="en-US" altLang="en-US" sz="2400"/>
              <a:t>    the FIFO RAM</a:t>
            </a:r>
          </a:p>
          <a:p>
            <a:pPr marL="990600" lvl="1" indent="-533400" eaLnBrk="1" hangingPunct="1">
              <a:buFontTx/>
              <a:buNone/>
            </a:pPr>
            <a:endParaRPr lang="en-US" altLang="en-US" sz="2400"/>
          </a:p>
        </p:txBody>
      </p:sp>
      <p:pic>
        <p:nvPicPr>
          <p:cNvPr id="17412" name="Content Placeholder 4">
            <a:extLst>
              <a:ext uri="{FF2B5EF4-FFF2-40B4-BE49-F238E27FC236}">
                <a16:creationId xmlns:a16="http://schemas.microsoft.com/office/drawing/2014/main" id="{B09E43D6-73C3-42F0-A4B9-95C81A7367CD}"/>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427C85B-B510-4CED-ACB5-5AA7DC227651}"/>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8279 Modes</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8435" name="Rectangle 3">
            <a:extLst>
              <a:ext uri="{FF2B5EF4-FFF2-40B4-BE49-F238E27FC236}">
                <a16:creationId xmlns:a16="http://schemas.microsoft.com/office/drawing/2014/main" id="{3D0CFF4E-A2DF-4C36-93A8-3758A8EFB8FD}"/>
              </a:ext>
            </a:extLst>
          </p:cNvPr>
          <p:cNvSpPr>
            <a:spLocks noGrp="1" noChangeArrowheads="1"/>
          </p:cNvSpPr>
          <p:nvPr>
            <p:ph type="body" idx="1"/>
          </p:nvPr>
        </p:nvSpPr>
        <p:spPr>
          <a:xfrm>
            <a:off x="304800" y="1676400"/>
            <a:ext cx="8610600" cy="4876800"/>
          </a:xfrm>
        </p:spPr>
        <p:txBody>
          <a:bodyPr/>
          <a:lstStyle/>
          <a:p>
            <a:r>
              <a:rPr lang="en-US" altLang="en-US" sz="2400" b="1"/>
              <a:t>2. Scanned Sensor Matrix : </a:t>
            </a:r>
            <a:r>
              <a:rPr lang="en-US" altLang="en-US" sz="2400"/>
              <a:t>In this mode, a sensor array can be interfaced with 8279 using either encoded or decoded scans. With encoded scan 8*8 sensor matrix or  with decoded scan 4*8 sensor matrix can be interfaced.</a:t>
            </a:r>
          </a:p>
          <a:p>
            <a:pPr>
              <a:buFontTx/>
              <a:buNone/>
            </a:pPr>
            <a:r>
              <a:rPr lang="en-US" altLang="en-US" sz="2400"/>
              <a:t> </a:t>
            </a:r>
          </a:p>
          <a:p>
            <a:r>
              <a:rPr lang="en-US" altLang="en-US" sz="2400"/>
              <a:t>The sensor codes are stored in the CPU addressable sensor RAM.</a:t>
            </a:r>
          </a:p>
          <a:p>
            <a:r>
              <a:rPr lang="en-US" altLang="en-US" sz="2400" b="1"/>
              <a:t>3 Strobed input: </a:t>
            </a:r>
            <a:r>
              <a:rPr lang="en-US" altLang="en-US" sz="2400"/>
              <a:t>In this mode, if the control lines goes  low, the data on return lines, is stored in the FIFO byte by byte</a:t>
            </a:r>
          </a:p>
          <a:p>
            <a:pPr marL="990600" lvl="1" indent="-533400" eaLnBrk="1" hangingPunct="1">
              <a:buFontTx/>
              <a:buNone/>
            </a:pPr>
            <a:endParaRPr lang="en-US" altLang="en-US" sz="3200"/>
          </a:p>
        </p:txBody>
      </p:sp>
      <p:pic>
        <p:nvPicPr>
          <p:cNvPr id="18436" name="Content Placeholder 4">
            <a:extLst>
              <a:ext uri="{FF2B5EF4-FFF2-40B4-BE49-F238E27FC236}">
                <a16:creationId xmlns:a16="http://schemas.microsoft.com/office/drawing/2014/main" id="{06E76905-1EBD-4C04-8E75-711F2F8C3352}"/>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76EF44D-2B0A-4E42-8395-B3CFEB02FF62}"/>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r>
              <a:rPr lang="en-US" altLang="en-US" sz="2800" b="1">
                <a:solidFill>
                  <a:srgbClr val="FF0000"/>
                </a:solidFill>
              </a:rPr>
              <a:t>8279 Modes</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19459" name="Rectangle 3">
            <a:extLst>
              <a:ext uri="{FF2B5EF4-FFF2-40B4-BE49-F238E27FC236}">
                <a16:creationId xmlns:a16="http://schemas.microsoft.com/office/drawing/2014/main" id="{00761A09-84DE-487E-AB97-DB02C290880D}"/>
              </a:ext>
            </a:extLst>
          </p:cNvPr>
          <p:cNvSpPr>
            <a:spLocks noGrp="1" noChangeArrowheads="1"/>
          </p:cNvSpPr>
          <p:nvPr>
            <p:ph type="body" idx="1"/>
          </p:nvPr>
        </p:nvSpPr>
        <p:spPr>
          <a:xfrm>
            <a:off x="304800" y="1524000"/>
            <a:ext cx="8610600" cy="5029200"/>
          </a:xfrm>
        </p:spPr>
        <p:txBody>
          <a:bodyPr/>
          <a:lstStyle/>
          <a:p>
            <a:r>
              <a:rPr lang="en-US" altLang="en-US" sz="2800" b="1"/>
              <a:t>Output (Display) Modes: </a:t>
            </a:r>
            <a:r>
              <a:rPr lang="en-US" altLang="en-US" sz="2800"/>
              <a:t>8279 provides two output  modes for selecting the display options. These are  discussed briefly.</a:t>
            </a:r>
          </a:p>
          <a:p>
            <a:r>
              <a:rPr lang="en-US" altLang="en-US" sz="2800" b="1"/>
              <a:t>1. Display Scan: </a:t>
            </a:r>
            <a:r>
              <a:rPr lang="en-US" altLang="en-US" sz="2800"/>
              <a:t>In this mode 8279 provides 8 or 16 character multiplexed displays those can be organized as dual 4- bit or single 8-bit display units. </a:t>
            </a:r>
          </a:p>
          <a:p>
            <a:r>
              <a:rPr lang="en-US" altLang="en-US" sz="2800" b="1"/>
              <a:t>2. Display Entry: </a:t>
            </a:r>
            <a:r>
              <a:rPr lang="en-US" altLang="en-US" sz="2800"/>
              <a:t>( right entry or left entry mode ) 8279 allows options for data entry on the displays. The display data is entered for display either from the right side or from the left side</a:t>
            </a:r>
          </a:p>
          <a:p>
            <a:pPr marL="990600" lvl="1" indent="-533400" eaLnBrk="1" hangingPunct="1">
              <a:buFontTx/>
              <a:buNone/>
            </a:pPr>
            <a:endParaRPr lang="en-US" altLang="en-US" sz="3200"/>
          </a:p>
        </p:txBody>
      </p:sp>
      <p:pic>
        <p:nvPicPr>
          <p:cNvPr id="19460" name="Content Placeholder 4">
            <a:extLst>
              <a:ext uri="{FF2B5EF4-FFF2-40B4-BE49-F238E27FC236}">
                <a16:creationId xmlns:a16="http://schemas.microsoft.com/office/drawing/2014/main" id="{2017567A-189E-4AD2-92CC-DB8E2412AD01}"/>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00BD49E-79B5-4842-ADEB-3C178CBB11EB}"/>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8279 Modes</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20483" name="Rectangle 3">
            <a:extLst>
              <a:ext uri="{FF2B5EF4-FFF2-40B4-BE49-F238E27FC236}">
                <a16:creationId xmlns:a16="http://schemas.microsoft.com/office/drawing/2014/main" id="{8F1592E5-35A0-4B4E-9A16-8DD6FE9FB18C}"/>
              </a:ext>
            </a:extLst>
          </p:cNvPr>
          <p:cNvSpPr>
            <a:spLocks noGrp="1" noChangeArrowheads="1"/>
          </p:cNvSpPr>
          <p:nvPr>
            <p:ph type="body" idx="1"/>
          </p:nvPr>
        </p:nvSpPr>
        <p:spPr>
          <a:xfrm>
            <a:off x="304800" y="1447800"/>
            <a:ext cx="8610600" cy="5105400"/>
          </a:xfrm>
        </p:spPr>
        <p:txBody>
          <a:bodyPr/>
          <a:lstStyle/>
          <a:p>
            <a:r>
              <a:rPr lang="en-US" altLang="en-US" sz="2400" b="1"/>
              <a:t>Scanned Keyboard mode with 2 Key Lockout: </a:t>
            </a:r>
            <a:r>
              <a:rPr lang="en-US" altLang="en-US" sz="2400"/>
              <a:t>In this mode of operation, when a key is pressed, a debounce logic comes into operation. </a:t>
            </a:r>
          </a:p>
          <a:p>
            <a:r>
              <a:rPr lang="en-US" altLang="en-US" sz="2400"/>
              <a:t>During the next  two scans, other keys are checked for closure and if no other key is pressed the first pressed key is identified.</a:t>
            </a:r>
          </a:p>
          <a:p>
            <a:endParaRPr lang="en-US" altLang="en-US" sz="2400"/>
          </a:p>
          <a:p>
            <a:r>
              <a:rPr lang="en-US" altLang="en-US" sz="2400"/>
              <a:t>The key code of the identified key is entered into the  FIFO with SHIFT and CNTL status, provided the FIFO is not full, i.e. it has at least one byte free.</a:t>
            </a:r>
          </a:p>
          <a:p>
            <a:r>
              <a:rPr lang="en-US" altLang="en-US" sz="2400"/>
              <a:t> If the FIFO does not have any free byte, naturally the key data will not be entered and the error flag is set. </a:t>
            </a:r>
          </a:p>
          <a:p>
            <a:pPr marL="990600" lvl="1" indent="-533400" eaLnBrk="1" hangingPunct="1">
              <a:buFontTx/>
              <a:buNone/>
            </a:pPr>
            <a:endParaRPr lang="en-US" altLang="en-US" sz="2400"/>
          </a:p>
        </p:txBody>
      </p:sp>
      <p:pic>
        <p:nvPicPr>
          <p:cNvPr id="20484" name="Content Placeholder 4">
            <a:extLst>
              <a:ext uri="{FF2B5EF4-FFF2-40B4-BE49-F238E27FC236}">
                <a16:creationId xmlns:a16="http://schemas.microsoft.com/office/drawing/2014/main" id="{996E63E4-78F9-4F90-87C5-A65F1BCA278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B5E7E19-04FD-4FFC-934A-002A9B0AF542}"/>
              </a:ext>
            </a:extLst>
          </p:cNvPr>
          <p:cNvSpPr>
            <a:spLocks noGrp="1" noChangeArrowheads="1"/>
          </p:cNvSpPr>
          <p:nvPr>
            <p:ph type="title"/>
          </p:nvPr>
        </p:nvSpPr>
        <p:spPr>
          <a:xfrm>
            <a:off x="838200" y="228600"/>
            <a:ext cx="7772400" cy="563563"/>
          </a:xfrm>
        </p:spPr>
        <p:txBody>
          <a:bodyPr/>
          <a:lstStyle/>
          <a:p>
            <a:pPr eaLnBrk="1" hangingPunct="1"/>
            <a:br>
              <a:rPr lang="en-US" altLang="en-US" sz="2800" b="1">
                <a:solidFill>
                  <a:srgbClr val="FF0000"/>
                </a:solidFill>
              </a:rPr>
            </a:br>
            <a:br>
              <a:rPr lang="en-US" altLang="en-US" sz="2800" b="1">
                <a:solidFill>
                  <a:srgbClr val="FF0000"/>
                </a:solidFill>
              </a:rPr>
            </a:br>
            <a:br>
              <a:rPr lang="en-US" altLang="en-US" sz="2800" b="1">
                <a:solidFill>
                  <a:srgbClr val="FF0000"/>
                </a:solidFill>
              </a:rPr>
            </a:br>
            <a:r>
              <a:rPr lang="en-US" altLang="en-US" sz="2800" b="1">
                <a:solidFill>
                  <a:srgbClr val="FF0000"/>
                </a:solidFill>
              </a:rPr>
              <a:t>8279 Modes</a:t>
            </a:r>
            <a:endParaRPr lang="en-US" altLang="en-US" sz="2800" b="1">
              <a:solidFill>
                <a:srgbClr val="FF0000"/>
              </a:solidFill>
              <a:latin typeface="Times New Roman" panose="02020603050405020304" pitchFamily="18" charset="0"/>
              <a:cs typeface="Times New Roman" panose="02020603050405020304" pitchFamily="18" charset="0"/>
            </a:endParaRPr>
          </a:p>
        </p:txBody>
      </p:sp>
      <p:sp>
        <p:nvSpPr>
          <p:cNvPr id="21507" name="Rectangle 3">
            <a:extLst>
              <a:ext uri="{FF2B5EF4-FFF2-40B4-BE49-F238E27FC236}">
                <a16:creationId xmlns:a16="http://schemas.microsoft.com/office/drawing/2014/main" id="{EBA73E17-0CC0-44C2-A93D-0D51EC95110C}"/>
              </a:ext>
            </a:extLst>
          </p:cNvPr>
          <p:cNvSpPr>
            <a:spLocks noGrp="1" noChangeArrowheads="1"/>
          </p:cNvSpPr>
          <p:nvPr>
            <p:ph type="body" idx="1"/>
          </p:nvPr>
        </p:nvSpPr>
        <p:spPr>
          <a:xfrm>
            <a:off x="304800" y="1524000"/>
            <a:ext cx="8610600" cy="5029200"/>
          </a:xfrm>
        </p:spPr>
        <p:txBody>
          <a:bodyPr/>
          <a:lstStyle/>
          <a:p>
            <a:pPr marL="990600" lvl="1" indent="-533400" eaLnBrk="1" hangingPunct="1">
              <a:buFontTx/>
              <a:buNone/>
            </a:pPr>
            <a:endParaRPr lang="en-US" altLang="en-US" sz="3200"/>
          </a:p>
        </p:txBody>
      </p:sp>
      <p:pic>
        <p:nvPicPr>
          <p:cNvPr id="21508" name="Picture 2">
            <a:extLst>
              <a:ext uri="{FF2B5EF4-FFF2-40B4-BE49-F238E27FC236}">
                <a16:creationId xmlns:a16="http://schemas.microsoft.com/office/drawing/2014/main" id="{847377B1-7902-423D-A455-986A97B20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00200"/>
            <a:ext cx="79248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Content Placeholder 4">
            <a:extLst>
              <a:ext uri="{FF2B5EF4-FFF2-40B4-BE49-F238E27FC236}">
                <a16:creationId xmlns:a16="http://schemas.microsoft.com/office/drawing/2014/main" id="{6560123B-4B7D-4D93-AB7C-0A9118BDE9F4}"/>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2C8674EB-7919-405B-AC29-8C8562F00A0F}"/>
              </a:ext>
            </a:extLst>
          </p:cNvPr>
          <p:cNvSpPr>
            <a:spLocks noGrp="1" noChangeArrowheads="1"/>
          </p:cNvSpPr>
          <p:nvPr>
            <p:ph type="body" idx="1"/>
          </p:nvPr>
        </p:nvSpPr>
        <p:spPr>
          <a:xfrm>
            <a:off x="141288" y="1835150"/>
            <a:ext cx="8861425" cy="4525963"/>
          </a:xfrm>
        </p:spPr>
        <p:txBody>
          <a:bodyPr/>
          <a:lstStyle/>
          <a:p>
            <a:endParaRPr lang="en-US" altLang="en-US" sz="2800"/>
          </a:p>
          <a:p>
            <a:r>
              <a:rPr lang="en-US" altLang="en-US" sz="2800"/>
              <a:t>The 8255 allows the microprocessor to communicate with the outside world through three programmable 8-bit wide I/O ports</a:t>
            </a:r>
          </a:p>
          <a:p>
            <a:r>
              <a:rPr lang="en-US" altLang="en-US" sz="2800"/>
              <a:t>The PC uses a few 8255 (in the chip set) to control the keyboard, speaker, and parallel port</a:t>
            </a:r>
          </a:p>
          <a:p>
            <a:r>
              <a:rPr lang="en-US" altLang="en-US" sz="2800"/>
              <a:t>The 8255 PPI is available in DIP or surface mount forms</a:t>
            </a:r>
          </a:p>
          <a:p>
            <a:r>
              <a:rPr lang="en-US" altLang="en-US" sz="2800"/>
              <a:t>Also implemented as functions within modern interface chip sets </a:t>
            </a:r>
          </a:p>
        </p:txBody>
      </p:sp>
      <p:sp>
        <p:nvSpPr>
          <p:cNvPr id="22531" name="Rectangle 4">
            <a:extLst>
              <a:ext uri="{FF2B5EF4-FFF2-40B4-BE49-F238E27FC236}">
                <a16:creationId xmlns:a16="http://schemas.microsoft.com/office/drawing/2014/main" id="{EFEF67E1-280D-460B-BC90-422F944D3D3D}"/>
              </a:ext>
            </a:extLst>
          </p:cNvPr>
          <p:cNvSpPr>
            <a:spLocks noGrp="1" noChangeArrowheads="1"/>
          </p:cNvSpPr>
          <p:nvPr>
            <p:ph type="title"/>
          </p:nvPr>
        </p:nvSpPr>
        <p:spPr>
          <a:xfrm>
            <a:off x="457200" y="274638"/>
            <a:ext cx="8229600" cy="604837"/>
          </a:xfrm>
        </p:spPr>
        <p:txBody>
          <a:bodyPr/>
          <a:lstStyle/>
          <a:p>
            <a:br>
              <a:rPr lang="en-US" altLang="en-US" sz="4000"/>
            </a:br>
            <a:br>
              <a:rPr lang="en-US" altLang="en-US" sz="4000"/>
            </a:br>
            <a:r>
              <a:rPr lang="en-US" altLang="en-US" sz="3200" b="1">
                <a:latin typeface="Calibri" panose="020F0502020204030204" pitchFamily="34" charset="0"/>
              </a:rPr>
              <a:t>The BASICS OF 8255 PPI</a:t>
            </a:r>
          </a:p>
        </p:txBody>
      </p:sp>
      <p:sp>
        <p:nvSpPr>
          <p:cNvPr id="22532" name="Rectangle 5">
            <a:extLst>
              <a:ext uri="{FF2B5EF4-FFF2-40B4-BE49-F238E27FC236}">
                <a16:creationId xmlns:a16="http://schemas.microsoft.com/office/drawing/2014/main" id="{3B87D1E5-0E91-4933-833C-DB5569B4D1F4}"/>
              </a:ext>
            </a:extLst>
          </p:cNvPr>
          <p:cNvSpPr>
            <a:spLocks noChangeArrowheads="1"/>
          </p:cNvSpPr>
          <p:nvPr/>
        </p:nvSpPr>
        <p:spPr bwMode="auto">
          <a:xfrm>
            <a:off x="163513" y="1082675"/>
            <a:ext cx="82296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ct val="20000"/>
              </a:spcBef>
            </a:pPr>
            <a:endParaRPr lang="en-US" altLang="en-US" sz="3200">
              <a:solidFill>
                <a:schemeClr val="accent2"/>
              </a:solidFill>
            </a:endParaRPr>
          </a:p>
          <a:p>
            <a:pPr>
              <a:lnSpc>
                <a:spcPct val="90000"/>
              </a:lnSpc>
              <a:spcBef>
                <a:spcPct val="20000"/>
              </a:spcBef>
            </a:pPr>
            <a:r>
              <a:rPr lang="en-US" altLang="en-US" sz="3200">
                <a:solidFill>
                  <a:schemeClr val="accent2"/>
                </a:solidFill>
              </a:rPr>
              <a:t>PPI = Programmable Peripheral Interface</a:t>
            </a:r>
          </a:p>
        </p:txBody>
      </p:sp>
      <p:pic>
        <p:nvPicPr>
          <p:cNvPr id="22533" name="Content Placeholder 4">
            <a:extLst>
              <a:ext uri="{FF2B5EF4-FFF2-40B4-BE49-F238E27FC236}">
                <a16:creationId xmlns:a16="http://schemas.microsoft.com/office/drawing/2014/main" id="{8E537BD1-68CE-4422-A852-2FCF55983344}"/>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19738-D6FA-E84D-9834-34161D5ED1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F9AB2B-4F68-7F44-8783-8C95183E8D8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21415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8109D14-0B67-46E7-BFE9-0938C51ADF39}"/>
              </a:ext>
            </a:extLst>
          </p:cNvPr>
          <p:cNvSpPr>
            <a:spLocks noGrp="1" noChangeArrowheads="1"/>
          </p:cNvSpPr>
          <p:nvPr>
            <p:ph type="title"/>
          </p:nvPr>
        </p:nvSpPr>
        <p:spPr/>
        <p:txBody>
          <a:bodyPr/>
          <a:lstStyle/>
          <a:p>
            <a:pPr eaLnBrk="1" hangingPunct="1"/>
            <a:br>
              <a:rPr lang="en-US" altLang="en-US"/>
            </a:br>
            <a:r>
              <a:rPr lang="en-US" altLang="en-US" sz="3200" b="1">
                <a:latin typeface="Calibri" panose="020F0502020204030204" pitchFamily="34" charset="0"/>
              </a:rPr>
              <a:t>PIN DETAILS</a:t>
            </a:r>
          </a:p>
        </p:txBody>
      </p:sp>
      <p:pic>
        <p:nvPicPr>
          <p:cNvPr id="23555" name="Picture 4" descr="PPI%20-%20Pic1-52">
            <a:extLst>
              <a:ext uri="{FF2B5EF4-FFF2-40B4-BE49-F238E27FC236}">
                <a16:creationId xmlns:a16="http://schemas.microsoft.com/office/drawing/2014/main" id="{1132C960-1F2A-491E-8C1B-23D385C4307E}"/>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04800" y="1828800"/>
            <a:ext cx="6172200" cy="4648200"/>
          </a:xfrm>
          <a:noFill/>
        </p:spPr>
      </p:pic>
      <p:pic>
        <p:nvPicPr>
          <p:cNvPr id="23556" name="Picture 5" descr="PPI%20-%20Pic2-53">
            <a:extLst>
              <a:ext uri="{FF2B5EF4-FFF2-40B4-BE49-F238E27FC236}">
                <a16:creationId xmlns:a16="http://schemas.microsoft.com/office/drawing/2014/main" id="{FB51ECA9-3EE7-4F0C-B45E-A56A81ACE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879600"/>
            <a:ext cx="25146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Content Placeholder 4">
            <a:extLst>
              <a:ext uri="{FF2B5EF4-FFF2-40B4-BE49-F238E27FC236}">
                <a16:creationId xmlns:a16="http://schemas.microsoft.com/office/drawing/2014/main" id="{8CE5D6F7-A6A8-4572-B557-FF76A03A18AB}"/>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2115EDE-A9C8-4005-8F41-AC412073A865}"/>
              </a:ext>
            </a:extLst>
          </p:cNvPr>
          <p:cNvSpPr>
            <a:spLocks noGrp="1" noChangeArrowheads="1"/>
          </p:cNvSpPr>
          <p:nvPr>
            <p:ph type="title"/>
          </p:nvPr>
        </p:nvSpPr>
        <p:spPr/>
        <p:txBody>
          <a:bodyPr/>
          <a:lstStyle/>
          <a:p>
            <a:pPr eaLnBrk="1" hangingPunct="1"/>
            <a:br>
              <a:rPr lang="en-US" altLang="en-US" sz="3200" b="1">
                <a:latin typeface="Calibri" panose="020F0502020204030204" pitchFamily="34" charset="0"/>
              </a:rPr>
            </a:br>
            <a:r>
              <a:rPr lang="en-US" altLang="en-US" sz="3200" b="1">
                <a:latin typeface="Calibri" panose="020F0502020204030204" pitchFamily="34" charset="0"/>
              </a:rPr>
              <a:t>INTERNAL BLOCK DIAGRAM OF 8255</a:t>
            </a:r>
            <a:r>
              <a:rPr lang="en-US" altLang="en-US" sz="3200">
                <a:latin typeface="Calibri" panose="020F0502020204030204" pitchFamily="34" charset="0"/>
              </a:rPr>
              <a:t> </a:t>
            </a:r>
          </a:p>
        </p:txBody>
      </p:sp>
      <p:pic>
        <p:nvPicPr>
          <p:cNvPr id="24579" name="Picture 4" descr="PPI-BD-8255-pic3(54)">
            <a:extLst>
              <a:ext uri="{FF2B5EF4-FFF2-40B4-BE49-F238E27FC236}">
                <a16:creationId xmlns:a16="http://schemas.microsoft.com/office/drawing/2014/main" id="{90008003-BC04-47D1-A9E5-67ED57D8BCDE}"/>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09600" y="1600200"/>
            <a:ext cx="8001000" cy="5029200"/>
          </a:xfrm>
          <a:noFill/>
        </p:spPr>
      </p:pic>
      <p:pic>
        <p:nvPicPr>
          <p:cNvPr id="24580" name="Content Placeholder 4">
            <a:extLst>
              <a:ext uri="{FF2B5EF4-FFF2-40B4-BE49-F238E27FC236}">
                <a16:creationId xmlns:a16="http://schemas.microsoft.com/office/drawing/2014/main" id="{6B0B5272-1FA9-48DA-B054-F010ED5D5AE1}"/>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hape 94">
            <a:extLst>
              <a:ext uri="{FF2B5EF4-FFF2-40B4-BE49-F238E27FC236}">
                <a16:creationId xmlns:a16="http://schemas.microsoft.com/office/drawing/2014/main" id="{A417B32D-D087-4B0E-BCDB-5E4847DFD163}"/>
              </a:ext>
            </a:extLst>
          </p:cNvPr>
          <p:cNvSpPr txBox="1">
            <a:spLocks noChangeArrowheads="1"/>
          </p:cNvSpPr>
          <p:nvPr/>
        </p:nvSpPr>
        <p:spPr bwMode="auto">
          <a:xfrm>
            <a:off x="762000" y="1323975"/>
            <a:ext cx="800100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rgbClr val="000000"/>
              </a:buClr>
              <a:buSzPct val="25000"/>
              <a:buFont typeface="Times New Roman" panose="02020603050405020304" pitchFamily="18" charset="0"/>
              <a:buNone/>
            </a:pPr>
            <a:r>
              <a:rPr lang="en-US" altLang="en-US" sz="3200" b="1">
                <a:solidFill>
                  <a:srgbClr val="000000"/>
                </a:solidFill>
                <a:latin typeface="Calibri" panose="020F0502020204030204" pitchFamily="34" charset="0"/>
                <a:ea typeface="Calibri" panose="020F0502020204030204" pitchFamily="34" charset="0"/>
                <a:cs typeface="Times New Roman" panose="02020603050405020304" pitchFamily="18" charset="0"/>
                <a:sym typeface="Times New Roman" panose="02020603050405020304" pitchFamily="18" charset="0"/>
              </a:rPr>
              <a:t>BLOCK DIAGRAM FEATURES</a:t>
            </a:r>
            <a:endParaRPr lang="en-US" altLang="en-US" sz="3200" b="1">
              <a:solidFill>
                <a:srgbClr val="000000"/>
              </a:solidFill>
              <a:latin typeface="Calibri" panose="020F0502020204030204" pitchFamily="34" charset="0"/>
              <a:ea typeface="Calibri" panose="020F0502020204030204" pitchFamily="34" charset="0"/>
              <a:cs typeface="Times New Roman" panose="02020603050405020304" pitchFamily="18" charset="0"/>
              <a:sym typeface="Calibri" panose="020F0502020204030204" pitchFamily="34" charset="0"/>
            </a:endParaRPr>
          </a:p>
          <a:p>
            <a:pPr>
              <a:buClr>
                <a:srgbClr val="000000"/>
              </a:buClr>
              <a:buSzPct val="25000"/>
              <a:buFont typeface="Times New Roman" panose="02020603050405020304" pitchFamily="18" charset="0"/>
              <a:buNone/>
            </a:pPr>
            <a:r>
              <a:rPr lang="en-US" alt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pitchFamily="18" charset="0"/>
              </a:rPr>
              <a:t> </a:t>
            </a:r>
          </a:p>
          <a:p>
            <a:pPr algn="ctr">
              <a:buClr>
                <a:srgbClr val="000000"/>
              </a:buClr>
              <a:buSzPct val="25000"/>
              <a:buFont typeface="Times New Roman" panose="02020603050405020304" pitchFamily="18" charset="0"/>
              <a:buNone/>
            </a:pPr>
            <a:r>
              <a:rPr lang="en-US" altLang="en-US" sz="2000" b="1">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pitchFamily="18" charset="0"/>
              </a:rPr>
              <a:t>Data bus buffer</a:t>
            </a:r>
            <a:r>
              <a:rPr lang="en-US" alt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pitchFamily="18" charset="0"/>
              </a:rPr>
              <a:t>: </a:t>
            </a:r>
          </a:p>
          <a:p>
            <a:pPr>
              <a:buClr>
                <a:srgbClr val="000000"/>
              </a:buClr>
              <a:buSzPct val="60000"/>
              <a:buFont typeface="Arial" panose="020B0604020202020204" pitchFamily="34" charset="0"/>
              <a:buChar char="●"/>
            </a:pPr>
            <a:r>
              <a:rPr lang="en-US" alt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pitchFamily="18" charset="0"/>
              </a:rPr>
              <a:t>This is a tri state bidirectional buffer used to interface the 8255 to system data bus. Data is transmitted or received by the buffer on execution of input or output instruction by the CPU.</a:t>
            </a:r>
          </a:p>
          <a:p>
            <a:endParaRPr lang="en-US" altLang="en-US">
              <a:solidFill>
                <a:srgbClr val="000000"/>
              </a:solidFill>
              <a:latin typeface="Calibri" panose="020F0502020204030204" pitchFamily="34" charset="0"/>
              <a:ea typeface="Calibri" panose="020F0502020204030204" pitchFamily="34" charset="0"/>
              <a:cs typeface="Times New Roman" panose="02020603050405020304" pitchFamily="18" charset="0"/>
              <a:sym typeface="Calibri" panose="020F0502020204030204" pitchFamily="34" charset="0"/>
            </a:endParaRPr>
          </a:p>
          <a:p>
            <a:pPr>
              <a:buClr>
                <a:srgbClr val="000000"/>
              </a:buClr>
              <a:buSzPct val="25000"/>
              <a:buFont typeface="Times New Roman" panose="02020603050405020304" pitchFamily="18" charset="0"/>
              <a:buNone/>
            </a:pPr>
            <a:r>
              <a:rPr lang="en-US" alt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pitchFamily="18" charset="0"/>
              </a:rPr>
              <a:t>• Control word and status information are also transferred</a:t>
            </a:r>
          </a:p>
          <a:p>
            <a:pPr>
              <a:buClr>
                <a:srgbClr val="000000"/>
              </a:buClr>
              <a:buSzPct val="25000"/>
              <a:buFont typeface="Times New Roman" panose="02020603050405020304" pitchFamily="18" charset="0"/>
              <a:buNone/>
            </a:pPr>
            <a:r>
              <a:rPr lang="en-US" alt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pitchFamily="18" charset="0"/>
              </a:rPr>
              <a:t>through this unit.</a:t>
            </a:r>
          </a:p>
        </p:txBody>
      </p:sp>
      <p:pic>
        <p:nvPicPr>
          <p:cNvPr id="25603" name="Content Placeholder 4">
            <a:extLst>
              <a:ext uri="{FF2B5EF4-FFF2-40B4-BE49-F238E27FC236}">
                <a16:creationId xmlns:a16="http://schemas.microsoft.com/office/drawing/2014/main" id="{5CFFD95B-F5A7-4D44-BC96-C6B73EA54BBA}"/>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hape 99">
            <a:extLst>
              <a:ext uri="{FF2B5EF4-FFF2-40B4-BE49-F238E27FC236}">
                <a16:creationId xmlns:a16="http://schemas.microsoft.com/office/drawing/2014/main" id="{3E1F4354-86D9-471C-B09A-7DA9F3FF2E7C}"/>
              </a:ext>
            </a:extLst>
          </p:cNvPr>
          <p:cNvSpPr>
            <a:spLocks noGrp="1"/>
          </p:cNvSpPr>
          <p:nvPr>
            <p:ph type="title"/>
          </p:nvPr>
        </p:nvSpPr>
        <p:spPr/>
        <p:txBody>
          <a:bodyPr lIns="91425" tIns="45700" rIns="91425" bIns="45700"/>
          <a:lstStyle/>
          <a:p>
            <a:pPr>
              <a:buClr>
                <a:srgbClr val="000000"/>
              </a:buClr>
              <a:buSzPct val="25000"/>
              <a:buFont typeface="Calibri" panose="020F0502020204030204" pitchFamily="34" charset="0"/>
              <a:buNone/>
            </a:pPr>
            <a:br>
              <a:rPr lang="en-US" altLang="en-US" b="1" i="1">
                <a:solidFill>
                  <a:schemeClr val="accent2"/>
                </a:solidFill>
                <a:latin typeface="Calibri" panose="020F0502020204030204" pitchFamily="34" charset="0"/>
                <a:sym typeface="Calibri" panose="020F0502020204030204" pitchFamily="34" charset="0"/>
              </a:rPr>
            </a:br>
            <a:r>
              <a:rPr lang="en-US" altLang="en-US" sz="3200" b="1">
                <a:latin typeface="Calibri" panose="020F0502020204030204" pitchFamily="34" charset="0"/>
                <a:sym typeface="Calibri" panose="020F0502020204030204" pitchFamily="34" charset="0"/>
              </a:rPr>
              <a:t>READ/WRITE CONTROL LOGIC</a:t>
            </a:r>
          </a:p>
        </p:txBody>
      </p:sp>
      <p:sp>
        <p:nvSpPr>
          <p:cNvPr id="26627" name="Shape 100">
            <a:extLst>
              <a:ext uri="{FF2B5EF4-FFF2-40B4-BE49-F238E27FC236}">
                <a16:creationId xmlns:a16="http://schemas.microsoft.com/office/drawing/2014/main" id="{D11C0B14-478B-46B8-9200-8B55E5ADE8A9}"/>
              </a:ext>
            </a:extLst>
          </p:cNvPr>
          <p:cNvSpPr>
            <a:spLocks noGrp="1"/>
          </p:cNvSpPr>
          <p:nvPr>
            <p:ph type="body" idx="1"/>
          </p:nvPr>
        </p:nvSpPr>
        <p:spPr>
          <a:xfrm>
            <a:off x="304800" y="1295400"/>
            <a:ext cx="8610600" cy="5334000"/>
          </a:xfrm>
        </p:spPr>
        <p:txBody>
          <a:bodyPr lIns="91425" tIns="45700" rIns="91425" bIns="45700"/>
          <a:lstStyle/>
          <a:p>
            <a:pPr>
              <a:lnSpc>
                <a:spcPct val="80000"/>
              </a:lnSpc>
              <a:spcBef>
                <a:spcPts val="400"/>
              </a:spcBef>
              <a:buClr>
                <a:srgbClr val="000000"/>
              </a:buClr>
              <a:buSzPct val="25000"/>
              <a:buFont typeface="Calibri" panose="020F0502020204030204" pitchFamily="34" charset="0"/>
              <a:buNone/>
            </a:pPr>
            <a:endParaRPr lang="en-US" altLang="en-US" sz="2000">
              <a:solidFill>
                <a:srgbClr val="000000"/>
              </a:solidFill>
              <a:latin typeface="Calibri" panose="020F0502020204030204" pitchFamily="34" charset="0"/>
              <a:sym typeface="Calibri" panose="020F0502020204030204" pitchFamily="34" charset="0"/>
            </a:endParaRP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This unit accepts control signals ( RD, WR ) and also inputs from address bus and issues commands to individual group of control blocks</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 Group A, Group B).It has the following pins.</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a) </a:t>
            </a:r>
            <a:r>
              <a:rPr lang="en-US" altLang="en-US" sz="2000" b="1">
                <a:solidFill>
                  <a:srgbClr val="000000"/>
                </a:solidFill>
                <a:latin typeface="Calibri" panose="020F0502020204030204" pitchFamily="34" charset="0"/>
                <a:sym typeface="Calibri" panose="020F0502020204030204" pitchFamily="34" charset="0"/>
              </a:rPr>
              <a:t>CS </a:t>
            </a:r>
            <a:r>
              <a:rPr lang="en-US" altLang="en-US" sz="2000">
                <a:solidFill>
                  <a:srgbClr val="000000"/>
                </a:solidFill>
                <a:latin typeface="Calibri" panose="020F0502020204030204" pitchFamily="34" charset="0"/>
                <a:sym typeface="Calibri" panose="020F0502020204030204" pitchFamily="34" charset="0"/>
              </a:rPr>
              <a:t>– Chipselect : A low on this PIN enables the</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communication between CPU and 8255.</a:t>
            </a:r>
          </a:p>
          <a:p>
            <a:pPr>
              <a:lnSpc>
                <a:spcPct val="80000"/>
              </a:lnSpc>
              <a:spcBef>
                <a:spcPts val="400"/>
              </a:spcBef>
              <a:buClr>
                <a:srgbClr val="000000"/>
              </a:buClr>
              <a:buSzPct val="25000"/>
              <a:buFont typeface="Calibri" panose="020F0502020204030204" pitchFamily="34" charset="0"/>
              <a:buNone/>
            </a:pPr>
            <a:r>
              <a:rPr lang="en-US" altLang="en-US" sz="2000" b="1">
                <a:solidFill>
                  <a:srgbClr val="000000"/>
                </a:solidFill>
                <a:latin typeface="Calibri" panose="020F0502020204030204" pitchFamily="34" charset="0"/>
                <a:sym typeface="Calibri" panose="020F0502020204030204" pitchFamily="34" charset="0"/>
              </a:rPr>
              <a:t>b) RD </a:t>
            </a:r>
            <a:r>
              <a:rPr lang="en-US" altLang="en-US" sz="2000">
                <a:solidFill>
                  <a:srgbClr val="000000"/>
                </a:solidFill>
                <a:latin typeface="Calibri" panose="020F0502020204030204" pitchFamily="34" charset="0"/>
                <a:sym typeface="Calibri" panose="020F0502020204030204" pitchFamily="34" charset="0"/>
              </a:rPr>
              <a:t>(Read) – A low on this pin enables the CPU to read</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the data in the ports or the status word through data bus buffer.</a:t>
            </a:r>
          </a:p>
          <a:p>
            <a:pPr>
              <a:lnSpc>
                <a:spcPct val="80000"/>
              </a:lnSpc>
              <a:spcBef>
                <a:spcPts val="400"/>
              </a:spcBef>
              <a:buClr>
                <a:srgbClr val="000000"/>
              </a:buClr>
              <a:buSzPct val="25000"/>
              <a:buFont typeface="Calibri" panose="020F0502020204030204" pitchFamily="34" charset="0"/>
              <a:buNone/>
            </a:pPr>
            <a:r>
              <a:rPr lang="en-US" altLang="en-US" sz="2000" b="1">
                <a:solidFill>
                  <a:srgbClr val="000000"/>
                </a:solidFill>
                <a:latin typeface="Calibri" panose="020F0502020204030204" pitchFamily="34" charset="0"/>
                <a:sym typeface="Calibri" panose="020F0502020204030204" pitchFamily="34" charset="0"/>
              </a:rPr>
              <a:t>c) WR </a:t>
            </a:r>
            <a:r>
              <a:rPr lang="en-US" altLang="en-US" sz="2000">
                <a:solidFill>
                  <a:srgbClr val="000000"/>
                </a:solidFill>
                <a:latin typeface="Calibri" panose="020F0502020204030204" pitchFamily="34" charset="0"/>
                <a:sym typeface="Calibri" panose="020F0502020204030204" pitchFamily="34" charset="0"/>
              </a:rPr>
              <a:t>( Write ) : A low on this pin, the CPU can write</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data on to the ports or on to the control register through</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the data bus buffer.</a:t>
            </a:r>
          </a:p>
          <a:p>
            <a:pPr>
              <a:lnSpc>
                <a:spcPct val="80000"/>
              </a:lnSpc>
              <a:spcBef>
                <a:spcPts val="400"/>
              </a:spcBef>
              <a:buClr>
                <a:srgbClr val="000000"/>
              </a:buClr>
              <a:buSzPct val="25000"/>
              <a:buFont typeface="Calibri" panose="020F0502020204030204" pitchFamily="34" charset="0"/>
              <a:buNone/>
            </a:pPr>
            <a:r>
              <a:rPr lang="en-US" altLang="en-US" sz="2000" b="1">
                <a:solidFill>
                  <a:srgbClr val="000000"/>
                </a:solidFill>
                <a:latin typeface="Calibri" panose="020F0502020204030204" pitchFamily="34" charset="0"/>
                <a:sym typeface="Calibri" panose="020F0502020204030204" pitchFamily="34" charset="0"/>
              </a:rPr>
              <a:t>d) RESET</a:t>
            </a:r>
            <a:r>
              <a:rPr lang="en-US" altLang="en-US" sz="2000">
                <a:solidFill>
                  <a:srgbClr val="000000"/>
                </a:solidFill>
                <a:latin typeface="Calibri" panose="020F0502020204030204" pitchFamily="34" charset="0"/>
                <a:sym typeface="Calibri" panose="020F0502020204030204" pitchFamily="34" charset="0"/>
              </a:rPr>
              <a:t>: A high on this pin clears the control register</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and all ports are set to the input mode</a:t>
            </a:r>
          </a:p>
          <a:p>
            <a:pPr>
              <a:lnSpc>
                <a:spcPct val="80000"/>
              </a:lnSpc>
              <a:spcBef>
                <a:spcPts val="400"/>
              </a:spcBef>
              <a:buClr>
                <a:srgbClr val="000000"/>
              </a:buClr>
              <a:buSzPct val="25000"/>
              <a:buFont typeface="Calibri" panose="020F0502020204030204" pitchFamily="34" charset="0"/>
              <a:buNone/>
            </a:pPr>
            <a:r>
              <a:rPr lang="en-US" altLang="en-US" sz="2000" b="1">
                <a:solidFill>
                  <a:srgbClr val="000000"/>
                </a:solidFill>
                <a:latin typeface="Calibri" panose="020F0502020204030204" pitchFamily="34" charset="0"/>
                <a:sym typeface="Calibri" panose="020F0502020204030204" pitchFamily="34" charset="0"/>
              </a:rPr>
              <a:t>e) A0 </a:t>
            </a:r>
            <a:r>
              <a:rPr lang="en-US" altLang="en-US" sz="2000">
                <a:solidFill>
                  <a:srgbClr val="000000"/>
                </a:solidFill>
                <a:latin typeface="Calibri" panose="020F0502020204030204" pitchFamily="34" charset="0"/>
                <a:sym typeface="Calibri" panose="020F0502020204030204" pitchFamily="34" charset="0"/>
              </a:rPr>
              <a:t>and </a:t>
            </a:r>
            <a:r>
              <a:rPr lang="en-US" altLang="en-US" sz="2000" b="1">
                <a:solidFill>
                  <a:srgbClr val="000000"/>
                </a:solidFill>
                <a:latin typeface="Calibri" panose="020F0502020204030204" pitchFamily="34" charset="0"/>
                <a:sym typeface="Calibri" panose="020F0502020204030204" pitchFamily="34" charset="0"/>
              </a:rPr>
              <a:t>A1 </a:t>
            </a:r>
            <a:r>
              <a:rPr lang="en-US" altLang="en-US" sz="2000">
                <a:solidFill>
                  <a:srgbClr val="000000"/>
                </a:solidFill>
                <a:latin typeface="Calibri" panose="020F0502020204030204" pitchFamily="34" charset="0"/>
                <a:sym typeface="Calibri" panose="020F0502020204030204" pitchFamily="34" charset="0"/>
              </a:rPr>
              <a:t>( Address pins ): These pins in conjunction</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with RD and WR pins control the selection of one of the</a:t>
            </a:r>
          </a:p>
          <a:p>
            <a:pPr>
              <a:lnSpc>
                <a:spcPct val="80000"/>
              </a:lnSpc>
              <a:spcBef>
                <a:spcPts val="400"/>
              </a:spcBef>
              <a:buClr>
                <a:srgbClr val="000000"/>
              </a:buClr>
              <a:buSzPct val="25000"/>
              <a:buFont typeface="Calibri" panose="020F0502020204030204" pitchFamily="34" charset="0"/>
              <a:buNone/>
            </a:pPr>
            <a:r>
              <a:rPr lang="en-US" altLang="en-US" sz="2000">
                <a:solidFill>
                  <a:srgbClr val="000000"/>
                </a:solidFill>
                <a:latin typeface="Calibri" panose="020F0502020204030204" pitchFamily="34" charset="0"/>
                <a:sym typeface="Calibri" panose="020F0502020204030204" pitchFamily="34" charset="0"/>
              </a:rPr>
              <a:t>3 ports.</a:t>
            </a:r>
          </a:p>
          <a:p>
            <a:pPr>
              <a:spcBef>
                <a:spcPts val="638"/>
              </a:spcBef>
              <a:buClr>
                <a:srgbClr val="000000"/>
              </a:buClr>
              <a:buSzPct val="59000"/>
              <a:buFont typeface="Calibri" panose="020F0502020204030204" pitchFamily="34" charset="0"/>
              <a:buNone/>
            </a:pPr>
            <a:endParaRPr lang="en-US" altLang="en-US">
              <a:solidFill>
                <a:srgbClr val="000000"/>
              </a:solidFill>
              <a:latin typeface="Calibri" panose="020F0502020204030204" pitchFamily="34" charset="0"/>
              <a:sym typeface="Calibri" panose="020F0502020204030204" pitchFamily="34" charset="0"/>
            </a:endParaRPr>
          </a:p>
        </p:txBody>
      </p:sp>
      <p:pic>
        <p:nvPicPr>
          <p:cNvPr id="26628" name="Content Placeholder 4">
            <a:extLst>
              <a:ext uri="{FF2B5EF4-FFF2-40B4-BE49-F238E27FC236}">
                <a16:creationId xmlns:a16="http://schemas.microsoft.com/office/drawing/2014/main" id="{A2C5B1BD-C6C4-41AD-AA1F-0900D2A7057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96">
            <a:extLst>
              <a:ext uri="{FF2B5EF4-FFF2-40B4-BE49-F238E27FC236}">
                <a16:creationId xmlns:a16="http://schemas.microsoft.com/office/drawing/2014/main" id="{DFBF5FD5-E77F-4665-989F-DA44E9122749}"/>
              </a:ext>
            </a:extLst>
          </p:cNvPr>
          <p:cNvSpPr>
            <a:spLocks noGrp="1" noChangeArrowheads="1"/>
          </p:cNvSpPr>
          <p:nvPr>
            <p:ph type="title"/>
          </p:nvPr>
        </p:nvSpPr>
        <p:spPr>
          <a:xfrm>
            <a:off x="457200" y="274638"/>
            <a:ext cx="8229600" cy="666750"/>
          </a:xfrm>
        </p:spPr>
        <p:txBody>
          <a:bodyPr/>
          <a:lstStyle/>
          <a:p>
            <a:br>
              <a:rPr lang="en-US" altLang="en-US" sz="4000">
                <a:solidFill>
                  <a:schemeClr val="accent2"/>
                </a:solidFill>
              </a:rPr>
            </a:br>
            <a:br>
              <a:rPr lang="en-US" altLang="en-US" sz="4000">
                <a:solidFill>
                  <a:schemeClr val="accent2"/>
                </a:solidFill>
              </a:rPr>
            </a:br>
            <a:r>
              <a:rPr lang="en-US" altLang="en-US" sz="3200" b="1">
                <a:solidFill>
                  <a:schemeClr val="tx1"/>
                </a:solidFill>
                <a:latin typeface="Calibri" panose="020F0502020204030204" pitchFamily="34" charset="0"/>
              </a:rPr>
              <a:t>I/O PORT ASSIGNMENTS</a:t>
            </a:r>
          </a:p>
        </p:txBody>
      </p:sp>
      <p:sp>
        <p:nvSpPr>
          <p:cNvPr id="27651" name="Rectangle 3">
            <a:extLst>
              <a:ext uri="{FF2B5EF4-FFF2-40B4-BE49-F238E27FC236}">
                <a16:creationId xmlns:a16="http://schemas.microsoft.com/office/drawing/2014/main" id="{6FBC9216-7DD2-4682-9E86-F56A042FB044}"/>
              </a:ext>
            </a:extLst>
          </p:cNvPr>
          <p:cNvSpPr>
            <a:spLocks noGrp="1" noChangeArrowheads="1"/>
          </p:cNvSpPr>
          <p:nvPr>
            <p:ph type="body" sz="half" idx="1"/>
          </p:nvPr>
        </p:nvSpPr>
        <p:spPr>
          <a:xfrm>
            <a:off x="142875" y="1600200"/>
            <a:ext cx="4352925" cy="3224213"/>
          </a:xfrm>
        </p:spPr>
        <p:txBody>
          <a:bodyPr/>
          <a:lstStyle/>
          <a:p>
            <a:r>
              <a:rPr lang="en-US" altLang="en-US" sz="2800">
                <a:solidFill>
                  <a:srgbClr val="3333FF"/>
                </a:solidFill>
              </a:rPr>
              <a:t>Group A</a:t>
            </a:r>
            <a:r>
              <a:rPr lang="en-US" altLang="en-US" sz="2800"/>
              <a:t> is Port A and upper ½ of Port C (PC7-PC4).</a:t>
            </a:r>
          </a:p>
          <a:p>
            <a:r>
              <a:rPr lang="en-US" altLang="en-US" sz="2800">
                <a:solidFill>
                  <a:srgbClr val="3333FF"/>
                </a:solidFill>
              </a:rPr>
              <a:t>Group B</a:t>
            </a:r>
            <a:r>
              <a:rPr lang="en-US" altLang="en-US" sz="2800"/>
              <a:t> is Port B and lower ½ of Port C (PC3-PC0).</a:t>
            </a:r>
          </a:p>
          <a:p>
            <a:endParaRPr lang="en-US" altLang="en-US" sz="2800"/>
          </a:p>
        </p:txBody>
      </p:sp>
      <p:graphicFrame>
        <p:nvGraphicFramePr>
          <p:cNvPr id="55391" name="Group 95">
            <a:extLst>
              <a:ext uri="{FF2B5EF4-FFF2-40B4-BE49-F238E27FC236}">
                <a16:creationId xmlns:a16="http://schemas.microsoft.com/office/drawing/2014/main" id="{574770A1-2D6A-4971-AE00-F775153F0750}"/>
              </a:ext>
            </a:extLst>
          </p:cNvPr>
          <p:cNvGraphicFramePr>
            <a:graphicFrameLocks noGrp="1"/>
          </p:cNvGraphicFramePr>
          <p:nvPr>
            <p:ph sz="half" idx="2"/>
          </p:nvPr>
        </p:nvGraphicFramePr>
        <p:xfrm>
          <a:off x="4648200" y="1600200"/>
          <a:ext cx="4038600" cy="4525963"/>
        </p:xfrm>
        <a:graphic>
          <a:graphicData uri="http://schemas.openxmlformats.org/drawingml/2006/table">
            <a:tbl>
              <a:tblPr/>
              <a:tblGrid>
                <a:gridCol w="704850">
                  <a:extLst>
                    <a:ext uri="{9D8B030D-6E8A-4147-A177-3AD203B41FA5}">
                      <a16:colId xmlns:a16="http://schemas.microsoft.com/office/drawing/2014/main" val="20000"/>
                    </a:ext>
                  </a:extLst>
                </a:gridCol>
                <a:gridCol w="612775">
                  <a:extLst>
                    <a:ext uri="{9D8B030D-6E8A-4147-A177-3AD203B41FA5}">
                      <a16:colId xmlns:a16="http://schemas.microsoft.com/office/drawing/2014/main" val="20001"/>
                    </a:ext>
                  </a:extLst>
                </a:gridCol>
                <a:gridCol w="2720975">
                  <a:extLst>
                    <a:ext uri="{9D8B030D-6E8A-4147-A177-3AD203B41FA5}">
                      <a16:colId xmlns:a16="http://schemas.microsoft.com/office/drawing/2014/main" val="20002"/>
                    </a:ext>
                  </a:extLst>
                </a:gridCol>
              </a:tblGrid>
              <a:tr h="13271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1" i="0" u="none" strike="noStrike" cap="none" normalizeH="0" baseline="0">
                          <a:ln>
                            <a:noFill/>
                          </a:ln>
                          <a:solidFill>
                            <a:srgbClr val="FFFFFF"/>
                          </a:solidFill>
                          <a:effectLst/>
                          <a:latin typeface="Times New Roman" pitchFamily="18" charset="0"/>
                          <a:cs typeface="Times New Roman" pitchFamily="18" charset="0"/>
                        </a:rPr>
                        <a:t>A1</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1" i="0" u="none" strike="noStrike" cap="none" normalizeH="0" baseline="0">
                          <a:ln>
                            <a:noFill/>
                          </a:ln>
                          <a:solidFill>
                            <a:srgbClr val="FFFFFF"/>
                          </a:solidFill>
                          <a:effectLst/>
                          <a:latin typeface="Times New Roman" pitchFamily="18" charset="0"/>
                          <a:cs typeface="Times New Roman" pitchFamily="18" charset="0"/>
                        </a:rPr>
                        <a:t>A0</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1" i="0" u="none" strike="noStrike" cap="none" normalizeH="0" baseline="0">
                          <a:ln>
                            <a:noFill/>
                          </a:ln>
                          <a:solidFill>
                            <a:srgbClr val="FFFFFF"/>
                          </a:solidFill>
                          <a:effectLst/>
                          <a:latin typeface="Times New Roman" pitchFamily="18" charset="0"/>
                          <a:cs typeface="Times New Roman" pitchFamily="18" charset="0"/>
                        </a:rPr>
                        <a:t>Function</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0"/>
                  </a:ext>
                </a:extLst>
              </a:tr>
              <a:tr h="8001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Port A</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851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Port B</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01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Port C</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001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endParaRPr kumimoji="0" lang="en-US" sz="3600" b="0" i="0" u="none" strike="noStrike" cap="none" normalizeH="0" baseline="0">
                        <a:ln>
                          <a:noFill/>
                        </a:ln>
                        <a:solidFill>
                          <a:schemeClr val="tx1"/>
                        </a:solidFill>
                        <a:effectLst/>
                        <a:latin typeface="Arial" charset="0"/>
                        <a:cs typeface="Arial"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0" algn="l"/>
                        </a:tabLst>
                      </a:pPr>
                      <a:r>
                        <a:rPr kumimoji="0" lang="en-US" sz="2400" b="0" i="0" u="none" strike="noStrike" cap="none" normalizeH="0" baseline="0">
                          <a:ln>
                            <a:noFill/>
                          </a:ln>
                          <a:solidFill>
                            <a:srgbClr val="3333FF"/>
                          </a:solidFill>
                          <a:effectLst/>
                          <a:latin typeface="Times New Roman" pitchFamily="18" charset="0"/>
                          <a:cs typeface="Times New Roman" pitchFamily="18" charset="0"/>
                        </a:rPr>
                        <a:t>Command Register</a:t>
                      </a:r>
                      <a:endParaRPr kumimoji="0" lang="en-US" sz="3600" b="0" i="0" u="none" strike="noStrike" cap="none" normalizeH="0" baseline="0">
                        <a:ln>
                          <a:noFill/>
                        </a:ln>
                        <a:solidFill>
                          <a:srgbClr val="3333FF"/>
                        </a:solidFill>
                        <a:effectLst/>
                        <a:latin typeface="Arial" charset="0"/>
                        <a:cs typeface="Arial" charset="0"/>
                      </a:endParaRPr>
                    </a:p>
                  </a:txBody>
                  <a:tcP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7680" name="Line 177">
            <a:extLst>
              <a:ext uri="{FF2B5EF4-FFF2-40B4-BE49-F238E27FC236}">
                <a16:creationId xmlns:a16="http://schemas.microsoft.com/office/drawing/2014/main" id="{6238EB47-1B22-4234-90F0-62C3DE3B68AA}"/>
              </a:ext>
            </a:extLst>
          </p:cNvPr>
          <p:cNvSpPr>
            <a:spLocks noChangeShapeType="1"/>
          </p:cNvSpPr>
          <p:nvPr/>
        </p:nvSpPr>
        <p:spPr bwMode="auto">
          <a:xfrm flipH="1" flipV="1">
            <a:off x="2722563" y="5172075"/>
            <a:ext cx="3414712" cy="639763"/>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7681" name="Text Box 179">
            <a:extLst>
              <a:ext uri="{FF2B5EF4-FFF2-40B4-BE49-F238E27FC236}">
                <a16:creationId xmlns:a16="http://schemas.microsoft.com/office/drawing/2014/main" id="{4DE56DAB-575A-4246-AD7A-3DBFD05FC3BB}"/>
              </a:ext>
            </a:extLst>
          </p:cNvPr>
          <p:cNvSpPr txBox="1">
            <a:spLocks noChangeArrowheads="1"/>
          </p:cNvSpPr>
          <p:nvPr/>
        </p:nvSpPr>
        <p:spPr bwMode="auto">
          <a:xfrm>
            <a:off x="173038" y="4964113"/>
            <a:ext cx="42989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CC3300"/>
                </a:solidFill>
              </a:rPr>
              <a:t>Writing into this register</a:t>
            </a:r>
          </a:p>
          <a:p>
            <a:r>
              <a:rPr lang="en-US" altLang="en-US">
                <a:solidFill>
                  <a:srgbClr val="CC3300"/>
                </a:solidFill>
              </a:rPr>
              <a:t>programs the various ports to operate in </a:t>
            </a:r>
          </a:p>
          <a:p>
            <a:r>
              <a:rPr lang="en-US" altLang="en-US">
                <a:solidFill>
                  <a:srgbClr val="CC3300"/>
                </a:solidFill>
              </a:rPr>
              <a:t>various modes and be used </a:t>
            </a:r>
          </a:p>
          <a:p>
            <a:r>
              <a:rPr lang="en-US" altLang="en-US">
                <a:solidFill>
                  <a:srgbClr val="CC3300"/>
                </a:solidFill>
              </a:rPr>
              <a:t>as either inputs or outputs</a:t>
            </a:r>
          </a:p>
        </p:txBody>
      </p:sp>
      <p:pic>
        <p:nvPicPr>
          <p:cNvPr id="27682" name="Content Placeholder 4">
            <a:extLst>
              <a:ext uri="{FF2B5EF4-FFF2-40B4-BE49-F238E27FC236}">
                <a16:creationId xmlns:a16="http://schemas.microsoft.com/office/drawing/2014/main" id="{267F4F8F-616F-4C49-A6D4-458761DE2EC0}"/>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701D7D7-F325-4F56-B81C-AE47CD39A69D}"/>
              </a:ext>
            </a:extLst>
          </p:cNvPr>
          <p:cNvSpPr>
            <a:spLocks noGrp="1" noChangeArrowheads="1"/>
          </p:cNvSpPr>
          <p:nvPr>
            <p:ph type="title"/>
          </p:nvPr>
        </p:nvSpPr>
        <p:spPr/>
        <p:txBody>
          <a:bodyPr/>
          <a:lstStyle/>
          <a:p>
            <a:pPr eaLnBrk="1" hangingPunct="1"/>
            <a:br>
              <a:rPr lang="en-US" altLang="en-US"/>
            </a:br>
            <a:r>
              <a:rPr lang="en-US" altLang="en-US" sz="3200" b="1">
                <a:latin typeface="Calibri" panose="020F0502020204030204" pitchFamily="34" charset="0"/>
              </a:rPr>
              <a:t>I/O PORT ADDRESS</a:t>
            </a:r>
          </a:p>
        </p:txBody>
      </p:sp>
      <p:sp>
        <p:nvSpPr>
          <p:cNvPr id="28675" name="Rectangle 3">
            <a:extLst>
              <a:ext uri="{FF2B5EF4-FFF2-40B4-BE49-F238E27FC236}">
                <a16:creationId xmlns:a16="http://schemas.microsoft.com/office/drawing/2014/main" id="{F41D6884-6FF7-4DC2-AE49-B23212581EE1}"/>
              </a:ext>
            </a:extLst>
          </p:cNvPr>
          <p:cNvSpPr>
            <a:spLocks noGrp="1" noChangeArrowheads="1"/>
          </p:cNvSpPr>
          <p:nvPr>
            <p:ph type="body" idx="1"/>
          </p:nvPr>
        </p:nvSpPr>
        <p:spPr/>
        <p:txBody>
          <a:bodyPr/>
          <a:lstStyle/>
          <a:p>
            <a:pPr eaLnBrk="1" hangingPunct="1"/>
            <a:endParaRPr lang="en-US" altLang="en-US"/>
          </a:p>
        </p:txBody>
      </p:sp>
      <p:grpSp>
        <p:nvGrpSpPr>
          <p:cNvPr id="28676" name="Group 60">
            <a:extLst>
              <a:ext uri="{FF2B5EF4-FFF2-40B4-BE49-F238E27FC236}">
                <a16:creationId xmlns:a16="http://schemas.microsoft.com/office/drawing/2014/main" id="{E371FAFE-2372-4578-81A8-0F4010D808CD}"/>
              </a:ext>
            </a:extLst>
          </p:cNvPr>
          <p:cNvGrpSpPr>
            <a:grpSpLocks/>
          </p:cNvGrpSpPr>
          <p:nvPr/>
        </p:nvGrpSpPr>
        <p:grpSpPr bwMode="auto">
          <a:xfrm>
            <a:off x="838200" y="1905000"/>
            <a:ext cx="7359650" cy="4038600"/>
            <a:chOff x="528" y="1200"/>
            <a:chExt cx="4636" cy="2544"/>
          </a:xfrm>
        </p:grpSpPr>
        <p:sp>
          <p:nvSpPr>
            <p:cNvPr id="28678" name="Rectangle 5">
              <a:extLst>
                <a:ext uri="{FF2B5EF4-FFF2-40B4-BE49-F238E27FC236}">
                  <a16:creationId xmlns:a16="http://schemas.microsoft.com/office/drawing/2014/main" id="{C03A1303-4395-4C85-A375-4725F837A617}"/>
                </a:ext>
              </a:extLst>
            </p:cNvPr>
            <p:cNvSpPr>
              <a:spLocks noChangeArrowheads="1"/>
            </p:cNvSpPr>
            <p:nvPr/>
          </p:nvSpPr>
          <p:spPr bwMode="auto">
            <a:xfrm>
              <a:off x="528" y="1344"/>
              <a:ext cx="672" cy="1008"/>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79" name="Rectangle 6">
              <a:extLst>
                <a:ext uri="{FF2B5EF4-FFF2-40B4-BE49-F238E27FC236}">
                  <a16:creationId xmlns:a16="http://schemas.microsoft.com/office/drawing/2014/main" id="{FB1F7B2B-906D-4117-BD44-A1741DD45FA5}"/>
                </a:ext>
              </a:extLst>
            </p:cNvPr>
            <p:cNvSpPr>
              <a:spLocks noChangeArrowheads="1"/>
            </p:cNvSpPr>
            <p:nvPr/>
          </p:nvSpPr>
          <p:spPr bwMode="auto">
            <a:xfrm>
              <a:off x="2784" y="1296"/>
              <a:ext cx="1296" cy="110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80" name="AutoShape 7">
              <a:extLst>
                <a:ext uri="{FF2B5EF4-FFF2-40B4-BE49-F238E27FC236}">
                  <a16:creationId xmlns:a16="http://schemas.microsoft.com/office/drawing/2014/main" id="{6EDCE07C-CD53-4567-A1F9-9038C4C741D4}"/>
                </a:ext>
              </a:extLst>
            </p:cNvPr>
            <p:cNvSpPr>
              <a:spLocks noChangeArrowheads="1"/>
            </p:cNvSpPr>
            <p:nvPr/>
          </p:nvSpPr>
          <p:spPr bwMode="auto">
            <a:xfrm>
              <a:off x="1200" y="1392"/>
              <a:ext cx="1584" cy="144"/>
            </a:xfrm>
            <a:prstGeom prst="leftRightArrow">
              <a:avLst>
                <a:gd name="adj1" fmla="val 50000"/>
                <a:gd name="adj2" fmla="val 103481"/>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81" name="Line 8">
              <a:extLst>
                <a:ext uri="{FF2B5EF4-FFF2-40B4-BE49-F238E27FC236}">
                  <a16:creationId xmlns:a16="http://schemas.microsoft.com/office/drawing/2014/main" id="{0B48C416-EF3B-41A8-8B88-EDF96AB968E4}"/>
                </a:ext>
              </a:extLst>
            </p:cNvPr>
            <p:cNvSpPr>
              <a:spLocks noChangeShapeType="1"/>
            </p:cNvSpPr>
            <p:nvPr/>
          </p:nvSpPr>
          <p:spPr bwMode="auto">
            <a:xfrm>
              <a:off x="2496" y="1728"/>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2" name="Line 9">
              <a:extLst>
                <a:ext uri="{FF2B5EF4-FFF2-40B4-BE49-F238E27FC236}">
                  <a16:creationId xmlns:a16="http://schemas.microsoft.com/office/drawing/2014/main" id="{A09BE735-EEF1-48C2-BFB5-869A1E102AFC}"/>
                </a:ext>
              </a:extLst>
            </p:cNvPr>
            <p:cNvSpPr>
              <a:spLocks noChangeShapeType="1"/>
            </p:cNvSpPr>
            <p:nvPr/>
          </p:nvSpPr>
          <p:spPr bwMode="auto">
            <a:xfrm>
              <a:off x="2496" y="1872"/>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3" name="Line 10">
              <a:extLst>
                <a:ext uri="{FF2B5EF4-FFF2-40B4-BE49-F238E27FC236}">
                  <a16:creationId xmlns:a16="http://schemas.microsoft.com/office/drawing/2014/main" id="{444C915C-2656-482B-A7D3-7335438C854B}"/>
                </a:ext>
              </a:extLst>
            </p:cNvPr>
            <p:cNvSpPr>
              <a:spLocks noChangeShapeType="1"/>
            </p:cNvSpPr>
            <p:nvPr/>
          </p:nvSpPr>
          <p:spPr bwMode="auto">
            <a:xfrm>
              <a:off x="2496" y="2016"/>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4" name="Line 11">
              <a:extLst>
                <a:ext uri="{FF2B5EF4-FFF2-40B4-BE49-F238E27FC236}">
                  <a16:creationId xmlns:a16="http://schemas.microsoft.com/office/drawing/2014/main" id="{AB16E17B-B0FA-4434-8633-0F10B847D543}"/>
                </a:ext>
              </a:extLst>
            </p:cNvPr>
            <p:cNvSpPr>
              <a:spLocks noChangeShapeType="1"/>
            </p:cNvSpPr>
            <p:nvPr/>
          </p:nvSpPr>
          <p:spPr bwMode="auto">
            <a:xfrm>
              <a:off x="2496" y="2160"/>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5" name="Line 12">
              <a:extLst>
                <a:ext uri="{FF2B5EF4-FFF2-40B4-BE49-F238E27FC236}">
                  <a16:creationId xmlns:a16="http://schemas.microsoft.com/office/drawing/2014/main" id="{A6FA18CE-DFBA-4138-AF35-3611BCC2CFE9}"/>
                </a:ext>
              </a:extLst>
            </p:cNvPr>
            <p:cNvSpPr>
              <a:spLocks noChangeShapeType="1"/>
            </p:cNvSpPr>
            <p:nvPr/>
          </p:nvSpPr>
          <p:spPr bwMode="auto">
            <a:xfrm>
              <a:off x="2496" y="230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6" name="Text Box 13">
              <a:extLst>
                <a:ext uri="{FF2B5EF4-FFF2-40B4-BE49-F238E27FC236}">
                  <a16:creationId xmlns:a16="http://schemas.microsoft.com/office/drawing/2014/main" id="{ED2EE04E-0C9A-4B04-AC09-340EB95FB51C}"/>
                </a:ext>
              </a:extLst>
            </p:cNvPr>
            <p:cNvSpPr txBox="1">
              <a:spLocks noChangeArrowheads="1"/>
            </p:cNvSpPr>
            <p:nvPr/>
          </p:nvSpPr>
          <p:spPr bwMode="auto">
            <a:xfrm>
              <a:off x="1728" y="120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Data bus</a:t>
              </a:r>
            </a:p>
          </p:txBody>
        </p:sp>
        <p:sp>
          <p:nvSpPr>
            <p:cNvPr id="28687" name="Text Box 14">
              <a:extLst>
                <a:ext uri="{FF2B5EF4-FFF2-40B4-BE49-F238E27FC236}">
                  <a16:creationId xmlns:a16="http://schemas.microsoft.com/office/drawing/2014/main" id="{6DFAAF6B-99CD-4540-A49F-035937846CB9}"/>
                </a:ext>
              </a:extLst>
            </p:cNvPr>
            <p:cNvSpPr txBox="1">
              <a:spLocks noChangeArrowheads="1"/>
            </p:cNvSpPr>
            <p:nvPr/>
          </p:nvSpPr>
          <p:spPr bwMode="auto">
            <a:xfrm>
              <a:off x="672" y="1728"/>
              <a:ext cx="40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8085</a:t>
              </a:r>
            </a:p>
          </p:txBody>
        </p:sp>
        <p:sp>
          <p:nvSpPr>
            <p:cNvPr id="28688" name="Text Box 15">
              <a:extLst>
                <a:ext uri="{FF2B5EF4-FFF2-40B4-BE49-F238E27FC236}">
                  <a16:creationId xmlns:a16="http://schemas.microsoft.com/office/drawing/2014/main" id="{73957DE4-615A-4EAF-8D2F-021FD89E0CF1}"/>
                </a:ext>
              </a:extLst>
            </p:cNvPr>
            <p:cNvSpPr txBox="1">
              <a:spLocks noChangeArrowheads="1"/>
            </p:cNvSpPr>
            <p:nvPr/>
          </p:nvSpPr>
          <p:spPr bwMode="auto">
            <a:xfrm>
              <a:off x="2784" y="1344"/>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Times New Roman" panose="02020603050405020304" pitchFamily="18" charset="0"/>
                </a:rPr>
                <a:t>D[7:0]</a:t>
              </a:r>
            </a:p>
          </p:txBody>
        </p:sp>
        <p:sp>
          <p:nvSpPr>
            <p:cNvPr id="28689" name="Text Box 16">
              <a:extLst>
                <a:ext uri="{FF2B5EF4-FFF2-40B4-BE49-F238E27FC236}">
                  <a16:creationId xmlns:a16="http://schemas.microsoft.com/office/drawing/2014/main" id="{AB872F8F-01A0-4CCF-83EC-CBF65895A5F3}"/>
                </a:ext>
              </a:extLst>
            </p:cNvPr>
            <p:cNvSpPr txBox="1">
              <a:spLocks noChangeArrowheads="1"/>
            </p:cNvSpPr>
            <p:nvPr/>
          </p:nvSpPr>
          <p:spPr bwMode="auto">
            <a:xfrm>
              <a:off x="2252" y="1599"/>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A0</a:t>
              </a:r>
            </a:p>
          </p:txBody>
        </p:sp>
        <p:sp>
          <p:nvSpPr>
            <p:cNvPr id="28690" name="Text Box 17">
              <a:extLst>
                <a:ext uri="{FF2B5EF4-FFF2-40B4-BE49-F238E27FC236}">
                  <a16:creationId xmlns:a16="http://schemas.microsoft.com/office/drawing/2014/main" id="{3E4AFF00-CA42-4DCE-9E5E-270CCEF6329E}"/>
                </a:ext>
              </a:extLst>
            </p:cNvPr>
            <p:cNvSpPr txBox="1">
              <a:spLocks noChangeArrowheads="1"/>
            </p:cNvSpPr>
            <p:nvPr/>
          </p:nvSpPr>
          <p:spPr bwMode="auto">
            <a:xfrm>
              <a:off x="2256" y="1743"/>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A1</a:t>
              </a:r>
            </a:p>
          </p:txBody>
        </p:sp>
        <p:sp>
          <p:nvSpPr>
            <p:cNvPr id="28691" name="Text Box 18">
              <a:extLst>
                <a:ext uri="{FF2B5EF4-FFF2-40B4-BE49-F238E27FC236}">
                  <a16:creationId xmlns:a16="http://schemas.microsoft.com/office/drawing/2014/main" id="{7BA0E7F3-1EAB-4296-ABC7-E17B4AEA2CB9}"/>
                </a:ext>
              </a:extLst>
            </p:cNvPr>
            <p:cNvSpPr txBox="1">
              <a:spLocks noChangeArrowheads="1"/>
            </p:cNvSpPr>
            <p:nvPr/>
          </p:nvSpPr>
          <p:spPr bwMode="auto">
            <a:xfrm>
              <a:off x="2208" y="1935"/>
              <a:ext cx="2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RD</a:t>
              </a:r>
            </a:p>
          </p:txBody>
        </p:sp>
        <p:sp>
          <p:nvSpPr>
            <p:cNvPr id="28692" name="Text Box 19">
              <a:extLst>
                <a:ext uri="{FF2B5EF4-FFF2-40B4-BE49-F238E27FC236}">
                  <a16:creationId xmlns:a16="http://schemas.microsoft.com/office/drawing/2014/main" id="{D00F85B2-28DC-41A9-BBE2-A07103ACAF4B}"/>
                </a:ext>
              </a:extLst>
            </p:cNvPr>
            <p:cNvSpPr txBox="1">
              <a:spLocks noChangeArrowheads="1"/>
            </p:cNvSpPr>
            <p:nvPr/>
          </p:nvSpPr>
          <p:spPr bwMode="auto">
            <a:xfrm>
              <a:off x="2160" y="2079"/>
              <a:ext cx="32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WR</a:t>
              </a:r>
            </a:p>
          </p:txBody>
        </p:sp>
        <p:sp>
          <p:nvSpPr>
            <p:cNvPr id="28693" name="Text Box 20">
              <a:extLst>
                <a:ext uri="{FF2B5EF4-FFF2-40B4-BE49-F238E27FC236}">
                  <a16:creationId xmlns:a16="http://schemas.microsoft.com/office/drawing/2014/main" id="{353BEC4B-D2EA-4A35-85C2-6E4662185976}"/>
                </a:ext>
              </a:extLst>
            </p:cNvPr>
            <p:cNvSpPr txBox="1">
              <a:spLocks noChangeArrowheads="1"/>
            </p:cNvSpPr>
            <p:nvPr/>
          </p:nvSpPr>
          <p:spPr bwMode="auto">
            <a:xfrm>
              <a:off x="2016" y="2208"/>
              <a:ext cx="50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RESET</a:t>
              </a:r>
            </a:p>
          </p:txBody>
        </p:sp>
        <p:sp>
          <p:nvSpPr>
            <p:cNvPr id="28694" name="Oval 21">
              <a:extLst>
                <a:ext uri="{FF2B5EF4-FFF2-40B4-BE49-F238E27FC236}">
                  <a16:creationId xmlns:a16="http://schemas.microsoft.com/office/drawing/2014/main" id="{8937F530-A085-4E95-A9E1-952677A019D1}"/>
                </a:ext>
              </a:extLst>
            </p:cNvPr>
            <p:cNvSpPr>
              <a:spLocks noChangeArrowheads="1"/>
            </p:cNvSpPr>
            <p:nvPr/>
          </p:nvSpPr>
          <p:spPr bwMode="auto">
            <a:xfrm>
              <a:off x="3408" y="2400"/>
              <a:ext cx="144" cy="14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5" name="Text Box 22">
              <a:extLst>
                <a:ext uri="{FF2B5EF4-FFF2-40B4-BE49-F238E27FC236}">
                  <a16:creationId xmlns:a16="http://schemas.microsoft.com/office/drawing/2014/main" id="{69590E35-712D-4EE2-852D-C138506CA710}"/>
                </a:ext>
              </a:extLst>
            </p:cNvPr>
            <p:cNvSpPr txBox="1">
              <a:spLocks noChangeArrowheads="1"/>
            </p:cNvSpPr>
            <p:nvPr/>
          </p:nvSpPr>
          <p:spPr bwMode="auto">
            <a:xfrm>
              <a:off x="3600" y="2448"/>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CS</a:t>
              </a:r>
            </a:p>
          </p:txBody>
        </p:sp>
        <p:sp>
          <p:nvSpPr>
            <p:cNvPr id="28696" name="Rectangle 23">
              <a:extLst>
                <a:ext uri="{FF2B5EF4-FFF2-40B4-BE49-F238E27FC236}">
                  <a16:creationId xmlns:a16="http://schemas.microsoft.com/office/drawing/2014/main" id="{A695AFE6-C883-4065-AB8C-2490F658233B}"/>
                </a:ext>
              </a:extLst>
            </p:cNvPr>
            <p:cNvSpPr>
              <a:spLocks noChangeArrowheads="1"/>
            </p:cNvSpPr>
            <p:nvPr/>
          </p:nvSpPr>
          <p:spPr bwMode="auto">
            <a:xfrm>
              <a:off x="2928" y="1920"/>
              <a:ext cx="960" cy="288"/>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7" name="Text Box 24">
              <a:extLst>
                <a:ext uri="{FF2B5EF4-FFF2-40B4-BE49-F238E27FC236}">
                  <a16:creationId xmlns:a16="http://schemas.microsoft.com/office/drawing/2014/main" id="{BF1CEC5B-9C9E-48AA-807F-BE27A9A790A8}"/>
                </a:ext>
              </a:extLst>
            </p:cNvPr>
            <p:cNvSpPr txBox="1">
              <a:spLocks noChangeArrowheads="1"/>
            </p:cNvSpPr>
            <p:nvPr/>
          </p:nvSpPr>
          <p:spPr bwMode="auto">
            <a:xfrm>
              <a:off x="3024" y="1968"/>
              <a:ext cx="7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Control port</a:t>
              </a:r>
            </a:p>
          </p:txBody>
        </p:sp>
        <p:sp>
          <p:nvSpPr>
            <p:cNvPr id="28698" name="AutoShape 25">
              <a:extLst>
                <a:ext uri="{FF2B5EF4-FFF2-40B4-BE49-F238E27FC236}">
                  <a16:creationId xmlns:a16="http://schemas.microsoft.com/office/drawing/2014/main" id="{1CF4C70B-1920-44C0-9378-8DF148F3616E}"/>
                </a:ext>
              </a:extLst>
            </p:cNvPr>
            <p:cNvSpPr>
              <a:spLocks noChangeArrowheads="1"/>
            </p:cNvSpPr>
            <p:nvPr/>
          </p:nvSpPr>
          <p:spPr bwMode="auto">
            <a:xfrm>
              <a:off x="4080" y="1440"/>
              <a:ext cx="528" cy="192"/>
            </a:xfrm>
            <a:prstGeom prst="leftRightArrow">
              <a:avLst>
                <a:gd name="adj1" fmla="val 50000"/>
                <a:gd name="adj2" fmla="val 55000"/>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9" name="AutoShape 26">
              <a:extLst>
                <a:ext uri="{FF2B5EF4-FFF2-40B4-BE49-F238E27FC236}">
                  <a16:creationId xmlns:a16="http://schemas.microsoft.com/office/drawing/2014/main" id="{4A16B02E-9C81-4E8F-9BB6-DB79192E58F7}"/>
                </a:ext>
              </a:extLst>
            </p:cNvPr>
            <p:cNvSpPr>
              <a:spLocks noChangeArrowheads="1"/>
            </p:cNvSpPr>
            <p:nvPr/>
          </p:nvSpPr>
          <p:spPr bwMode="auto">
            <a:xfrm>
              <a:off x="4080" y="1728"/>
              <a:ext cx="528" cy="192"/>
            </a:xfrm>
            <a:prstGeom prst="leftRightArrow">
              <a:avLst>
                <a:gd name="adj1" fmla="val 50000"/>
                <a:gd name="adj2" fmla="val 55000"/>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0" name="AutoShape 27">
              <a:extLst>
                <a:ext uri="{FF2B5EF4-FFF2-40B4-BE49-F238E27FC236}">
                  <a16:creationId xmlns:a16="http://schemas.microsoft.com/office/drawing/2014/main" id="{41E41944-FEDA-48F8-AEC5-6D0F018DC50D}"/>
                </a:ext>
              </a:extLst>
            </p:cNvPr>
            <p:cNvSpPr>
              <a:spLocks noChangeArrowheads="1"/>
            </p:cNvSpPr>
            <p:nvPr/>
          </p:nvSpPr>
          <p:spPr bwMode="auto">
            <a:xfrm>
              <a:off x="4080" y="2064"/>
              <a:ext cx="528" cy="192"/>
            </a:xfrm>
            <a:prstGeom prst="leftRightArrow">
              <a:avLst>
                <a:gd name="adj1" fmla="val 50000"/>
                <a:gd name="adj2" fmla="val 55000"/>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1" name="Text Box 28">
              <a:extLst>
                <a:ext uri="{FF2B5EF4-FFF2-40B4-BE49-F238E27FC236}">
                  <a16:creationId xmlns:a16="http://schemas.microsoft.com/office/drawing/2014/main" id="{4D1AC42A-D9A9-4648-B64A-7B4B361ED4FD}"/>
                </a:ext>
              </a:extLst>
            </p:cNvPr>
            <p:cNvSpPr txBox="1">
              <a:spLocks noChangeArrowheads="1"/>
            </p:cNvSpPr>
            <p:nvPr/>
          </p:nvSpPr>
          <p:spPr bwMode="auto">
            <a:xfrm>
              <a:off x="4560" y="1440"/>
              <a:ext cx="5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PA[7:0]</a:t>
              </a:r>
            </a:p>
          </p:txBody>
        </p:sp>
        <p:sp>
          <p:nvSpPr>
            <p:cNvPr id="28702" name="Text Box 29">
              <a:extLst>
                <a:ext uri="{FF2B5EF4-FFF2-40B4-BE49-F238E27FC236}">
                  <a16:creationId xmlns:a16="http://schemas.microsoft.com/office/drawing/2014/main" id="{8B633486-4B88-4C3F-8A46-A868233C46B8}"/>
                </a:ext>
              </a:extLst>
            </p:cNvPr>
            <p:cNvSpPr txBox="1">
              <a:spLocks noChangeArrowheads="1"/>
            </p:cNvSpPr>
            <p:nvPr/>
          </p:nvSpPr>
          <p:spPr bwMode="auto">
            <a:xfrm>
              <a:off x="4560" y="1728"/>
              <a:ext cx="52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PB[7:0]</a:t>
              </a:r>
            </a:p>
          </p:txBody>
        </p:sp>
        <p:sp>
          <p:nvSpPr>
            <p:cNvPr id="28703" name="Text Box 30">
              <a:extLst>
                <a:ext uri="{FF2B5EF4-FFF2-40B4-BE49-F238E27FC236}">
                  <a16:creationId xmlns:a16="http://schemas.microsoft.com/office/drawing/2014/main" id="{059626FF-96F7-407C-9107-1DB229EC638D}"/>
                </a:ext>
              </a:extLst>
            </p:cNvPr>
            <p:cNvSpPr txBox="1">
              <a:spLocks noChangeArrowheads="1"/>
            </p:cNvSpPr>
            <p:nvPr/>
          </p:nvSpPr>
          <p:spPr bwMode="auto">
            <a:xfrm>
              <a:off x="4560" y="2092"/>
              <a:ext cx="52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PC[7:0]</a:t>
              </a:r>
            </a:p>
          </p:txBody>
        </p:sp>
        <p:sp>
          <p:nvSpPr>
            <p:cNvPr id="28704" name="AutoShape 31">
              <a:extLst>
                <a:ext uri="{FF2B5EF4-FFF2-40B4-BE49-F238E27FC236}">
                  <a16:creationId xmlns:a16="http://schemas.microsoft.com/office/drawing/2014/main" id="{3A5E948F-2B7C-4A85-ADF8-BC55C3041F25}"/>
                </a:ext>
              </a:extLst>
            </p:cNvPr>
            <p:cNvSpPr>
              <a:spLocks noChangeArrowheads="1"/>
            </p:cNvSpPr>
            <p:nvPr/>
          </p:nvSpPr>
          <p:spPr bwMode="auto">
            <a:xfrm>
              <a:off x="1872" y="2736"/>
              <a:ext cx="384" cy="480"/>
            </a:xfrm>
            <a:prstGeom prst="flowChartDelay">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5" name="Line 32">
              <a:extLst>
                <a:ext uri="{FF2B5EF4-FFF2-40B4-BE49-F238E27FC236}">
                  <a16:creationId xmlns:a16="http://schemas.microsoft.com/office/drawing/2014/main" id="{4E156B5F-BA83-453A-AA94-ACEE941823CB}"/>
                </a:ext>
              </a:extLst>
            </p:cNvPr>
            <p:cNvSpPr>
              <a:spLocks noChangeShapeType="1"/>
            </p:cNvSpPr>
            <p:nvPr/>
          </p:nvSpPr>
          <p:spPr bwMode="auto">
            <a:xfrm>
              <a:off x="1872" y="2400"/>
              <a:ext cx="0"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6" name="Line 33">
              <a:extLst>
                <a:ext uri="{FF2B5EF4-FFF2-40B4-BE49-F238E27FC236}">
                  <a16:creationId xmlns:a16="http://schemas.microsoft.com/office/drawing/2014/main" id="{38F29FF3-AAD1-4888-BBCE-91C2F5C8A023}"/>
                </a:ext>
              </a:extLst>
            </p:cNvPr>
            <p:cNvSpPr>
              <a:spLocks noChangeShapeType="1"/>
            </p:cNvSpPr>
            <p:nvPr/>
          </p:nvSpPr>
          <p:spPr bwMode="auto">
            <a:xfrm>
              <a:off x="1632" y="2544"/>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7" name="Oval 34">
              <a:extLst>
                <a:ext uri="{FF2B5EF4-FFF2-40B4-BE49-F238E27FC236}">
                  <a16:creationId xmlns:a16="http://schemas.microsoft.com/office/drawing/2014/main" id="{C6F0EC60-9932-4DC7-9AD9-2B701EE0A0B3}"/>
                </a:ext>
              </a:extLst>
            </p:cNvPr>
            <p:cNvSpPr>
              <a:spLocks noChangeArrowheads="1"/>
            </p:cNvSpPr>
            <p:nvPr/>
          </p:nvSpPr>
          <p:spPr bwMode="auto">
            <a:xfrm>
              <a:off x="1776" y="2640"/>
              <a:ext cx="96" cy="96"/>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8" name="Line 35">
              <a:extLst>
                <a:ext uri="{FF2B5EF4-FFF2-40B4-BE49-F238E27FC236}">
                  <a16:creationId xmlns:a16="http://schemas.microsoft.com/office/drawing/2014/main" id="{10554391-527D-4D8A-A441-21CD120867D7}"/>
                </a:ext>
              </a:extLst>
            </p:cNvPr>
            <p:cNvSpPr>
              <a:spLocks noChangeShapeType="1"/>
            </p:cNvSpPr>
            <p:nvPr/>
          </p:nvSpPr>
          <p:spPr bwMode="auto">
            <a:xfrm>
              <a:off x="1632" y="268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Oval 36">
              <a:extLst>
                <a:ext uri="{FF2B5EF4-FFF2-40B4-BE49-F238E27FC236}">
                  <a16:creationId xmlns:a16="http://schemas.microsoft.com/office/drawing/2014/main" id="{97D373DA-5D5B-41AC-9B29-33720AE9EC70}"/>
                </a:ext>
              </a:extLst>
            </p:cNvPr>
            <p:cNvSpPr>
              <a:spLocks noChangeArrowheads="1"/>
            </p:cNvSpPr>
            <p:nvPr/>
          </p:nvSpPr>
          <p:spPr bwMode="auto">
            <a:xfrm>
              <a:off x="1776" y="2784"/>
              <a:ext cx="96" cy="96"/>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0" name="Line 37">
              <a:extLst>
                <a:ext uri="{FF2B5EF4-FFF2-40B4-BE49-F238E27FC236}">
                  <a16:creationId xmlns:a16="http://schemas.microsoft.com/office/drawing/2014/main" id="{F6659E2A-41CC-4401-887B-1FE286CC3E7B}"/>
                </a:ext>
              </a:extLst>
            </p:cNvPr>
            <p:cNvSpPr>
              <a:spLocks noChangeShapeType="1"/>
            </p:cNvSpPr>
            <p:nvPr/>
          </p:nvSpPr>
          <p:spPr bwMode="auto">
            <a:xfrm>
              <a:off x="1632" y="283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1" name="Line 38">
              <a:extLst>
                <a:ext uri="{FF2B5EF4-FFF2-40B4-BE49-F238E27FC236}">
                  <a16:creationId xmlns:a16="http://schemas.microsoft.com/office/drawing/2014/main" id="{5CB24BFA-4A13-4D1C-94F4-FD2B37C6E944}"/>
                </a:ext>
              </a:extLst>
            </p:cNvPr>
            <p:cNvSpPr>
              <a:spLocks noChangeShapeType="1"/>
            </p:cNvSpPr>
            <p:nvPr/>
          </p:nvSpPr>
          <p:spPr bwMode="auto">
            <a:xfrm>
              <a:off x="1632" y="2976"/>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2" name="Line 39">
              <a:extLst>
                <a:ext uri="{FF2B5EF4-FFF2-40B4-BE49-F238E27FC236}">
                  <a16:creationId xmlns:a16="http://schemas.microsoft.com/office/drawing/2014/main" id="{3D044269-FACB-43AB-B3A1-1975AC71B10A}"/>
                </a:ext>
              </a:extLst>
            </p:cNvPr>
            <p:cNvSpPr>
              <a:spLocks noChangeShapeType="1"/>
            </p:cNvSpPr>
            <p:nvPr/>
          </p:nvSpPr>
          <p:spPr bwMode="auto">
            <a:xfrm>
              <a:off x="1632" y="3120"/>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40">
              <a:extLst>
                <a:ext uri="{FF2B5EF4-FFF2-40B4-BE49-F238E27FC236}">
                  <a16:creationId xmlns:a16="http://schemas.microsoft.com/office/drawing/2014/main" id="{B1AD109F-E408-4702-87A9-87F2267E6D3B}"/>
                </a:ext>
              </a:extLst>
            </p:cNvPr>
            <p:cNvSpPr>
              <a:spLocks noChangeShapeType="1"/>
            </p:cNvSpPr>
            <p:nvPr/>
          </p:nvSpPr>
          <p:spPr bwMode="auto">
            <a:xfrm>
              <a:off x="1632" y="3264"/>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4" name="Line 41">
              <a:extLst>
                <a:ext uri="{FF2B5EF4-FFF2-40B4-BE49-F238E27FC236}">
                  <a16:creationId xmlns:a16="http://schemas.microsoft.com/office/drawing/2014/main" id="{DE925D93-0DFE-4DF8-9C05-67844CDB465D}"/>
                </a:ext>
              </a:extLst>
            </p:cNvPr>
            <p:cNvSpPr>
              <a:spLocks noChangeShapeType="1"/>
            </p:cNvSpPr>
            <p:nvPr/>
          </p:nvSpPr>
          <p:spPr bwMode="auto">
            <a:xfrm>
              <a:off x="1632" y="3408"/>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5" name="Oval 42">
              <a:extLst>
                <a:ext uri="{FF2B5EF4-FFF2-40B4-BE49-F238E27FC236}">
                  <a16:creationId xmlns:a16="http://schemas.microsoft.com/office/drawing/2014/main" id="{9C42B413-8E10-4498-81C3-5AC71CED9762}"/>
                </a:ext>
              </a:extLst>
            </p:cNvPr>
            <p:cNvSpPr>
              <a:spLocks noChangeArrowheads="1"/>
            </p:cNvSpPr>
            <p:nvPr/>
          </p:nvSpPr>
          <p:spPr bwMode="auto">
            <a:xfrm>
              <a:off x="2256" y="2928"/>
              <a:ext cx="96" cy="96"/>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6" name="Text Box 43">
              <a:extLst>
                <a:ext uri="{FF2B5EF4-FFF2-40B4-BE49-F238E27FC236}">
                  <a16:creationId xmlns:a16="http://schemas.microsoft.com/office/drawing/2014/main" id="{24E8D677-D18F-4935-828C-6F9047051424}"/>
                </a:ext>
              </a:extLst>
            </p:cNvPr>
            <p:cNvSpPr txBox="1">
              <a:spLocks noChangeArrowheads="1"/>
            </p:cNvSpPr>
            <p:nvPr/>
          </p:nvSpPr>
          <p:spPr bwMode="auto">
            <a:xfrm>
              <a:off x="1344" y="2448"/>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A7</a:t>
              </a:r>
            </a:p>
          </p:txBody>
        </p:sp>
        <p:sp>
          <p:nvSpPr>
            <p:cNvPr id="28717" name="Text Box 44">
              <a:extLst>
                <a:ext uri="{FF2B5EF4-FFF2-40B4-BE49-F238E27FC236}">
                  <a16:creationId xmlns:a16="http://schemas.microsoft.com/office/drawing/2014/main" id="{7520FBFB-56A5-4377-AC8F-96F6C4D4D658}"/>
                </a:ext>
              </a:extLst>
            </p:cNvPr>
            <p:cNvSpPr txBox="1">
              <a:spLocks noChangeArrowheads="1"/>
            </p:cNvSpPr>
            <p:nvPr/>
          </p:nvSpPr>
          <p:spPr bwMode="auto">
            <a:xfrm>
              <a:off x="1344" y="2592"/>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A6</a:t>
              </a:r>
            </a:p>
          </p:txBody>
        </p:sp>
        <p:sp>
          <p:nvSpPr>
            <p:cNvPr id="28718" name="Text Box 45">
              <a:extLst>
                <a:ext uri="{FF2B5EF4-FFF2-40B4-BE49-F238E27FC236}">
                  <a16:creationId xmlns:a16="http://schemas.microsoft.com/office/drawing/2014/main" id="{6F8ECA8A-7532-4A8F-B4F7-0F60752C78F2}"/>
                </a:ext>
              </a:extLst>
            </p:cNvPr>
            <p:cNvSpPr txBox="1">
              <a:spLocks noChangeArrowheads="1"/>
            </p:cNvSpPr>
            <p:nvPr/>
          </p:nvSpPr>
          <p:spPr bwMode="auto">
            <a:xfrm>
              <a:off x="1344" y="2736"/>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A5</a:t>
              </a:r>
            </a:p>
          </p:txBody>
        </p:sp>
        <p:sp>
          <p:nvSpPr>
            <p:cNvPr id="28719" name="Text Box 46">
              <a:extLst>
                <a:ext uri="{FF2B5EF4-FFF2-40B4-BE49-F238E27FC236}">
                  <a16:creationId xmlns:a16="http://schemas.microsoft.com/office/drawing/2014/main" id="{9374E314-07E7-4A48-A605-42449CB7086C}"/>
                </a:ext>
              </a:extLst>
            </p:cNvPr>
            <p:cNvSpPr txBox="1">
              <a:spLocks noChangeArrowheads="1"/>
            </p:cNvSpPr>
            <p:nvPr/>
          </p:nvSpPr>
          <p:spPr bwMode="auto">
            <a:xfrm>
              <a:off x="1344" y="2880"/>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A4</a:t>
              </a:r>
            </a:p>
          </p:txBody>
        </p:sp>
        <p:sp>
          <p:nvSpPr>
            <p:cNvPr id="28720" name="Text Box 47">
              <a:extLst>
                <a:ext uri="{FF2B5EF4-FFF2-40B4-BE49-F238E27FC236}">
                  <a16:creationId xmlns:a16="http://schemas.microsoft.com/office/drawing/2014/main" id="{CDCFB6CA-D69A-4D24-BEB9-BEBA6095B0ED}"/>
                </a:ext>
              </a:extLst>
            </p:cNvPr>
            <p:cNvSpPr txBox="1">
              <a:spLocks noChangeArrowheads="1"/>
            </p:cNvSpPr>
            <p:nvPr/>
          </p:nvSpPr>
          <p:spPr bwMode="auto">
            <a:xfrm>
              <a:off x="1344" y="3024"/>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A3</a:t>
              </a:r>
            </a:p>
          </p:txBody>
        </p:sp>
        <p:sp>
          <p:nvSpPr>
            <p:cNvPr id="28721" name="Text Box 48">
              <a:extLst>
                <a:ext uri="{FF2B5EF4-FFF2-40B4-BE49-F238E27FC236}">
                  <a16:creationId xmlns:a16="http://schemas.microsoft.com/office/drawing/2014/main" id="{A97381F4-6F82-4052-B238-67D220A9E339}"/>
                </a:ext>
              </a:extLst>
            </p:cNvPr>
            <p:cNvSpPr txBox="1">
              <a:spLocks noChangeArrowheads="1"/>
            </p:cNvSpPr>
            <p:nvPr/>
          </p:nvSpPr>
          <p:spPr bwMode="auto">
            <a:xfrm>
              <a:off x="1344" y="3168"/>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A2</a:t>
              </a:r>
            </a:p>
          </p:txBody>
        </p:sp>
        <p:sp>
          <p:nvSpPr>
            <p:cNvPr id="28722" name="Text Box 49">
              <a:extLst>
                <a:ext uri="{FF2B5EF4-FFF2-40B4-BE49-F238E27FC236}">
                  <a16:creationId xmlns:a16="http://schemas.microsoft.com/office/drawing/2014/main" id="{EA9F33A6-5A95-459B-BFA2-BA646E917C3F}"/>
                </a:ext>
              </a:extLst>
            </p:cNvPr>
            <p:cNvSpPr txBox="1">
              <a:spLocks noChangeArrowheads="1"/>
            </p:cNvSpPr>
            <p:nvPr/>
          </p:nvSpPr>
          <p:spPr bwMode="auto">
            <a:xfrm>
              <a:off x="1231" y="3312"/>
              <a:ext cx="4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IO/M</a:t>
              </a:r>
            </a:p>
          </p:txBody>
        </p:sp>
        <p:sp>
          <p:nvSpPr>
            <p:cNvPr id="28723" name="Line 50">
              <a:extLst>
                <a:ext uri="{FF2B5EF4-FFF2-40B4-BE49-F238E27FC236}">
                  <a16:creationId xmlns:a16="http://schemas.microsoft.com/office/drawing/2014/main" id="{998D07E0-FD1F-4CD0-84FE-17B2389F7C21}"/>
                </a:ext>
              </a:extLst>
            </p:cNvPr>
            <p:cNvSpPr>
              <a:spLocks noChangeShapeType="1"/>
            </p:cNvSpPr>
            <p:nvPr/>
          </p:nvSpPr>
          <p:spPr bwMode="auto">
            <a:xfrm>
              <a:off x="2352" y="2976"/>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4" name="Line 51">
              <a:extLst>
                <a:ext uri="{FF2B5EF4-FFF2-40B4-BE49-F238E27FC236}">
                  <a16:creationId xmlns:a16="http://schemas.microsoft.com/office/drawing/2014/main" id="{C0C3D2DD-7531-440F-B90D-C8ACD871CF9C}"/>
                </a:ext>
              </a:extLst>
            </p:cNvPr>
            <p:cNvSpPr>
              <a:spLocks noChangeShapeType="1"/>
            </p:cNvSpPr>
            <p:nvPr/>
          </p:nvSpPr>
          <p:spPr bwMode="auto">
            <a:xfrm flipV="1">
              <a:off x="3504" y="254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5" name="Line 52">
              <a:extLst>
                <a:ext uri="{FF2B5EF4-FFF2-40B4-BE49-F238E27FC236}">
                  <a16:creationId xmlns:a16="http://schemas.microsoft.com/office/drawing/2014/main" id="{551FA440-A42B-40AB-90CB-3BAA7C780D07}"/>
                </a:ext>
              </a:extLst>
            </p:cNvPr>
            <p:cNvSpPr>
              <a:spLocks noChangeShapeType="1"/>
            </p:cNvSpPr>
            <p:nvPr/>
          </p:nvSpPr>
          <p:spPr bwMode="auto">
            <a:xfrm>
              <a:off x="1296" y="336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26" name="Group 53">
              <a:extLst>
                <a:ext uri="{FF2B5EF4-FFF2-40B4-BE49-F238E27FC236}">
                  <a16:creationId xmlns:a16="http://schemas.microsoft.com/office/drawing/2014/main" id="{731AB799-A78C-4445-919B-6206C0567FDC}"/>
                </a:ext>
              </a:extLst>
            </p:cNvPr>
            <p:cNvGrpSpPr>
              <a:grpSpLocks/>
            </p:cNvGrpSpPr>
            <p:nvPr/>
          </p:nvGrpSpPr>
          <p:grpSpPr bwMode="auto">
            <a:xfrm>
              <a:off x="3936" y="2640"/>
              <a:ext cx="1228" cy="1104"/>
              <a:chOff x="3216" y="2928"/>
              <a:chExt cx="1228" cy="1104"/>
            </a:xfrm>
          </p:grpSpPr>
          <p:sp>
            <p:nvSpPr>
              <p:cNvPr id="28727" name="Line 54">
                <a:extLst>
                  <a:ext uri="{FF2B5EF4-FFF2-40B4-BE49-F238E27FC236}">
                    <a16:creationId xmlns:a16="http://schemas.microsoft.com/office/drawing/2014/main" id="{4CC9CB21-40AC-43C4-B487-12277E55DF34}"/>
                  </a:ext>
                </a:extLst>
              </p:cNvPr>
              <p:cNvSpPr>
                <a:spLocks noChangeShapeType="1"/>
              </p:cNvSpPr>
              <p:nvPr/>
            </p:nvSpPr>
            <p:spPr bwMode="auto">
              <a:xfrm>
                <a:off x="3216" y="3216"/>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8" name="Line 55">
                <a:extLst>
                  <a:ext uri="{FF2B5EF4-FFF2-40B4-BE49-F238E27FC236}">
                    <a16:creationId xmlns:a16="http://schemas.microsoft.com/office/drawing/2014/main" id="{837DF76D-32BC-49C7-8DA3-E72A4E330182}"/>
                  </a:ext>
                </a:extLst>
              </p:cNvPr>
              <p:cNvSpPr>
                <a:spLocks noChangeShapeType="1"/>
              </p:cNvSpPr>
              <p:nvPr/>
            </p:nvSpPr>
            <p:spPr bwMode="auto">
              <a:xfrm>
                <a:off x="3888" y="2928"/>
                <a:ext cx="0" cy="11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9" name="Text Box 56">
                <a:extLst>
                  <a:ext uri="{FF2B5EF4-FFF2-40B4-BE49-F238E27FC236}">
                    <a16:creationId xmlns:a16="http://schemas.microsoft.com/office/drawing/2014/main" id="{C02A83F3-344C-4C26-94AC-7D024C93931D}"/>
                  </a:ext>
                </a:extLst>
              </p:cNvPr>
              <p:cNvSpPr txBox="1">
                <a:spLocks noChangeArrowheads="1"/>
              </p:cNvSpPr>
              <p:nvPr/>
            </p:nvSpPr>
            <p:spPr bwMode="auto">
              <a:xfrm>
                <a:off x="3216" y="3024"/>
                <a:ext cx="5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A1     A0</a:t>
                </a:r>
              </a:p>
            </p:txBody>
          </p:sp>
          <p:sp>
            <p:nvSpPr>
              <p:cNvPr id="28730" name="Text Box 57">
                <a:extLst>
                  <a:ext uri="{FF2B5EF4-FFF2-40B4-BE49-F238E27FC236}">
                    <a16:creationId xmlns:a16="http://schemas.microsoft.com/office/drawing/2014/main" id="{B7351F25-7F08-47CA-ACD8-C7987DCBF9F9}"/>
                  </a:ext>
                </a:extLst>
              </p:cNvPr>
              <p:cNvSpPr txBox="1">
                <a:spLocks noChangeArrowheads="1"/>
              </p:cNvSpPr>
              <p:nvPr/>
            </p:nvSpPr>
            <p:spPr bwMode="auto">
              <a:xfrm>
                <a:off x="3984" y="2976"/>
                <a:ext cx="3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Port</a:t>
                </a:r>
              </a:p>
            </p:txBody>
          </p:sp>
          <p:sp>
            <p:nvSpPr>
              <p:cNvPr id="28731" name="Text Box 58">
                <a:extLst>
                  <a:ext uri="{FF2B5EF4-FFF2-40B4-BE49-F238E27FC236}">
                    <a16:creationId xmlns:a16="http://schemas.microsoft.com/office/drawing/2014/main" id="{1EA72AB6-2F19-41BB-9AD8-1CB69CADE001}"/>
                  </a:ext>
                </a:extLst>
              </p:cNvPr>
              <p:cNvSpPr txBox="1">
                <a:spLocks noChangeArrowheads="1"/>
              </p:cNvSpPr>
              <p:nvPr/>
            </p:nvSpPr>
            <p:spPr bwMode="auto">
              <a:xfrm>
                <a:off x="3264" y="3264"/>
                <a:ext cx="500"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0        0</a:t>
                </a:r>
              </a:p>
              <a:p>
                <a:pPr eaLnBrk="1" hangingPunct="1"/>
                <a:r>
                  <a:rPr lang="en-US" altLang="en-US" sz="1600">
                    <a:latin typeface="Times New Roman" panose="02020603050405020304" pitchFamily="18" charset="0"/>
                  </a:rPr>
                  <a:t>0        1</a:t>
                </a:r>
              </a:p>
              <a:p>
                <a:pPr eaLnBrk="1" hangingPunct="1">
                  <a:buFontTx/>
                  <a:buAutoNum type="arabicPlain"/>
                </a:pPr>
                <a:r>
                  <a:rPr lang="en-US" altLang="en-US" sz="1600">
                    <a:latin typeface="Times New Roman" panose="02020603050405020304" pitchFamily="18" charset="0"/>
                  </a:rPr>
                  <a:t> 0</a:t>
                </a:r>
              </a:p>
              <a:p>
                <a:pPr eaLnBrk="1" hangingPunct="1"/>
                <a:r>
                  <a:rPr lang="en-US" altLang="en-US" sz="1600">
                    <a:latin typeface="Times New Roman" panose="02020603050405020304" pitchFamily="18" charset="0"/>
                  </a:rPr>
                  <a:t>1        1</a:t>
                </a:r>
              </a:p>
            </p:txBody>
          </p:sp>
          <p:sp>
            <p:nvSpPr>
              <p:cNvPr id="28732" name="Text Box 59">
                <a:extLst>
                  <a:ext uri="{FF2B5EF4-FFF2-40B4-BE49-F238E27FC236}">
                    <a16:creationId xmlns:a16="http://schemas.microsoft.com/office/drawing/2014/main" id="{FB3259A9-DD18-42CE-B594-7D7206DE3322}"/>
                  </a:ext>
                </a:extLst>
              </p:cNvPr>
              <p:cNvSpPr txBox="1">
                <a:spLocks noChangeArrowheads="1"/>
              </p:cNvSpPr>
              <p:nvPr/>
            </p:nvSpPr>
            <p:spPr bwMode="auto">
              <a:xfrm>
                <a:off x="3936" y="3264"/>
                <a:ext cx="508"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latin typeface="Times New Roman" panose="02020603050405020304" pitchFamily="18" charset="0"/>
                  </a:rPr>
                  <a:t>PA</a:t>
                </a:r>
              </a:p>
              <a:p>
                <a:pPr eaLnBrk="1" hangingPunct="1"/>
                <a:r>
                  <a:rPr lang="en-US" altLang="en-US" sz="1600">
                    <a:latin typeface="Times New Roman" panose="02020603050405020304" pitchFamily="18" charset="0"/>
                  </a:rPr>
                  <a:t>PB</a:t>
                </a:r>
              </a:p>
              <a:p>
                <a:pPr eaLnBrk="1" hangingPunct="1"/>
                <a:r>
                  <a:rPr lang="en-US" altLang="en-US" sz="1600">
                    <a:latin typeface="Times New Roman" panose="02020603050405020304" pitchFamily="18" charset="0"/>
                  </a:rPr>
                  <a:t>PC</a:t>
                </a:r>
              </a:p>
              <a:p>
                <a:pPr eaLnBrk="1" hangingPunct="1"/>
                <a:r>
                  <a:rPr lang="en-US" altLang="en-US" sz="1600">
                    <a:latin typeface="Times New Roman" panose="02020603050405020304" pitchFamily="18" charset="0"/>
                  </a:rPr>
                  <a:t>Control</a:t>
                </a:r>
              </a:p>
            </p:txBody>
          </p:sp>
        </p:grpSp>
      </p:grpSp>
      <p:pic>
        <p:nvPicPr>
          <p:cNvPr id="28677" name="Content Placeholder 4">
            <a:extLst>
              <a:ext uri="{FF2B5EF4-FFF2-40B4-BE49-F238E27FC236}">
                <a16:creationId xmlns:a16="http://schemas.microsoft.com/office/drawing/2014/main" id="{B4E75C9F-BE1C-4939-9DD6-A101A5AF487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B1BB750-D226-4EBD-BC6B-25E66B66D0AE}"/>
              </a:ext>
            </a:extLst>
          </p:cNvPr>
          <p:cNvSpPr>
            <a:spLocks noGrp="1" noChangeArrowheads="1"/>
          </p:cNvSpPr>
          <p:nvPr>
            <p:ph type="title"/>
          </p:nvPr>
        </p:nvSpPr>
        <p:spPr/>
        <p:txBody>
          <a:bodyPr/>
          <a:lstStyle/>
          <a:p>
            <a:pPr eaLnBrk="1" hangingPunct="1"/>
            <a:br>
              <a:rPr lang="en-US" altLang="en-US" sz="3200">
                <a:latin typeface="Calibri" panose="020F0502020204030204" pitchFamily="34" charset="0"/>
              </a:rPr>
            </a:br>
            <a:r>
              <a:rPr lang="en-US" altLang="en-US" sz="3200" b="1">
                <a:latin typeface="Calibri" panose="020F0502020204030204" pitchFamily="34" charset="0"/>
              </a:rPr>
              <a:t>DIFFERENT MODES OF 8255</a:t>
            </a:r>
          </a:p>
        </p:txBody>
      </p:sp>
      <p:sp>
        <p:nvSpPr>
          <p:cNvPr id="29699" name="Rectangle 3">
            <a:extLst>
              <a:ext uri="{FF2B5EF4-FFF2-40B4-BE49-F238E27FC236}">
                <a16:creationId xmlns:a16="http://schemas.microsoft.com/office/drawing/2014/main" id="{108F0E32-D033-494F-B3AD-7CB4C755CF93}"/>
              </a:ext>
            </a:extLst>
          </p:cNvPr>
          <p:cNvSpPr>
            <a:spLocks noGrp="1" noChangeArrowheads="1"/>
          </p:cNvSpPr>
          <p:nvPr>
            <p:ph type="body" idx="1"/>
          </p:nvPr>
        </p:nvSpPr>
        <p:spPr>
          <a:xfrm>
            <a:off x="457200" y="1219200"/>
            <a:ext cx="8229600" cy="5334000"/>
          </a:xfrm>
        </p:spPr>
        <p:txBody>
          <a:bodyPr/>
          <a:lstStyle/>
          <a:p>
            <a:pPr eaLnBrk="1" hangingPunct="1">
              <a:lnSpc>
                <a:spcPct val="90000"/>
              </a:lnSpc>
              <a:buFontTx/>
              <a:buNone/>
            </a:pPr>
            <a:endParaRPr lang="en-US" altLang="en-US" sz="2400"/>
          </a:p>
          <a:p>
            <a:pPr eaLnBrk="1" hangingPunct="1">
              <a:lnSpc>
                <a:spcPct val="90000"/>
              </a:lnSpc>
              <a:buFontTx/>
              <a:buNone/>
            </a:pPr>
            <a:endParaRPr lang="en-US" altLang="en-US" sz="2400"/>
          </a:p>
          <a:p>
            <a:pPr eaLnBrk="1" hangingPunct="1">
              <a:lnSpc>
                <a:spcPct val="90000"/>
              </a:lnSpc>
              <a:buFontTx/>
              <a:buNone/>
            </a:pPr>
            <a:r>
              <a:rPr lang="en-US" altLang="en-US" sz="2400"/>
              <a:t>8255 has two different modes:</a:t>
            </a:r>
          </a:p>
          <a:p>
            <a:pPr eaLnBrk="1" hangingPunct="1">
              <a:lnSpc>
                <a:spcPct val="90000"/>
              </a:lnSpc>
            </a:pPr>
            <a:r>
              <a:rPr lang="en-US" altLang="en-US" sz="2400"/>
              <a:t>Bit Set – Reset mode</a:t>
            </a:r>
          </a:p>
          <a:p>
            <a:pPr eaLnBrk="1" hangingPunct="1">
              <a:lnSpc>
                <a:spcPct val="90000"/>
              </a:lnSpc>
            </a:pPr>
            <a:r>
              <a:rPr lang="en-US" altLang="en-US" sz="2400"/>
              <a:t>I/O modes</a:t>
            </a:r>
          </a:p>
          <a:p>
            <a:pPr eaLnBrk="1" hangingPunct="1">
              <a:lnSpc>
                <a:spcPct val="90000"/>
              </a:lnSpc>
            </a:pPr>
            <a:endParaRPr lang="en-US" altLang="en-US" sz="2400"/>
          </a:p>
          <a:p>
            <a:pPr eaLnBrk="1" hangingPunct="1">
              <a:lnSpc>
                <a:spcPct val="90000"/>
              </a:lnSpc>
            </a:pPr>
            <a:endParaRPr lang="en-US" altLang="en-US" sz="2400"/>
          </a:p>
          <a:p>
            <a:pPr eaLnBrk="1" hangingPunct="1">
              <a:lnSpc>
                <a:spcPct val="90000"/>
              </a:lnSpc>
            </a:pPr>
            <a:r>
              <a:rPr lang="en-US" altLang="en-US" sz="2400"/>
              <a:t>I/O mode further divided into three modes</a:t>
            </a:r>
          </a:p>
          <a:p>
            <a:pPr eaLnBrk="1" hangingPunct="1">
              <a:lnSpc>
                <a:spcPct val="90000"/>
              </a:lnSpc>
            </a:pPr>
            <a:r>
              <a:rPr lang="en-US" altLang="en-US" sz="2400"/>
              <a:t>      MODE 0</a:t>
            </a:r>
          </a:p>
          <a:p>
            <a:pPr eaLnBrk="1" hangingPunct="1">
              <a:lnSpc>
                <a:spcPct val="90000"/>
              </a:lnSpc>
            </a:pPr>
            <a:r>
              <a:rPr lang="en-US" altLang="en-US" sz="2400"/>
              <a:t>      MODE 1</a:t>
            </a:r>
          </a:p>
          <a:p>
            <a:pPr eaLnBrk="1" hangingPunct="1">
              <a:lnSpc>
                <a:spcPct val="90000"/>
              </a:lnSpc>
            </a:pPr>
            <a:r>
              <a:rPr lang="en-US" altLang="en-US" sz="2400"/>
              <a:t>      MODE 2</a:t>
            </a:r>
          </a:p>
        </p:txBody>
      </p:sp>
      <p:pic>
        <p:nvPicPr>
          <p:cNvPr id="29700" name="Content Placeholder 4">
            <a:extLst>
              <a:ext uri="{FF2B5EF4-FFF2-40B4-BE49-F238E27FC236}">
                <a16:creationId xmlns:a16="http://schemas.microsoft.com/office/drawing/2014/main" id="{3D79CAA0-ACF6-40CF-AA0A-2771CB0BF637}"/>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086FA2B9-318C-4DF2-BD75-1800AC9BBA10}"/>
              </a:ext>
            </a:extLst>
          </p:cNvPr>
          <p:cNvSpPr>
            <a:spLocks noGrp="1" noChangeArrowheads="1"/>
          </p:cNvSpPr>
          <p:nvPr>
            <p:ph type="title"/>
          </p:nvPr>
        </p:nvSpPr>
        <p:spPr/>
        <p:txBody>
          <a:bodyPr/>
          <a:lstStyle/>
          <a:p>
            <a:pPr eaLnBrk="1" hangingPunct="1"/>
            <a:br>
              <a:rPr lang="en-US" altLang="en-US" sz="3200" b="1">
                <a:latin typeface="Calibri" panose="020F0502020204030204" pitchFamily="34" charset="0"/>
              </a:rPr>
            </a:br>
            <a:r>
              <a:rPr lang="en-US" altLang="en-US" sz="3200" b="1">
                <a:latin typeface="Calibri" panose="020F0502020204030204" pitchFamily="34" charset="0"/>
              </a:rPr>
              <a:t> </a:t>
            </a:r>
            <a:r>
              <a:rPr lang="en-US" altLang="en-US" sz="2900" b="1">
                <a:latin typeface="Calibri" panose="020F0502020204030204" pitchFamily="34" charset="0"/>
              </a:rPr>
              <a:t>CONTROL WORD FORMAT FOR BIT SET RESET MODE</a:t>
            </a:r>
          </a:p>
        </p:txBody>
      </p:sp>
      <p:pic>
        <p:nvPicPr>
          <p:cNvPr id="30723" name="Picture 4" descr="8255 single bit">
            <a:extLst>
              <a:ext uri="{FF2B5EF4-FFF2-40B4-BE49-F238E27FC236}">
                <a16:creationId xmlns:a16="http://schemas.microsoft.com/office/drawing/2014/main" id="{C162A995-9944-4E7C-81B5-EC8FAC6BCA7F}"/>
              </a:ext>
            </a:extLst>
          </p:cNvPr>
          <p:cNvPicPr>
            <a:picLocks noGrp="1" noChangeAspect="1" noChangeArrowheads="1"/>
          </p:cNvPicPr>
          <p:nvPr>
            <p:ph type="body" idx="1"/>
          </p:nvPr>
        </p:nvPicPr>
        <p:blipFill>
          <a:blip r:embed="rId2">
            <a:lum contrast="90000"/>
            <a:extLst>
              <a:ext uri="{28A0092B-C50C-407E-A947-70E740481C1C}">
                <a14:useLocalDpi xmlns:a14="http://schemas.microsoft.com/office/drawing/2010/main" val="0"/>
              </a:ext>
            </a:extLst>
          </a:blip>
          <a:srcRect/>
          <a:stretch>
            <a:fillRect/>
          </a:stretch>
        </p:blipFill>
        <p:spPr>
          <a:xfrm>
            <a:off x="685800" y="1524000"/>
            <a:ext cx="7924800" cy="4724400"/>
          </a:xfrm>
          <a:noFill/>
        </p:spPr>
      </p:pic>
      <p:pic>
        <p:nvPicPr>
          <p:cNvPr id="30724" name="Content Placeholder 4">
            <a:extLst>
              <a:ext uri="{FF2B5EF4-FFF2-40B4-BE49-F238E27FC236}">
                <a16:creationId xmlns:a16="http://schemas.microsoft.com/office/drawing/2014/main" id="{F62494C6-8FAB-4BBC-9DD8-9C1D47B83452}"/>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90C9B55-E77F-4CBB-9DB5-D39C9C69E6AE}"/>
              </a:ext>
            </a:extLst>
          </p:cNvPr>
          <p:cNvSpPr>
            <a:spLocks noGrp="1" noChangeArrowheads="1"/>
          </p:cNvSpPr>
          <p:nvPr>
            <p:ph type="title"/>
          </p:nvPr>
        </p:nvSpPr>
        <p:spPr>
          <a:xfrm>
            <a:off x="457200" y="304800"/>
            <a:ext cx="8229600" cy="1143000"/>
          </a:xfrm>
        </p:spPr>
        <p:txBody>
          <a:bodyPr/>
          <a:lstStyle/>
          <a:p>
            <a:pPr eaLnBrk="1" hangingPunct="1"/>
            <a:r>
              <a:rPr lang="en-US" altLang="en-US"/>
              <a:t> </a:t>
            </a:r>
            <a:endParaRPr lang="en-US" altLang="en-US" i="1">
              <a:solidFill>
                <a:schemeClr val="tx1"/>
              </a:solidFill>
            </a:endParaRPr>
          </a:p>
        </p:txBody>
      </p:sp>
      <p:sp>
        <p:nvSpPr>
          <p:cNvPr id="31747" name="Rectangle 3">
            <a:extLst>
              <a:ext uri="{FF2B5EF4-FFF2-40B4-BE49-F238E27FC236}">
                <a16:creationId xmlns:a16="http://schemas.microsoft.com/office/drawing/2014/main" id="{E728582F-195E-4AB5-B951-107E4A359BF6}"/>
              </a:ext>
            </a:extLst>
          </p:cNvPr>
          <p:cNvSpPr>
            <a:spLocks noGrp="1" noChangeArrowheads="1"/>
          </p:cNvSpPr>
          <p:nvPr>
            <p:ph type="body" idx="1"/>
          </p:nvPr>
        </p:nvSpPr>
        <p:spPr>
          <a:xfrm>
            <a:off x="457200" y="1676400"/>
            <a:ext cx="8229600" cy="5181600"/>
          </a:xfrm>
        </p:spPr>
        <p:txBody>
          <a:bodyPr/>
          <a:lstStyle/>
          <a:p>
            <a:pPr eaLnBrk="1" hangingPunct="1">
              <a:buFontTx/>
              <a:buNone/>
            </a:pPr>
            <a:endParaRPr lang="en-US" altLang="en-US"/>
          </a:p>
        </p:txBody>
      </p:sp>
      <p:sp>
        <p:nvSpPr>
          <p:cNvPr id="31748" name="Rectangle 37">
            <a:extLst>
              <a:ext uri="{FF2B5EF4-FFF2-40B4-BE49-F238E27FC236}">
                <a16:creationId xmlns:a16="http://schemas.microsoft.com/office/drawing/2014/main" id="{0DBA97D1-9ABE-485A-B851-262F6C05F4BA}"/>
              </a:ext>
            </a:extLst>
          </p:cNvPr>
          <p:cNvSpPr>
            <a:spLocks noChangeArrowheads="1"/>
          </p:cNvSpPr>
          <p:nvPr/>
        </p:nvSpPr>
        <p:spPr bwMode="auto">
          <a:xfrm>
            <a:off x="533400" y="457200"/>
            <a:ext cx="7620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3200" b="1">
              <a:latin typeface="Calibri" panose="020F0502020204030204" pitchFamily="34" charset="0"/>
            </a:endParaRPr>
          </a:p>
          <a:p>
            <a:pPr algn="ctr" eaLnBrk="1" hangingPunct="1"/>
            <a:r>
              <a:rPr lang="en-US" altLang="en-US" sz="3200" b="1">
                <a:latin typeface="Calibri" panose="020F0502020204030204" pitchFamily="34" charset="0"/>
              </a:rPr>
              <a:t>CONTROL WORD FORMAT FOR I/O MODE</a:t>
            </a:r>
          </a:p>
        </p:txBody>
      </p:sp>
      <p:pic>
        <p:nvPicPr>
          <p:cNvPr id="31749" name="Picture 38" descr="8255 mode definition">
            <a:extLst>
              <a:ext uri="{FF2B5EF4-FFF2-40B4-BE49-F238E27FC236}">
                <a16:creationId xmlns:a16="http://schemas.microsoft.com/office/drawing/2014/main" id="{F83CD00D-46B4-4E4E-B691-B51B60047498}"/>
              </a:ext>
            </a:extLst>
          </p:cNvPr>
          <p:cNvPicPr>
            <a:picLocks noChangeAspect="1" noChangeArrowheads="1"/>
          </p:cNvPicPr>
          <p:nvPr/>
        </p:nvPicPr>
        <p:blipFill>
          <a:blip r:embed="rId2">
            <a:lum contrast="42000"/>
            <a:extLst>
              <a:ext uri="{28A0092B-C50C-407E-A947-70E740481C1C}">
                <a14:useLocalDpi xmlns:a14="http://schemas.microsoft.com/office/drawing/2010/main" val="0"/>
              </a:ext>
            </a:extLst>
          </a:blip>
          <a:srcRect/>
          <a:stretch>
            <a:fillRect/>
          </a:stretch>
        </p:blipFill>
        <p:spPr bwMode="auto">
          <a:xfrm>
            <a:off x="457200" y="16764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Content Placeholder 4">
            <a:extLst>
              <a:ext uri="{FF2B5EF4-FFF2-40B4-BE49-F238E27FC236}">
                <a16:creationId xmlns:a16="http://schemas.microsoft.com/office/drawing/2014/main" id="{9D33A3F1-A008-4E78-B07A-14CFAE8AC37E}"/>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A0AAB90-F529-4217-847D-43B7DDF9FC03}"/>
              </a:ext>
            </a:extLst>
          </p:cNvPr>
          <p:cNvSpPr>
            <a:spLocks noGrp="1" noChangeArrowheads="1"/>
          </p:cNvSpPr>
          <p:nvPr>
            <p:ph type="title"/>
          </p:nvPr>
        </p:nvSpPr>
        <p:spPr/>
        <p:txBody>
          <a:bodyPr/>
          <a:lstStyle/>
          <a:p>
            <a:pPr eaLnBrk="1" hangingPunct="1"/>
            <a:br>
              <a:rPr lang="en-US" altLang="en-US" sz="3200" b="1">
                <a:latin typeface="Calibri" panose="020F0502020204030204" pitchFamily="34" charset="0"/>
              </a:rPr>
            </a:br>
            <a:r>
              <a:rPr lang="en-US" altLang="en-US" sz="3200" b="1">
                <a:latin typeface="Calibri" panose="020F0502020204030204" pitchFamily="34" charset="0"/>
              </a:rPr>
              <a:t>I/O MODE</a:t>
            </a:r>
          </a:p>
        </p:txBody>
      </p:sp>
      <p:sp>
        <p:nvSpPr>
          <p:cNvPr id="32771" name="Rectangle 3">
            <a:extLst>
              <a:ext uri="{FF2B5EF4-FFF2-40B4-BE49-F238E27FC236}">
                <a16:creationId xmlns:a16="http://schemas.microsoft.com/office/drawing/2014/main" id="{4460CC48-F827-4065-B186-7C47E210A0C5}"/>
              </a:ext>
            </a:extLst>
          </p:cNvPr>
          <p:cNvSpPr>
            <a:spLocks noGrp="1" noChangeArrowheads="1"/>
          </p:cNvSpPr>
          <p:nvPr>
            <p:ph type="body" idx="1"/>
          </p:nvPr>
        </p:nvSpPr>
        <p:spPr>
          <a:xfrm>
            <a:off x="457200" y="1219200"/>
            <a:ext cx="8229600" cy="5334000"/>
          </a:xfrm>
        </p:spPr>
        <p:txBody>
          <a:bodyPr/>
          <a:lstStyle/>
          <a:p>
            <a:pPr eaLnBrk="1" hangingPunct="1">
              <a:lnSpc>
                <a:spcPct val="90000"/>
              </a:lnSpc>
              <a:buFontTx/>
              <a:buNone/>
            </a:pPr>
            <a:endParaRPr lang="en-US" altLang="en-US" sz="2400" u="sng"/>
          </a:p>
          <a:p>
            <a:pPr eaLnBrk="1" hangingPunct="1">
              <a:lnSpc>
                <a:spcPct val="90000"/>
              </a:lnSpc>
              <a:buFontTx/>
              <a:buNone/>
            </a:pPr>
            <a:r>
              <a:rPr lang="en-US" altLang="en-US" sz="2400" u="sng"/>
              <a:t>Mode 0: Simple Input or Output</a:t>
            </a:r>
          </a:p>
          <a:p>
            <a:pPr eaLnBrk="1" hangingPunct="1">
              <a:lnSpc>
                <a:spcPct val="90000"/>
              </a:lnSpc>
            </a:pPr>
            <a:r>
              <a:rPr lang="en-US" altLang="en-US" sz="2400"/>
              <a:t>Ports A, B, and C can be individually programmed as input or output ports</a:t>
            </a:r>
          </a:p>
          <a:p>
            <a:pPr eaLnBrk="1" hangingPunct="1">
              <a:lnSpc>
                <a:spcPct val="90000"/>
              </a:lnSpc>
            </a:pPr>
            <a:r>
              <a:rPr lang="en-US" altLang="en-US" sz="2400"/>
              <a:t>Port C is divided into two 4-bit ports which are independent from each other</a:t>
            </a:r>
          </a:p>
          <a:p>
            <a:pPr eaLnBrk="1" hangingPunct="1">
              <a:lnSpc>
                <a:spcPct val="90000"/>
              </a:lnSpc>
              <a:buFontTx/>
              <a:buNone/>
            </a:pPr>
            <a:r>
              <a:rPr lang="en-US" altLang="en-US" sz="2400" u="sng"/>
              <a:t>Mode 1: Input /Output Control Signals</a:t>
            </a:r>
          </a:p>
          <a:p>
            <a:pPr eaLnBrk="1" hangingPunct="1">
              <a:lnSpc>
                <a:spcPct val="90000"/>
              </a:lnSpc>
            </a:pPr>
            <a:r>
              <a:rPr lang="en-US" altLang="en-US" sz="2400"/>
              <a:t>Ports A and B are programmed as input or output ports</a:t>
            </a:r>
          </a:p>
          <a:p>
            <a:pPr eaLnBrk="1" hangingPunct="1">
              <a:lnSpc>
                <a:spcPct val="90000"/>
              </a:lnSpc>
            </a:pPr>
            <a:r>
              <a:rPr lang="en-US" altLang="en-US" sz="2400"/>
              <a:t>Port C is used for handshaking</a:t>
            </a:r>
          </a:p>
          <a:p>
            <a:pPr eaLnBrk="1" hangingPunct="1">
              <a:lnSpc>
                <a:spcPct val="90000"/>
              </a:lnSpc>
              <a:buFontTx/>
              <a:buNone/>
            </a:pPr>
            <a:r>
              <a:rPr lang="en-US" altLang="en-US" sz="2400" u="sng"/>
              <a:t>Mode 2: Bidirectional Data transfer</a:t>
            </a:r>
          </a:p>
          <a:p>
            <a:pPr eaLnBrk="1" hangingPunct="1">
              <a:lnSpc>
                <a:spcPct val="90000"/>
              </a:lnSpc>
            </a:pPr>
            <a:r>
              <a:rPr lang="en-US" altLang="en-US" sz="2400"/>
              <a:t>Port A is programmed to be bi-directional</a:t>
            </a:r>
          </a:p>
          <a:p>
            <a:pPr eaLnBrk="1" hangingPunct="1">
              <a:lnSpc>
                <a:spcPct val="90000"/>
              </a:lnSpc>
            </a:pPr>
            <a:r>
              <a:rPr lang="en-US" altLang="en-US" sz="2400"/>
              <a:t>Port C is for handshaking</a:t>
            </a:r>
          </a:p>
          <a:p>
            <a:pPr eaLnBrk="1" hangingPunct="1">
              <a:lnSpc>
                <a:spcPct val="90000"/>
              </a:lnSpc>
            </a:pPr>
            <a:r>
              <a:rPr lang="en-US" altLang="en-US" sz="2400"/>
              <a:t>Port B can be either input or output in mode 0 or mode 1</a:t>
            </a:r>
          </a:p>
          <a:p>
            <a:pPr eaLnBrk="1" hangingPunct="1">
              <a:lnSpc>
                <a:spcPct val="90000"/>
              </a:lnSpc>
              <a:buFontTx/>
              <a:buNone/>
            </a:pPr>
            <a:endParaRPr lang="en-US" altLang="en-US" sz="2400"/>
          </a:p>
        </p:txBody>
      </p:sp>
      <p:pic>
        <p:nvPicPr>
          <p:cNvPr id="32772" name="Content Placeholder 4">
            <a:extLst>
              <a:ext uri="{FF2B5EF4-FFF2-40B4-BE49-F238E27FC236}">
                <a16:creationId xmlns:a16="http://schemas.microsoft.com/office/drawing/2014/main" id="{57BDCA25-3724-42B5-A9BF-939B2B6B133F}"/>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1752</Words>
  <Application>Microsoft Office PowerPoint</Application>
  <PresentationFormat>On-screen Show (4:3)</PresentationFormat>
  <Paragraphs>247</Paragraphs>
  <Slides>32</Slides>
  <Notes>24</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Default Design</vt:lpstr>
      <vt:lpstr>PowerPoint Presentation</vt:lpstr>
      <vt:lpstr> TOPIC COVERED</vt:lpstr>
      <vt:lpstr>    BASICS OF8279</vt:lpstr>
      <vt:lpstr>   8279 signals</vt:lpstr>
      <vt:lpstr>PowerPoint Presentation</vt:lpstr>
      <vt:lpstr>  8279 PIN DISCRIPTION</vt:lpstr>
      <vt:lpstr>   8279 PIN DISCRIPTION</vt:lpstr>
      <vt:lpstr>  8279 PIN DISCRIPTION</vt:lpstr>
      <vt:lpstr>  8279 PIN DISCRIPTION</vt:lpstr>
      <vt:lpstr>    8279 PIN DISCRIPTION</vt:lpstr>
      <vt:lpstr>  Block Diagram of 8279</vt:lpstr>
      <vt:lpstr>   Block Diagram of 8279</vt:lpstr>
      <vt:lpstr>  Block Diagram of 8279</vt:lpstr>
      <vt:lpstr>  Block Diagram of 8279</vt:lpstr>
      <vt:lpstr>  Block Diagram of 8279</vt:lpstr>
      <vt:lpstr>   8279 Modes</vt:lpstr>
      <vt:lpstr>   8279 Modes</vt:lpstr>
      <vt:lpstr>  8279 Modes</vt:lpstr>
      <vt:lpstr>   8279 Modes</vt:lpstr>
      <vt:lpstr>   8279 Modes</vt:lpstr>
      <vt:lpstr>  The BASICS OF 8255 PPI</vt:lpstr>
      <vt:lpstr>PowerPoint Presentation</vt:lpstr>
      <vt:lpstr> PIN DETAILS</vt:lpstr>
      <vt:lpstr> INTERNAL BLOCK DIAGRAM OF 8255 </vt:lpstr>
      <vt:lpstr>PowerPoint Presentation</vt:lpstr>
      <vt:lpstr> READ/WRITE CONTROL LOGIC</vt:lpstr>
      <vt:lpstr>  I/O PORT ASSIGNMENTS</vt:lpstr>
      <vt:lpstr> I/O PORT ADDRESS</vt:lpstr>
      <vt:lpstr> DIFFERENT MODES OF 8255</vt:lpstr>
      <vt:lpstr>  CONTROL WORD FORMAT FOR BIT SET RESET MODE</vt:lpstr>
      <vt:lpstr> </vt:lpstr>
      <vt:lpstr> I/O MODE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8255 </dc:title>
  <dc:creator>Sadhish Prabhu</dc:creator>
  <cp:lastModifiedBy>917014509295</cp:lastModifiedBy>
  <cp:revision>34</cp:revision>
  <dcterms:created xsi:type="dcterms:W3CDTF">2009-09-01T01:27:10Z</dcterms:created>
  <dcterms:modified xsi:type="dcterms:W3CDTF">2020-04-23T05:14:33Z</dcterms:modified>
</cp:coreProperties>
</file>