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59" r:id="rId7"/>
    <p:sldId id="264" r:id="rId8"/>
    <p:sldId id="262" r:id="rId9"/>
    <p:sldId id="263" r:id="rId10"/>
    <p:sldId id="266" r:id="rId11"/>
    <p:sldId id="267" r:id="rId12"/>
    <p:sldId id="268" r:id="rId13"/>
    <p:sldId id="269" r:id="rId14"/>
    <p:sldId id="270" r:id="rId15"/>
    <p:sldId id="265"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3" r:id="rId30"/>
    <p:sldId id="28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38" d="100"/>
          <a:sy n="38" d="100"/>
        </p:scale>
        <p:origin x="-756"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00"/>
                </a:solidFill>
              </a:rPr>
              <a:t>LAN Hardware</a:t>
            </a:r>
            <a:endParaRPr lang="en-US" b="1" dirty="0">
              <a:solidFill>
                <a:srgbClr val="FF0000"/>
              </a:solidFill>
            </a:endParaRPr>
          </a:p>
        </p:txBody>
      </p:sp>
      <p:sp>
        <p:nvSpPr>
          <p:cNvPr id="3" name="Subtitle 2"/>
          <p:cNvSpPr>
            <a:spLocks noGrp="1"/>
          </p:cNvSpPr>
          <p:nvPr>
            <p:ph type="subTitle" idx="1"/>
          </p:nvPr>
        </p:nvSpPr>
        <p:spPr>
          <a:xfrm>
            <a:off x="3505200" y="4267200"/>
            <a:ext cx="5105400" cy="1905000"/>
          </a:xfrm>
        </p:spPr>
        <p:txBody>
          <a:bodyPr>
            <a:normAutofit fontScale="77500" lnSpcReduction="20000"/>
          </a:bodyPr>
          <a:lstStyle/>
          <a:p>
            <a:r>
              <a:rPr lang="en-US" dirty="0" smtClean="0">
                <a:solidFill>
                  <a:schemeClr val="tx1"/>
                </a:solidFill>
                <a:latin typeface="+mj-lt"/>
              </a:rPr>
              <a:t>Prepared By: </a:t>
            </a:r>
            <a:r>
              <a:rPr lang="en-US" dirty="0" err="1" smtClean="0">
                <a:solidFill>
                  <a:schemeClr val="tx1"/>
                </a:solidFill>
                <a:latin typeface="+mj-lt"/>
              </a:rPr>
              <a:t>Er</a:t>
            </a:r>
            <a:r>
              <a:rPr lang="en-US" dirty="0" smtClean="0">
                <a:solidFill>
                  <a:schemeClr val="tx1"/>
                </a:solidFill>
                <a:latin typeface="+mj-lt"/>
              </a:rPr>
              <a:t>. </a:t>
            </a:r>
            <a:r>
              <a:rPr lang="en-US" dirty="0" err="1" smtClean="0">
                <a:solidFill>
                  <a:schemeClr val="tx1"/>
                </a:solidFill>
                <a:latin typeface="+mj-lt"/>
              </a:rPr>
              <a:t>Amit</a:t>
            </a:r>
            <a:r>
              <a:rPr lang="en-US" dirty="0" smtClean="0">
                <a:solidFill>
                  <a:schemeClr val="tx1"/>
                </a:solidFill>
                <a:latin typeface="+mj-lt"/>
              </a:rPr>
              <a:t> </a:t>
            </a:r>
            <a:r>
              <a:rPr lang="en-US" dirty="0" err="1" smtClean="0">
                <a:solidFill>
                  <a:schemeClr val="tx1"/>
                </a:solidFill>
                <a:latin typeface="+mj-lt"/>
              </a:rPr>
              <a:t>kr</a:t>
            </a:r>
            <a:r>
              <a:rPr lang="en-US" dirty="0" smtClean="0">
                <a:solidFill>
                  <a:schemeClr val="tx1"/>
                </a:solidFill>
                <a:latin typeface="+mj-lt"/>
              </a:rPr>
              <a:t> </a:t>
            </a:r>
            <a:r>
              <a:rPr lang="en-US" smtClean="0">
                <a:solidFill>
                  <a:schemeClr val="tx1"/>
                </a:solidFill>
                <a:latin typeface="+mj-lt"/>
              </a:rPr>
              <a:t>Tewari</a:t>
            </a:r>
            <a:endParaRPr lang="en-US" dirty="0" smtClean="0">
              <a:solidFill>
                <a:schemeClr val="tx1"/>
              </a:solidFill>
              <a:latin typeface="+mj-lt"/>
            </a:endParaRPr>
          </a:p>
          <a:p>
            <a:r>
              <a:rPr lang="en-US" dirty="0" smtClean="0">
                <a:solidFill>
                  <a:schemeClr val="tx1"/>
                </a:solidFill>
                <a:latin typeface="+mj-lt"/>
              </a:rPr>
              <a:t>                             Associate Professor</a:t>
            </a:r>
          </a:p>
          <a:p>
            <a:r>
              <a:rPr lang="en-US" dirty="0" smtClean="0">
                <a:solidFill>
                  <a:schemeClr val="tx1"/>
                </a:solidFill>
                <a:latin typeface="+mj-lt"/>
              </a:rPr>
              <a:t>         CS Dept.</a:t>
            </a:r>
          </a:p>
          <a:p>
            <a:r>
              <a:rPr lang="en-US" dirty="0" smtClean="0">
                <a:solidFill>
                  <a:schemeClr val="tx1"/>
                </a:solidFill>
                <a:latin typeface="+mj-lt"/>
              </a:rPr>
              <a:t>                 ACEIT, </a:t>
            </a:r>
            <a:r>
              <a:rPr lang="en-US" dirty="0" err="1" smtClean="0">
                <a:solidFill>
                  <a:schemeClr val="tx1"/>
                </a:solidFill>
                <a:latin typeface="+mj-lt"/>
              </a:rPr>
              <a:t>Jaipur</a:t>
            </a:r>
            <a:endParaRPr lang="en-US" dirty="0" smtClean="0">
              <a:solidFill>
                <a:schemeClr val="tx1"/>
              </a:solidFill>
              <a:latin typeface="+mj-lt"/>
            </a:endParaRPr>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LAN Hardware</a:t>
            </a:r>
            <a:endParaRPr lang="en-US" b="1"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r>
              <a:rPr lang="en-US" dirty="0" smtClean="0"/>
              <a:t>All LANs are a combination of hardware and software. </a:t>
            </a:r>
          </a:p>
          <a:p>
            <a:r>
              <a:rPr lang="en-US" dirty="0" smtClean="0"/>
              <a:t>The primary hardware devices are the computers themselves and the cables and connectors that link them. </a:t>
            </a:r>
          </a:p>
          <a:p>
            <a:r>
              <a:rPr lang="en-US" dirty="0" smtClean="0"/>
              <a:t>Additional pieces of hardware unique to networks include network interface cards, repeaters, hubs and concentrators, bridges, routers, gateways, and many other special interfacing devices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1. Cables</a:t>
            </a:r>
            <a:endParaRPr lang="en-US" b="1"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r>
              <a:rPr lang="en-US" dirty="0" smtClean="0"/>
              <a:t>Most LANs use some type of copper wire cable to carry data from one computer to another via baseband transmission.</a:t>
            </a:r>
          </a:p>
          <a:p>
            <a:r>
              <a:rPr lang="en-US" dirty="0" smtClean="0"/>
              <a:t>The three basic cable types used in LANs are coaxial cable, twisted-pair, and fiber-optic cable.</a:t>
            </a:r>
          </a:p>
          <a:p>
            <a:r>
              <a:rPr lang="en-US" dirty="0" smtClean="0"/>
              <a:t>Most local-area networks started out using coaxial cable, but today twisted-pair cable dominates.  </a:t>
            </a:r>
          </a:p>
          <a:p>
            <a:r>
              <a:rPr lang="en-US" dirty="0" smtClean="0"/>
              <a:t>Fiber- optic cable is used in higher-speed, secure networks, which are not as widespread.</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Coaxial Cable</a:t>
            </a:r>
            <a:endParaRPr lang="en-US" b="1" dirty="0">
              <a:solidFill>
                <a:srgbClr val="FF0000"/>
              </a:solidFill>
            </a:endParaRPr>
          </a:p>
        </p:txBody>
      </p:sp>
      <p:sp>
        <p:nvSpPr>
          <p:cNvPr id="3" name="Content Placeholder 2"/>
          <p:cNvSpPr>
            <a:spLocks noGrp="1"/>
          </p:cNvSpPr>
          <p:nvPr>
            <p:ph idx="1"/>
          </p:nvPr>
        </p:nvSpPr>
        <p:spPr/>
        <p:txBody>
          <a:bodyPr>
            <a:normAutofit fontScale="92500"/>
          </a:bodyPr>
          <a:lstStyle/>
          <a:p>
            <a:r>
              <a:rPr lang="en-US" dirty="0" smtClean="0"/>
              <a:t>Coaxial cable is a superior medium because its extremely wide bandwidth permits very high-speed bit rates. </a:t>
            </a:r>
          </a:p>
          <a:p>
            <a:r>
              <a:rPr lang="en-US" dirty="0" smtClean="0"/>
              <a:t>Although loss is generally high, attenuation is usually offset by using repeaters that boost the signal level and regenerate the signal </a:t>
            </a:r>
            <a:r>
              <a:rPr lang="en-US" dirty="0" smtClean="0"/>
              <a:t>wave shape</a:t>
            </a:r>
            <a:r>
              <a:rPr lang="en-US" dirty="0" smtClean="0"/>
              <a:t>. </a:t>
            </a:r>
          </a:p>
          <a:p>
            <a:r>
              <a:rPr lang="en-US" dirty="0" smtClean="0"/>
              <a:t>The major benefit of coaxial cable is that it is completely shielded, so that external noise has little or no effect on it.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Coaxial Cable</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600200" y="2286001"/>
            <a:ext cx="6019800" cy="2305844"/>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Twisted-Pair Cable</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Twisted-pair cable is the most widely used network cable. </a:t>
            </a:r>
          </a:p>
          <a:p>
            <a:r>
              <a:rPr lang="en-US" dirty="0" smtClean="0"/>
              <a:t>Twisted-pair, as the name implies, is two insulated copper wires twisted together loosely to form a cable.</a:t>
            </a:r>
          </a:p>
          <a:p>
            <a:r>
              <a:rPr lang="en-US" dirty="0" smtClean="0"/>
              <a:t>Telephone companies use twisted-pair cable to connect individual telephones to the central office.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914400" y="1676400"/>
            <a:ext cx="6781800" cy="38100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Twisted-Pair Cable</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762000" y="2209800"/>
            <a:ext cx="7772400" cy="27432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Fiber-Optic Cable</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Fiber-optic cable is a non-conducting cable consisting of a glass or plastic center cable surrounded by a plastic cladding encased in a plastic outer Jacket.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2. Connectors</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All cables used in networks have special terminating connectors.</a:t>
            </a:r>
          </a:p>
          <a:p>
            <a:r>
              <a:rPr lang="en-US" dirty="0" smtClean="0"/>
              <a:t> Connectors provide a fast and easy way to connect and disconnect the equipment from the cabling and maintain the characteristics of the cable through the connection.</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Coaxial Cable Connectors</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Coaxial cables are no longer used in networks.</a:t>
            </a:r>
          </a:p>
          <a:p>
            <a:r>
              <a:rPr lang="en-US" dirty="0" smtClean="0"/>
              <a:t> However, if you do find them, they use two types of connectors, N connectors and BNC connectors.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Twisted-Pair Connectors</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Most telephones attach to an outlet by way of an RJ-11 connector or modular plug.</a:t>
            </a:r>
          </a:p>
          <a:p>
            <a:r>
              <a:rPr lang="en-US" dirty="0" smtClean="0"/>
              <a:t>RJ-11 connectors are used to connect PC modems to the phone line but are not used in LAN connections.</a:t>
            </a:r>
          </a:p>
          <a:p>
            <a:r>
              <a:rPr lang="en-US" dirty="0" smtClean="0"/>
              <a:t>A larger modular connector known as the RJ-45 connector is widely used in terminating twisted pairs.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Twisted-Pair Connectors</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990600" y="2286000"/>
            <a:ext cx="7239000" cy="2520156"/>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Fiber-Optic Connectors</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A wide range of connectors are available to terminate fiber-optic cables. </a:t>
            </a:r>
          </a:p>
          <a:p>
            <a:r>
              <a:rPr lang="en-US" dirty="0" smtClean="0"/>
              <a:t>Like electrical connectors, these are designed to provide a fast and easy way to attach or remove cables.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3. Network Interface Controller</a:t>
            </a:r>
            <a:endParaRPr lang="en-US" b="1"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r>
              <a:rPr lang="en-US" dirty="0" smtClean="0"/>
              <a:t>A network interface controller (NIC) provides the I/O interface between each node on a network and the network wiring.</a:t>
            </a:r>
          </a:p>
          <a:p>
            <a:r>
              <a:rPr lang="en-US" dirty="0" smtClean="0"/>
              <a:t>NIC is one or more ICs that are integrated into the motherboard of the PC and provide connectors at the rear of the computer for attaching the cable connectors.</a:t>
            </a:r>
          </a:p>
          <a:p>
            <a:r>
              <a:rPr lang="en-US" dirty="0" smtClean="0"/>
              <a:t>The NIC is the key hardware component in any LAN. It completely </a:t>
            </a:r>
            <a:r>
              <a:rPr lang="en-US" dirty="0" err="1" smtClean="0"/>
              <a:t>defi</a:t>
            </a:r>
            <a:r>
              <a:rPr lang="en-US" dirty="0" smtClean="0"/>
              <a:t> </a:t>
            </a:r>
            <a:r>
              <a:rPr lang="en-US" dirty="0" err="1" smtClean="0"/>
              <a:t>nes</a:t>
            </a:r>
            <a:r>
              <a:rPr lang="en-US" dirty="0" smtClean="0"/>
              <a:t> the protocols and performance characteristics of the LAN.</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r>
              <a:rPr lang="en-US" b="1" dirty="0" smtClean="0">
                <a:solidFill>
                  <a:srgbClr val="FF0000"/>
                </a:solidFill>
              </a:rPr>
              <a:t>4. Repeaters</a:t>
            </a:r>
            <a:endParaRPr lang="en-US" b="1" dirty="0">
              <a:solidFill>
                <a:srgbClr val="FF0000"/>
              </a:solidFill>
            </a:endParaRPr>
          </a:p>
        </p:txBody>
      </p:sp>
      <p:sp>
        <p:nvSpPr>
          <p:cNvPr id="3" name="Content Placeholder 2"/>
          <p:cNvSpPr>
            <a:spLocks noGrp="1"/>
          </p:cNvSpPr>
          <p:nvPr>
            <p:ph idx="1"/>
          </p:nvPr>
        </p:nvSpPr>
        <p:spPr>
          <a:xfrm>
            <a:off x="457200" y="914400"/>
            <a:ext cx="8229600" cy="5943600"/>
          </a:xfrm>
        </p:spPr>
        <p:txBody>
          <a:bodyPr>
            <a:normAutofit fontScale="92500" lnSpcReduction="20000"/>
          </a:bodyPr>
          <a:lstStyle/>
          <a:p>
            <a:r>
              <a:rPr lang="en-US" dirty="0" smtClean="0"/>
              <a:t>When signals from a NIC must travel a long distance over coaxial cables or twisted-pair cables, the binary signal is greatly attenuated by the resistance of the wires and distorted by the capacitance of the cable. </a:t>
            </a:r>
          </a:p>
          <a:p>
            <a:r>
              <a:rPr lang="en-US" dirty="0" smtClean="0"/>
              <a:t>As a result, the signal can be too distorted and noisy to be received reliably.</a:t>
            </a:r>
          </a:p>
          <a:p>
            <a:r>
              <a:rPr lang="en-US" dirty="0" smtClean="0"/>
              <a:t>A common solution to this problem is to use one or more repeaters along the way.</a:t>
            </a:r>
          </a:p>
          <a:p>
            <a:r>
              <a:rPr lang="en-US" dirty="0" smtClean="0"/>
              <a:t>A repeater is an electronic circuit that takes a partially degraded signal, boosts its level, shapes it up, and sends it on its way. </a:t>
            </a:r>
          </a:p>
          <a:p>
            <a:r>
              <a:rPr lang="en-US" dirty="0" smtClean="0"/>
              <a:t>Over long transmission distances, several repeaters may be required.</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Concept of Repeaters</a:t>
            </a:r>
            <a:endParaRPr lang="en-US" b="1" dirty="0">
              <a:solidFill>
                <a:srgbClr val="FF0000"/>
              </a:solidFill>
            </a:endParaRPr>
          </a:p>
        </p:txBody>
      </p:sp>
      <p:pic>
        <p:nvPicPr>
          <p:cNvPr id="5122" name="Picture 2"/>
          <p:cNvPicPr>
            <a:picLocks noGrp="1" noChangeAspect="1" noChangeArrowheads="1"/>
          </p:cNvPicPr>
          <p:nvPr>
            <p:ph idx="1"/>
          </p:nvPr>
        </p:nvPicPr>
        <p:blipFill>
          <a:blip r:embed="rId2"/>
          <a:srcRect/>
          <a:stretch>
            <a:fillRect/>
          </a:stretch>
        </p:blipFill>
        <p:spPr bwMode="auto">
          <a:xfrm>
            <a:off x="1676400" y="2514601"/>
            <a:ext cx="6248399" cy="1715294"/>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5. Hubs</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A hub is a LAN accessory that facilitates the interconnections of the cables to the nodes.</a:t>
            </a:r>
          </a:p>
          <a:p>
            <a:r>
              <a:rPr lang="en-US" dirty="0" smtClean="0"/>
              <a:t>It is a central connecting box designed to receive the cable inputs from the various PC nodes and to connect them to the server.</a:t>
            </a:r>
          </a:p>
          <a:p>
            <a:r>
              <a:rPr lang="en-US" dirty="0" smtClean="0"/>
              <a:t>In most cases, hub wiring physically resembles a star because all the cabling comes into a central point.</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Hubs (</a:t>
            </a:r>
            <a:r>
              <a:rPr lang="en-US" b="1" dirty="0" err="1" smtClean="0">
                <a:solidFill>
                  <a:srgbClr val="FF0000"/>
                </a:solidFill>
              </a:rPr>
              <a:t>Contd</a:t>
            </a:r>
            <a:r>
              <a:rPr lang="en-US" b="1" dirty="0" smtClean="0">
                <a:solidFill>
                  <a:srgbClr val="FF0000"/>
                </a:solidFill>
              </a:rPr>
              <a:t>…)</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Hubs are usually active devices containing repeaters. </a:t>
            </a:r>
          </a:p>
          <a:p>
            <a:r>
              <a:rPr lang="en-US" dirty="0" smtClean="0"/>
              <a:t>Hubs amplify and reshape the signal and transmit it to all connection parts. </a:t>
            </a:r>
          </a:p>
          <a:p>
            <a:r>
              <a:rPr lang="en-US" dirty="0" smtClean="0"/>
              <a:t>Hubs are available with 8, 12, 16, 24, 32, and 48 ports. All signals received at the hub are repeated to all nodes connected to the hub.</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Hubs</a:t>
            </a:r>
            <a:endParaRPr lang="en-US" b="1" dirty="0">
              <a:solidFill>
                <a:srgbClr val="FF0000"/>
              </a:solidFill>
            </a:endParaRPr>
          </a:p>
        </p:txBody>
      </p:sp>
      <p:pic>
        <p:nvPicPr>
          <p:cNvPr id="6146" name="Picture 2"/>
          <p:cNvPicPr>
            <a:picLocks noGrp="1" noChangeAspect="1" noChangeArrowheads="1"/>
          </p:cNvPicPr>
          <p:nvPr>
            <p:ph idx="1"/>
          </p:nvPr>
        </p:nvPicPr>
        <p:blipFill>
          <a:blip r:embed="rId2"/>
          <a:srcRect/>
          <a:stretch>
            <a:fillRect/>
          </a:stretch>
        </p:blipFill>
        <p:spPr bwMode="auto">
          <a:xfrm>
            <a:off x="1371600" y="1905000"/>
            <a:ext cx="6172200" cy="2886869"/>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r>
              <a:rPr lang="en-US" b="1" dirty="0" smtClean="0">
                <a:solidFill>
                  <a:srgbClr val="FF0000"/>
                </a:solidFill>
              </a:rPr>
              <a:t>6. Bridges</a:t>
            </a:r>
            <a:endParaRPr lang="en-US" b="1" dirty="0">
              <a:solidFill>
                <a:srgbClr val="FF0000"/>
              </a:solidFill>
            </a:endParaRPr>
          </a:p>
        </p:txBody>
      </p:sp>
      <p:sp>
        <p:nvSpPr>
          <p:cNvPr id="3" name="Content Placeholder 2"/>
          <p:cNvSpPr>
            <a:spLocks noGrp="1"/>
          </p:cNvSpPr>
          <p:nvPr>
            <p:ph idx="1"/>
          </p:nvPr>
        </p:nvSpPr>
        <p:spPr>
          <a:xfrm>
            <a:off x="457200" y="838200"/>
            <a:ext cx="8229600" cy="6019800"/>
          </a:xfrm>
        </p:spPr>
        <p:txBody>
          <a:bodyPr>
            <a:normAutofit fontScale="85000" lnSpcReduction="20000"/>
          </a:bodyPr>
          <a:lstStyle/>
          <a:p>
            <a:r>
              <a:rPr lang="en-US" dirty="0" smtClean="0"/>
              <a:t>A bridge is a network device that is connected as a node on the network and performs bidirectional communication between two LANs.</a:t>
            </a:r>
          </a:p>
          <a:p>
            <a:r>
              <a:rPr lang="en-US" dirty="0" smtClean="0"/>
              <a:t>A bridge can also be used when one LAN becomes too big. </a:t>
            </a:r>
          </a:p>
          <a:p>
            <a:r>
              <a:rPr lang="en-US" dirty="0" smtClean="0"/>
              <a:t>Most LANs are designed for a maximum upper limit of nodes. </a:t>
            </a:r>
          </a:p>
          <a:p>
            <a:r>
              <a:rPr lang="en-US" dirty="0" smtClean="0"/>
              <a:t>One way to deal with this problem is to break a large LAN into two or more smaller LANs.</a:t>
            </a:r>
          </a:p>
          <a:p>
            <a:r>
              <a:rPr lang="en-US" dirty="0" smtClean="0"/>
              <a:t>A bridge is generally designed to interconnect two LANs with the same protocol, e.g., two Ethernet networks.</a:t>
            </a:r>
          </a:p>
          <a:p>
            <a:r>
              <a:rPr lang="en-US" dirty="0" smtClean="0"/>
              <a:t>However, there are bridges that are able to accomplish protocol conversion so that two LANs with different protocols can converse.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Bridges</a:t>
            </a:r>
            <a:endParaRPr lang="en-US" dirty="0"/>
          </a:p>
        </p:txBody>
      </p:sp>
      <p:pic>
        <p:nvPicPr>
          <p:cNvPr id="7170" name="Picture 2"/>
          <p:cNvPicPr>
            <a:picLocks noGrp="1" noChangeAspect="1" noChangeArrowheads="1"/>
          </p:cNvPicPr>
          <p:nvPr>
            <p:ph idx="1"/>
          </p:nvPr>
        </p:nvPicPr>
        <p:blipFill>
          <a:blip r:embed="rId2"/>
          <a:srcRect/>
          <a:stretch>
            <a:fillRect/>
          </a:stretch>
        </p:blipFill>
        <p:spPr bwMode="auto">
          <a:xfrm>
            <a:off x="1524000" y="1752600"/>
            <a:ext cx="6553200" cy="3296444"/>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p>
            <a:r>
              <a:rPr lang="en-US" b="1" dirty="0" smtClean="0">
                <a:solidFill>
                  <a:srgbClr val="FF0000"/>
                </a:solidFill>
              </a:rPr>
              <a:t>7. Switches</a:t>
            </a:r>
            <a:endParaRPr lang="en-US" b="1" dirty="0">
              <a:solidFill>
                <a:srgbClr val="FF0000"/>
              </a:solidFill>
            </a:endParaRPr>
          </a:p>
        </p:txBody>
      </p:sp>
      <p:sp>
        <p:nvSpPr>
          <p:cNvPr id="3" name="Content Placeholder 2"/>
          <p:cNvSpPr>
            <a:spLocks noGrp="1"/>
          </p:cNvSpPr>
          <p:nvPr>
            <p:ph idx="1"/>
          </p:nvPr>
        </p:nvSpPr>
        <p:spPr>
          <a:xfrm>
            <a:off x="457200" y="1066800"/>
            <a:ext cx="8229600" cy="5638800"/>
          </a:xfrm>
        </p:spPr>
        <p:txBody>
          <a:bodyPr>
            <a:normAutofit fontScale="85000" lnSpcReduction="10000"/>
          </a:bodyPr>
          <a:lstStyle/>
          <a:p>
            <a:r>
              <a:rPr lang="en-US" dirty="0" smtClean="0"/>
              <a:t>A switch is a </a:t>
            </a:r>
            <a:r>
              <a:rPr lang="en-US" dirty="0" smtClean="0"/>
              <a:t>hub like </a:t>
            </a:r>
            <a:r>
              <a:rPr lang="en-US" dirty="0" smtClean="0"/>
              <a:t>device used to connect individual PC nodes to the network wiring. Unlike a hub, a switch provides a means to connect or disconnect a PC from the network wiring. </a:t>
            </a:r>
          </a:p>
          <a:p>
            <a:r>
              <a:rPr lang="en-US" dirty="0" smtClean="0"/>
              <a:t>Switches have largely replaced hubs in most large LANs because switches greatly expand the number of possible nodes and improve performance.</a:t>
            </a:r>
          </a:p>
          <a:p>
            <a:r>
              <a:rPr lang="en-US" dirty="0" smtClean="0"/>
              <a:t>Ethernet switches have become the key component in most LANs. </a:t>
            </a:r>
          </a:p>
          <a:p>
            <a:r>
              <a:rPr lang="en-US" dirty="0" smtClean="0"/>
              <a:t>They implement the interconnection between servers, PCs, and other nodes but also speed up the entire network by reducing the number of collisions and allowing one PC to speak directly to another</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Switches</a:t>
            </a:r>
            <a:endParaRPr lang="en-US" dirty="0"/>
          </a:p>
        </p:txBody>
      </p:sp>
      <p:pic>
        <p:nvPicPr>
          <p:cNvPr id="8194" name="Picture 2"/>
          <p:cNvPicPr>
            <a:picLocks noGrp="1" noChangeAspect="1" noChangeArrowheads="1"/>
          </p:cNvPicPr>
          <p:nvPr>
            <p:ph idx="1"/>
          </p:nvPr>
        </p:nvPicPr>
        <p:blipFill>
          <a:blip r:embed="rId2"/>
          <a:srcRect/>
          <a:stretch>
            <a:fillRect/>
          </a:stretch>
        </p:blipFill>
        <p:spPr bwMode="auto">
          <a:xfrm>
            <a:off x="914400" y="1676400"/>
            <a:ext cx="7620000" cy="47244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8. Routers</a:t>
            </a:r>
            <a:endParaRPr lang="en-US" b="1" dirty="0">
              <a:solidFill>
                <a:srgbClr val="FF0000"/>
              </a:solidFill>
            </a:endParaRPr>
          </a:p>
        </p:txBody>
      </p:sp>
      <p:sp>
        <p:nvSpPr>
          <p:cNvPr id="3" name="Content Placeholder 2"/>
          <p:cNvSpPr>
            <a:spLocks noGrp="1"/>
          </p:cNvSpPr>
          <p:nvPr>
            <p:ph idx="1"/>
          </p:nvPr>
        </p:nvSpPr>
        <p:spPr/>
        <p:txBody>
          <a:bodyPr>
            <a:normAutofit lnSpcReduction="10000"/>
          </a:bodyPr>
          <a:lstStyle/>
          <a:p>
            <a:r>
              <a:rPr lang="en-US" dirty="0" smtClean="0"/>
              <a:t>Like bridges, routers are designed to connect two networks. </a:t>
            </a:r>
          </a:p>
          <a:p>
            <a:r>
              <a:rPr lang="en-US" dirty="0" smtClean="0"/>
              <a:t>The main difference between bridges and routers is that routers are intelligent devices that have decision-making and switching capabilities.</a:t>
            </a:r>
          </a:p>
          <a:p>
            <a:r>
              <a:rPr lang="en-US" dirty="0" smtClean="0"/>
              <a:t>The basic function of a router is to expedite </a:t>
            </a:r>
            <a:r>
              <a:rPr lang="en-US" smtClean="0"/>
              <a:t>traffic flow </a:t>
            </a:r>
            <a:r>
              <a:rPr lang="en-US" dirty="0" smtClean="0"/>
              <a:t>on both networks and maintain maximum performance.</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Routers</a:t>
            </a:r>
            <a:endParaRPr lang="en-US" dirty="0"/>
          </a:p>
        </p:txBody>
      </p:sp>
      <p:sp>
        <p:nvSpPr>
          <p:cNvPr id="3" name="Content Placeholder 2"/>
          <p:cNvSpPr>
            <a:spLocks noGrp="1"/>
          </p:cNvSpPr>
          <p:nvPr>
            <p:ph idx="1"/>
          </p:nvPr>
        </p:nvSpPr>
        <p:spPr/>
        <p:txBody>
          <a:bodyPr>
            <a:normAutofit fontScale="92500"/>
          </a:bodyPr>
          <a:lstStyle/>
          <a:p>
            <a:r>
              <a:rPr lang="en-US" dirty="0" smtClean="0"/>
              <a:t>When many users access a network at the same time, conflicts occur and speed performance is degraded. </a:t>
            </a:r>
          </a:p>
          <a:p>
            <a:r>
              <a:rPr lang="en-US" dirty="0" smtClean="0"/>
              <a:t>Routers are designed to recognize traffic buildup and provide automatic switching to reroute transmissions in a different direction, if possible.</a:t>
            </a:r>
          </a:p>
          <a:p>
            <a:r>
              <a:rPr lang="en-US" dirty="0" smtClean="0"/>
              <a:t> If transmission is blocked in one direction, the router can switch transmission through other nodes or other paths in the network.</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9. Gateways</a:t>
            </a:r>
            <a:endParaRPr lang="en-US" b="1" dirty="0">
              <a:solidFill>
                <a:srgbClr val="FF0000"/>
              </a:solidFill>
            </a:endParaRPr>
          </a:p>
        </p:txBody>
      </p:sp>
      <p:sp>
        <p:nvSpPr>
          <p:cNvPr id="3" name="Content Placeholder 2"/>
          <p:cNvSpPr>
            <a:spLocks noGrp="1"/>
          </p:cNvSpPr>
          <p:nvPr>
            <p:ph idx="1"/>
          </p:nvPr>
        </p:nvSpPr>
        <p:spPr>
          <a:xfrm>
            <a:off x="457200" y="1600200"/>
            <a:ext cx="8229600" cy="5029200"/>
          </a:xfrm>
        </p:spPr>
        <p:txBody>
          <a:bodyPr>
            <a:normAutofit fontScale="85000" lnSpcReduction="10000"/>
          </a:bodyPr>
          <a:lstStyle/>
          <a:p>
            <a:r>
              <a:rPr lang="en-US" dirty="0" smtClean="0"/>
              <a:t>A gateway is another internetwork device that acts as an interface between two LANs or between a LAN and a larger computer system. </a:t>
            </a:r>
          </a:p>
          <a:p>
            <a:r>
              <a:rPr lang="en-US" dirty="0" smtClean="0"/>
              <a:t>The primary benefit of a gateway is that it can connect networks with incompatible protocols and configurations. </a:t>
            </a:r>
          </a:p>
          <a:p>
            <a:r>
              <a:rPr lang="en-US" dirty="0" smtClean="0"/>
              <a:t>The gateway acts as a two-way translator that allows systems of different types to communicate.</a:t>
            </a:r>
          </a:p>
          <a:p>
            <a:r>
              <a:rPr lang="en-US" dirty="0" smtClean="0"/>
              <a:t>As the number of companies that provide hardware increases, the functions of each device vary and devices labeled as routers may perform the functions of the switch, router, and gateway.</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Gateways</a:t>
            </a:r>
            <a:endParaRPr lang="en-US" dirty="0"/>
          </a:p>
        </p:txBody>
      </p:sp>
      <p:pic>
        <p:nvPicPr>
          <p:cNvPr id="9218" name="Picture 2"/>
          <p:cNvPicPr>
            <a:picLocks noGrp="1" noChangeAspect="1" noChangeArrowheads="1"/>
          </p:cNvPicPr>
          <p:nvPr>
            <p:ph idx="1"/>
          </p:nvPr>
        </p:nvPicPr>
        <p:blipFill>
          <a:blip r:embed="rId2"/>
          <a:srcRect/>
          <a:stretch>
            <a:fillRect/>
          </a:stretch>
        </p:blipFill>
        <p:spPr bwMode="auto">
          <a:xfrm>
            <a:off x="1371600" y="1752601"/>
            <a:ext cx="6400800" cy="3182144"/>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10. Modems</a:t>
            </a:r>
            <a:endParaRPr lang="en-US" b="1" dirty="0">
              <a:solidFill>
                <a:srgbClr val="FF0000"/>
              </a:solidFill>
            </a:endParaRPr>
          </a:p>
        </p:txBody>
      </p:sp>
      <p:sp>
        <p:nvSpPr>
          <p:cNvPr id="3" name="Content Placeholder 2"/>
          <p:cNvSpPr>
            <a:spLocks noGrp="1"/>
          </p:cNvSpPr>
          <p:nvPr>
            <p:ph idx="1"/>
          </p:nvPr>
        </p:nvSpPr>
        <p:spPr>
          <a:xfrm>
            <a:off x="457200" y="1219200"/>
            <a:ext cx="8229600" cy="5486400"/>
          </a:xfrm>
        </p:spPr>
        <p:txBody>
          <a:bodyPr>
            <a:normAutofit fontScale="92500"/>
          </a:bodyPr>
          <a:lstStyle/>
          <a:p>
            <a:r>
              <a:rPr lang="en-US" dirty="0" smtClean="0"/>
              <a:t>modems are interfaces between PCs and communications systems, such as the telephone or cable TV networks. </a:t>
            </a:r>
          </a:p>
          <a:p>
            <a:r>
              <a:rPr lang="en-US" dirty="0" smtClean="0"/>
              <a:t>They convert the binary signals of the computer to analog signals compatible with the telephone or cable TV system and, at the other end, convert the analog signals back to digital signals. </a:t>
            </a:r>
          </a:p>
          <a:p>
            <a:r>
              <a:rPr lang="en-US" dirty="0" smtClean="0"/>
              <a:t>Modems are widely used in home networking to connect to an Internet service provider (ISP), which provides services such as Internet access and e-mail.</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solidFill>
                  <a:srgbClr val="FF0000"/>
                </a:solidFill>
              </a:rPr>
              <a:t>11. Wireless </a:t>
            </a:r>
            <a:r>
              <a:rPr lang="en-US" b="1" dirty="0" smtClean="0">
                <a:solidFill>
                  <a:srgbClr val="FF0000"/>
                </a:solidFill>
              </a:rPr>
              <a:t>LANs</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One of the most complex and expensive parts of any LAN is the cabling.</a:t>
            </a:r>
          </a:p>
          <a:p>
            <a:r>
              <a:rPr lang="en-US" dirty="0" smtClean="0"/>
              <a:t>One way to avoid the expense and headache of running and maintaining LAN cabling is to use wireless LANs, which communicate via radio.</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5504</TotalTime>
  <Words>1339</Words>
  <Application>Microsoft Office PowerPoint</Application>
  <PresentationFormat>On-screen Show (4:3)</PresentationFormat>
  <Paragraphs>95</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LAN Hardware</vt:lpstr>
      <vt:lpstr>LAN Hardware</vt:lpstr>
      <vt:lpstr>1. Cables</vt:lpstr>
      <vt:lpstr>Coaxial Cable</vt:lpstr>
      <vt:lpstr>Coaxial Cable</vt:lpstr>
      <vt:lpstr>Twisted-Pair Cable</vt:lpstr>
      <vt:lpstr>Slide 7</vt:lpstr>
      <vt:lpstr>Twisted-Pair Cable</vt:lpstr>
      <vt:lpstr>Fiber-Optic Cable</vt:lpstr>
      <vt:lpstr>2. Connectors</vt:lpstr>
      <vt:lpstr>Coaxial Cable Connectors</vt:lpstr>
      <vt:lpstr>Twisted-Pair Connectors</vt:lpstr>
      <vt:lpstr>Twisted-Pair Connectors</vt:lpstr>
      <vt:lpstr>Fiber-Optic Connectors</vt:lpstr>
      <vt:lpstr>3. Network Interface Controller</vt:lpstr>
      <vt:lpstr>4. Repeaters</vt:lpstr>
      <vt:lpstr>Concept of Repeaters</vt:lpstr>
      <vt:lpstr>5. Hubs</vt:lpstr>
      <vt:lpstr>Hubs (Contd…)</vt:lpstr>
      <vt:lpstr>Hubs</vt:lpstr>
      <vt:lpstr>6. Bridges</vt:lpstr>
      <vt:lpstr>Bridges</vt:lpstr>
      <vt:lpstr>7. Switches</vt:lpstr>
      <vt:lpstr>Switches</vt:lpstr>
      <vt:lpstr>8. Routers</vt:lpstr>
      <vt:lpstr>Routers</vt:lpstr>
      <vt:lpstr>9. Gateways</vt:lpstr>
      <vt:lpstr>Gateways</vt:lpstr>
      <vt:lpstr>10. Modems</vt:lpstr>
      <vt:lpstr>11. Wireless LANs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Optical Communication</dc:title>
  <dc:creator>arya</dc:creator>
  <cp:lastModifiedBy>Amit Tewari</cp:lastModifiedBy>
  <cp:revision>300</cp:revision>
  <dcterms:created xsi:type="dcterms:W3CDTF">2006-08-16T00:00:00Z</dcterms:created>
  <dcterms:modified xsi:type="dcterms:W3CDTF">2025-08-12T03:23:42Z</dcterms:modified>
</cp:coreProperties>
</file>