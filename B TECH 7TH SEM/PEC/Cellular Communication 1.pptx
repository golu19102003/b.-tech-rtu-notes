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4" r:id="rId7"/>
    <p:sldId id="265" r:id="rId8"/>
    <p:sldId id="260" r:id="rId9"/>
    <p:sldId id="262" r:id="rId10"/>
    <p:sldId id="266" r:id="rId11"/>
    <p:sldId id="267" r:id="rId12"/>
    <p:sldId id="263" r:id="rId13"/>
    <p:sldId id="268" r:id="rId14"/>
    <p:sldId id="280" r:id="rId15"/>
    <p:sldId id="281" r:id="rId16"/>
    <p:sldId id="269" r:id="rId17"/>
    <p:sldId id="273" r:id="rId18"/>
    <p:sldId id="274" r:id="rId19"/>
    <p:sldId id="275" r:id="rId20"/>
    <p:sldId id="276" r:id="rId21"/>
    <p:sldId id="277" r:id="rId22"/>
    <p:sldId id="279" r:id="rId23"/>
    <p:sldId id="278"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57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11/10/2022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11/10/2022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11/10/2022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11/10/2022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solidFill>
                  <a:srgbClr val="FF0000"/>
                </a:solidFill>
              </a:rPr>
              <a:t>Cellular &amp; Mobile Communication</a:t>
            </a:r>
            <a:endParaRPr lang="en-US" b="1" dirty="0">
              <a:solidFill>
                <a:srgbClr val="FF0000"/>
              </a:solidFill>
            </a:endParaRPr>
          </a:p>
        </p:txBody>
      </p:sp>
      <p:sp>
        <p:nvSpPr>
          <p:cNvPr id="3" name="Subtitle 2"/>
          <p:cNvSpPr>
            <a:spLocks noGrp="1"/>
          </p:cNvSpPr>
          <p:nvPr>
            <p:ph type="subTitle" idx="1"/>
          </p:nvPr>
        </p:nvSpPr>
        <p:spPr>
          <a:xfrm>
            <a:off x="3505200" y="4267200"/>
            <a:ext cx="5105400" cy="1905000"/>
          </a:xfrm>
        </p:spPr>
        <p:txBody>
          <a:bodyPr>
            <a:normAutofit fontScale="77500" lnSpcReduction="20000"/>
          </a:bodyPr>
          <a:lstStyle/>
          <a:p>
            <a:r>
              <a:rPr lang="en-US" dirty="0" smtClean="0">
                <a:solidFill>
                  <a:schemeClr val="tx1"/>
                </a:solidFill>
                <a:latin typeface="+mj-lt"/>
              </a:rPr>
              <a:t>Prepared By: </a:t>
            </a:r>
            <a:r>
              <a:rPr lang="en-US" dirty="0" err="1" smtClean="0">
                <a:solidFill>
                  <a:schemeClr val="tx1"/>
                </a:solidFill>
                <a:latin typeface="+mj-lt"/>
              </a:rPr>
              <a:t>Er</a:t>
            </a:r>
            <a:r>
              <a:rPr lang="en-US" dirty="0" smtClean="0">
                <a:solidFill>
                  <a:schemeClr val="tx1"/>
                </a:solidFill>
                <a:latin typeface="+mj-lt"/>
              </a:rPr>
              <a:t>. </a:t>
            </a:r>
            <a:r>
              <a:rPr lang="en-US" dirty="0" err="1" smtClean="0">
                <a:solidFill>
                  <a:schemeClr val="tx1"/>
                </a:solidFill>
                <a:latin typeface="+mj-lt"/>
              </a:rPr>
              <a:t>Amit</a:t>
            </a:r>
            <a:r>
              <a:rPr lang="en-US" dirty="0" smtClean="0">
                <a:solidFill>
                  <a:schemeClr val="tx1"/>
                </a:solidFill>
                <a:latin typeface="+mj-lt"/>
              </a:rPr>
              <a:t> Kr. </a:t>
            </a:r>
            <a:r>
              <a:rPr lang="en-US" dirty="0" err="1" smtClean="0">
                <a:solidFill>
                  <a:schemeClr val="tx1"/>
                </a:solidFill>
                <a:latin typeface="+mj-lt"/>
              </a:rPr>
              <a:t>Tewari</a:t>
            </a:r>
            <a:endParaRPr lang="en-US" dirty="0" smtClean="0">
              <a:solidFill>
                <a:schemeClr val="tx1"/>
              </a:solidFill>
              <a:latin typeface="+mj-lt"/>
            </a:endParaRPr>
          </a:p>
          <a:p>
            <a:r>
              <a:rPr lang="en-US" dirty="0" smtClean="0">
                <a:solidFill>
                  <a:schemeClr val="tx1"/>
                </a:solidFill>
                <a:latin typeface="+mj-lt"/>
              </a:rPr>
              <a:t>                             Associate Professor</a:t>
            </a:r>
          </a:p>
          <a:p>
            <a:r>
              <a:rPr lang="en-US" dirty="0" smtClean="0">
                <a:solidFill>
                  <a:schemeClr val="tx1"/>
                </a:solidFill>
                <a:latin typeface="+mj-lt"/>
              </a:rPr>
              <a:t>         CS Dept.</a:t>
            </a:r>
          </a:p>
          <a:p>
            <a:r>
              <a:rPr lang="en-US" dirty="0" smtClean="0">
                <a:solidFill>
                  <a:schemeClr val="tx1"/>
                </a:solidFill>
                <a:latin typeface="+mj-lt"/>
              </a:rPr>
              <a:t>                 ACEIT, </a:t>
            </a:r>
            <a:r>
              <a:rPr lang="en-US" dirty="0" err="1" smtClean="0">
                <a:solidFill>
                  <a:schemeClr val="tx1"/>
                </a:solidFill>
                <a:latin typeface="+mj-lt"/>
              </a:rPr>
              <a:t>Jaipur</a:t>
            </a:r>
            <a:endParaRPr lang="en-US" dirty="0" smtClean="0">
              <a:solidFill>
                <a:schemeClr val="tx1"/>
              </a:solidFill>
              <a:latin typeface="+mj-lt"/>
            </a:endParaRPr>
          </a:p>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Cellular Telephone Systems</a:t>
            </a:r>
            <a:endParaRPr lang="en-US" b="1" dirty="0">
              <a:solidFill>
                <a:srgbClr val="FF0000"/>
              </a:solidFill>
            </a:endParaRPr>
          </a:p>
        </p:txBody>
      </p:sp>
      <p:sp>
        <p:nvSpPr>
          <p:cNvPr id="3" name="Content Placeholder 2"/>
          <p:cNvSpPr>
            <a:spLocks noGrp="1"/>
          </p:cNvSpPr>
          <p:nvPr>
            <p:ph idx="1"/>
          </p:nvPr>
        </p:nvSpPr>
        <p:spPr/>
        <p:txBody>
          <a:bodyPr/>
          <a:lstStyle/>
          <a:p>
            <a:r>
              <a:rPr lang="en-US" dirty="0" smtClean="0"/>
              <a:t>A cellular radio system provides standard telephone service by two-way radio at remote locations. Cellular radios or telephones were originally installed in cars or trucks, but today most are handheld models. </a:t>
            </a:r>
          </a:p>
          <a:p>
            <a:r>
              <a:rPr lang="en-US" dirty="0" smtClean="0"/>
              <a:t>Cellular telephones permit users to link up with the standard telephone system, which permits calls to any part of the world</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Cellular Telephone Systems</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The Bell Telephone Company division of AT&amp;T developed the cellular radio system during the 1970s and fully implemented it during the early 1980s.</a:t>
            </a:r>
          </a:p>
          <a:p>
            <a:r>
              <a:rPr lang="en-US" dirty="0" smtClean="0"/>
              <a:t>The original U.S. cell phone system, known as the advanced mobile phone system, or AMPS, was based on analog FM radio technologies. </a:t>
            </a:r>
          </a:p>
          <a:p>
            <a:r>
              <a:rPr lang="en-US" dirty="0" smtClean="0"/>
              <a:t>AMPS has gradually been phased out and replaced by second-generation (2G), third-generation (3G), and fourth-generation (4G) digital cell phone systems. This section provides an overview of this awesome worldwide network.</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Cellular Concepts</a:t>
            </a:r>
            <a:endParaRPr lang="en-US" b="1" dirty="0">
              <a:solidFill>
                <a:srgbClr val="FF0000"/>
              </a:solidFill>
            </a:endParaRPr>
          </a:p>
        </p:txBody>
      </p:sp>
      <p:sp>
        <p:nvSpPr>
          <p:cNvPr id="3" name="Content Placeholder 2"/>
          <p:cNvSpPr>
            <a:spLocks noGrp="1"/>
          </p:cNvSpPr>
          <p:nvPr>
            <p:ph idx="1"/>
          </p:nvPr>
        </p:nvSpPr>
        <p:spPr/>
        <p:txBody>
          <a:bodyPr>
            <a:normAutofit fontScale="92500"/>
          </a:bodyPr>
          <a:lstStyle/>
          <a:p>
            <a:r>
              <a:rPr lang="en-US" dirty="0" smtClean="0"/>
              <a:t>The basic concept behind the cellular radio system is that rather than serving a given geographic area with a single transmitter and receiver, the system divides the service area into many smaller areas known as cells.</a:t>
            </a:r>
          </a:p>
          <a:p>
            <a:r>
              <a:rPr lang="en-US" dirty="0" smtClean="0"/>
              <a:t>The typical cell covers only several square miles and contains its own receiver and low-power transmitter. The coverage of a cell depends upon the density (number) of users in a given area. </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Cellular Concepts (</a:t>
            </a:r>
            <a:r>
              <a:rPr lang="en-US" b="1" dirty="0" err="1" smtClean="0">
                <a:solidFill>
                  <a:srgbClr val="FF0000"/>
                </a:solidFill>
              </a:rPr>
              <a:t>Contd</a:t>
            </a:r>
            <a:r>
              <a:rPr lang="en-US" b="1" dirty="0" smtClean="0">
                <a:solidFill>
                  <a:srgbClr val="FF0000"/>
                </a:solidFill>
              </a:rPr>
              <a:t>…)</a:t>
            </a:r>
            <a:endParaRPr lang="en-US" dirty="0"/>
          </a:p>
        </p:txBody>
      </p:sp>
      <p:sp>
        <p:nvSpPr>
          <p:cNvPr id="3" name="Content Placeholder 2"/>
          <p:cNvSpPr>
            <a:spLocks noGrp="1"/>
          </p:cNvSpPr>
          <p:nvPr>
            <p:ph idx="1"/>
          </p:nvPr>
        </p:nvSpPr>
        <p:spPr/>
        <p:txBody>
          <a:bodyPr/>
          <a:lstStyle/>
          <a:p>
            <a:r>
              <a:rPr lang="en-US" dirty="0" smtClean="0"/>
              <a:t>For a heavily populated city, many small cells are used to ensure service. </a:t>
            </a:r>
          </a:p>
          <a:p>
            <a:r>
              <a:rPr lang="en-US" dirty="0" smtClean="0"/>
              <a:t>In less populated rural areas, fewer cells are used. Short cell antenna towers limit the cell coverage area. Higher towers give broader coverage. </a:t>
            </a:r>
          </a:p>
          <a:p>
            <a:r>
              <a:rPr lang="en-US" dirty="0" smtClean="0"/>
              <a:t>The cell site is designed to reliably serve only persons and vehicles in its small cell area.</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66800"/>
          </a:xfrm>
        </p:spPr>
        <p:txBody>
          <a:bodyPr/>
          <a:lstStyle/>
          <a:p>
            <a:r>
              <a:rPr lang="en-US" b="1" dirty="0" smtClean="0">
                <a:solidFill>
                  <a:srgbClr val="FF0000"/>
                </a:solidFill>
              </a:rPr>
              <a:t>Cellular Concepts (</a:t>
            </a:r>
            <a:r>
              <a:rPr lang="en-US" b="1" dirty="0" err="1" smtClean="0">
                <a:solidFill>
                  <a:srgbClr val="FF0000"/>
                </a:solidFill>
              </a:rPr>
              <a:t>Contd</a:t>
            </a:r>
            <a:r>
              <a:rPr lang="en-US" b="1" dirty="0" smtClean="0">
                <a:solidFill>
                  <a:srgbClr val="FF0000"/>
                </a:solidFill>
              </a:rPr>
              <a:t>…)</a:t>
            </a:r>
            <a:endParaRPr lang="en-US" dirty="0"/>
          </a:p>
        </p:txBody>
      </p:sp>
      <p:sp>
        <p:nvSpPr>
          <p:cNvPr id="3" name="Content Placeholder 2"/>
          <p:cNvSpPr>
            <a:spLocks noGrp="1"/>
          </p:cNvSpPr>
          <p:nvPr>
            <p:ph idx="1"/>
          </p:nvPr>
        </p:nvSpPr>
        <p:spPr>
          <a:xfrm>
            <a:off x="457200" y="914400"/>
            <a:ext cx="8229600" cy="5715000"/>
          </a:xfrm>
        </p:spPr>
        <p:txBody>
          <a:bodyPr>
            <a:normAutofit fontScale="92500" lnSpcReduction="10000"/>
          </a:bodyPr>
          <a:lstStyle/>
          <a:p>
            <a:r>
              <a:rPr lang="en-US" dirty="0" smtClean="0"/>
              <a:t>Each cell is connected by telephone lines or a microwave radio relay link to a master control center known as the mobile telephone switching office (MTSO). </a:t>
            </a:r>
          </a:p>
          <a:p>
            <a:r>
              <a:rPr lang="en-US" dirty="0" smtClean="0"/>
              <a:t>The MTSO controls all the cells and provides the interface between each cell and the main telephone office. </a:t>
            </a:r>
          </a:p>
          <a:p>
            <a:r>
              <a:rPr lang="en-US" dirty="0" smtClean="0"/>
              <a:t>As the person with the cell phone passes through a cell, it is served by the cell transceiver.</a:t>
            </a:r>
          </a:p>
          <a:p>
            <a:r>
              <a:rPr lang="en-US" dirty="0" smtClean="0"/>
              <a:t>The telephone call is routed through the MTSO and to the standard telephone system. As the person moves, the system automatically switches from one cell to the next</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normAutofit fontScale="90000"/>
          </a:bodyPr>
          <a:lstStyle/>
          <a:p>
            <a:r>
              <a:rPr lang="en-US" b="1" dirty="0" smtClean="0">
                <a:solidFill>
                  <a:srgbClr val="FF0000"/>
                </a:solidFill>
              </a:rPr>
              <a:t>Cellular Concepts (</a:t>
            </a:r>
            <a:r>
              <a:rPr lang="en-US" b="1" dirty="0" err="1" smtClean="0">
                <a:solidFill>
                  <a:srgbClr val="FF0000"/>
                </a:solidFill>
              </a:rPr>
              <a:t>Contd</a:t>
            </a:r>
            <a:r>
              <a:rPr lang="en-US" b="1" dirty="0" smtClean="0">
                <a:solidFill>
                  <a:srgbClr val="FF0000"/>
                </a:solidFill>
              </a:rPr>
              <a:t>…)</a:t>
            </a:r>
            <a:br>
              <a:rPr lang="en-US" b="1" dirty="0" smtClean="0">
                <a:solidFill>
                  <a:srgbClr val="FF0000"/>
                </a:solidFill>
              </a:rPr>
            </a:br>
            <a:r>
              <a:rPr lang="en-US" b="1" dirty="0" smtClean="0">
                <a:solidFill>
                  <a:srgbClr val="FF0000"/>
                </a:solidFill>
              </a:rPr>
              <a:t>Hand-Off</a:t>
            </a:r>
            <a:endParaRPr lang="en-US" dirty="0"/>
          </a:p>
        </p:txBody>
      </p:sp>
      <p:sp>
        <p:nvSpPr>
          <p:cNvPr id="3" name="Content Placeholder 2"/>
          <p:cNvSpPr>
            <a:spLocks noGrp="1"/>
          </p:cNvSpPr>
          <p:nvPr>
            <p:ph idx="1"/>
          </p:nvPr>
        </p:nvSpPr>
        <p:spPr>
          <a:xfrm>
            <a:off x="457200" y="1143000"/>
            <a:ext cx="8229600" cy="5715000"/>
          </a:xfrm>
        </p:spPr>
        <p:txBody>
          <a:bodyPr>
            <a:normAutofit fontScale="92500" lnSpcReduction="10000"/>
          </a:bodyPr>
          <a:lstStyle/>
          <a:p>
            <a:r>
              <a:rPr lang="en-US" dirty="0" smtClean="0"/>
              <a:t>The receiver in each cell station continuously monitors the signal strength of the mobile unit. </a:t>
            </a:r>
          </a:p>
          <a:p>
            <a:r>
              <a:rPr lang="en-US" dirty="0" smtClean="0"/>
              <a:t>When the signal strength drops below a desired level, it automatically seeks a cell where the signal from the mobile unit is stronger. </a:t>
            </a:r>
          </a:p>
          <a:p>
            <a:r>
              <a:rPr lang="en-US" dirty="0" smtClean="0"/>
              <a:t>The computer at the MTSO causes the transmission from the person to be switched from the weaker cell to the stronger cell. This is called a handoff.</a:t>
            </a:r>
          </a:p>
          <a:p>
            <a:r>
              <a:rPr lang="en-US" dirty="0" smtClean="0"/>
              <a:t>All this takes place in a very short time and is completely unnoticeable to the user. The result is that optimum transmission and reception are obtained.</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381000" y="228600"/>
            <a:ext cx="8458200" cy="6096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228600" y="228600"/>
            <a:ext cx="8534400" cy="6400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lstStyle/>
          <a:p>
            <a:r>
              <a:rPr lang="en-US" b="1" dirty="0" smtClean="0">
                <a:solidFill>
                  <a:srgbClr val="FF0000"/>
                </a:solidFill>
              </a:rPr>
              <a:t>Frequency Allocation</a:t>
            </a:r>
            <a:endParaRPr lang="en-US" b="1" dirty="0">
              <a:solidFill>
                <a:srgbClr val="FF0000"/>
              </a:solidFill>
            </a:endParaRPr>
          </a:p>
        </p:txBody>
      </p:sp>
      <p:sp>
        <p:nvSpPr>
          <p:cNvPr id="3" name="Content Placeholder 2"/>
          <p:cNvSpPr>
            <a:spLocks noGrp="1"/>
          </p:cNvSpPr>
          <p:nvPr>
            <p:ph idx="1"/>
          </p:nvPr>
        </p:nvSpPr>
        <p:spPr>
          <a:xfrm>
            <a:off x="457200" y="914400"/>
            <a:ext cx="8229600" cy="5943600"/>
          </a:xfrm>
        </p:spPr>
        <p:txBody>
          <a:bodyPr/>
          <a:lstStyle/>
          <a:p>
            <a:r>
              <a:rPr lang="en-US" dirty="0" smtClean="0"/>
              <a:t>Cellular radio systems operate in the UHF and microwave bands as assigned by the Federal Communications Commission (FCC).</a:t>
            </a:r>
          </a:p>
          <a:p>
            <a:pPr>
              <a:buNone/>
            </a:pPr>
            <a:endParaRPr lang="en-US" dirty="0" smtClean="0"/>
          </a:p>
          <a:p>
            <a:r>
              <a:rPr lang="en-US" dirty="0" smtClean="0"/>
              <a:t> The original frequency assignments were in the 800- to 900-MHz range previously occupied by the mostly unused UHF TV channels 68 through 83.</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Frequency Allocation (</a:t>
            </a:r>
            <a:r>
              <a:rPr lang="en-US" b="1" dirty="0" err="1" smtClean="0">
                <a:solidFill>
                  <a:srgbClr val="FF0000"/>
                </a:solidFill>
              </a:rPr>
              <a:t>Contd</a:t>
            </a:r>
            <a:r>
              <a:rPr lang="en-US" b="1" dirty="0" smtClean="0">
                <a:solidFill>
                  <a:srgbClr val="FF0000"/>
                </a:solidFill>
              </a:rPr>
              <a:t>…)</a:t>
            </a:r>
            <a:endParaRPr lang="en-US" dirty="0"/>
          </a:p>
        </p:txBody>
      </p:sp>
      <p:pic>
        <p:nvPicPr>
          <p:cNvPr id="3074" name="Picture 2"/>
          <p:cNvPicPr>
            <a:picLocks noGrp="1" noChangeAspect="1" noChangeArrowheads="1"/>
          </p:cNvPicPr>
          <p:nvPr>
            <p:ph idx="1"/>
          </p:nvPr>
        </p:nvPicPr>
        <p:blipFill>
          <a:blip r:embed="rId2"/>
          <a:srcRect/>
          <a:stretch>
            <a:fillRect/>
          </a:stretch>
        </p:blipFill>
        <p:spPr bwMode="auto">
          <a:xfrm>
            <a:off x="1143000" y="1981200"/>
            <a:ext cx="7239000" cy="3733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smtClean="0">
                <a:solidFill>
                  <a:srgbClr val="FF0000"/>
                </a:solidFill>
              </a:rPr>
              <a:t>Frequency Allocation (</a:t>
            </a:r>
            <a:r>
              <a:rPr lang="en-US" b="1" dirty="0" err="1" smtClean="0">
                <a:solidFill>
                  <a:srgbClr val="FF0000"/>
                </a:solidFill>
              </a:rPr>
              <a:t>Contd</a:t>
            </a:r>
            <a:r>
              <a:rPr lang="en-US" b="1" dirty="0" smtClean="0">
                <a:solidFill>
                  <a:srgbClr val="FF0000"/>
                </a:solidFill>
              </a:rPr>
              <a:t>…)</a:t>
            </a:r>
            <a:endParaRPr lang="en-US" dirty="0"/>
          </a:p>
        </p:txBody>
      </p:sp>
      <p:sp>
        <p:nvSpPr>
          <p:cNvPr id="3" name="Content Placeholder 2"/>
          <p:cNvSpPr>
            <a:spLocks noGrp="1"/>
          </p:cNvSpPr>
          <p:nvPr>
            <p:ph idx="1"/>
          </p:nvPr>
        </p:nvSpPr>
        <p:spPr>
          <a:xfrm>
            <a:off x="457200" y="1143000"/>
            <a:ext cx="8229600" cy="5715000"/>
          </a:xfrm>
        </p:spPr>
        <p:txBody>
          <a:bodyPr>
            <a:normAutofit fontScale="85000" lnSpcReduction="10000"/>
          </a:bodyPr>
          <a:lstStyle/>
          <a:p>
            <a:r>
              <a:rPr lang="en-US" dirty="0" smtClean="0"/>
              <a:t>The frequencies between 824 and 849 MHz are reserved for the uplink transmissions from the cell phone to the base station. </a:t>
            </a:r>
          </a:p>
          <a:p>
            <a:r>
              <a:rPr lang="en-US" dirty="0" smtClean="0"/>
              <a:t>These are also called the reverse channels. The frequencies between 869 and 894 MHz are the downlink bands from base station to cell phone. </a:t>
            </a:r>
          </a:p>
          <a:p>
            <a:r>
              <a:rPr lang="en-US" dirty="0" smtClean="0"/>
              <a:t>Both of these 25-MHz segments of spectrum were originally divided into 832 channels 30 kHz wide. </a:t>
            </a:r>
          </a:p>
          <a:p>
            <a:r>
              <a:rPr lang="en-US" dirty="0" smtClean="0"/>
              <a:t>While these are still used, the different cell phone technologies use different amounts of bandwidth, such as 30 kHz, 200 kHz, and 1.25 MHz, so this spectrum gets used in different ways by different cell phone companies in different locations.</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fontScale="90000"/>
          </a:bodyPr>
          <a:lstStyle/>
          <a:p>
            <a:r>
              <a:rPr lang="en-US" b="1" dirty="0" smtClean="0">
                <a:solidFill>
                  <a:srgbClr val="FF0000"/>
                </a:solidFill>
              </a:rPr>
              <a:t>Major Issue in Frequency Allocation </a:t>
            </a:r>
            <a:endParaRPr lang="en-US" b="1" dirty="0">
              <a:solidFill>
                <a:srgbClr val="FF0000"/>
              </a:solidFill>
            </a:endParaRPr>
          </a:p>
        </p:txBody>
      </p:sp>
      <p:sp>
        <p:nvSpPr>
          <p:cNvPr id="3" name="Content Placeholder 2"/>
          <p:cNvSpPr>
            <a:spLocks noGrp="1"/>
          </p:cNvSpPr>
          <p:nvPr>
            <p:ph idx="1"/>
          </p:nvPr>
        </p:nvSpPr>
        <p:spPr>
          <a:xfrm>
            <a:off x="457200" y="1066800"/>
            <a:ext cx="8229600" cy="5791200"/>
          </a:xfrm>
        </p:spPr>
        <p:txBody>
          <a:bodyPr>
            <a:normAutofit lnSpcReduction="10000"/>
          </a:bodyPr>
          <a:lstStyle/>
          <a:p>
            <a:r>
              <a:rPr lang="en-US" dirty="0" smtClean="0"/>
              <a:t>One of the major issues in the cell phone business lies in obtaining more spectrum for more subscribers. </a:t>
            </a:r>
          </a:p>
          <a:p>
            <a:r>
              <a:rPr lang="en-US" dirty="0" smtClean="0"/>
              <a:t>More subscribers mean greater income. Yet, spectrum is scarce and very expensive.</a:t>
            </a:r>
          </a:p>
          <a:p>
            <a:r>
              <a:rPr lang="en-US" dirty="0" smtClean="0"/>
              <a:t>More recently, there is available space in the 1700- to 1750-MHz range. </a:t>
            </a:r>
          </a:p>
          <a:p>
            <a:r>
              <a:rPr lang="en-US" dirty="0" smtClean="0"/>
              <a:t>Some spectrum is also available in the 1900- to 2300-MHz and 2500- to 2700-MHz range for newer 4G systems.</a:t>
            </a:r>
          </a:p>
          <a:p>
            <a:r>
              <a:rPr lang="en-US" dirty="0" smtClean="0"/>
              <a:t>Also keep in mind that different countries use different spectrum blocks.</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Frequency Reuse</a:t>
            </a:r>
            <a:endParaRPr lang="en-US" b="1" dirty="0">
              <a:solidFill>
                <a:srgbClr val="FF0000"/>
              </a:solidFill>
            </a:endParaRPr>
          </a:p>
        </p:txBody>
      </p:sp>
      <p:sp>
        <p:nvSpPr>
          <p:cNvPr id="3" name="Content Placeholder 2"/>
          <p:cNvSpPr>
            <a:spLocks noGrp="1"/>
          </p:cNvSpPr>
          <p:nvPr>
            <p:ph idx="1"/>
          </p:nvPr>
        </p:nvSpPr>
        <p:spPr/>
        <p:txBody>
          <a:bodyPr>
            <a:normAutofit lnSpcReduction="10000"/>
          </a:bodyPr>
          <a:lstStyle/>
          <a:p>
            <a:r>
              <a:rPr lang="en-US" dirty="0" smtClean="0"/>
              <a:t>In frequency reuse, individual frequency bands are shared by multiple base stations and users.</a:t>
            </a:r>
          </a:p>
          <a:p>
            <a:r>
              <a:rPr lang="en-US" dirty="0" smtClean="0"/>
              <a:t>This is possible by ensuring that one subscriber or base station does not interfere with any others.</a:t>
            </a:r>
          </a:p>
          <a:p>
            <a:r>
              <a:rPr lang="en-US" dirty="0" smtClean="0"/>
              <a:t>This is achieved by controlling such factors as transmission power, base station spacing, and antenna height and radiation patterns. </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normAutofit fontScale="90000"/>
          </a:bodyPr>
          <a:lstStyle/>
          <a:p>
            <a:pPr eaLnBrk="1" hangingPunct="1"/>
            <a:r>
              <a:rPr lang="en-US" smtClean="0"/>
              <a:t>Frequency Reuse using 7 frequencies allocations</a:t>
            </a:r>
          </a:p>
        </p:txBody>
      </p:sp>
      <p:grpSp>
        <p:nvGrpSpPr>
          <p:cNvPr id="2" name="Group 3"/>
          <p:cNvGrpSpPr>
            <a:grpSpLocks/>
          </p:cNvGrpSpPr>
          <p:nvPr/>
        </p:nvGrpSpPr>
        <p:grpSpPr bwMode="auto">
          <a:xfrm>
            <a:off x="4267200" y="2667000"/>
            <a:ext cx="1295400" cy="1371600"/>
            <a:chOff x="2688" y="1680"/>
            <a:chExt cx="816" cy="864"/>
          </a:xfrm>
        </p:grpSpPr>
        <p:sp>
          <p:nvSpPr>
            <p:cNvPr id="14401" name="AutoShape 4"/>
            <p:cNvSpPr>
              <a:spLocks noChangeArrowheads="1"/>
            </p:cNvSpPr>
            <p:nvPr/>
          </p:nvSpPr>
          <p:spPr bwMode="auto">
            <a:xfrm>
              <a:off x="3168" y="2112"/>
              <a:ext cx="336" cy="288"/>
            </a:xfrm>
            <a:prstGeom prst="hexagon">
              <a:avLst>
                <a:gd name="adj" fmla="val 29167"/>
                <a:gd name="vf" fmla="val 115470"/>
              </a:avLst>
            </a:prstGeom>
            <a:solidFill>
              <a:schemeClr val="accent1"/>
            </a:solidFill>
            <a:ln w="9525">
              <a:solidFill>
                <a:schemeClr val="tx1"/>
              </a:solidFill>
              <a:miter lim="800000"/>
              <a:headEnd/>
              <a:tailEnd/>
            </a:ln>
          </p:spPr>
          <p:txBody>
            <a:bodyPr wrap="none" anchor="ctr"/>
            <a:lstStyle/>
            <a:p>
              <a:pPr algn="ctr"/>
              <a:r>
                <a:rPr lang="en-US">
                  <a:latin typeface="Arial Narrow" pitchFamily="34" charset="0"/>
                </a:rPr>
                <a:t>f4</a:t>
              </a:r>
            </a:p>
          </p:txBody>
        </p:sp>
        <p:sp>
          <p:nvSpPr>
            <p:cNvPr id="14402" name="AutoShape 5"/>
            <p:cNvSpPr>
              <a:spLocks noChangeArrowheads="1"/>
            </p:cNvSpPr>
            <p:nvPr/>
          </p:nvSpPr>
          <p:spPr bwMode="auto">
            <a:xfrm>
              <a:off x="3168" y="1824"/>
              <a:ext cx="336" cy="288"/>
            </a:xfrm>
            <a:prstGeom prst="hexagon">
              <a:avLst>
                <a:gd name="adj" fmla="val 29167"/>
                <a:gd name="vf" fmla="val 115470"/>
              </a:avLst>
            </a:prstGeom>
            <a:solidFill>
              <a:schemeClr val="accent1"/>
            </a:solidFill>
            <a:ln w="9525">
              <a:solidFill>
                <a:schemeClr val="tx1"/>
              </a:solidFill>
              <a:miter lim="800000"/>
              <a:headEnd/>
              <a:tailEnd/>
            </a:ln>
          </p:spPr>
          <p:txBody>
            <a:bodyPr wrap="none" anchor="ctr"/>
            <a:lstStyle/>
            <a:p>
              <a:pPr algn="ctr"/>
              <a:r>
                <a:rPr lang="en-US">
                  <a:latin typeface="Arial Narrow" pitchFamily="34" charset="0"/>
                </a:rPr>
                <a:t>f3</a:t>
              </a:r>
            </a:p>
          </p:txBody>
        </p:sp>
        <p:sp>
          <p:nvSpPr>
            <p:cNvPr id="14403" name="AutoShape 6"/>
            <p:cNvSpPr>
              <a:spLocks noChangeArrowheads="1"/>
            </p:cNvSpPr>
            <p:nvPr/>
          </p:nvSpPr>
          <p:spPr bwMode="auto">
            <a:xfrm>
              <a:off x="2928" y="1680"/>
              <a:ext cx="336" cy="288"/>
            </a:xfrm>
            <a:prstGeom prst="hexagon">
              <a:avLst>
                <a:gd name="adj" fmla="val 29167"/>
                <a:gd name="vf" fmla="val 115470"/>
              </a:avLst>
            </a:prstGeom>
            <a:solidFill>
              <a:schemeClr val="accent1"/>
            </a:solidFill>
            <a:ln w="9525">
              <a:solidFill>
                <a:schemeClr val="tx1"/>
              </a:solidFill>
              <a:miter lim="800000"/>
              <a:headEnd/>
              <a:tailEnd/>
            </a:ln>
          </p:spPr>
          <p:txBody>
            <a:bodyPr wrap="none" anchor="ctr"/>
            <a:lstStyle/>
            <a:p>
              <a:pPr algn="ctr"/>
              <a:r>
                <a:rPr lang="en-US">
                  <a:latin typeface="Arial Narrow" pitchFamily="34" charset="0"/>
                </a:rPr>
                <a:t>f2</a:t>
              </a:r>
            </a:p>
          </p:txBody>
        </p:sp>
        <p:sp>
          <p:nvSpPr>
            <p:cNvPr id="14404" name="AutoShape 7"/>
            <p:cNvSpPr>
              <a:spLocks noChangeArrowheads="1"/>
            </p:cNvSpPr>
            <p:nvPr/>
          </p:nvSpPr>
          <p:spPr bwMode="auto">
            <a:xfrm>
              <a:off x="2928" y="1968"/>
              <a:ext cx="336" cy="288"/>
            </a:xfrm>
            <a:prstGeom prst="hexagon">
              <a:avLst>
                <a:gd name="adj" fmla="val 29167"/>
                <a:gd name="vf" fmla="val 115470"/>
              </a:avLst>
            </a:prstGeom>
            <a:solidFill>
              <a:schemeClr val="accent1"/>
            </a:solidFill>
            <a:ln w="9525">
              <a:solidFill>
                <a:schemeClr val="tx1"/>
              </a:solidFill>
              <a:miter lim="800000"/>
              <a:headEnd/>
              <a:tailEnd/>
            </a:ln>
          </p:spPr>
          <p:txBody>
            <a:bodyPr wrap="none" anchor="ctr"/>
            <a:lstStyle/>
            <a:p>
              <a:pPr algn="ctr"/>
              <a:r>
                <a:rPr lang="en-US">
                  <a:latin typeface="Arial Narrow" pitchFamily="34" charset="0"/>
                </a:rPr>
                <a:t>f1</a:t>
              </a:r>
            </a:p>
          </p:txBody>
        </p:sp>
        <p:sp>
          <p:nvSpPr>
            <p:cNvPr id="14405" name="AutoShape 8"/>
            <p:cNvSpPr>
              <a:spLocks noChangeArrowheads="1"/>
            </p:cNvSpPr>
            <p:nvPr/>
          </p:nvSpPr>
          <p:spPr bwMode="auto">
            <a:xfrm>
              <a:off x="2688" y="2112"/>
              <a:ext cx="336" cy="288"/>
            </a:xfrm>
            <a:prstGeom prst="hexagon">
              <a:avLst>
                <a:gd name="adj" fmla="val 29167"/>
                <a:gd name="vf" fmla="val 115470"/>
              </a:avLst>
            </a:prstGeom>
            <a:solidFill>
              <a:schemeClr val="accent1"/>
            </a:solidFill>
            <a:ln w="9525">
              <a:solidFill>
                <a:schemeClr val="tx1"/>
              </a:solidFill>
              <a:miter lim="800000"/>
              <a:headEnd/>
              <a:tailEnd/>
            </a:ln>
          </p:spPr>
          <p:txBody>
            <a:bodyPr wrap="none" anchor="ctr"/>
            <a:lstStyle/>
            <a:p>
              <a:pPr algn="ctr"/>
              <a:r>
                <a:rPr lang="en-US">
                  <a:latin typeface="Arial Narrow" pitchFamily="34" charset="0"/>
                </a:rPr>
                <a:t>f6</a:t>
              </a:r>
            </a:p>
          </p:txBody>
        </p:sp>
        <p:sp>
          <p:nvSpPr>
            <p:cNvPr id="14406" name="AutoShape 9"/>
            <p:cNvSpPr>
              <a:spLocks noChangeArrowheads="1"/>
            </p:cNvSpPr>
            <p:nvPr/>
          </p:nvSpPr>
          <p:spPr bwMode="auto">
            <a:xfrm>
              <a:off x="2688" y="1824"/>
              <a:ext cx="336" cy="288"/>
            </a:xfrm>
            <a:prstGeom prst="hexagon">
              <a:avLst>
                <a:gd name="adj" fmla="val 29167"/>
                <a:gd name="vf" fmla="val 115470"/>
              </a:avLst>
            </a:prstGeom>
            <a:solidFill>
              <a:schemeClr val="accent1"/>
            </a:solidFill>
            <a:ln w="9525">
              <a:solidFill>
                <a:schemeClr val="tx1"/>
              </a:solidFill>
              <a:miter lim="800000"/>
              <a:headEnd/>
              <a:tailEnd/>
            </a:ln>
          </p:spPr>
          <p:txBody>
            <a:bodyPr wrap="none" anchor="ctr"/>
            <a:lstStyle/>
            <a:p>
              <a:pPr algn="ctr"/>
              <a:r>
                <a:rPr lang="en-US">
                  <a:latin typeface="Arial Narrow" pitchFamily="34" charset="0"/>
                </a:rPr>
                <a:t>f7</a:t>
              </a:r>
            </a:p>
          </p:txBody>
        </p:sp>
        <p:sp>
          <p:nvSpPr>
            <p:cNvPr id="14407" name="AutoShape 10"/>
            <p:cNvSpPr>
              <a:spLocks noChangeArrowheads="1"/>
            </p:cNvSpPr>
            <p:nvPr/>
          </p:nvSpPr>
          <p:spPr bwMode="auto">
            <a:xfrm>
              <a:off x="2928" y="2256"/>
              <a:ext cx="336" cy="288"/>
            </a:xfrm>
            <a:prstGeom prst="hexagon">
              <a:avLst>
                <a:gd name="adj" fmla="val 29167"/>
                <a:gd name="vf" fmla="val 115470"/>
              </a:avLst>
            </a:prstGeom>
            <a:solidFill>
              <a:schemeClr val="accent1"/>
            </a:solidFill>
            <a:ln w="9525">
              <a:solidFill>
                <a:schemeClr val="tx1"/>
              </a:solidFill>
              <a:miter lim="800000"/>
              <a:headEnd/>
              <a:tailEnd/>
            </a:ln>
          </p:spPr>
          <p:txBody>
            <a:bodyPr wrap="none" anchor="ctr"/>
            <a:lstStyle/>
            <a:p>
              <a:pPr algn="ctr"/>
              <a:r>
                <a:rPr lang="en-US">
                  <a:latin typeface="Arial Narrow" pitchFamily="34" charset="0"/>
                </a:rPr>
                <a:t>f5</a:t>
              </a:r>
            </a:p>
          </p:txBody>
        </p:sp>
      </p:grpSp>
      <p:grpSp>
        <p:nvGrpSpPr>
          <p:cNvPr id="3" name="Group 11"/>
          <p:cNvGrpSpPr>
            <a:grpSpLocks/>
          </p:cNvGrpSpPr>
          <p:nvPr/>
        </p:nvGrpSpPr>
        <p:grpSpPr bwMode="auto">
          <a:xfrm>
            <a:off x="5435600" y="2871788"/>
            <a:ext cx="1295400" cy="1371600"/>
            <a:chOff x="3424" y="1824"/>
            <a:chExt cx="816" cy="864"/>
          </a:xfrm>
        </p:grpSpPr>
        <p:sp>
          <p:nvSpPr>
            <p:cNvPr id="14394" name="AutoShape 12"/>
            <p:cNvSpPr>
              <a:spLocks noChangeArrowheads="1"/>
            </p:cNvSpPr>
            <p:nvPr/>
          </p:nvSpPr>
          <p:spPr bwMode="auto">
            <a:xfrm>
              <a:off x="3904" y="2256"/>
              <a:ext cx="336" cy="288"/>
            </a:xfrm>
            <a:prstGeom prst="hexagon">
              <a:avLst>
                <a:gd name="adj" fmla="val 29167"/>
                <a:gd name="vf" fmla="val 115470"/>
              </a:avLst>
            </a:prstGeom>
            <a:solidFill>
              <a:srgbClr val="99CC00"/>
            </a:solidFill>
            <a:ln w="9525">
              <a:solidFill>
                <a:schemeClr val="tx1"/>
              </a:solidFill>
              <a:miter lim="800000"/>
              <a:headEnd/>
              <a:tailEnd/>
            </a:ln>
          </p:spPr>
          <p:txBody>
            <a:bodyPr wrap="none" anchor="ctr"/>
            <a:lstStyle/>
            <a:p>
              <a:endParaRPr lang="en-IE"/>
            </a:p>
          </p:txBody>
        </p:sp>
        <p:sp>
          <p:nvSpPr>
            <p:cNvPr id="14395" name="AutoShape 13"/>
            <p:cNvSpPr>
              <a:spLocks noChangeArrowheads="1"/>
            </p:cNvSpPr>
            <p:nvPr/>
          </p:nvSpPr>
          <p:spPr bwMode="auto">
            <a:xfrm>
              <a:off x="3904" y="1968"/>
              <a:ext cx="336" cy="288"/>
            </a:xfrm>
            <a:prstGeom prst="hexagon">
              <a:avLst>
                <a:gd name="adj" fmla="val 29167"/>
                <a:gd name="vf" fmla="val 115470"/>
              </a:avLst>
            </a:prstGeom>
            <a:solidFill>
              <a:srgbClr val="99CC00"/>
            </a:solidFill>
            <a:ln w="9525">
              <a:solidFill>
                <a:schemeClr val="tx1"/>
              </a:solidFill>
              <a:miter lim="800000"/>
              <a:headEnd/>
              <a:tailEnd/>
            </a:ln>
          </p:spPr>
          <p:txBody>
            <a:bodyPr wrap="none" anchor="ctr"/>
            <a:lstStyle/>
            <a:p>
              <a:endParaRPr lang="en-IE"/>
            </a:p>
          </p:txBody>
        </p:sp>
        <p:sp>
          <p:nvSpPr>
            <p:cNvPr id="14396" name="AutoShape 14"/>
            <p:cNvSpPr>
              <a:spLocks noChangeArrowheads="1"/>
            </p:cNvSpPr>
            <p:nvPr/>
          </p:nvSpPr>
          <p:spPr bwMode="auto">
            <a:xfrm>
              <a:off x="3664" y="1824"/>
              <a:ext cx="336" cy="288"/>
            </a:xfrm>
            <a:prstGeom prst="hexagon">
              <a:avLst>
                <a:gd name="adj" fmla="val 29167"/>
                <a:gd name="vf" fmla="val 115470"/>
              </a:avLst>
            </a:prstGeom>
            <a:solidFill>
              <a:srgbClr val="99CC00"/>
            </a:solidFill>
            <a:ln w="9525">
              <a:solidFill>
                <a:schemeClr val="tx1"/>
              </a:solidFill>
              <a:miter lim="800000"/>
              <a:headEnd/>
              <a:tailEnd/>
            </a:ln>
          </p:spPr>
          <p:txBody>
            <a:bodyPr wrap="none" anchor="ctr"/>
            <a:lstStyle/>
            <a:p>
              <a:endParaRPr lang="en-IE"/>
            </a:p>
          </p:txBody>
        </p:sp>
        <p:sp>
          <p:nvSpPr>
            <p:cNvPr id="14397" name="AutoShape 15"/>
            <p:cNvSpPr>
              <a:spLocks noChangeArrowheads="1"/>
            </p:cNvSpPr>
            <p:nvPr/>
          </p:nvSpPr>
          <p:spPr bwMode="auto">
            <a:xfrm>
              <a:off x="3664" y="2112"/>
              <a:ext cx="336" cy="288"/>
            </a:xfrm>
            <a:prstGeom prst="hexagon">
              <a:avLst>
                <a:gd name="adj" fmla="val 29167"/>
                <a:gd name="vf" fmla="val 115470"/>
              </a:avLst>
            </a:prstGeom>
            <a:solidFill>
              <a:srgbClr val="99CC00"/>
            </a:solidFill>
            <a:ln w="9525">
              <a:solidFill>
                <a:schemeClr val="tx1"/>
              </a:solidFill>
              <a:miter lim="800000"/>
              <a:headEnd/>
              <a:tailEnd/>
            </a:ln>
          </p:spPr>
          <p:txBody>
            <a:bodyPr wrap="none" anchor="ctr"/>
            <a:lstStyle/>
            <a:p>
              <a:endParaRPr lang="en-IE"/>
            </a:p>
          </p:txBody>
        </p:sp>
        <p:sp>
          <p:nvSpPr>
            <p:cNvPr id="14398" name="AutoShape 16"/>
            <p:cNvSpPr>
              <a:spLocks noChangeArrowheads="1"/>
            </p:cNvSpPr>
            <p:nvPr/>
          </p:nvSpPr>
          <p:spPr bwMode="auto">
            <a:xfrm>
              <a:off x="3424" y="2256"/>
              <a:ext cx="336" cy="288"/>
            </a:xfrm>
            <a:prstGeom prst="hexagon">
              <a:avLst>
                <a:gd name="adj" fmla="val 29167"/>
                <a:gd name="vf" fmla="val 115470"/>
              </a:avLst>
            </a:prstGeom>
            <a:solidFill>
              <a:srgbClr val="99CC00"/>
            </a:solidFill>
            <a:ln w="9525">
              <a:solidFill>
                <a:schemeClr val="tx1"/>
              </a:solidFill>
              <a:miter lim="800000"/>
              <a:headEnd/>
              <a:tailEnd/>
            </a:ln>
          </p:spPr>
          <p:txBody>
            <a:bodyPr wrap="none" anchor="ctr"/>
            <a:lstStyle/>
            <a:p>
              <a:endParaRPr lang="en-IE"/>
            </a:p>
          </p:txBody>
        </p:sp>
        <p:sp>
          <p:nvSpPr>
            <p:cNvPr id="14399" name="AutoShape 17"/>
            <p:cNvSpPr>
              <a:spLocks noChangeArrowheads="1"/>
            </p:cNvSpPr>
            <p:nvPr/>
          </p:nvSpPr>
          <p:spPr bwMode="auto">
            <a:xfrm>
              <a:off x="3424" y="1968"/>
              <a:ext cx="336" cy="288"/>
            </a:xfrm>
            <a:prstGeom prst="hexagon">
              <a:avLst>
                <a:gd name="adj" fmla="val 29167"/>
                <a:gd name="vf" fmla="val 115470"/>
              </a:avLst>
            </a:prstGeom>
            <a:solidFill>
              <a:srgbClr val="99CC00"/>
            </a:solidFill>
            <a:ln w="9525">
              <a:solidFill>
                <a:schemeClr val="tx1"/>
              </a:solidFill>
              <a:miter lim="800000"/>
              <a:headEnd/>
              <a:tailEnd/>
            </a:ln>
          </p:spPr>
          <p:txBody>
            <a:bodyPr wrap="none" anchor="ctr"/>
            <a:lstStyle/>
            <a:p>
              <a:endParaRPr lang="en-IE"/>
            </a:p>
          </p:txBody>
        </p:sp>
        <p:sp>
          <p:nvSpPr>
            <p:cNvPr id="14400" name="AutoShape 18"/>
            <p:cNvSpPr>
              <a:spLocks noChangeArrowheads="1"/>
            </p:cNvSpPr>
            <p:nvPr/>
          </p:nvSpPr>
          <p:spPr bwMode="auto">
            <a:xfrm>
              <a:off x="3664" y="2400"/>
              <a:ext cx="336" cy="288"/>
            </a:xfrm>
            <a:prstGeom prst="hexagon">
              <a:avLst>
                <a:gd name="adj" fmla="val 29167"/>
                <a:gd name="vf" fmla="val 115470"/>
              </a:avLst>
            </a:prstGeom>
            <a:solidFill>
              <a:srgbClr val="99CC00"/>
            </a:solidFill>
            <a:ln w="9525">
              <a:solidFill>
                <a:schemeClr val="tx1"/>
              </a:solidFill>
              <a:miter lim="800000"/>
              <a:headEnd/>
              <a:tailEnd/>
            </a:ln>
          </p:spPr>
          <p:txBody>
            <a:bodyPr wrap="none" anchor="ctr"/>
            <a:lstStyle/>
            <a:p>
              <a:endParaRPr lang="en-IE"/>
            </a:p>
          </p:txBody>
        </p:sp>
      </p:grpSp>
      <p:grpSp>
        <p:nvGrpSpPr>
          <p:cNvPr id="4" name="Group 19"/>
          <p:cNvGrpSpPr>
            <a:grpSpLocks/>
          </p:cNvGrpSpPr>
          <p:nvPr/>
        </p:nvGrpSpPr>
        <p:grpSpPr bwMode="auto">
          <a:xfrm>
            <a:off x="4676775" y="3811588"/>
            <a:ext cx="1295400" cy="1371600"/>
            <a:chOff x="3424" y="1824"/>
            <a:chExt cx="816" cy="864"/>
          </a:xfrm>
        </p:grpSpPr>
        <p:sp>
          <p:nvSpPr>
            <p:cNvPr id="14387" name="AutoShape 20"/>
            <p:cNvSpPr>
              <a:spLocks noChangeArrowheads="1"/>
            </p:cNvSpPr>
            <p:nvPr/>
          </p:nvSpPr>
          <p:spPr bwMode="auto">
            <a:xfrm>
              <a:off x="3904" y="2256"/>
              <a:ext cx="336" cy="288"/>
            </a:xfrm>
            <a:prstGeom prst="hexagon">
              <a:avLst>
                <a:gd name="adj" fmla="val 29167"/>
                <a:gd name="vf" fmla="val 115470"/>
              </a:avLst>
            </a:prstGeom>
            <a:solidFill>
              <a:srgbClr val="3366FF"/>
            </a:solidFill>
            <a:ln w="9525">
              <a:solidFill>
                <a:schemeClr val="tx1"/>
              </a:solidFill>
              <a:miter lim="800000"/>
              <a:headEnd/>
              <a:tailEnd/>
            </a:ln>
          </p:spPr>
          <p:txBody>
            <a:bodyPr wrap="none" anchor="ctr"/>
            <a:lstStyle/>
            <a:p>
              <a:endParaRPr lang="en-IE"/>
            </a:p>
          </p:txBody>
        </p:sp>
        <p:sp>
          <p:nvSpPr>
            <p:cNvPr id="14388" name="AutoShape 21"/>
            <p:cNvSpPr>
              <a:spLocks noChangeArrowheads="1"/>
            </p:cNvSpPr>
            <p:nvPr/>
          </p:nvSpPr>
          <p:spPr bwMode="auto">
            <a:xfrm>
              <a:off x="3904" y="1968"/>
              <a:ext cx="336" cy="288"/>
            </a:xfrm>
            <a:prstGeom prst="hexagon">
              <a:avLst>
                <a:gd name="adj" fmla="val 29167"/>
                <a:gd name="vf" fmla="val 115470"/>
              </a:avLst>
            </a:prstGeom>
            <a:solidFill>
              <a:srgbClr val="3366FF"/>
            </a:solidFill>
            <a:ln w="9525">
              <a:solidFill>
                <a:schemeClr val="tx1"/>
              </a:solidFill>
              <a:miter lim="800000"/>
              <a:headEnd/>
              <a:tailEnd/>
            </a:ln>
          </p:spPr>
          <p:txBody>
            <a:bodyPr wrap="none" anchor="ctr"/>
            <a:lstStyle/>
            <a:p>
              <a:endParaRPr lang="en-IE"/>
            </a:p>
          </p:txBody>
        </p:sp>
        <p:sp>
          <p:nvSpPr>
            <p:cNvPr id="14389" name="AutoShape 22"/>
            <p:cNvSpPr>
              <a:spLocks noChangeArrowheads="1"/>
            </p:cNvSpPr>
            <p:nvPr/>
          </p:nvSpPr>
          <p:spPr bwMode="auto">
            <a:xfrm>
              <a:off x="3664" y="1824"/>
              <a:ext cx="336" cy="288"/>
            </a:xfrm>
            <a:prstGeom prst="hexagon">
              <a:avLst>
                <a:gd name="adj" fmla="val 29167"/>
                <a:gd name="vf" fmla="val 115470"/>
              </a:avLst>
            </a:prstGeom>
            <a:solidFill>
              <a:srgbClr val="3366FF"/>
            </a:solidFill>
            <a:ln w="9525">
              <a:solidFill>
                <a:schemeClr val="tx1"/>
              </a:solidFill>
              <a:miter lim="800000"/>
              <a:headEnd/>
              <a:tailEnd/>
            </a:ln>
          </p:spPr>
          <p:txBody>
            <a:bodyPr wrap="none" anchor="ctr"/>
            <a:lstStyle/>
            <a:p>
              <a:endParaRPr lang="en-IE"/>
            </a:p>
          </p:txBody>
        </p:sp>
        <p:sp>
          <p:nvSpPr>
            <p:cNvPr id="14390" name="AutoShape 23"/>
            <p:cNvSpPr>
              <a:spLocks noChangeArrowheads="1"/>
            </p:cNvSpPr>
            <p:nvPr/>
          </p:nvSpPr>
          <p:spPr bwMode="auto">
            <a:xfrm>
              <a:off x="3664" y="2112"/>
              <a:ext cx="336" cy="288"/>
            </a:xfrm>
            <a:prstGeom prst="hexagon">
              <a:avLst>
                <a:gd name="adj" fmla="val 29167"/>
                <a:gd name="vf" fmla="val 115470"/>
              </a:avLst>
            </a:prstGeom>
            <a:solidFill>
              <a:srgbClr val="3366FF"/>
            </a:solidFill>
            <a:ln w="9525">
              <a:solidFill>
                <a:schemeClr val="tx1"/>
              </a:solidFill>
              <a:miter lim="800000"/>
              <a:headEnd/>
              <a:tailEnd/>
            </a:ln>
          </p:spPr>
          <p:txBody>
            <a:bodyPr wrap="none" anchor="ctr"/>
            <a:lstStyle/>
            <a:p>
              <a:endParaRPr lang="en-IE"/>
            </a:p>
          </p:txBody>
        </p:sp>
        <p:sp>
          <p:nvSpPr>
            <p:cNvPr id="14391" name="AutoShape 24"/>
            <p:cNvSpPr>
              <a:spLocks noChangeArrowheads="1"/>
            </p:cNvSpPr>
            <p:nvPr/>
          </p:nvSpPr>
          <p:spPr bwMode="auto">
            <a:xfrm>
              <a:off x="3424" y="2256"/>
              <a:ext cx="336" cy="288"/>
            </a:xfrm>
            <a:prstGeom prst="hexagon">
              <a:avLst>
                <a:gd name="adj" fmla="val 29167"/>
                <a:gd name="vf" fmla="val 115470"/>
              </a:avLst>
            </a:prstGeom>
            <a:solidFill>
              <a:srgbClr val="3366FF"/>
            </a:solidFill>
            <a:ln w="9525">
              <a:solidFill>
                <a:schemeClr val="tx1"/>
              </a:solidFill>
              <a:miter lim="800000"/>
              <a:headEnd/>
              <a:tailEnd/>
            </a:ln>
          </p:spPr>
          <p:txBody>
            <a:bodyPr wrap="none" anchor="ctr"/>
            <a:lstStyle/>
            <a:p>
              <a:endParaRPr lang="en-IE"/>
            </a:p>
          </p:txBody>
        </p:sp>
        <p:sp>
          <p:nvSpPr>
            <p:cNvPr id="14392" name="AutoShape 25"/>
            <p:cNvSpPr>
              <a:spLocks noChangeArrowheads="1"/>
            </p:cNvSpPr>
            <p:nvPr/>
          </p:nvSpPr>
          <p:spPr bwMode="auto">
            <a:xfrm>
              <a:off x="3424" y="1968"/>
              <a:ext cx="336" cy="288"/>
            </a:xfrm>
            <a:prstGeom prst="hexagon">
              <a:avLst>
                <a:gd name="adj" fmla="val 29167"/>
                <a:gd name="vf" fmla="val 115470"/>
              </a:avLst>
            </a:prstGeom>
            <a:solidFill>
              <a:srgbClr val="3366FF"/>
            </a:solidFill>
            <a:ln w="9525">
              <a:solidFill>
                <a:schemeClr val="tx1"/>
              </a:solidFill>
              <a:miter lim="800000"/>
              <a:headEnd/>
              <a:tailEnd/>
            </a:ln>
          </p:spPr>
          <p:txBody>
            <a:bodyPr wrap="none" anchor="ctr"/>
            <a:lstStyle/>
            <a:p>
              <a:endParaRPr lang="en-IE"/>
            </a:p>
          </p:txBody>
        </p:sp>
        <p:sp>
          <p:nvSpPr>
            <p:cNvPr id="14393" name="AutoShape 26"/>
            <p:cNvSpPr>
              <a:spLocks noChangeArrowheads="1"/>
            </p:cNvSpPr>
            <p:nvPr/>
          </p:nvSpPr>
          <p:spPr bwMode="auto">
            <a:xfrm>
              <a:off x="3664" y="2400"/>
              <a:ext cx="336" cy="288"/>
            </a:xfrm>
            <a:prstGeom prst="hexagon">
              <a:avLst>
                <a:gd name="adj" fmla="val 29167"/>
                <a:gd name="vf" fmla="val 115470"/>
              </a:avLst>
            </a:prstGeom>
            <a:solidFill>
              <a:srgbClr val="3366FF"/>
            </a:solidFill>
            <a:ln w="9525">
              <a:solidFill>
                <a:schemeClr val="tx1"/>
              </a:solidFill>
              <a:miter lim="800000"/>
              <a:headEnd/>
              <a:tailEnd/>
            </a:ln>
          </p:spPr>
          <p:txBody>
            <a:bodyPr wrap="none" anchor="ctr"/>
            <a:lstStyle/>
            <a:p>
              <a:endParaRPr lang="en-IE"/>
            </a:p>
          </p:txBody>
        </p:sp>
      </p:grpSp>
      <p:grpSp>
        <p:nvGrpSpPr>
          <p:cNvPr id="5" name="Group 27"/>
          <p:cNvGrpSpPr>
            <a:grpSpLocks/>
          </p:cNvGrpSpPr>
          <p:nvPr/>
        </p:nvGrpSpPr>
        <p:grpSpPr bwMode="auto">
          <a:xfrm>
            <a:off x="3514725" y="3586163"/>
            <a:ext cx="1295400" cy="1371600"/>
            <a:chOff x="3424" y="1824"/>
            <a:chExt cx="816" cy="864"/>
          </a:xfrm>
        </p:grpSpPr>
        <p:sp>
          <p:nvSpPr>
            <p:cNvPr id="14380" name="AutoShape 28"/>
            <p:cNvSpPr>
              <a:spLocks noChangeArrowheads="1"/>
            </p:cNvSpPr>
            <p:nvPr/>
          </p:nvSpPr>
          <p:spPr bwMode="auto">
            <a:xfrm>
              <a:off x="3904" y="2256"/>
              <a:ext cx="336" cy="288"/>
            </a:xfrm>
            <a:prstGeom prst="hexagon">
              <a:avLst>
                <a:gd name="adj" fmla="val 29167"/>
                <a:gd name="vf" fmla="val 115470"/>
              </a:avLst>
            </a:prstGeom>
            <a:solidFill>
              <a:srgbClr val="FF0000"/>
            </a:solidFill>
            <a:ln w="9525">
              <a:solidFill>
                <a:schemeClr val="tx1"/>
              </a:solidFill>
              <a:miter lim="800000"/>
              <a:headEnd/>
              <a:tailEnd/>
            </a:ln>
          </p:spPr>
          <p:txBody>
            <a:bodyPr wrap="none" anchor="ctr"/>
            <a:lstStyle/>
            <a:p>
              <a:endParaRPr lang="en-IE"/>
            </a:p>
          </p:txBody>
        </p:sp>
        <p:sp>
          <p:nvSpPr>
            <p:cNvPr id="14381" name="AutoShape 29"/>
            <p:cNvSpPr>
              <a:spLocks noChangeArrowheads="1"/>
            </p:cNvSpPr>
            <p:nvPr/>
          </p:nvSpPr>
          <p:spPr bwMode="auto">
            <a:xfrm>
              <a:off x="3904" y="1968"/>
              <a:ext cx="336" cy="288"/>
            </a:xfrm>
            <a:prstGeom prst="hexagon">
              <a:avLst>
                <a:gd name="adj" fmla="val 29167"/>
                <a:gd name="vf" fmla="val 115470"/>
              </a:avLst>
            </a:prstGeom>
            <a:solidFill>
              <a:srgbClr val="FF0000"/>
            </a:solidFill>
            <a:ln w="9525">
              <a:solidFill>
                <a:schemeClr val="tx1"/>
              </a:solidFill>
              <a:miter lim="800000"/>
              <a:headEnd/>
              <a:tailEnd/>
            </a:ln>
          </p:spPr>
          <p:txBody>
            <a:bodyPr wrap="none" anchor="ctr"/>
            <a:lstStyle/>
            <a:p>
              <a:endParaRPr lang="en-IE"/>
            </a:p>
          </p:txBody>
        </p:sp>
        <p:sp>
          <p:nvSpPr>
            <p:cNvPr id="14382" name="AutoShape 30"/>
            <p:cNvSpPr>
              <a:spLocks noChangeArrowheads="1"/>
            </p:cNvSpPr>
            <p:nvPr/>
          </p:nvSpPr>
          <p:spPr bwMode="auto">
            <a:xfrm>
              <a:off x="3664" y="1824"/>
              <a:ext cx="336" cy="288"/>
            </a:xfrm>
            <a:prstGeom prst="hexagon">
              <a:avLst>
                <a:gd name="adj" fmla="val 29167"/>
                <a:gd name="vf" fmla="val 115470"/>
              </a:avLst>
            </a:prstGeom>
            <a:solidFill>
              <a:srgbClr val="FF0000"/>
            </a:solidFill>
            <a:ln w="9525">
              <a:solidFill>
                <a:schemeClr val="tx1"/>
              </a:solidFill>
              <a:miter lim="800000"/>
              <a:headEnd/>
              <a:tailEnd/>
            </a:ln>
          </p:spPr>
          <p:txBody>
            <a:bodyPr wrap="none" anchor="ctr"/>
            <a:lstStyle/>
            <a:p>
              <a:endParaRPr lang="en-IE"/>
            </a:p>
          </p:txBody>
        </p:sp>
        <p:sp>
          <p:nvSpPr>
            <p:cNvPr id="14383" name="AutoShape 31"/>
            <p:cNvSpPr>
              <a:spLocks noChangeArrowheads="1"/>
            </p:cNvSpPr>
            <p:nvPr/>
          </p:nvSpPr>
          <p:spPr bwMode="auto">
            <a:xfrm>
              <a:off x="3664" y="2112"/>
              <a:ext cx="336" cy="288"/>
            </a:xfrm>
            <a:prstGeom prst="hexagon">
              <a:avLst>
                <a:gd name="adj" fmla="val 29167"/>
                <a:gd name="vf" fmla="val 115470"/>
              </a:avLst>
            </a:prstGeom>
            <a:solidFill>
              <a:srgbClr val="FF0000"/>
            </a:solidFill>
            <a:ln w="9525">
              <a:solidFill>
                <a:schemeClr val="tx1"/>
              </a:solidFill>
              <a:miter lim="800000"/>
              <a:headEnd/>
              <a:tailEnd/>
            </a:ln>
          </p:spPr>
          <p:txBody>
            <a:bodyPr wrap="none" anchor="ctr"/>
            <a:lstStyle/>
            <a:p>
              <a:endParaRPr lang="en-IE"/>
            </a:p>
          </p:txBody>
        </p:sp>
        <p:sp>
          <p:nvSpPr>
            <p:cNvPr id="14384" name="AutoShape 32"/>
            <p:cNvSpPr>
              <a:spLocks noChangeArrowheads="1"/>
            </p:cNvSpPr>
            <p:nvPr/>
          </p:nvSpPr>
          <p:spPr bwMode="auto">
            <a:xfrm>
              <a:off x="3424" y="2256"/>
              <a:ext cx="336" cy="288"/>
            </a:xfrm>
            <a:prstGeom prst="hexagon">
              <a:avLst>
                <a:gd name="adj" fmla="val 29167"/>
                <a:gd name="vf" fmla="val 115470"/>
              </a:avLst>
            </a:prstGeom>
            <a:solidFill>
              <a:srgbClr val="FF0000"/>
            </a:solidFill>
            <a:ln w="9525">
              <a:solidFill>
                <a:schemeClr val="tx1"/>
              </a:solidFill>
              <a:miter lim="800000"/>
              <a:headEnd/>
              <a:tailEnd/>
            </a:ln>
          </p:spPr>
          <p:txBody>
            <a:bodyPr wrap="none" anchor="ctr"/>
            <a:lstStyle/>
            <a:p>
              <a:endParaRPr lang="en-IE"/>
            </a:p>
          </p:txBody>
        </p:sp>
        <p:sp>
          <p:nvSpPr>
            <p:cNvPr id="14385" name="AutoShape 33"/>
            <p:cNvSpPr>
              <a:spLocks noChangeArrowheads="1"/>
            </p:cNvSpPr>
            <p:nvPr/>
          </p:nvSpPr>
          <p:spPr bwMode="auto">
            <a:xfrm>
              <a:off x="3424" y="1968"/>
              <a:ext cx="336" cy="288"/>
            </a:xfrm>
            <a:prstGeom prst="hexagon">
              <a:avLst>
                <a:gd name="adj" fmla="val 29167"/>
                <a:gd name="vf" fmla="val 115470"/>
              </a:avLst>
            </a:prstGeom>
            <a:solidFill>
              <a:srgbClr val="FF0000"/>
            </a:solidFill>
            <a:ln w="9525">
              <a:solidFill>
                <a:schemeClr val="tx1"/>
              </a:solidFill>
              <a:miter lim="800000"/>
              <a:headEnd/>
              <a:tailEnd/>
            </a:ln>
          </p:spPr>
          <p:txBody>
            <a:bodyPr wrap="none" anchor="ctr"/>
            <a:lstStyle/>
            <a:p>
              <a:endParaRPr lang="en-IE"/>
            </a:p>
          </p:txBody>
        </p:sp>
        <p:sp>
          <p:nvSpPr>
            <p:cNvPr id="14386" name="AutoShape 34"/>
            <p:cNvSpPr>
              <a:spLocks noChangeArrowheads="1"/>
            </p:cNvSpPr>
            <p:nvPr/>
          </p:nvSpPr>
          <p:spPr bwMode="auto">
            <a:xfrm>
              <a:off x="3664" y="2400"/>
              <a:ext cx="336" cy="288"/>
            </a:xfrm>
            <a:prstGeom prst="hexagon">
              <a:avLst>
                <a:gd name="adj" fmla="val 29167"/>
                <a:gd name="vf" fmla="val 115470"/>
              </a:avLst>
            </a:prstGeom>
            <a:solidFill>
              <a:srgbClr val="FF0000"/>
            </a:solidFill>
            <a:ln w="9525">
              <a:solidFill>
                <a:schemeClr val="tx1"/>
              </a:solidFill>
              <a:miter lim="800000"/>
              <a:headEnd/>
              <a:tailEnd/>
            </a:ln>
          </p:spPr>
          <p:txBody>
            <a:bodyPr wrap="none" anchor="ctr"/>
            <a:lstStyle/>
            <a:p>
              <a:endParaRPr lang="en-IE"/>
            </a:p>
          </p:txBody>
        </p:sp>
      </p:grpSp>
      <p:grpSp>
        <p:nvGrpSpPr>
          <p:cNvPr id="6" name="Group 35"/>
          <p:cNvGrpSpPr>
            <a:grpSpLocks/>
          </p:cNvGrpSpPr>
          <p:nvPr/>
        </p:nvGrpSpPr>
        <p:grpSpPr bwMode="auto">
          <a:xfrm>
            <a:off x="5837238" y="4035425"/>
            <a:ext cx="1295400" cy="1371600"/>
            <a:chOff x="3424" y="1824"/>
            <a:chExt cx="816" cy="864"/>
          </a:xfrm>
        </p:grpSpPr>
        <p:sp>
          <p:nvSpPr>
            <p:cNvPr id="14373" name="AutoShape 36"/>
            <p:cNvSpPr>
              <a:spLocks noChangeArrowheads="1"/>
            </p:cNvSpPr>
            <p:nvPr/>
          </p:nvSpPr>
          <p:spPr bwMode="auto">
            <a:xfrm>
              <a:off x="3904" y="2256"/>
              <a:ext cx="336" cy="288"/>
            </a:xfrm>
            <a:prstGeom prst="hexagon">
              <a:avLst>
                <a:gd name="adj" fmla="val 29167"/>
                <a:gd name="vf" fmla="val 115470"/>
              </a:avLst>
            </a:prstGeom>
            <a:solidFill>
              <a:srgbClr val="FFCC00"/>
            </a:solidFill>
            <a:ln w="9525">
              <a:solidFill>
                <a:schemeClr val="tx1"/>
              </a:solidFill>
              <a:miter lim="800000"/>
              <a:headEnd/>
              <a:tailEnd/>
            </a:ln>
          </p:spPr>
          <p:txBody>
            <a:bodyPr wrap="none" anchor="ctr"/>
            <a:lstStyle/>
            <a:p>
              <a:endParaRPr lang="en-IE"/>
            </a:p>
          </p:txBody>
        </p:sp>
        <p:sp>
          <p:nvSpPr>
            <p:cNvPr id="14374" name="AutoShape 37"/>
            <p:cNvSpPr>
              <a:spLocks noChangeArrowheads="1"/>
            </p:cNvSpPr>
            <p:nvPr/>
          </p:nvSpPr>
          <p:spPr bwMode="auto">
            <a:xfrm>
              <a:off x="3904" y="1968"/>
              <a:ext cx="336" cy="288"/>
            </a:xfrm>
            <a:prstGeom prst="hexagon">
              <a:avLst>
                <a:gd name="adj" fmla="val 29167"/>
                <a:gd name="vf" fmla="val 115470"/>
              </a:avLst>
            </a:prstGeom>
            <a:solidFill>
              <a:srgbClr val="FFCC00"/>
            </a:solidFill>
            <a:ln w="9525">
              <a:solidFill>
                <a:schemeClr val="tx1"/>
              </a:solidFill>
              <a:miter lim="800000"/>
              <a:headEnd/>
              <a:tailEnd/>
            </a:ln>
          </p:spPr>
          <p:txBody>
            <a:bodyPr wrap="none" anchor="ctr"/>
            <a:lstStyle/>
            <a:p>
              <a:endParaRPr lang="en-IE"/>
            </a:p>
          </p:txBody>
        </p:sp>
        <p:sp>
          <p:nvSpPr>
            <p:cNvPr id="14375" name="AutoShape 38"/>
            <p:cNvSpPr>
              <a:spLocks noChangeArrowheads="1"/>
            </p:cNvSpPr>
            <p:nvPr/>
          </p:nvSpPr>
          <p:spPr bwMode="auto">
            <a:xfrm>
              <a:off x="3664" y="1824"/>
              <a:ext cx="336" cy="288"/>
            </a:xfrm>
            <a:prstGeom prst="hexagon">
              <a:avLst>
                <a:gd name="adj" fmla="val 29167"/>
                <a:gd name="vf" fmla="val 115470"/>
              </a:avLst>
            </a:prstGeom>
            <a:solidFill>
              <a:srgbClr val="FFCC00"/>
            </a:solidFill>
            <a:ln w="9525">
              <a:solidFill>
                <a:schemeClr val="tx1"/>
              </a:solidFill>
              <a:miter lim="800000"/>
              <a:headEnd/>
              <a:tailEnd/>
            </a:ln>
          </p:spPr>
          <p:txBody>
            <a:bodyPr wrap="none" anchor="ctr"/>
            <a:lstStyle/>
            <a:p>
              <a:endParaRPr lang="en-IE"/>
            </a:p>
          </p:txBody>
        </p:sp>
        <p:sp>
          <p:nvSpPr>
            <p:cNvPr id="14376" name="AutoShape 39"/>
            <p:cNvSpPr>
              <a:spLocks noChangeArrowheads="1"/>
            </p:cNvSpPr>
            <p:nvPr/>
          </p:nvSpPr>
          <p:spPr bwMode="auto">
            <a:xfrm>
              <a:off x="3664" y="2112"/>
              <a:ext cx="336" cy="288"/>
            </a:xfrm>
            <a:prstGeom prst="hexagon">
              <a:avLst>
                <a:gd name="adj" fmla="val 29167"/>
                <a:gd name="vf" fmla="val 115470"/>
              </a:avLst>
            </a:prstGeom>
            <a:solidFill>
              <a:srgbClr val="FFCC00"/>
            </a:solidFill>
            <a:ln w="9525">
              <a:solidFill>
                <a:schemeClr val="tx1"/>
              </a:solidFill>
              <a:miter lim="800000"/>
              <a:headEnd/>
              <a:tailEnd/>
            </a:ln>
          </p:spPr>
          <p:txBody>
            <a:bodyPr wrap="none" anchor="ctr"/>
            <a:lstStyle/>
            <a:p>
              <a:endParaRPr lang="en-IE"/>
            </a:p>
          </p:txBody>
        </p:sp>
        <p:sp>
          <p:nvSpPr>
            <p:cNvPr id="14377" name="AutoShape 40"/>
            <p:cNvSpPr>
              <a:spLocks noChangeArrowheads="1"/>
            </p:cNvSpPr>
            <p:nvPr/>
          </p:nvSpPr>
          <p:spPr bwMode="auto">
            <a:xfrm>
              <a:off x="3424" y="2256"/>
              <a:ext cx="336" cy="288"/>
            </a:xfrm>
            <a:prstGeom prst="hexagon">
              <a:avLst>
                <a:gd name="adj" fmla="val 29167"/>
                <a:gd name="vf" fmla="val 115470"/>
              </a:avLst>
            </a:prstGeom>
            <a:solidFill>
              <a:srgbClr val="FFCC00"/>
            </a:solidFill>
            <a:ln w="9525">
              <a:solidFill>
                <a:schemeClr val="tx1"/>
              </a:solidFill>
              <a:miter lim="800000"/>
              <a:headEnd/>
              <a:tailEnd/>
            </a:ln>
          </p:spPr>
          <p:txBody>
            <a:bodyPr wrap="none" anchor="ctr"/>
            <a:lstStyle/>
            <a:p>
              <a:endParaRPr lang="en-IE"/>
            </a:p>
          </p:txBody>
        </p:sp>
        <p:sp>
          <p:nvSpPr>
            <p:cNvPr id="14378" name="AutoShape 41"/>
            <p:cNvSpPr>
              <a:spLocks noChangeArrowheads="1"/>
            </p:cNvSpPr>
            <p:nvPr/>
          </p:nvSpPr>
          <p:spPr bwMode="auto">
            <a:xfrm>
              <a:off x="3424" y="1968"/>
              <a:ext cx="336" cy="288"/>
            </a:xfrm>
            <a:prstGeom prst="hexagon">
              <a:avLst>
                <a:gd name="adj" fmla="val 29167"/>
                <a:gd name="vf" fmla="val 115470"/>
              </a:avLst>
            </a:prstGeom>
            <a:solidFill>
              <a:srgbClr val="FFCC00"/>
            </a:solidFill>
            <a:ln w="9525">
              <a:solidFill>
                <a:schemeClr val="tx1"/>
              </a:solidFill>
              <a:miter lim="800000"/>
              <a:headEnd/>
              <a:tailEnd/>
            </a:ln>
          </p:spPr>
          <p:txBody>
            <a:bodyPr wrap="none" anchor="ctr"/>
            <a:lstStyle/>
            <a:p>
              <a:endParaRPr lang="en-IE"/>
            </a:p>
          </p:txBody>
        </p:sp>
        <p:sp>
          <p:nvSpPr>
            <p:cNvPr id="14379" name="AutoShape 42"/>
            <p:cNvSpPr>
              <a:spLocks noChangeArrowheads="1"/>
            </p:cNvSpPr>
            <p:nvPr/>
          </p:nvSpPr>
          <p:spPr bwMode="auto">
            <a:xfrm>
              <a:off x="3664" y="2400"/>
              <a:ext cx="336" cy="288"/>
            </a:xfrm>
            <a:prstGeom prst="hexagon">
              <a:avLst>
                <a:gd name="adj" fmla="val 29167"/>
                <a:gd name="vf" fmla="val 115470"/>
              </a:avLst>
            </a:prstGeom>
            <a:solidFill>
              <a:srgbClr val="FFCC00"/>
            </a:solidFill>
            <a:ln w="9525">
              <a:solidFill>
                <a:schemeClr val="tx1"/>
              </a:solidFill>
              <a:miter lim="800000"/>
              <a:headEnd/>
              <a:tailEnd/>
            </a:ln>
          </p:spPr>
          <p:txBody>
            <a:bodyPr wrap="none" anchor="ctr"/>
            <a:lstStyle/>
            <a:p>
              <a:endParaRPr lang="en-IE"/>
            </a:p>
          </p:txBody>
        </p:sp>
      </p:grpSp>
      <p:sp>
        <p:nvSpPr>
          <p:cNvPr id="14344" name="AutoShape 43"/>
          <p:cNvSpPr>
            <a:spLocks noChangeArrowheads="1"/>
          </p:cNvSpPr>
          <p:nvPr/>
        </p:nvSpPr>
        <p:spPr bwMode="auto">
          <a:xfrm>
            <a:off x="6202363" y="3578225"/>
            <a:ext cx="533400" cy="457200"/>
          </a:xfrm>
          <a:prstGeom prst="hexagon">
            <a:avLst>
              <a:gd name="adj" fmla="val 29167"/>
              <a:gd name="vf" fmla="val 115470"/>
            </a:avLst>
          </a:prstGeom>
          <a:solidFill>
            <a:srgbClr val="99CC00"/>
          </a:solidFill>
          <a:ln w="9525">
            <a:solidFill>
              <a:schemeClr val="tx1"/>
            </a:solidFill>
            <a:miter lim="800000"/>
            <a:headEnd/>
            <a:tailEnd/>
          </a:ln>
        </p:spPr>
        <p:txBody>
          <a:bodyPr wrap="none" anchor="ctr"/>
          <a:lstStyle/>
          <a:p>
            <a:pPr algn="ctr"/>
            <a:r>
              <a:rPr lang="en-US">
                <a:latin typeface="Arial Narrow" pitchFamily="34" charset="0"/>
              </a:rPr>
              <a:t>f4</a:t>
            </a:r>
          </a:p>
        </p:txBody>
      </p:sp>
      <p:sp>
        <p:nvSpPr>
          <p:cNvPr id="14345" name="AutoShape 44"/>
          <p:cNvSpPr>
            <a:spLocks noChangeArrowheads="1"/>
          </p:cNvSpPr>
          <p:nvPr/>
        </p:nvSpPr>
        <p:spPr bwMode="auto">
          <a:xfrm>
            <a:off x="6202363" y="3121025"/>
            <a:ext cx="533400" cy="457200"/>
          </a:xfrm>
          <a:prstGeom prst="hexagon">
            <a:avLst>
              <a:gd name="adj" fmla="val 29167"/>
              <a:gd name="vf" fmla="val 115470"/>
            </a:avLst>
          </a:prstGeom>
          <a:solidFill>
            <a:srgbClr val="99CC00"/>
          </a:solidFill>
          <a:ln w="9525">
            <a:solidFill>
              <a:schemeClr val="tx1"/>
            </a:solidFill>
            <a:miter lim="800000"/>
            <a:headEnd/>
            <a:tailEnd/>
          </a:ln>
        </p:spPr>
        <p:txBody>
          <a:bodyPr wrap="none" anchor="ctr"/>
          <a:lstStyle/>
          <a:p>
            <a:pPr algn="ctr"/>
            <a:r>
              <a:rPr lang="en-US">
                <a:latin typeface="Arial Narrow" pitchFamily="34" charset="0"/>
              </a:rPr>
              <a:t>f3</a:t>
            </a:r>
          </a:p>
        </p:txBody>
      </p:sp>
      <p:sp>
        <p:nvSpPr>
          <p:cNvPr id="14346" name="AutoShape 45"/>
          <p:cNvSpPr>
            <a:spLocks noChangeArrowheads="1"/>
          </p:cNvSpPr>
          <p:nvPr/>
        </p:nvSpPr>
        <p:spPr bwMode="auto">
          <a:xfrm>
            <a:off x="5821363" y="2892425"/>
            <a:ext cx="533400" cy="457200"/>
          </a:xfrm>
          <a:prstGeom prst="hexagon">
            <a:avLst>
              <a:gd name="adj" fmla="val 29167"/>
              <a:gd name="vf" fmla="val 115470"/>
            </a:avLst>
          </a:prstGeom>
          <a:solidFill>
            <a:srgbClr val="99CC00"/>
          </a:solidFill>
          <a:ln w="9525">
            <a:solidFill>
              <a:schemeClr val="tx1"/>
            </a:solidFill>
            <a:miter lim="800000"/>
            <a:headEnd/>
            <a:tailEnd/>
          </a:ln>
        </p:spPr>
        <p:txBody>
          <a:bodyPr wrap="none" anchor="ctr"/>
          <a:lstStyle/>
          <a:p>
            <a:pPr algn="ctr"/>
            <a:r>
              <a:rPr lang="en-US">
                <a:latin typeface="Arial Narrow" pitchFamily="34" charset="0"/>
              </a:rPr>
              <a:t>f2</a:t>
            </a:r>
          </a:p>
        </p:txBody>
      </p:sp>
      <p:sp>
        <p:nvSpPr>
          <p:cNvPr id="14347" name="AutoShape 46"/>
          <p:cNvSpPr>
            <a:spLocks noChangeArrowheads="1"/>
          </p:cNvSpPr>
          <p:nvPr/>
        </p:nvSpPr>
        <p:spPr bwMode="auto">
          <a:xfrm>
            <a:off x="5821363" y="3349625"/>
            <a:ext cx="533400" cy="457200"/>
          </a:xfrm>
          <a:prstGeom prst="hexagon">
            <a:avLst>
              <a:gd name="adj" fmla="val 29167"/>
              <a:gd name="vf" fmla="val 115470"/>
            </a:avLst>
          </a:prstGeom>
          <a:solidFill>
            <a:srgbClr val="99CC00"/>
          </a:solidFill>
          <a:ln w="9525">
            <a:solidFill>
              <a:schemeClr val="tx1"/>
            </a:solidFill>
            <a:miter lim="800000"/>
            <a:headEnd/>
            <a:tailEnd/>
          </a:ln>
        </p:spPr>
        <p:txBody>
          <a:bodyPr wrap="none" anchor="ctr"/>
          <a:lstStyle/>
          <a:p>
            <a:pPr algn="ctr"/>
            <a:r>
              <a:rPr lang="en-US">
                <a:latin typeface="Arial Narrow" pitchFamily="34" charset="0"/>
              </a:rPr>
              <a:t>f1</a:t>
            </a:r>
          </a:p>
        </p:txBody>
      </p:sp>
      <p:sp>
        <p:nvSpPr>
          <p:cNvPr id="14348" name="AutoShape 47"/>
          <p:cNvSpPr>
            <a:spLocks noChangeArrowheads="1"/>
          </p:cNvSpPr>
          <p:nvPr/>
        </p:nvSpPr>
        <p:spPr bwMode="auto">
          <a:xfrm>
            <a:off x="5440363" y="3578225"/>
            <a:ext cx="533400" cy="457200"/>
          </a:xfrm>
          <a:prstGeom prst="hexagon">
            <a:avLst>
              <a:gd name="adj" fmla="val 29167"/>
              <a:gd name="vf" fmla="val 115470"/>
            </a:avLst>
          </a:prstGeom>
          <a:solidFill>
            <a:srgbClr val="99CC00"/>
          </a:solidFill>
          <a:ln w="9525">
            <a:solidFill>
              <a:schemeClr val="tx1"/>
            </a:solidFill>
            <a:miter lim="800000"/>
            <a:headEnd/>
            <a:tailEnd/>
          </a:ln>
        </p:spPr>
        <p:txBody>
          <a:bodyPr wrap="none" anchor="ctr"/>
          <a:lstStyle/>
          <a:p>
            <a:pPr algn="ctr"/>
            <a:r>
              <a:rPr lang="en-US">
                <a:latin typeface="Arial Narrow" pitchFamily="34" charset="0"/>
              </a:rPr>
              <a:t>f6</a:t>
            </a:r>
          </a:p>
        </p:txBody>
      </p:sp>
      <p:sp>
        <p:nvSpPr>
          <p:cNvPr id="14349" name="AutoShape 48"/>
          <p:cNvSpPr>
            <a:spLocks noChangeArrowheads="1"/>
          </p:cNvSpPr>
          <p:nvPr/>
        </p:nvSpPr>
        <p:spPr bwMode="auto">
          <a:xfrm>
            <a:off x="5440363" y="3121025"/>
            <a:ext cx="533400" cy="457200"/>
          </a:xfrm>
          <a:prstGeom prst="hexagon">
            <a:avLst>
              <a:gd name="adj" fmla="val 29167"/>
              <a:gd name="vf" fmla="val 115470"/>
            </a:avLst>
          </a:prstGeom>
          <a:solidFill>
            <a:srgbClr val="99CC00"/>
          </a:solidFill>
          <a:ln w="9525">
            <a:solidFill>
              <a:schemeClr val="tx1"/>
            </a:solidFill>
            <a:miter lim="800000"/>
            <a:headEnd/>
            <a:tailEnd/>
          </a:ln>
        </p:spPr>
        <p:txBody>
          <a:bodyPr wrap="none" anchor="ctr"/>
          <a:lstStyle/>
          <a:p>
            <a:pPr algn="ctr"/>
            <a:r>
              <a:rPr lang="en-US">
                <a:latin typeface="Arial Narrow" pitchFamily="34" charset="0"/>
              </a:rPr>
              <a:t>f7</a:t>
            </a:r>
          </a:p>
        </p:txBody>
      </p:sp>
      <p:sp>
        <p:nvSpPr>
          <p:cNvPr id="14350" name="AutoShape 49"/>
          <p:cNvSpPr>
            <a:spLocks noChangeArrowheads="1"/>
          </p:cNvSpPr>
          <p:nvPr/>
        </p:nvSpPr>
        <p:spPr bwMode="auto">
          <a:xfrm>
            <a:off x="5821363" y="3806825"/>
            <a:ext cx="533400" cy="457200"/>
          </a:xfrm>
          <a:prstGeom prst="hexagon">
            <a:avLst>
              <a:gd name="adj" fmla="val 29167"/>
              <a:gd name="vf" fmla="val 115470"/>
            </a:avLst>
          </a:prstGeom>
          <a:solidFill>
            <a:srgbClr val="99CC00"/>
          </a:solidFill>
          <a:ln w="9525">
            <a:solidFill>
              <a:schemeClr val="tx1"/>
            </a:solidFill>
            <a:miter lim="800000"/>
            <a:headEnd/>
            <a:tailEnd/>
          </a:ln>
        </p:spPr>
        <p:txBody>
          <a:bodyPr wrap="none" anchor="ctr"/>
          <a:lstStyle/>
          <a:p>
            <a:pPr algn="ctr"/>
            <a:r>
              <a:rPr lang="en-US">
                <a:latin typeface="Arial Narrow" pitchFamily="34" charset="0"/>
              </a:rPr>
              <a:t>f5</a:t>
            </a:r>
          </a:p>
        </p:txBody>
      </p:sp>
      <p:sp>
        <p:nvSpPr>
          <p:cNvPr id="14351" name="AutoShape 50"/>
          <p:cNvSpPr>
            <a:spLocks noChangeArrowheads="1"/>
          </p:cNvSpPr>
          <p:nvPr/>
        </p:nvSpPr>
        <p:spPr bwMode="auto">
          <a:xfrm>
            <a:off x="6604000" y="4738688"/>
            <a:ext cx="533400" cy="457200"/>
          </a:xfrm>
          <a:prstGeom prst="hexagon">
            <a:avLst>
              <a:gd name="adj" fmla="val 29167"/>
              <a:gd name="vf" fmla="val 115470"/>
            </a:avLst>
          </a:prstGeom>
          <a:solidFill>
            <a:srgbClr val="FFCC00"/>
          </a:solidFill>
          <a:ln w="9525">
            <a:solidFill>
              <a:schemeClr val="tx1"/>
            </a:solidFill>
            <a:miter lim="800000"/>
            <a:headEnd/>
            <a:tailEnd/>
          </a:ln>
        </p:spPr>
        <p:txBody>
          <a:bodyPr wrap="none" anchor="ctr"/>
          <a:lstStyle/>
          <a:p>
            <a:pPr algn="ctr"/>
            <a:r>
              <a:rPr lang="en-US">
                <a:latin typeface="Arial Narrow" pitchFamily="34" charset="0"/>
              </a:rPr>
              <a:t>f4</a:t>
            </a:r>
          </a:p>
        </p:txBody>
      </p:sp>
      <p:sp>
        <p:nvSpPr>
          <p:cNvPr id="14352" name="AutoShape 51"/>
          <p:cNvSpPr>
            <a:spLocks noChangeArrowheads="1"/>
          </p:cNvSpPr>
          <p:nvPr/>
        </p:nvSpPr>
        <p:spPr bwMode="auto">
          <a:xfrm>
            <a:off x="6604000" y="4281488"/>
            <a:ext cx="533400" cy="457200"/>
          </a:xfrm>
          <a:prstGeom prst="hexagon">
            <a:avLst>
              <a:gd name="adj" fmla="val 29167"/>
              <a:gd name="vf" fmla="val 115470"/>
            </a:avLst>
          </a:prstGeom>
          <a:solidFill>
            <a:srgbClr val="FFCC00"/>
          </a:solidFill>
          <a:ln w="9525">
            <a:solidFill>
              <a:schemeClr val="tx1"/>
            </a:solidFill>
            <a:miter lim="800000"/>
            <a:headEnd/>
            <a:tailEnd/>
          </a:ln>
        </p:spPr>
        <p:txBody>
          <a:bodyPr wrap="none" anchor="ctr"/>
          <a:lstStyle/>
          <a:p>
            <a:pPr algn="ctr"/>
            <a:r>
              <a:rPr lang="en-US">
                <a:latin typeface="Arial Narrow" pitchFamily="34" charset="0"/>
              </a:rPr>
              <a:t>f3</a:t>
            </a:r>
          </a:p>
        </p:txBody>
      </p:sp>
      <p:sp>
        <p:nvSpPr>
          <p:cNvPr id="14353" name="AutoShape 52"/>
          <p:cNvSpPr>
            <a:spLocks noChangeArrowheads="1"/>
          </p:cNvSpPr>
          <p:nvPr/>
        </p:nvSpPr>
        <p:spPr bwMode="auto">
          <a:xfrm>
            <a:off x="6223000" y="4052888"/>
            <a:ext cx="533400" cy="457200"/>
          </a:xfrm>
          <a:prstGeom prst="hexagon">
            <a:avLst>
              <a:gd name="adj" fmla="val 29167"/>
              <a:gd name="vf" fmla="val 115470"/>
            </a:avLst>
          </a:prstGeom>
          <a:solidFill>
            <a:srgbClr val="FFCC00"/>
          </a:solidFill>
          <a:ln w="9525">
            <a:solidFill>
              <a:schemeClr val="tx1"/>
            </a:solidFill>
            <a:miter lim="800000"/>
            <a:headEnd/>
            <a:tailEnd/>
          </a:ln>
        </p:spPr>
        <p:txBody>
          <a:bodyPr wrap="none" anchor="ctr"/>
          <a:lstStyle/>
          <a:p>
            <a:pPr algn="ctr"/>
            <a:r>
              <a:rPr lang="en-US">
                <a:latin typeface="Arial Narrow" pitchFamily="34" charset="0"/>
              </a:rPr>
              <a:t>f2</a:t>
            </a:r>
          </a:p>
        </p:txBody>
      </p:sp>
      <p:sp>
        <p:nvSpPr>
          <p:cNvPr id="14354" name="AutoShape 53"/>
          <p:cNvSpPr>
            <a:spLocks noChangeArrowheads="1"/>
          </p:cNvSpPr>
          <p:nvPr/>
        </p:nvSpPr>
        <p:spPr bwMode="auto">
          <a:xfrm>
            <a:off x="6223000" y="4510088"/>
            <a:ext cx="533400" cy="457200"/>
          </a:xfrm>
          <a:prstGeom prst="hexagon">
            <a:avLst>
              <a:gd name="adj" fmla="val 29167"/>
              <a:gd name="vf" fmla="val 115470"/>
            </a:avLst>
          </a:prstGeom>
          <a:solidFill>
            <a:srgbClr val="FFCC00"/>
          </a:solidFill>
          <a:ln w="9525">
            <a:solidFill>
              <a:schemeClr val="tx1"/>
            </a:solidFill>
            <a:miter lim="800000"/>
            <a:headEnd/>
            <a:tailEnd/>
          </a:ln>
        </p:spPr>
        <p:txBody>
          <a:bodyPr wrap="none" anchor="ctr"/>
          <a:lstStyle/>
          <a:p>
            <a:pPr algn="ctr"/>
            <a:r>
              <a:rPr lang="en-US">
                <a:latin typeface="Arial Narrow" pitchFamily="34" charset="0"/>
              </a:rPr>
              <a:t>f1</a:t>
            </a:r>
          </a:p>
        </p:txBody>
      </p:sp>
      <p:sp>
        <p:nvSpPr>
          <p:cNvPr id="14355" name="AutoShape 54"/>
          <p:cNvSpPr>
            <a:spLocks noChangeArrowheads="1"/>
          </p:cNvSpPr>
          <p:nvPr/>
        </p:nvSpPr>
        <p:spPr bwMode="auto">
          <a:xfrm>
            <a:off x="5842000" y="4738688"/>
            <a:ext cx="533400" cy="457200"/>
          </a:xfrm>
          <a:prstGeom prst="hexagon">
            <a:avLst>
              <a:gd name="adj" fmla="val 29167"/>
              <a:gd name="vf" fmla="val 115470"/>
            </a:avLst>
          </a:prstGeom>
          <a:solidFill>
            <a:srgbClr val="FFCC00"/>
          </a:solidFill>
          <a:ln w="9525">
            <a:solidFill>
              <a:schemeClr val="tx1"/>
            </a:solidFill>
            <a:miter lim="800000"/>
            <a:headEnd/>
            <a:tailEnd/>
          </a:ln>
        </p:spPr>
        <p:txBody>
          <a:bodyPr wrap="none" anchor="ctr"/>
          <a:lstStyle/>
          <a:p>
            <a:pPr algn="ctr"/>
            <a:r>
              <a:rPr lang="en-US">
                <a:latin typeface="Arial Narrow" pitchFamily="34" charset="0"/>
              </a:rPr>
              <a:t>f6</a:t>
            </a:r>
          </a:p>
        </p:txBody>
      </p:sp>
      <p:sp>
        <p:nvSpPr>
          <p:cNvPr id="14356" name="AutoShape 55"/>
          <p:cNvSpPr>
            <a:spLocks noChangeArrowheads="1"/>
          </p:cNvSpPr>
          <p:nvPr/>
        </p:nvSpPr>
        <p:spPr bwMode="auto">
          <a:xfrm>
            <a:off x="5842000" y="4281488"/>
            <a:ext cx="533400" cy="457200"/>
          </a:xfrm>
          <a:prstGeom prst="hexagon">
            <a:avLst>
              <a:gd name="adj" fmla="val 29167"/>
              <a:gd name="vf" fmla="val 115470"/>
            </a:avLst>
          </a:prstGeom>
          <a:solidFill>
            <a:srgbClr val="FFCC00"/>
          </a:solidFill>
          <a:ln w="9525">
            <a:solidFill>
              <a:schemeClr val="tx1"/>
            </a:solidFill>
            <a:miter lim="800000"/>
            <a:headEnd/>
            <a:tailEnd/>
          </a:ln>
        </p:spPr>
        <p:txBody>
          <a:bodyPr wrap="none" anchor="ctr"/>
          <a:lstStyle/>
          <a:p>
            <a:pPr algn="ctr"/>
            <a:r>
              <a:rPr lang="en-US">
                <a:latin typeface="Arial Narrow" pitchFamily="34" charset="0"/>
              </a:rPr>
              <a:t>f7</a:t>
            </a:r>
          </a:p>
        </p:txBody>
      </p:sp>
      <p:sp>
        <p:nvSpPr>
          <p:cNvPr id="14357" name="AutoShape 56"/>
          <p:cNvSpPr>
            <a:spLocks noChangeArrowheads="1"/>
          </p:cNvSpPr>
          <p:nvPr/>
        </p:nvSpPr>
        <p:spPr bwMode="auto">
          <a:xfrm>
            <a:off x="6223000" y="4967288"/>
            <a:ext cx="533400" cy="457200"/>
          </a:xfrm>
          <a:prstGeom prst="hexagon">
            <a:avLst>
              <a:gd name="adj" fmla="val 29167"/>
              <a:gd name="vf" fmla="val 115470"/>
            </a:avLst>
          </a:prstGeom>
          <a:solidFill>
            <a:srgbClr val="FFCC00"/>
          </a:solidFill>
          <a:ln w="9525">
            <a:solidFill>
              <a:schemeClr val="tx1"/>
            </a:solidFill>
            <a:miter lim="800000"/>
            <a:headEnd/>
            <a:tailEnd/>
          </a:ln>
        </p:spPr>
        <p:txBody>
          <a:bodyPr wrap="none" anchor="ctr"/>
          <a:lstStyle/>
          <a:p>
            <a:pPr algn="ctr"/>
            <a:r>
              <a:rPr lang="en-US">
                <a:latin typeface="Arial Narrow" pitchFamily="34" charset="0"/>
              </a:rPr>
              <a:t>f5</a:t>
            </a:r>
          </a:p>
        </p:txBody>
      </p:sp>
      <p:sp>
        <p:nvSpPr>
          <p:cNvPr id="14358" name="AutoShape 57"/>
          <p:cNvSpPr>
            <a:spLocks noChangeArrowheads="1"/>
          </p:cNvSpPr>
          <p:nvPr/>
        </p:nvSpPr>
        <p:spPr bwMode="auto">
          <a:xfrm>
            <a:off x="5429250" y="4502150"/>
            <a:ext cx="533400" cy="457200"/>
          </a:xfrm>
          <a:prstGeom prst="hexagon">
            <a:avLst>
              <a:gd name="adj" fmla="val 29167"/>
              <a:gd name="vf" fmla="val 115470"/>
            </a:avLst>
          </a:prstGeom>
          <a:solidFill>
            <a:srgbClr val="3366FF"/>
          </a:solidFill>
          <a:ln w="9525">
            <a:solidFill>
              <a:schemeClr val="tx1"/>
            </a:solidFill>
            <a:miter lim="800000"/>
            <a:headEnd/>
            <a:tailEnd/>
          </a:ln>
        </p:spPr>
        <p:txBody>
          <a:bodyPr wrap="none" anchor="ctr"/>
          <a:lstStyle/>
          <a:p>
            <a:pPr algn="ctr"/>
            <a:r>
              <a:rPr lang="en-US">
                <a:latin typeface="Arial Narrow" pitchFamily="34" charset="0"/>
              </a:rPr>
              <a:t>f4</a:t>
            </a:r>
          </a:p>
        </p:txBody>
      </p:sp>
      <p:sp>
        <p:nvSpPr>
          <p:cNvPr id="14359" name="AutoShape 58"/>
          <p:cNvSpPr>
            <a:spLocks noChangeArrowheads="1"/>
          </p:cNvSpPr>
          <p:nvPr/>
        </p:nvSpPr>
        <p:spPr bwMode="auto">
          <a:xfrm>
            <a:off x="5429250" y="4044950"/>
            <a:ext cx="533400" cy="457200"/>
          </a:xfrm>
          <a:prstGeom prst="hexagon">
            <a:avLst>
              <a:gd name="adj" fmla="val 29167"/>
              <a:gd name="vf" fmla="val 115470"/>
            </a:avLst>
          </a:prstGeom>
          <a:solidFill>
            <a:srgbClr val="3366FF"/>
          </a:solidFill>
          <a:ln w="9525">
            <a:solidFill>
              <a:schemeClr val="tx1"/>
            </a:solidFill>
            <a:miter lim="800000"/>
            <a:headEnd/>
            <a:tailEnd/>
          </a:ln>
        </p:spPr>
        <p:txBody>
          <a:bodyPr wrap="none" anchor="ctr"/>
          <a:lstStyle/>
          <a:p>
            <a:pPr algn="ctr"/>
            <a:r>
              <a:rPr lang="en-US">
                <a:latin typeface="Arial Narrow" pitchFamily="34" charset="0"/>
              </a:rPr>
              <a:t>f3</a:t>
            </a:r>
          </a:p>
        </p:txBody>
      </p:sp>
      <p:sp>
        <p:nvSpPr>
          <p:cNvPr id="14360" name="AutoShape 59"/>
          <p:cNvSpPr>
            <a:spLocks noChangeArrowheads="1"/>
          </p:cNvSpPr>
          <p:nvPr/>
        </p:nvSpPr>
        <p:spPr bwMode="auto">
          <a:xfrm>
            <a:off x="5048250" y="3816350"/>
            <a:ext cx="533400" cy="457200"/>
          </a:xfrm>
          <a:prstGeom prst="hexagon">
            <a:avLst>
              <a:gd name="adj" fmla="val 29167"/>
              <a:gd name="vf" fmla="val 115470"/>
            </a:avLst>
          </a:prstGeom>
          <a:solidFill>
            <a:srgbClr val="3366FF"/>
          </a:solidFill>
          <a:ln w="9525">
            <a:solidFill>
              <a:schemeClr val="tx1"/>
            </a:solidFill>
            <a:miter lim="800000"/>
            <a:headEnd/>
            <a:tailEnd/>
          </a:ln>
        </p:spPr>
        <p:txBody>
          <a:bodyPr wrap="none" anchor="ctr"/>
          <a:lstStyle/>
          <a:p>
            <a:pPr algn="ctr"/>
            <a:r>
              <a:rPr lang="en-US">
                <a:latin typeface="Arial Narrow" pitchFamily="34" charset="0"/>
              </a:rPr>
              <a:t>f2</a:t>
            </a:r>
          </a:p>
        </p:txBody>
      </p:sp>
      <p:sp>
        <p:nvSpPr>
          <p:cNvPr id="14361" name="AutoShape 60"/>
          <p:cNvSpPr>
            <a:spLocks noChangeArrowheads="1"/>
          </p:cNvSpPr>
          <p:nvPr/>
        </p:nvSpPr>
        <p:spPr bwMode="auto">
          <a:xfrm>
            <a:off x="5048250" y="4273550"/>
            <a:ext cx="533400" cy="457200"/>
          </a:xfrm>
          <a:prstGeom prst="hexagon">
            <a:avLst>
              <a:gd name="adj" fmla="val 29167"/>
              <a:gd name="vf" fmla="val 115470"/>
            </a:avLst>
          </a:prstGeom>
          <a:solidFill>
            <a:srgbClr val="3366FF"/>
          </a:solidFill>
          <a:ln w="9525">
            <a:solidFill>
              <a:schemeClr val="tx1"/>
            </a:solidFill>
            <a:miter lim="800000"/>
            <a:headEnd/>
            <a:tailEnd/>
          </a:ln>
        </p:spPr>
        <p:txBody>
          <a:bodyPr wrap="none" anchor="ctr"/>
          <a:lstStyle/>
          <a:p>
            <a:pPr algn="ctr"/>
            <a:r>
              <a:rPr lang="en-US">
                <a:latin typeface="Arial Narrow" pitchFamily="34" charset="0"/>
              </a:rPr>
              <a:t>f1</a:t>
            </a:r>
          </a:p>
        </p:txBody>
      </p:sp>
      <p:sp>
        <p:nvSpPr>
          <p:cNvPr id="14362" name="AutoShape 61"/>
          <p:cNvSpPr>
            <a:spLocks noChangeArrowheads="1"/>
          </p:cNvSpPr>
          <p:nvPr/>
        </p:nvSpPr>
        <p:spPr bwMode="auto">
          <a:xfrm>
            <a:off x="4667250" y="4502150"/>
            <a:ext cx="533400" cy="457200"/>
          </a:xfrm>
          <a:prstGeom prst="hexagon">
            <a:avLst>
              <a:gd name="adj" fmla="val 29167"/>
              <a:gd name="vf" fmla="val 115470"/>
            </a:avLst>
          </a:prstGeom>
          <a:solidFill>
            <a:srgbClr val="3366FF"/>
          </a:solidFill>
          <a:ln w="9525">
            <a:solidFill>
              <a:schemeClr val="tx1"/>
            </a:solidFill>
            <a:miter lim="800000"/>
            <a:headEnd/>
            <a:tailEnd/>
          </a:ln>
        </p:spPr>
        <p:txBody>
          <a:bodyPr wrap="none" anchor="ctr"/>
          <a:lstStyle/>
          <a:p>
            <a:pPr algn="ctr"/>
            <a:r>
              <a:rPr lang="en-US">
                <a:latin typeface="Arial Narrow" pitchFamily="34" charset="0"/>
              </a:rPr>
              <a:t>f6</a:t>
            </a:r>
          </a:p>
        </p:txBody>
      </p:sp>
      <p:sp>
        <p:nvSpPr>
          <p:cNvPr id="14363" name="AutoShape 62"/>
          <p:cNvSpPr>
            <a:spLocks noChangeArrowheads="1"/>
          </p:cNvSpPr>
          <p:nvPr/>
        </p:nvSpPr>
        <p:spPr bwMode="auto">
          <a:xfrm>
            <a:off x="4667250" y="4044950"/>
            <a:ext cx="533400" cy="457200"/>
          </a:xfrm>
          <a:prstGeom prst="hexagon">
            <a:avLst>
              <a:gd name="adj" fmla="val 29167"/>
              <a:gd name="vf" fmla="val 115470"/>
            </a:avLst>
          </a:prstGeom>
          <a:solidFill>
            <a:srgbClr val="3366FF"/>
          </a:solidFill>
          <a:ln w="9525">
            <a:solidFill>
              <a:schemeClr val="tx1"/>
            </a:solidFill>
            <a:miter lim="800000"/>
            <a:headEnd/>
            <a:tailEnd/>
          </a:ln>
        </p:spPr>
        <p:txBody>
          <a:bodyPr wrap="none" anchor="ctr"/>
          <a:lstStyle/>
          <a:p>
            <a:pPr algn="ctr"/>
            <a:r>
              <a:rPr lang="en-US">
                <a:latin typeface="Arial Narrow" pitchFamily="34" charset="0"/>
              </a:rPr>
              <a:t>f7</a:t>
            </a:r>
          </a:p>
        </p:txBody>
      </p:sp>
      <p:sp>
        <p:nvSpPr>
          <p:cNvPr id="14364" name="AutoShape 63"/>
          <p:cNvSpPr>
            <a:spLocks noChangeArrowheads="1"/>
          </p:cNvSpPr>
          <p:nvPr/>
        </p:nvSpPr>
        <p:spPr bwMode="auto">
          <a:xfrm>
            <a:off x="5048250" y="4730750"/>
            <a:ext cx="533400" cy="457200"/>
          </a:xfrm>
          <a:prstGeom prst="hexagon">
            <a:avLst>
              <a:gd name="adj" fmla="val 29167"/>
              <a:gd name="vf" fmla="val 115470"/>
            </a:avLst>
          </a:prstGeom>
          <a:solidFill>
            <a:srgbClr val="3366FF"/>
          </a:solidFill>
          <a:ln w="9525">
            <a:solidFill>
              <a:schemeClr val="tx1"/>
            </a:solidFill>
            <a:miter lim="800000"/>
            <a:headEnd/>
            <a:tailEnd/>
          </a:ln>
        </p:spPr>
        <p:txBody>
          <a:bodyPr wrap="none" anchor="ctr"/>
          <a:lstStyle/>
          <a:p>
            <a:pPr algn="ctr"/>
            <a:r>
              <a:rPr lang="en-US">
                <a:latin typeface="Arial Narrow" pitchFamily="34" charset="0"/>
              </a:rPr>
              <a:t>f5</a:t>
            </a:r>
          </a:p>
        </p:txBody>
      </p:sp>
      <p:sp>
        <p:nvSpPr>
          <p:cNvPr id="14365" name="AutoShape 64"/>
          <p:cNvSpPr>
            <a:spLocks noChangeArrowheads="1"/>
          </p:cNvSpPr>
          <p:nvPr/>
        </p:nvSpPr>
        <p:spPr bwMode="auto">
          <a:xfrm>
            <a:off x="4279900" y="4276725"/>
            <a:ext cx="533400" cy="457200"/>
          </a:xfrm>
          <a:prstGeom prst="hexagon">
            <a:avLst>
              <a:gd name="adj" fmla="val 29167"/>
              <a:gd name="vf" fmla="val 115470"/>
            </a:avLst>
          </a:prstGeom>
          <a:solidFill>
            <a:srgbClr val="FF0000"/>
          </a:solidFill>
          <a:ln w="9525">
            <a:solidFill>
              <a:schemeClr val="tx1"/>
            </a:solidFill>
            <a:miter lim="800000"/>
            <a:headEnd/>
            <a:tailEnd/>
          </a:ln>
        </p:spPr>
        <p:txBody>
          <a:bodyPr wrap="none" anchor="ctr"/>
          <a:lstStyle/>
          <a:p>
            <a:pPr algn="ctr"/>
            <a:r>
              <a:rPr lang="en-US">
                <a:latin typeface="Arial Narrow" pitchFamily="34" charset="0"/>
              </a:rPr>
              <a:t>f4</a:t>
            </a:r>
          </a:p>
        </p:txBody>
      </p:sp>
      <p:sp>
        <p:nvSpPr>
          <p:cNvPr id="14366" name="AutoShape 65"/>
          <p:cNvSpPr>
            <a:spLocks noChangeArrowheads="1"/>
          </p:cNvSpPr>
          <p:nvPr/>
        </p:nvSpPr>
        <p:spPr bwMode="auto">
          <a:xfrm>
            <a:off x="4279900" y="3819525"/>
            <a:ext cx="533400" cy="457200"/>
          </a:xfrm>
          <a:prstGeom prst="hexagon">
            <a:avLst>
              <a:gd name="adj" fmla="val 29167"/>
              <a:gd name="vf" fmla="val 115470"/>
            </a:avLst>
          </a:prstGeom>
          <a:solidFill>
            <a:srgbClr val="FF0000"/>
          </a:solidFill>
          <a:ln w="9525">
            <a:solidFill>
              <a:schemeClr val="tx1"/>
            </a:solidFill>
            <a:miter lim="800000"/>
            <a:headEnd/>
            <a:tailEnd/>
          </a:ln>
        </p:spPr>
        <p:txBody>
          <a:bodyPr wrap="none" anchor="ctr"/>
          <a:lstStyle/>
          <a:p>
            <a:pPr algn="ctr"/>
            <a:r>
              <a:rPr lang="en-US">
                <a:latin typeface="Arial Narrow" pitchFamily="34" charset="0"/>
              </a:rPr>
              <a:t>f3</a:t>
            </a:r>
          </a:p>
        </p:txBody>
      </p:sp>
      <p:sp>
        <p:nvSpPr>
          <p:cNvPr id="14367" name="AutoShape 66"/>
          <p:cNvSpPr>
            <a:spLocks noChangeArrowheads="1"/>
          </p:cNvSpPr>
          <p:nvPr/>
        </p:nvSpPr>
        <p:spPr bwMode="auto">
          <a:xfrm>
            <a:off x="3898900" y="3590925"/>
            <a:ext cx="533400" cy="457200"/>
          </a:xfrm>
          <a:prstGeom prst="hexagon">
            <a:avLst>
              <a:gd name="adj" fmla="val 29167"/>
              <a:gd name="vf" fmla="val 115470"/>
            </a:avLst>
          </a:prstGeom>
          <a:solidFill>
            <a:srgbClr val="FF0000"/>
          </a:solidFill>
          <a:ln w="9525">
            <a:solidFill>
              <a:schemeClr val="tx1"/>
            </a:solidFill>
            <a:miter lim="800000"/>
            <a:headEnd/>
            <a:tailEnd/>
          </a:ln>
        </p:spPr>
        <p:txBody>
          <a:bodyPr wrap="none" anchor="ctr"/>
          <a:lstStyle/>
          <a:p>
            <a:pPr algn="ctr"/>
            <a:r>
              <a:rPr lang="en-US">
                <a:latin typeface="Arial Narrow" pitchFamily="34" charset="0"/>
              </a:rPr>
              <a:t>f2</a:t>
            </a:r>
          </a:p>
        </p:txBody>
      </p:sp>
      <p:sp>
        <p:nvSpPr>
          <p:cNvPr id="14368" name="AutoShape 67"/>
          <p:cNvSpPr>
            <a:spLocks noChangeArrowheads="1"/>
          </p:cNvSpPr>
          <p:nvPr/>
        </p:nvSpPr>
        <p:spPr bwMode="auto">
          <a:xfrm>
            <a:off x="3898900" y="4048125"/>
            <a:ext cx="533400" cy="457200"/>
          </a:xfrm>
          <a:prstGeom prst="hexagon">
            <a:avLst>
              <a:gd name="adj" fmla="val 29167"/>
              <a:gd name="vf" fmla="val 115470"/>
            </a:avLst>
          </a:prstGeom>
          <a:solidFill>
            <a:srgbClr val="FF0000"/>
          </a:solidFill>
          <a:ln w="9525">
            <a:solidFill>
              <a:schemeClr val="tx1"/>
            </a:solidFill>
            <a:miter lim="800000"/>
            <a:headEnd/>
            <a:tailEnd/>
          </a:ln>
        </p:spPr>
        <p:txBody>
          <a:bodyPr wrap="none" anchor="ctr"/>
          <a:lstStyle/>
          <a:p>
            <a:pPr algn="ctr"/>
            <a:r>
              <a:rPr lang="en-US">
                <a:latin typeface="Arial Narrow" pitchFamily="34" charset="0"/>
              </a:rPr>
              <a:t>f1</a:t>
            </a:r>
          </a:p>
        </p:txBody>
      </p:sp>
      <p:sp>
        <p:nvSpPr>
          <p:cNvPr id="14369" name="AutoShape 68"/>
          <p:cNvSpPr>
            <a:spLocks noChangeArrowheads="1"/>
          </p:cNvSpPr>
          <p:nvPr/>
        </p:nvSpPr>
        <p:spPr bwMode="auto">
          <a:xfrm>
            <a:off x="3517900" y="4276725"/>
            <a:ext cx="533400" cy="457200"/>
          </a:xfrm>
          <a:prstGeom prst="hexagon">
            <a:avLst>
              <a:gd name="adj" fmla="val 29167"/>
              <a:gd name="vf" fmla="val 115470"/>
            </a:avLst>
          </a:prstGeom>
          <a:solidFill>
            <a:srgbClr val="FF0000"/>
          </a:solidFill>
          <a:ln w="9525">
            <a:solidFill>
              <a:schemeClr val="tx1"/>
            </a:solidFill>
            <a:miter lim="800000"/>
            <a:headEnd/>
            <a:tailEnd/>
          </a:ln>
        </p:spPr>
        <p:txBody>
          <a:bodyPr wrap="none" anchor="ctr"/>
          <a:lstStyle/>
          <a:p>
            <a:pPr algn="ctr"/>
            <a:r>
              <a:rPr lang="en-US">
                <a:latin typeface="Arial Narrow" pitchFamily="34" charset="0"/>
              </a:rPr>
              <a:t>f6</a:t>
            </a:r>
          </a:p>
        </p:txBody>
      </p:sp>
      <p:sp>
        <p:nvSpPr>
          <p:cNvPr id="14370" name="AutoShape 69"/>
          <p:cNvSpPr>
            <a:spLocks noChangeArrowheads="1"/>
          </p:cNvSpPr>
          <p:nvPr/>
        </p:nvSpPr>
        <p:spPr bwMode="auto">
          <a:xfrm>
            <a:off x="3517900" y="3819525"/>
            <a:ext cx="533400" cy="457200"/>
          </a:xfrm>
          <a:prstGeom prst="hexagon">
            <a:avLst>
              <a:gd name="adj" fmla="val 29167"/>
              <a:gd name="vf" fmla="val 115470"/>
            </a:avLst>
          </a:prstGeom>
          <a:solidFill>
            <a:srgbClr val="FF0000"/>
          </a:solidFill>
          <a:ln w="9525">
            <a:solidFill>
              <a:schemeClr val="tx1"/>
            </a:solidFill>
            <a:miter lim="800000"/>
            <a:headEnd/>
            <a:tailEnd/>
          </a:ln>
        </p:spPr>
        <p:txBody>
          <a:bodyPr wrap="none" anchor="ctr"/>
          <a:lstStyle/>
          <a:p>
            <a:pPr algn="ctr"/>
            <a:r>
              <a:rPr lang="en-US">
                <a:latin typeface="Arial Narrow" pitchFamily="34" charset="0"/>
              </a:rPr>
              <a:t>f7</a:t>
            </a:r>
          </a:p>
        </p:txBody>
      </p:sp>
      <p:sp>
        <p:nvSpPr>
          <p:cNvPr id="14371" name="AutoShape 70"/>
          <p:cNvSpPr>
            <a:spLocks noChangeArrowheads="1"/>
          </p:cNvSpPr>
          <p:nvPr/>
        </p:nvSpPr>
        <p:spPr bwMode="auto">
          <a:xfrm>
            <a:off x="3898900" y="4505325"/>
            <a:ext cx="533400" cy="457200"/>
          </a:xfrm>
          <a:prstGeom prst="hexagon">
            <a:avLst>
              <a:gd name="adj" fmla="val 29167"/>
              <a:gd name="vf" fmla="val 115470"/>
            </a:avLst>
          </a:prstGeom>
          <a:solidFill>
            <a:srgbClr val="FF0000"/>
          </a:solidFill>
          <a:ln w="9525">
            <a:solidFill>
              <a:schemeClr val="tx1"/>
            </a:solidFill>
            <a:miter lim="800000"/>
            <a:headEnd/>
            <a:tailEnd/>
          </a:ln>
        </p:spPr>
        <p:txBody>
          <a:bodyPr wrap="none" anchor="ctr"/>
          <a:lstStyle/>
          <a:p>
            <a:pPr algn="ctr"/>
            <a:r>
              <a:rPr lang="en-US">
                <a:latin typeface="Arial Narrow" pitchFamily="34" charset="0"/>
              </a:rPr>
              <a:t>f5</a:t>
            </a:r>
          </a:p>
        </p:txBody>
      </p:sp>
      <p:sp>
        <p:nvSpPr>
          <p:cNvPr id="14372" name="Text Box 71"/>
          <p:cNvSpPr txBox="1">
            <a:spLocks noChangeArrowheads="1"/>
          </p:cNvSpPr>
          <p:nvPr/>
        </p:nvSpPr>
        <p:spPr bwMode="auto">
          <a:xfrm>
            <a:off x="869950" y="5638800"/>
            <a:ext cx="7180263" cy="822325"/>
          </a:xfrm>
          <a:prstGeom prst="rect">
            <a:avLst/>
          </a:prstGeom>
          <a:noFill/>
          <a:ln w="9525">
            <a:noFill/>
            <a:miter lim="800000"/>
            <a:headEnd/>
            <a:tailEnd/>
          </a:ln>
        </p:spPr>
        <p:txBody>
          <a:bodyPr wrap="none">
            <a:spAutoFit/>
          </a:bodyPr>
          <a:lstStyle/>
          <a:p>
            <a:r>
              <a:rPr lang="en-US">
                <a:latin typeface="Arial Narrow" pitchFamily="34" charset="0"/>
              </a:rPr>
              <a:t>Each cell is generally 4 to 8 miles in diameter with a lower limit </a:t>
            </a:r>
          </a:p>
          <a:p>
            <a:r>
              <a:rPr lang="en-US">
                <a:latin typeface="Arial Narrow" pitchFamily="34" charset="0"/>
              </a:rPr>
              <a:t>around 2 miles. </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Multiple Access</a:t>
            </a:r>
            <a:endParaRPr lang="en-US" b="1" dirty="0">
              <a:solidFill>
                <a:srgbClr val="FF0000"/>
              </a:solidFill>
            </a:endParaRPr>
          </a:p>
        </p:txBody>
      </p:sp>
      <p:sp>
        <p:nvSpPr>
          <p:cNvPr id="3" name="Content Placeholder 2"/>
          <p:cNvSpPr>
            <a:spLocks noGrp="1"/>
          </p:cNvSpPr>
          <p:nvPr>
            <p:ph idx="1"/>
          </p:nvPr>
        </p:nvSpPr>
        <p:spPr>
          <a:xfrm>
            <a:off x="457200" y="1219200"/>
            <a:ext cx="8229600" cy="5638800"/>
          </a:xfrm>
        </p:spPr>
        <p:txBody>
          <a:bodyPr/>
          <a:lstStyle/>
          <a:p>
            <a:r>
              <a:rPr lang="en-US" dirty="0" smtClean="0"/>
              <a:t>Multiple access refers to how the subscribers are allocated to the assigned frequency spectrum. </a:t>
            </a:r>
          </a:p>
          <a:p>
            <a:r>
              <a:rPr lang="en-US" dirty="0" smtClean="0"/>
              <a:t>Access methods are the ways in which many users share a limited amount of spectrum.</a:t>
            </a:r>
          </a:p>
          <a:p>
            <a:r>
              <a:rPr lang="en-US" dirty="0" smtClean="0"/>
              <a:t>These techniques include</a:t>
            </a:r>
          </a:p>
          <a:p>
            <a:pPr>
              <a:buNone/>
            </a:pPr>
            <a:r>
              <a:rPr lang="en-US" b="1" dirty="0" smtClean="0"/>
              <a:t>Frequency-Division Multiple Access (FDMA)</a:t>
            </a:r>
          </a:p>
          <a:p>
            <a:pPr>
              <a:buNone/>
            </a:pPr>
            <a:r>
              <a:rPr lang="en-US" b="1" dirty="0" smtClean="0"/>
              <a:t>Time-Division Multiple Access (TDMA)</a:t>
            </a:r>
          </a:p>
          <a:p>
            <a:pPr>
              <a:buNone/>
            </a:pPr>
            <a:r>
              <a:rPr lang="en-US" b="1" dirty="0" smtClean="0"/>
              <a:t>Code-Division Multiple Access (CDMA)</a:t>
            </a:r>
          </a:p>
          <a:p>
            <a:pPr>
              <a:buNone/>
            </a:pPr>
            <a:r>
              <a:rPr lang="en-US" b="1" dirty="0" smtClean="0"/>
              <a:t>Spatial-Division Multiple Access (SDMA)</a:t>
            </a:r>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Frequency-Division Multiple Access</a:t>
            </a:r>
            <a:br>
              <a:rPr lang="en-US" b="1" dirty="0" smtClean="0">
                <a:solidFill>
                  <a:srgbClr val="FF0000"/>
                </a:solidFill>
              </a:rPr>
            </a:br>
            <a:r>
              <a:rPr lang="en-US" b="1" dirty="0" smtClean="0">
                <a:solidFill>
                  <a:srgbClr val="FF0000"/>
                </a:solidFill>
              </a:rPr>
              <a:t>(FDMA)</a:t>
            </a:r>
            <a:endParaRPr lang="en-US" b="1" dirty="0">
              <a:solidFill>
                <a:srgbClr val="FF0000"/>
              </a:solidFill>
            </a:endParaRPr>
          </a:p>
        </p:txBody>
      </p:sp>
      <p:sp>
        <p:nvSpPr>
          <p:cNvPr id="3" name="Content Placeholder 2"/>
          <p:cNvSpPr>
            <a:spLocks noGrp="1"/>
          </p:cNvSpPr>
          <p:nvPr>
            <p:ph idx="1"/>
          </p:nvPr>
        </p:nvSpPr>
        <p:spPr/>
        <p:txBody>
          <a:bodyPr>
            <a:normAutofit lnSpcReduction="10000"/>
          </a:bodyPr>
          <a:lstStyle/>
          <a:p>
            <a:r>
              <a:rPr lang="en-US" dirty="0" smtClean="0"/>
              <a:t>FDMA systems are like frequency- division multiplexing in that they allow many users to share a block of spectrum by simply dividing it up into many smaller channels.</a:t>
            </a:r>
          </a:p>
          <a:p>
            <a:r>
              <a:rPr lang="en-US" dirty="0" smtClean="0"/>
              <a:t>One subscriber is assigned to each channel. Typical channel widths are 30 kHz, 200 kHz, 1.25 MHz, and 5 </a:t>
            </a:r>
            <a:r>
              <a:rPr lang="en-US" dirty="0" err="1" smtClean="0"/>
              <a:t>MHz.</a:t>
            </a:r>
            <a:r>
              <a:rPr lang="en-US" dirty="0" smtClean="0"/>
              <a:t> There are usually two similar bands, one for uplink and the other for downlink.</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Frequency-division multiple-access (FDMA) spectrum</a:t>
            </a:r>
            <a:endParaRPr lang="en-US" b="1" dirty="0">
              <a:solidFill>
                <a:srgbClr val="FF0000"/>
              </a:solidFill>
            </a:endParaRPr>
          </a:p>
        </p:txBody>
      </p:sp>
      <p:pic>
        <p:nvPicPr>
          <p:cNvPr id="4098" name="Picture 2"/>
          <p:cNvPicPr>
            <a:picLocks noGrp="1" noChangeAspect="1" noChangeArrowheads="1"/>
          </p:cNvPicPr>
          <p:nvPr>
            <p:ph idx="1"/>
          </p:nvPr>
        </p:nvPicPr>
        <p:blipFill>
          <a:blip r:embed="rId2"/>
          <a:srcRect/>
          <a:stretch>
            <a:fillRect/>
          </a:stretch>
        </p:blipFill>
        <p:spPr bwMode="auto">
          <a:xfrm>
            <a:off x="838200" y="1905000"/>
            <a:ext cx="7467600" cy="4038599"/>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Time-Division Multiple Access</a:t>
            </a:r>
            <a:endParaRPr lang="en-US" b="1" dirty="0">
              <a:solidFill>
                <a:srgbClr val="FF0000"/>
              </a:solidFill>
            </a:endParaRPr>
          </a:p>
        </p:txBody>
      </p:sp>
      <p:sp>
        <p:nvSpPr>
          <p:cNvPr id="3" name="Content Placeholder 2"/>
          <p:cNvSpPr>
            <a:spLocks noGrp="1"/>
          </p:cNvSpPr>
          <p:nvPr>
            <p:ph idx="1"/>
          </p:nvPr>
        </p:nvSpPr>
        <p:spPr/>
        <p:txBody>
          <a:bodyPr>
            <a:normAutofit lnSpcReduction="10000"/>
          </a:bodyPr>
          <a:lstStyle/>
          <a:p>
            <a:r>
              <a:rPr lang="en-US" dirty="0" smtClean="0"/>
              <a:t>TDMA relies on digital signals and operates on a single channel. </a:t>
            </a:r>
          </a:p>
          <a:p>
            <a:r>
              <a:rPr lang="en-US" dirty="0" smtClean="0"/>
              <a:t>Multiple users use different time slots. Because the audio signal is sampled at a rapid rate, the data words can be interleaved into different time slots. </a:t>
            </a:r>
          </a:p>
          <a:p>
            <a:r>
              <a:rPr lang="en-US" dirty="0" smtClean="0"/>
              <a:t>Of the two common TDMA systems in use, one allows three users per frequency channel and the other allows eight users per channel.</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Time-Division Multiple Access</a:t>
            </a:r>
            <a:endParaRPr lang="en-US" dirty="0"/>
          </a:p>
        </p:txBody>
      </p:sp>
      <p:pic>
        <p:nvPicPr>
          <p:cNvPr id="5122" name="Picture 2"/>
          <p:cNvPicPr>
            <a:picLocks noGrp="1" noChangeAspect="1" noChangeArrowheads="1"/>
          </p:cNvPicPr>
          <p:nvPr>
            <p:ph idx="1"/>
          </p:nvPr>
        </p:nvPicPr>
        <p:blipFill>
          <a:blip r:embed="rId2"/>
          <a:srcRect/>
          <a:stretch>
            <a:fillRect/>
          </a:stretch>
        </p:blipFill>
        <p:spPr bwMode="auto">
          <a:xfrm>
            <a:off x="685800" y="1600200"/>
            <a:ext cx="7772400" cy="4267200"/>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Code-Division Multiple Access</a:t>
            </a:r>
            <a:endParaRPr lang="en-US" b="1" dirty="0">
              <a:solidFill>
                <a:srgbClr val="FF0000"/>
              </a:solidFill>
            </a:endParaRPr>
          </a:p>
        </p:txBody>
      </p:sp>
      <p:sp>
        <p:nvSpPr>
          <p:cNvPr id="3" name="Content Placeholder 2"/>
          <p:cNvSpPr>
            <a:spLocks noGrp="1"/>
          </p:cNvSpPr>
          <p:nvPr>
            <p:ph idx="1"/>
          </p:nvPr>
        </p:nvSpPr>
        <p:spPr/>
        <p:txBody>
          <a:bodyPr>
            <a:normAutofit fontScale="85000" lnSpcReduction="20000"/>
          </a:bodyPr>
          <a:lstStyle/>
          <a:p>
            <a:r>
              <a:rPr lang="en-US" dirty="0" smtClean="0"/>
              <a:t>CDMA is just another name for spread spectrum. A high percentage of cell phone systems use direct sequence spread spectrum (DSSS).</a:t>
            </a:r>
          </a:p>
          <a:p>
            <a:r>
              <a:rPr lang="en-US" dirty="0" smtClean="0"/>
              <a:t>Here the digital audio signals are encoded in a circuit called a </a:t>
            </a:r>
            <a:r>
              <a:rPr lang="en-US" dirty="0" err="1" smtClean="0"/>
              <a:t>vocoder</a:t>
            </a:r>
            <a:r>
              <a:rPr lang="en-US" dirty="0" smtClean="0"/>
              <a:t> to produce a 13-kbps serial digital compressed voice signal. </a:t>
            </a:r>
          </a:p>
          <a:p>
            <a:r>
              <a:rPr lang="en-US" dirty="0" smtClean="0"/>
              <a:t>It is then combined with a higher-frequency chipping signal. One system uses a 1.288-Mbps chipping signal to encode the audio, spreading the signal over a 1.25-MHz channel.</a:t>
            </a:r>
          </a:p>
          <a:p>
            <a:r>
              <a:rPr lang="en-US" dirty="0" smtClean="0"/>
              <a:t>With unique coding, up to 64 subscribers can share a 1.25-MHz channel</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p:cNvPicPr>
            <a:picLocks noGrp="1" noChangeAspect="1" noChangeArrowheads="1"/>
          </p:cNvPicPr>
          <p:nvPr>
            <p:ph idx="1"/>
          </p:nvPr>
        </p:nvPicPr>
        <p:blipFill>
          <a:blip r:embed="rId2"/>
          <a:srcRect/>
          <a:stretch>
            <a:fillRect/>
          </a:stretch>
        </p:blipFill>
        <p:spPr bwMode="auto">
          <a:xfrm>
            <a:off x="228600" y="228600"/>
            <a:ext cx="8534400" cy="6400800"/>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Wide CDMA</a:t>
            </a:r>
            <a:endParaRPr lang="en-US" b="1" dirty="0">
              <a:solidFill>
                <a:srgbClr val="FF0000"/>
              </a:solidFill>
            </a:endParaRPr>
          </a:p>
        </p:txBody>
      </p:sp>
      <p:sp>
        <p:nvSpPr>
          <p:cNvPr id="3" name="Content Placeholder 2"/>
          <p:cNvSpPr>
            <a:spLocks noGrp="1"/>
          </p:cNvSpPr>
          <p:nvPr>
            <p:ph idx="1"/>
          </p:nvPr>
        </p:nvSpPr>
        <p:spPr/>
        <p:txBody>
          <a:bodyPr/>
          <a:lstStyle/>
          <a:p>
            <a:r>
              <a:rPr lang="en-US" dirty="0" smtClean="0"/>
              <a:t>A similar technique is used with the wideband CDMA system of third-generation </a:t>
            </a:r>
            <a:r>
              <a:rPr lang="en-US" dirty="0" err="1" smtClean="0"/>
              <a:t>cellphones</a:t>
            </a:r>
            <a:r>
              <a:rPr lang="en-US" dirty="0" smtClean="0"/>
              <a:t>.</a:t>
            </a:r>
          </a:p>
          <a:p>
            <a:r>
              <a:rPr lang="en-US" dirty="0" smtClean="0"/>
              <a:t> A 3.84-Mbps chipping rate is used in a 5-MHz channel to accommodate multiple users.</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687</TotalTime>
  <Words>1227</Words>
  <Application>Microsoft Office PowerPoint</Application>
  <PresentationFormat>On-screen Show (4:3)</PresentationFormat>
  <Paragraphs>112</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Cellular &amp; Mobile Communication</vt:lpstr>
      <vt:lpstr>Cellular Telephone Systems</vt:lpstr>
      <vt:lpstr>Cellular Telephone Systems</vt:lpstr>
      <vt:lpstr>Cellular Concepts</vt:lpstr>
      <vt:lpstr>Cellular Concepts (Contd…)</vt:lpstr>
      <vt:lpstr>Cellular Concepts (Contd…)</vt:lpstr>
      <vt:lpstr>Cellular Concepts (Contd…) Hand-Off</vt:lpstr>
      <vt:lpstr>Slide 8</vt:lpstr>
      <vt:lpstr>Slide 9</vt:lpstr>
      <vt:lpstr>Frequency Allocation</vt:lpstr>
      <vt:lpstr>Frequency Allocation (Contd…)</vt:lpstr>
      <vt:lpstr>Frequency Allocation (Contd…)</vt:lpstr>
      <vt:lpstr>Major Issue in Frequency Allocation </vt:lpstr>
      <vt:lpstr>Frequency Reuse</vt:lpstr>
      <vt:lpstr>Frequency Reuse using 7 frequencies allocations</vt:lpstr>
      <vt:lpstr>Multiple Access</vt:lpstr>
      <vt:lpstr>Frequency-Division Multiple Access (FDMA)</vt:lpstr>
      <vt:lpstr>Frequency-division multiple-access (FDMA) spectrum</vt:lpstr>
      <vt:lpstr>Time-Division Multiple Access</vt:lpstr>
      <vt:lpstr>Time-Division Multiple Access</vt:lpstr>
      <vt:lpstr>Code-Division Multiple Access</vt:lpstr>
      <vt:lpstr>Slide 22</vt:lpstr>
      <vt:lpstr>Wide CDMA</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Optical Communication</dc:title>
  <dc:creator>arya</dc:creator>
  <cp:lastModifiedBy>arya</cp:lastModifiedBy>
  <cp:revision>159</cp:revision>
  <dcterms:created xsi:type="dcterms:W3CDTF">2006-08-16T00:00:00Z</dcterms:created>
  <dcterms:modified xsi:type="dcterms:W3CDTF">2022-11-10T04:49:28Z</dcterms:modified>
</cp:coreProperties>
</file>