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chemeClr val="accent2">
                    <a:lumMod val="75000"/>
                  </a:schemeClr>
                </a:solidFill>
              </a:rPr>
              <a:t>OPTICAL COMMUNICATION</a:t>
            </a:r>
            <a:endParaRPr lang="en-US" b="1" dirty="0">
              <a:solidFill>
                <a:schemeClr val="accent2">
                  <a:lumMod val="75000"/>
                </a:schemeClr>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Kr </a:t>
            </a:r>
            <a:r>
              <a:rPr lang="en-US" dirty="0" err="1"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Optical Communication</a:t>
            </a:r>
            <a:endParaRPr lang="en-US" b="1" dirty="0">
              <a:solidFill>
                <a:schemeClr val="accent2">
                  <a:lumMod val="75000"/>
                </a:schemeClr>
              </a:solidFill>
            </a:endParaRPr>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r>
              <a:rPr lang="en-US" dirty="0" smtClean="0"/>
              <a:t>Optical communication systems use light to transmit information from one place to another.</a:t>
            </a:r>
          </a:p>
          <a:p>
            <a:r>
              <a:rPr lang="en-US" dirty="0" smtClean="0"/>
              <a:t>Today, infrared light is being used increasingly as the carrier for information in a communication system. </a:t>
            </a:r>
          </a:p>
          <a:p>
            <a:r>
              <a:rPr lang="en-US" dirty="0" smtClean="0"/>
              <a:t>The transmission medium is either free space or a special light-carrying cable called a fiber-optic cable. </a:t>
            </a:r>
          </a:p>
          <a:p>
            <a:r>
              <a:rPr lang="en-US" dirty="0" smtClean="0"/>
              <a:t>Because the frequency of light is extremely high, it can accommodate very high rates of data transmission with excellent reliability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Optical Principles</a:t>
            </a:r>
            <a:endParaRPr lang="en-US" b="1" dirty="0">
              <a:solidFill>
                <a:schemeClr val="accent2">
                  <a:lumMod val="75000"/>
                </a:schemeClr>
              </a:solidFill>
            </a:endParaRPr>
          </a:p>
        </p:txBody>
      </p:sp>
      <p:sp>
        <p:nvSpPr>
          <p:cNvPr id="3" name="Content Placeholder 2"/>
          <p:cNvSpPr>
            <a:spLocks noGrp="1"/>
          </p:cNvSpPr>
          <p:nvPr>
            <p:ph idx="1"/>
          </p:nvPr>
        </p:nvSpPr>
        <p:spPr/>
        <p:txBody>
          <a:bodyPr/>
          <a:lstStyle/>
          <a:p>
            <a:r>
              <a:rPr lang="en-US" dirty="0" smtClean="0"/>
              <a:t>Optical spectrum, made up of infrared, visible, and ultraviolet light.</a:t>
            </a:r>
          </a:p>
          <a:p>
            <a:r>
              <a:rPr lang="en-US" dirty="0" smtClean="0"/>
              <a:t>The frequency of the optical spectrum is in the range of 3×10</a:t>
            </a:r>
            <a:r>
              <a:rPr lang="en-US" baseline="30000" dirty="0" smtClean="0"/>
              <a:t>11</a:t>
            </a:r>
            <a:r>
              <a:rPr lang="en-US" dirty="0" smtClean="0"/>
              <a:t> to 3×10</a:t>
            </a:r>
            <a:r>
              <a:rPr lang="en-US" baseline="30000" dirty="0" smtClean="0"/>
              <a:t>16</a:t>
            </a:r>
            <a:r>
              <a:rPr lang="en-US" dirty="0" smtClean="0"/>
              <a:t> Hz. </a:t>
            </a:r>
          </a:p>
          <a:p>
            <a:r>
              <a:rPr lang="en-US" dirty="0" smtClean="0"/>
              <a:t>The visible spectrum is from 4.3×10</a:t>
            </a:r>
            <a:r>
              <a:rPr lang="en-US" baseline="30000" dirty="0" smtClean="0"/>
              <a:t>14</a:t>
            </a:r>
            <a:r>
              <a:rPr lang="en-US" dirty="0" smtClean="0"/>
              <a:t> to 7.5×10</a:t>
            </a:r>
            <a:r>
              <a:rPr lang="en-US" baseline="30000" dirty="0" smtClean="0"/>
              <a:t>14</a:t>
            </a:r>
            <a:r>
              <a:rPr lang="en-US" dirty="0" smtClean="0"/>
              <a:t> Hz.</a:t>
            </a:r>
          </a:p>
          <a:p>
            <a:r>
              <a:rPr lang="en-US" dirty="0" smtClean="0"/>
              <a:t>We rarely refer to the “frequency of light.” Light is expressed in terms of wavelength.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Optical Principles</a:t>
            </a:r>
            <a:endParaRPr lang="en-US" b="1" dirty="0">
              <a:solidFill>
                <a:schemeClr val="accent2">
                  <a:lumMod val="75000"/>
                </a:schemeClr>
              </a:solidFill>
            </a:endParaRPr>
          </a:p>
        </p:txBody>
      </p:sp>
      <p:sp>
        <p:nvSpPr>
          <p:cNvPr id="3" name="Content Placeholder 2"/>
          <p:cNvSpPr>
            <a:spLocks noGrp="1"/>
          </p:cNvSpPr>
          <p:nvPr>
            <p:ph idx="1"/>
          </p:nvPr>
        </p:nvSpPr>
        <p:spPr/>
        <p:txBody>
          <a:bodyPr/>
          <a:lstStyle/>
          <a:p>
            <a:r>
              <a:rPr lang="en-US" dirty="0" smtClean="0"/>
              <a:t>Light waves are very short and usually expressed in nanometers (nm, one-billionth of a meter) or micrometers (</a:t>
            </a:r>
            <a:r>
              <a:rPr lang="en-US" dirty="0" err="1" smtClean="0"/>
              <a:t>μm</a:t>
            </a:r>
            <a:r>
              <a:rPr lang="en-US" dirty="0" smtClean="0"/>
              <a:t>, one-millionth of a meter). An older term for micrometer is micron. Visible light is in the 400- to 700-nm range or 0.4 to 0.7 </a:t>
            </a:r>
            <a:r>
              <a:rPr lang="en-US" dirty="0" err="1" smtClean="0"/>
              <a:t>μm</a:t>
            </a:r>
            <a:r>
              <a:rPr lang="en-US" dirty="0" smtClean="0"/>
              <a:t> depending upon the color of the light. Short-wavelength light is violet (400 nm) and red (700 nm) is long-wavelength light.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Speed of Light</a:t>
            </a:r>
            <a:endParaRPr lang="en-US" b="1" dirty="0">
              <a:solidFill>
                <a:schemeClr val="accent2">
                  <a:lumMod val="75000"/>
                </a:schemeClr>
              </a:solidFill>
            </a:endParaRPr>
          </a:p>
        </p:txBody>
      </p:sp>
      <p:sp>
        <p:nvSpPr>
          <p:cNvPr id="3" name="Content Placeholder 2"/>
          <p:cNvSpPr>
            <a:spLocks noGrp="1"/>
          </p:cNvSpPr>
          <p:nvPr>
            <p:ph idx="1"/>
          </p:nvPr>
        </p:nvSpPr>
        <p:spPr/>
        <p:txBody>
          <a:bodyPr/>
          <a:lstStyle/>
          <a:p>
            <a:r>
              <a:rPr lang="en-US" dirty="0" smtClean="0"/>
              <a:t>The speed of light is approximately 300,000,000 m/s, or about 186,000 mi/s, in free space. These are the values normally used in calculation.</a:t>
            </a:r>
          </a:p>
          <a:p>
            <a:r>
              <a:rPr lang="en-US" dirty="0" smtClean="0"/>
              <a:t>The speed of light depends upon the medium through which the light passes.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Physical Optics</a:t>
            </a:r>
            <a:endParaRPr lang="en-US" b="1" dirty="0">
              <a:solidFill>
                <a:schemeClr val="accent2">
                  <a:lumMod val="75000"/>
                </a:schemeClr>
              </a:solidFill>
            </a:endParaRPr>
          </a:p>
        </p:txBody>
      </p:sp>
      <p:sp>
        <p:nvSpPr>
          <p:cNvPr id="3" name="Content Placeholder 2"/>
          <p:cNvSpPr>
            <a:spLocks noGrp="1"/>
          </p:cNvSpPr>
          <p:nvPr>
            <p:ph idx="1"/>
          </p:nvPr>
        </p:nvSpPr>
        <p:spPr/>
        <p:txBody>
          <a:bodyPr/>
          <a:lstStyle/>
          <a:p>
            <a:r>
              <a:rPr lang="en-US" dirty="0" smtClean="0"/>
              <a:t>Physical optics refers to the ways that light can be processed. </a:t>
            </a:r>
          </a:p>
          <a:p>
            <a:r>
              <a:rPr lang="en-US" dirty="0" smtClean="0"/>
              <a:t>Light can be processed or manipulated in many ways.</a:t>
            </a:r>
          </a:p>
          <a:p>
            <a:pPr>
              <a:buNone/>
            </a:pPr>
            <a:endParaRPr lang="en-US" dirty="0" smtClean="0"/>
          </a:p>
          <a:p>
            <a:pPr>
              <a:buNone/>
            </a:pPr>
            <a:r>
              <a:rPr lang="en-US" b="1" dirty="0" smtClean="0"/>
              <a:t>Reflection</a:t>
            </a:r>
          </a:p>
          <a:p>
            <a:pPr>
              <a:buNone/>
            </a:pPr>
            <a:r>
              <a:rPr lang="en-US" b="1" dirty="0" smtClean="0"/>
              <a:t>Refraction</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Reflection</a:t>
            </a:r>
            <a:endParaRPr lang="en-US" b="1" dirty="0">
              <a:solidFill>
                <a:schemeClr val="accent2">
                  <a:lumMod val="75000"/>
                </a:schemeClr>
              </a:solidFill>
            </a:endParaRPr>
          </a:p>
        </p:txBody>
      </p:sp>
      <p:sp>
        <p:nvSpPr>
          <p:cNvPr id="3" name="Content Placeholder 2"/>
          <p:cNvSpPr>
            <a:spLocks noGrp="1"/>
          </p:cNvSpPr>
          <p:nvPr>
            <p:ph idx="1"/>
          </p:nvPr>
        </p:nvSpPr>
        <p:spPr/>
        <p:txBody>
          <a:bodyPr>
            <a:normAutofit fontScale="92500" lnSpcReduction="10000"/>
          </a:bodyPr>
          <a:lstStyle/>
          <a:p>
            <a:r>
              <a:rPr lang="en-US" dirty="0" smtClean="0"/>
              <a:t>The simplest way of manipulating light is to reflect it. When light rays strike a reflective surface, such as a mirror, the light waves are thrown back or reflected. </a:t>
            </a:r>
          </a:p>
          <a:p>
            <a:r>
              <a:rPr lang="en-US" dirty="0" smtClean="0"/>
              <a:t>By using mirrors, the direction of a light beam can be changed.</a:t>
            </a:r>
          </a:p>
          <a:p>
            <a:r>
              <a:rPr lang="en-US" dirty="0" smtClean="0"/>
              <a:t>If the light ray strikes the mirror at some angle A from the normal, the reflected light ray will leave the mirror at the same angle B to the normal. This principle is known as the </a:t>
            </a:r>
            <a:r>
              <a:rPr lang="en-US" b="1" dirty="0" smtClean="0"/>
              <a:t>law of reflection.</a:t>
            </a:r>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381000" y="609600"/>
            <a:ext cx="7924800" cy="5486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Refraction</a:t>
            </a:r>
            <a:endParaRPr lang="en-US" b="1" dirty="0">
              <a:solidFill>
                <a:schemeClr val="accent2">
                  <a:lumMod val="75000"/>
                </a:schemeClr>
              </a:solidFill>
            </a:endParaRPr>
          </a:p>
        </p:txBody>
      </p:sp>
      <p:sp>
        <p:nvSpPr>
          <p:cNvPr id="3" name="Content Placeholder 2"/>
          <p:cNvSpPr>
            <a:spLocks noGrp="1"/>
          </p:cNvSpPr>
          <p:nvPr>
            <p:ph idx="1"/>
          </p:nvPr>
        </p:nvSpPr>
        <p:spPr/>
        <p:txBody>
          <a:bodyPr>
            <a:normAutofit fontScale="85000" lnSpcReduction="10000"/>
          </a:bodyPr>
          <a:lstStyle/>
          <a:p>
            <a:r>
              <a:rPr lang="en-US" dirty="0" smtClean="0"/>
              <a:t>The direction of the light ray can also be changed by refraction, which is the bending of a light ray that occurs when the light rays pass from one medium to another.</a:t>
            </a:r>
          </a:p>
          <a:p>
            <a:r>
              <a:rPr lang="en-US" dirty="0" smtClean="0"/>
              <a:t>Refraction occurs only when light passes through transparent material such as air, water, and glass.</a:t>
            </a:r>
          </a:p>
          <a:p>
            <a:r>
              <a:rPr lang="en-US" dirty="0" smtClean="0"/>
              <a:t>Refraction takes place at the point where two different substances come together. For example, where air and water come together, refraction will occur. The dividing line between the two different substances or media is known as the boundary, or interface.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b="1" dirty="0" smtClean="0">
                <a:solidFill>
                  <a:schemeClr val="accent2">
                    <a:lumMod val="75000"/>
                  </a:schemeClr>
                </a:solidFill>
              </a:rPr>
              <a:t>Refraction</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r>
              <a:rPr lang="en-US" dirty="0" smtClean="0"/>
              <a:t>The refraction occurs because light travels at different speeds in different materials. </a:t>
            </a:r>
          </a:p>
          <a:p>
            <a:r>
              <a:rPr lang="en-US" dirty="0" smtClean="0"/>
              <a:t>The speed of light in free space is typically much higher than the speed of light in water, glass, or other materials. </a:t>
            </a:r>
          </a:p>
          <a:p>
            <a:r>
              <a:rPr lang="en-US" dirty="0" smtClean="0"/>
              <a:t>The amount of refraction of the light of a material is usually expressed in terms of the index of refraction n.</a:t>
            </a:r>
          </a:p>
          <a:p>
            <a:r>
              <a:rPr lang="en-US" dirty="0" smtClean="0"/>
              <a:t>This is the ratio of the speed of light in air to the speed of light in the substance.</a:t>
            </a:r>
          </a:p>
          <a:p>
            <a:r>
              <a:rPr lang="en-US" dirty="0" smtClean="0"/>
              <a:t>Naturally, the index of refraction of air is 1, simply because 1 divided by itself is 1. </a:t>
            </a:r>
          </a:p>
          <a:p>
            <a:r>
              <a:rPr lang="en-US" dirty="0" smtClean="0"/>
              <a:t>The refractive index of water is approximately 1.3, and that of glass is 1.5.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Refraction</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990600" y="1524001"/>
            <a:ext cx="6781800" cy="43434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Refraction</a:t>
            </a:r>
            <a:endParaRPr lang="en-US" dirty="0"/>
          </a:p>
        </p:txBody>
      </p:sp>
      <p:sp>
        <p:nvSpPr>
          <p:cNvPr id="3" name="Content Placeholder 2"/>
          <p:cNvSpPr>
            <a:spLocks noGrp="1"/>
          </p:cNvSpPr>
          <p:nvPr>
            <p:ph idx="1"/>
          </p:nvPr>
        </p:nvSpPr>
        <p:spPr/>
        <p:txBody>
          <a:bodyPr/>
          <a:lstStyle/>
          <a:p>
            <a:r>
              <a:rPr lang="en-US" dirty="0" smtClean="0"/>
              <a:t>The incident ray strikes the surface at angle A to the normal but is refracted at an angle C. The relationship between the angles and indices of refractions are </a:t>
            </a:r>
          </a:p>
          <a:p>
            <a:pPr>
              <a:buNone/>
            </a:pPr>
            <a:r>
              <a:rPr lang="en-US" dirty="0" smtClean="0"/>
              <a:t>                                n</a:t>
            </a:r>
            <a:r>
              <a:rPr lang="en-US" baseline="-25000" dirty="0" smtClean="0"/>
              <a:t>1</a:t>
            </a:r>
            <a:r>
              <a:rPr lang="en-US" dirty="0" smtClean="0"/>
              <a:t>sin A = n</a:t>
            </a:r>
            <a:r>
              <a:rPr lang="en-US" baseline="-25000" dirty="0" smtClean="0"/>
              <a:t>2</a:t>
            </a:r>
            <a:r>
              <a:rPr lang="en-US" dirty="0" smtClean="0"/>
              <a:t>sin C</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Critical angle</a:t>
            </a:r>
            <a:endParaRPr lang="en-US" b="1" dirty="0">
              <a:solidFill>
                <a:schemeClr val="accent2">
                  <a:lumMod val="75000"/>
                </a:schemeClr>
              </a:solidFill>
            </a:endParaRPr>
          </a:p>
        </p:txBody>
      </p:sp>
      <p:pic>
        <p:nvPicPr>
          <p:cNvPr id="3074" name="Picture 2"/>
          <p:cNvPicPr>
            <a:picLocks noGrp="1" noChangeAspect="1" noChangeArrowheads="1"/>
          </p:cNvPicPr>
          <p:nvPr>
            <p:ph idx="1"/>
          </p:nvPr>
        </p:nvPicPr>
        <p:blipFill>
          <a:blip r:embed="rId2"/>
          <a:srcRect/>
          <a:stretch>
            <a:fillRect/>
          </a:stretch>
        </p:blipFill>
        <p:spPr bwMode="auto">
          <a:xfrm>
            <a:off x="1743404" y="1828801"/>
            <a:ext cx="5419395" cy="419099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Critical angle</a:t>
            </a:r>
            <a:endParaRPr lang="en-US" dirty="0"/>
          </a:p>
        </p:txBody>
      </p:sp>
      <p:sp>
        <p:nvSpPr>
          <p:cNvPr id="3" name="Content Placeholder 2"/>
          <p:cNvSpPr>
            <a:spLocks noGrp="1"/>
          </p:cNvSpPr>
          <p:nvPr>
            <p:ph idx="1"/>
          </p:nvPr>
        </p:nvSpPr>
        <p:spPr/>
        <p:txBody>
          <a:bodyPr>
            <a:normAutofit lnSpcReduction="10000"/>
          </a:bodyPr>
          <a:lstStyle/>
          <a:p>
            <a:r>
              <a:rPr lang="en-US" dirty="0" smtClean="0"/>
              <a:t>If the angle of incidence is increased, at some point the angle of refraction will equal 90° to the normal.</a:t>
            </a:r>
          </a:p>
          <a:p>
            <a:r>
              <a:rPr lang="en-US" dirty="0" smtClean="0"/>
              <a:t>When this happens, the refracted light ray in red travels along the interface between the air and glass. In this case, the angle of incidence A is said to be the critical angle.</a:t>
            </a:r>
          </a:p>
          <a:p>
            <a:r>
              <a:rPr lang="en-US" dirty="0" smtClean="0"/>
              <a:t>The critical angle value depends upon the index of refraction of the glass.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chemeClr val="accent2">
                    <a:lumMod val="75000"/>
                  </a:schemeClr>
                </a:solidFill>
              </a:rPr>
              <a:t>Total Internal Reflection</a:t>
            </a:r>
            <a:endParaRPr lang="en-US" b="1" dirty="0">
              <a:solidFill>
                <a:schemeClr val="accent2">
                  <a:lumMod val="75000"/>
                </a:schemeClr>
              </a:solidFill>
            </a:endParaRPr>
          </a:p>
        </p:txBody>
      </p:sp>
      <p:sp>
        <p:nvSpPr>
          <p:cNvPr id="3" name="Content Placeholder 2"/>
          <p:cNvSpPr>
            <a:spLocks noGrp="1"/>
          </p:cNvSpPr>
          <p:nvPr>
            <p:ph idx="1"/>
          </p:nvPr>
        </p:nvSpPr>
        <p:spPr>
          <a:xfrm>
            <a:off x="457200" y="1295400"/>
            <a:ext cx="8229600" cy="4953000"/>
          </a:xfrm>
        </p:spPr>
        <p:txBody>
          <a:bodyPr>
            <a:normAutofit fontScale="92500" lnSpcReduction="10000"/>
          </a:bodyPr>
          <a:lstStyle/>
          <a:p>
            <a:r>
              <a:rPr lang="en-US" dirty="0" smtClean="0"/>
              <a:t>If you make the angle of incidence greater than the critical angle, the light ray will be reflected from the interface.</a:t>
            </a:r>
          </a:p>
          <a:p>
            <a:r>
              <a:rPr lang="en-US" dirty="0" smtClean="0"/>
              <a:t>When this occurs, the angle of reflection B is equal to the angle of incidence A as if a real mirror were used. </a:t>
            </a:r>
          </a:p>
          <a:p>
            <a:r>
              <a:rPr lang="en-US" dirty="0" smtClean="0"/>
              <a:t>This action is known as total internal reflection, which occurs only in materials in which the velocity of light is slower than that in air.</a:t>
            </a:r>
          </a:p>
          <a:p>
            <a:r>
              <a:rPr lang="en-US" dirty="0" smtClean="0"/>
              <a:t>This is the basic principle that allows a fiber-optic cable to work.</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75000"/>
                  </a:schemeClr>
                </a:solidFill>
              </a:rPr>
              <a:t>Fiber-Optic Communication System</a:t>
            </a:r>
            <a:endParaRPr lang="en-US" b="1" dirty="0">
              <a:solidFill>
                <a:schemeClr val="accent2">
                  <a:lumMod val="75000"/>
                </a:schemeClr>
              </a:solidFill>
            </a:endParaRPr>
          </a:p>
        </p:txBody>
      </p:sp>
      <p:pic>
        <p:nvPicPr>
          <p:cNvPr id="4098" name="Picture 2"/>
          <p:cNvPicPr>
            <a:picLocks noGrp="1" noChangeAspect="1" noChangeArrowheads="1"/>
          </p:cNvPicPr>
          <p:nvPr>
            <p:ph idx="1"/>
          </p:nvPr>
        </p:nvPicPr>
        <p:blipFill>
          <a:blip r:embed="rId2"/>
          <a:srcRect/>
          <a:stretch>
            <a:fillRect/>
          </a:stretch>
        </p:blipFill>
        <p:spPr bwMode="auto">
          <a:xfrm>
            <a:off x="609600" y="1600200"/>
            <a:ext cx="7862887" cy="48006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75000"/>
                  </a:schemeClr>
                </a:solidFill>
              </a:rPr>
              <a:t>The components of a fiber-optic communication system</a:t>
            </a:r>
            <a:endParaRPr lang="en-US" b="1" dirty="0">
              <a:solidFill>
                <a:schemeClr val="accent2">
                  <a:lumMod val="75000"/>
                </a:schemeClr>
              </a:solidFill>
            </a:endParaRPr>
          </a:p>
        </p:txBody>
      </p:sp>
      <p:sp>
        <p:nvSpPr>
          <p:cNvPr id="3" name="Content Placeholder 2"/>
          <p:cNvSpPr>
            <a:spLocks noGrp="1"/>
          </p:cNvSpPr>
          <p:nvPr>
            <p:ph idx="1"/>
          </p:nvPr>
        </p:nvSpPr>
        <p:spPr/>
        <p:txBody>
          <a:bodyPr>
            <a:normAutofit lnSpcReduction="10000"/>
          </a:bodyPr>
          <a:lstStyle/>
          <a:p>
            <a:r>
              <a:rPr lang="en-US" dirty="0" smtClean="0"/>
              <a:t>The information signal to be transmitted may be voice, video, or computer data. </a:t>
            </a:r>
          </a:p>
          <a:p>
            <a:r>
              <a:rPr lang="en-US" b="1" dirty="0" smtClean="0"/>
              <a:t>A/D converter : </a:t>
            </a:r>
            <a:r>
              <a:rPr lang="en-US" dirty="0" smtClean="0"/>
              <a:t>The first step is to convert the information to a form compatible with the communication medium, usually by converting continuous analog signals such as voice and video (TV) signals to a series of digital pulses. An </a:t>
            </a:r>
            <a:r>
              <a:rPr lang="en-US" b="1" dirty="0" smtClean="0"/>
              <a:t>A/D converter </a:t>
            </a:r>
            <a:r>
              <a:rPr lang="en-US" dirty="0" smtClean="0"/>
              <a:t>is used for this purpose.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75000"/>
                  </a:schemeClr>
                </a:solidFill>
              </a:rPr>
              <a:t>The components of a fiber-optic communication system</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Light Source Transmitter </a:t>
            </a:r>
          </a:p>
          <a:p>
            <a:r>
              <a:rPr lang="en-US" dirty="0" smtClean="0"/>
              <a:t>These digital pulses are then used to fl ash a powerful light source off and on very rapidly.</a:t>
            </a:r>
          </a:p>
          <a:p>
            <a:r>
              <a:rPr lang="en-US" dirty="0" smtClean="0"/>
              <a:t> In simple low-cost systems that transmit over short distances, the light source is usually a light-emitting diode that emits a low-intensity infrared light beam.</a:t>
            </a:r>
          </a:p>
          <a:p>
            <a:r>
              <a:rPr lang="en-US" dirty="0" smtClean="0"/>
              <a:t> Infrared beams such as those used in TV remote controls are also used in transmission.</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smtClean="0">
                <a:solidFill>
                  <a:schemeClr val="accent2">
                    <a:lumMod val="75000"/>
                  </a:schemeClr>
                </a:solidFill>
              </a:rPr>
              <a:t>The components of a fiber-optic communication system</a:t>
            </a:r>
            <a:endParaRPr lang="en-US" dirty="0"/>
          </a:p>
        </p:txBody>
      </p:sp>
      <p:sp>
        <p:nvSpPr>
          <p:cNvPr id="3" name="Content Placeholder 2"/>
          <p:cNvSpPr>
            <a:spLocks noGrp="1"/>
          </p:cNvSpPr>
          <p:nvPr>
            <p:ph idx="1"/>
          </p:nvPr>
        </p:nvSpPr>
        <p:spPr>
          <a:xfrm>
            <a:off x="457200" y="1447800"/>
            <a:ext cx="8229600" cy="5105400"/>
          </a:xfrm>
        </p:spPr>
        <p:txBody>
          <a:bodyPr>
            <a:normAutofit lnSpcReduction="10000"/>
          </a:bodyPr>
          <a:lstStyle/>
          <a:p>
            <a:r>
              <a:rPr lang="en-US" b="1" dirty="0" smtClean="0"/>
              <a:t>Fiber-Optic Cable: </a:t>
            </a:r>
            <a:r>
              <a:rPr lang="en-US" dirty="0" smtClean="0"/>
              <a:t>The light beam pulses are then fed into a fiber-optic cable, which can transmit them over long distances.</a:t>
            </a:r>
          </a:p>
          <a:p>
            <a:endParaRPr lang="en-US" dirty="0" smtClean="0"/>
          </a:p>
          <a:p>
            <a:r>
              <a:rPr lang="en-US" b="1" dirty="0" smtClean="0"/>
              <a:t>Receiver: </a:t>
            </a:r>
            <a:r>
              <a:rPr lang="en-US" dirty="0" smtClean="0"/>
              <a:t>At the receiving end, a light-sensitive device known as a photocell, or light detector, is used to detect the light pulses.</a:t>
            </a:r>
          </a:p>
          <a:p>
            <a:r>
              <a:rPr lang="en-US" dirty="0" smtClean="0"/>
              <a:t> It converts the light pulses to an electric signal. The electrical pulses are amplified and reshaped back into digital form.</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75000"/>
                  </a:schemeClr>
                </a:solidFill>
              </a:rPr>
              <a:t>The components of a fiber-optic communication system</a:t>
            </a:r>
            <a:endParaRPr lang="en-US" dirty="0"/>
          </a:p>
        </p:txBody>
      </p:sp>
      <p:sp>
        <p:nvSpPr>
          <p:cNvPr id="3" name="Content Placeholder 2"/>
          <p:cNvSpPr>
            <a:spLocks noGrp="1"/>
          </p:cNvSpPr>
          <p:nvPr>
            <p:ph idx="1"/>
          </p:nvPr>
        </p:nvSpPr>
        <p:spPr/>
        <p:txBody>
          <a:bodyPr/>
          <a:lstStyle/>
          <a:p>
            <a:r>
              <a:rPr lang="en-US" b="1" dirty="0" smtClean="0"/>
              <a:t>Decoder: </a:t>
            </a:r>
            <a:r>
              <a:rPr lang="en-US" dirty="0" smtClean="0"/>
              <a:t>Converted digital signal are fed to a decoder, such as a D/A converter, where the original voice or video is recovered.</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Applications of Fiber-Optic Cable</a:t>
            </a:r>
            <a:endParaRPr lang="en-US" b="1" dirty="0">
              <a:solidFill>
                <a:schemeClr val="accent2">
                  <a:lumMod val="75000"/>
                </a:schemeClr>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914400" y="1524000"/>
            <a:ext cx="7620000" cy="46482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Fiber-Optic Cables Over Conventional Electrical Cables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914400" y="1828800"/>
            <a:ext cx="7315200" cy="44958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1071</Words>
  <Application>Microsoft Office PowerPoint</Application>
  <PresentationFormat>On-screen Show (4:3)</PresentationFormat>
  <Paragraphs>73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OPTICAL COMMUNICATION</vt:lpstr>
      <vt:lpstr>Optical Communication</vt:lpstr>
      <vt:lpstr>Optical Principles</vt:lpstr>
      <vt:lpstr>Optical Principles</vt:lpstr>
      <vt:lpstr>Speed of Light</vt:lpstr>
      <vt:lpstr>Physical Optics</vt:lpstr>
      <vt:lpstr>Reflection</vt:lpstr>
      <vt:lpstr>Slide 8</vt:lpstr>
      <vt:lpstr>Refraction</vt:lpstr>
      <vt:lpstr>Refraction</vt:lpstr>
      <vt:lpstr>Refraction</vt:lpstr>
      <vt:lpstr>Refraction</vt:lpstr>
      <vt:lpstr>Critical angle</vt:lpstr>
      <vt:lpstr>Critical angle</vt:lpstr>
      <vt:lpstr>Total Internal Reflection</vt:lpstr>
      <vt:lpstr>Fiber-Optic Communication System</vt:lpstr>
      <vt:lpstr>The components of a fiber-optic communication system</vt:lpstr>
      <vt:lpstr>The components of a fiber-optic communication system</vt:lpstr>
      <vt:lpstr>The components of a fiber-optic communication system</vt:lpstr>
      <vt:lpstr>The components of a fiber-optic communication system</vt:lpstr>
      <vt:lpstr>Applications of Fiber-Optic Cable</vt:lpstr>
      <vt:lpstr>Benefits of Fiber-Optic Cables Over Conventional Electrical Cables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30</cp:revision>
  <dcterms:created xsi:type="dcterms:W3CDTF">2006-08-16T00:00:00Z</dcterms:created>
  <dcterms:modified xsi:type="dcterms:W3CDTF">2022-09-26T05:51:37Z</dcterms:modified>
</cp:coreProperties>
</file>