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69" r:id="rId16"/>
    <p:sldId id="273" r:id="rId17"/>
    <p:sldId id="271" r:id="rId18"/>
    <p:sldId id="272" r:id="rId19"/>
    <p:sldId id="274" r:id="rId20"/>
    <p:sldId id="275" r:id="rId21"/>
    <p:sldId id="276" r:id="rId22"/>
    <p:sldId id="278" r:id="rId23"/>
    <p:sldId id="277" r:id="rId24"/>
    <p:sldId id="279" r:id="rId25"/>
    <p:sldId id="283" r:id="rId26"/>
    <p:sldId id="280" r:id="rId27"/>
    <p:sldId id="281" r:id="rId28"/>
    <p:sldId id="282" r:id="rId29"/>
    <p:sldId id="285" r:id="rId30"/>
    <p:sldId id="284"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57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9/26/2022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9/26/2022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9/26/2022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9/26/2022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9/26/2022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solidFill>
                  <a:srgbClr val="FF0000"/>
                </a:solidFill>
              </a:rPr>
              <a:t>Fiber-Optic Cables</a:t>
            </a:r>
            <a:endParaRPr lang="en-US" b="1" dirty="0">
              <a:solidFill>
                <a:srgbClr val="FF0000"/>
              </a:solidFill>
            </a:endParaRPr>
          </a:p>
        </p:txBody>
      </p:sp>
      <p:sp>
        <p:nvSpPr>
          <p:cNvPr id="3" name="Subtitle 2"/>
          <p:cNvSpPr>
            <a:spLocks noGrp="1"/>
          </p:cNvSpPr>
          <p:nvPr>
            <p:ph type="subTitle" idx="1"/>
          </p:nvPr>
        </p:nvSpPr>
        <p:spPr>
          <a:xfrm>
            <a:off x="3505200" y="4267200"/>
            <a:ext cx="5105400" cy="1905000"/>
          </a:xfrm>
        </p:spPr>
        <p:txBody>
          <a:bodyPr>
            <a:normAutofit fontScale="77500" lnSpcReduction="20000"/>
          </a:bodyPr>
          <a:lstStyle/>
          <a:p>
            <a:r>
              <a:rPr lang="en-US" dirty="0" smtClean="0">
                <a:solidFill>
                  <a:schemeClr val="tx1"/>
                </a:solidFill>
                <a:latin typeface="+mj-lt"/>
              </a:rPr>
              <a:t>Prepared By: </a:t>
            </a:r>
            <a:r>
              <a:rPr lang="en-US" dirty="0" err="1" smtClean="0">
                <a:solidFill>
                  <a:schemeClr val="tx1"/>
                </a:solidFill>
                <a:latin typeface="+mj-lt"/>
              </a:rPr>
              <a:t>Er</a:t>
            </a:r>
            <a:r>
              <a:rPr lang="en-US" dirty="0" smtClean="0">
                <a:solidFill>
                  <a:schemeClr val="tx1"/>
                </a:solidFill>
                <a:latin typeface="+mj-lt"/>
              </a:rPr>
              <a:t>. </a:t>
            </a:r>
            <a:r>
              <a:rPr lang="en-US" dirty="0" err="1" smtClean="0">
                <a:solidFill>
                  <a:schemeClr val="tx1"/>
                </a:solidFill>
                <a:latin typeface="+mj-lt"/>
              </a:rPr>
              <a:t>Amit</a:t>
            </a:r>
            <a:r>
              <a:rPr lang="en-US" dirty="0" smtClean="0">
                <a:solidFill>
                  <a:schemeClr val="tx1"/>
                </a:solidFill>
                <a:latin typeface="+mj-lt"/>
              </a:rPr>
              <a:t> Kr </a:t>
            </a:r>
            <a:r>
              <a:rPr lang="en-US" dirty="0" err="1" smtClean="0">
                <a:solidFill>
                  <a:schemeClr val="tx1"/>
                </a:solidFill>
                <a:latin typeface="+mj-lt"/>
              </a:rPr>
              <a:t>tewari</a:t>
            </a:r>
            <a:endParaRPr lang="en-US" dirty="0" smtClean="0">
              <a:solidFill>
                <a:schemeClr val="tx1"/>
              </a:solidFill>
              <a:latin typeface="+mj-lt"/>
            </a:endParaRPr>
          </a:p>
          <a:p>
            <a:r>
              <a:rPr lang="en-US" dirty="0" smtClean="0">
                <a:solidFill>
                  <a:schemeClr val="tx1"/>
                </a:solidFill>
                <a:latin typeface="+mj-lt"/>
              </a:rPr>
              <a:t>                             Associate Professor</a:t>
            </a:r>
          </a:p>
          <a:p>
            <a:r>
              <a:rPr lang="en-US" dirty="0" smtClean="0">
                <a:solidFill>
                  <a:schemeClr val="tx1"/>
                </a:solidFill>
                <a:latin typeface="+mj-lt"/>
              </a:rPr>
              <a:t>         CS Dept.</a:t>
            </a:r>
          </a:p>
          <a:p>
            <a:r>
              <a:rPr lang="en-US" dirty="0" smtClean="0">
                <a:solidFill>
                  <a:schemeClr val="tx1"/>
                </a:solidFill>
                <a:latin typeface="+mj-lt"/>
              </a:rPr>
              <a:t>                 ACEIT, </a:t>
            </a:r>
            <a:r>
              <a:rPr lang="en-US" dirty="0" err="1" smtClean="0">
                <a:solidFill>
                  <a:schemeClr val="tx1"/>
                </a:solidFill>
                <a:latin typeface="+mj-lt"/>
              </a:rPr>
              <a:t>Jaipur</a:t>
            </a:r>
            <a:endParaRPr lang="en-US" dirty="0" smtClean="0">
              <a:solidFill>
                <a:schemeClr val="tx1"/>
              </a:solidFill>
              <a:latin typeface="+mj-lt"/>
            </a:endParaRP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8200"/>
          </a:xfrm>
        </p:spPr>
        <p:txBody>
          <a:bodyPr/>
          <a:lstStyle/>
          <a:p>
            <a:r>
              <a:rPr lang="en-US" b="1" dirty="0" smtClean="0">
                <a:solidFill>
                  <a:srgbClr val="FF0000"/>
                </a:solidFill>
              </a:rPr>
              <a:t>Fiber-Optic Cables</a:t>
            </a:r>
            <a:endParaRPr lang="en-US" dirty="0"/>
          </a:p>
        </p:txBody>
      </p:sp>
      <p:sp>
        <p:nvSpPr>
          <p:cNvPr id="3" name="Content Placeholder 2"/>
          <p:cNvSpPr>
            <a:spLocks noGrp="1"/>
          </p:cNvSpPr>
          <p:nvPr>
            <p:ph idx="1"/>
          </p:nvPr>
        </p:nvSpPr>
        <p:spPr>
          <a:xfrm>
            <a:off x="457200" y="914400"/>
            <a:ext cx="8229600" cy="5943600"/>
          </a:xfrm>
        </p:spPr>
        <p:txBody>
          <a:bodyPr>
            <a:normAutofit fontScale="92500" lnSpcReduction="10000"/>
          </a:bodyPr>
          <a:lstStyle/>
          <a:p>
            <a:r>
              <a:rPr lang="en-US" dirty="0" smtClean="0"/>
              <a:t>A fiber-optic cable is thin glass or plastic cable that acts as a light “pipe.” It is not really a hollow tube carrying light, but a long, thin strand of glass or plastic fiber.</a:t>
            </a:r>
          </a:p>
          <a:p>
            <a:r>
              <a:rPr lang="en-US" dirty="0" smtClean="0"/>
              <a:t>Fiber cables have a circular cross section with a diameter of only a fraction of an inch.</a:t>
            </a:r>
          </a:p>
          <a:p>
            <a:r>
              <a:rPr lang="en-US" dirty="0" smtClean="0"/>
              <a:t>Some fiber-optic cables are the size of a human hair.</a:t>
            </a:r>
          </a:p>
          <a:p>
            <a:r>
              <a:rPr lang="en-US" dirty="0" smtClean="0"/>
              <a:t>A light source is placed at the end of the fiber, and light passes through it and exits at the other end of the cable. How the light propagates through the fiber depends upon the laws of optics. </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Principles of Fiber-Optic Cable</a:t>
            </a:r>
            <a:endParaRPr lang="en-US" b="1" dirty="0">
              <a:solidFill>
                <a:srgbClr val="FF0000"/>
              </a:solidFill>
            </a:endParaRPr>
          </a:p>
        </p:txBody>
      </p:sp>
      <p:sp>
        <p:nvSpPr>
          <p:cNvPr id="3" name="Content Placeholder 2"/>
          <p:cNvSpPr>
            <a:spLocks noGrp="1"/>
          </p:cNvSpPr>
          <p:nvPr>
            <p:ph idx="1"/>
          </p:nvPr>
        </p:nvSpPr>
        <p:spPr/>
        <p:txBody>
          <a:bodyPr>
            <a:normAutofit fontScale="92500" lnSpcReduction="20000"/>
          </a:bodyPr>
          <a:lstStyle/>
          <a:p>
            <a:r>
              <a:rPr lang="en-US" dirty="0" smtClean="0"/>
              <a:t>Fiber-optic cables operate on the optical principles of total internal reflection.</a:t>
            </a:r>
          </a:p>
          <a:p>
            <a:r>
              <a:rPr lang="en-US" dirty="0" smtClean="0"/>
              <a:t>A beam of light is focused on the end of the cable. It can be positioned in a number of different ways so that the light enters the fiber at different angles. </a:t>
            </a:r>
          </a:p>
          <a:p>
            <a:r>
              <a:rPr lang="en-US" dirty="0" smtClean="0"/>
              <a:t>For example, light ray A enters the cable perpendicular to the end surface. </a:t>
            </a:r>
          </a:p>
          <a:p>
            <a:r>
              <a:rPr lang="en-US" dirty="0" smtClean="0"/>
              <a:t>Therefore, the light beam travels straight down the fiber and exits at the other end. This is the most desirable condition.</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Principles of Fiber-Optic Cable</a:t>
            </a:r>
            <a:endParaRPr lang="en-US" dirty="0"/>
          </a:p>
        </p:txBody>
      </p:sp>
      <p:sp>
        <p:nvSpPr>
          <p:cNvPr id="3" name="Content Placeholder 2"/>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2"/>
          <a:srcRect/>
          <a:stretch>
            <a:fillRect/>
          </a:stretch>
        </p:blipFill>
        <p:spPr bwMode="auto">
          <a:xfrm>
            <a:off x="533400" y="1524000"/>
            <a:ext cx="8153400" cy="4495800"/>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b="1" dirty="0" smtClean="0">
                <a:solidFill>
                  <a:srgbClr val="FF0000"/>
                </a:solidFill>
              </a:rPr>
              <a:t>Principles of Fiber-Optic Cable</a:t>
            </a:r>
            <a:endParaRPr lang="en-US" dirty="0"/>
          </a:p>
        </p:txBody>
      </p:sp>
      <p:sp>
        <p:nvSpPr>
          <p:cNvPr id="3" name="Content Placeholder 2"/>
          <p:cNvSpPr>
            <a:spLocks noGrp="1"/>
          </p:cNvSpPr>
          <p:nvPr>
            <p:ph idx="1"/>
          </p:nvPr>
        </p:nvSpPr>
        <p:spPr>
          <a:xfrm>
            <a:off x="457200" y="1295400"/>
            <a:ext cx="8229600" cy="5334000"/>
          </a:xfrm>
        </p:spPr>
        <p:txBody>
          <a:bodyPr>
            <a:normAutofit fontScale="92500" lnSpcReduction="10000"/>
          </a:bodyPr>
          <a:lstStyle/>
          <a:p>
            <a:r>
              <a:rPr lang="en-US" dirty="0" smtClean="0"/>
              <a:t>The angle of light beam B is such that its angle of incidence is less than the critical angle, and therefore refraction takes place. </a:t>
            </a:r>
          </a:p>
          <a:p>
            <a:r>
              <a:rPr lang="en-US" dirty="0" smtClean="0"/>
              <a:t>The angle of incidence of light beams C and D is greater than the critical angle.</a:t>
            </a:r>
          </a:p>
          <a:p>
            <a:r>
              <a:rPr lang="en-US" dirty="0" smtClean="0"/>
              <a:t> Therefore, total internal reflection takes place, and the light beams are reflected off the surface of the fiber cable. </a:t>
            </a:r>
          </a:p>
          <a:p>
            <a:r>
              <a:rPr lang="en-US" dirty="0" smtClean="0"/>
              <a:t>The light beam bounces back and forth between the surfaces until it exits at the other end of the cable.</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90600"/>
          </a:xfrm>
        </p:spPr>
        <p:txBody>
          <a:bodyPr/>
          <a:lstStyle/>
          <a:p>
            <a:r>
              <a:rPr lang="en-US" b="1" dirty="0" smtClean="0">
                <a:solidFill>
                  <a:srgbClr val="FF0000"/>
                </a:solidFill>
              </a:rPr>
              <a:t>Principles of Fiber-Optic Cable</a:t>
            </a:r>
            <a:endParaRPr lang="en-US" dirty="0"/>
          </a:p>
        </p:txBody>
      </p:sp>
      <p:sp>
        <p:nvSpPr>
          <p:cNvPr id="3" name="Content Placeholder 2"/>
          <p:cNvSpPr>
            <a:spLocks noGrp="1"/>
          </p:cNvSpPr>
          <p:nvPr>
            <p:ph idx="1"/>
          </p:nvPr>
        </p:nvSpPr>
        <p:spPr>
          <a:xfrm>
            <a:off x="457200" y="914400"/>
            <a:ext cx="8229600" cy="5943600"/>
          </a:xfrm>
        </p:spPr>
        <p:txBody>
          <a:bodyPr>
            <a:normAutofit fontScale="92500" lnSpcReduction="10000"/>
          </a:bodyPr>
          <a:lstStyle/>
          <a:p>
            <a:r>
              <a:rPr lang="en-US" dirty="0" smtClean="0"/>
              <a:t>Therefore, if multiple light rays enter the end of the cable, they will take different paths, and so some will exit sooner and some later than others.</a:t>
            </a:r>
          </a:p>
          <a:p>
            <a:r>
              <a:rPr lang="en-US" dirty="0" smtClean="0"/>
              <a:t>In practice, the light source is placed so that the angle is such that the light beam passes directly down the center axis of the cable so that the reflection angles are great. </a:t>
            </a:r>
          </a:p>
          <a:p>
            <a:r>
              <a:rPr lang="en-US" dirty="0" smtClean="0"/>
              <a:t>This prevents the light from being lost because of refraction at the interface. </a:t>
            </a:r>
          </a:p>
          <a:p>
            <a:r>
              <a:rPr lang="en-US" dirty="0" smtClean="0"/>
              <a:t>Because of total internal reflection, the light beam will continue to propagate through the fiber even though it is bent. With long slow bends, the light will stay within the cable.</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Principles of Fiber-Optic Cable</a:t>
            </a:r>
            <a:endParaRPr lang="en-US" dirty="0"/>
          </a:p>
        </p:txBody>
      </p:sp>
      <p:sp>
        <p:nvSpPr>
          <p:cNvPr id="3" name="Content Placeholder 2"/>
          <p:cNvSpPr>
            <a:spLocks noGrp="1"/>
          </p:cNvSpPr>
          <p:nvPr>
            <p:ph idx="1"/>
          </p:nvPr>
        </p:nvSpPr>
        <p:spPr/>
        <p:txBody>
          <a:bodyPr/>
          <a:lstStyle/>
          <a:p>
            <a:r>
              <a:rPr lang="en-US" dirty="0" smtClean="0"/>
              <a:t>The core of the fiber has a higher index of refraction than the cladding surrounding the core.</a:t>
            </a:r>
          </a:p>
          <a:p>
            <a:r>
              <a:rPr lang="en-US" dirty="0" smtClean="0"/>
              <a:t>External to the end of the cable is what is called a cone of acceptance; it is defined by the critical angle. Any light beam outside the cone will not be internally reflected and transmitted down the cable.</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Numerical Aperture of Cable</a:t>
            </a:r>
            <a:endParaRPr lang="en-US" b="1" dirty="0">
              <a:solidFill>
                <a:srgbClr val="FF0000"/>
              </a:solidFill>
            </a:endParaRPr>
          </a:p>
        </p:txBody>
      </p:sp>
      <p:sp>
        <p:nvSpPr>
          <p:cNvPr id="3" name="Content Placeholder 2"/>
          <p:cNvSpPr>
            <a:spLocks noGrp="1"/>
          </p:cNvSpPr>
          <p:nvPr>
            <p:ph idx="1"/>
          </p:nvPr>
        </p:nvSpPr>
        <p:spPr/>
        <p:txBody>
          <a:bodyPr/>
          <a:lstStyle/>
          <a:p>
            <a:r>
              <a:rPr lang="en-US" dirty="0" smtClean="0"/>
              <a:t>The cone of acceptance defines the numerical aperture (NA) of the cable. </a:t>
            </a:r>
          </a:p>
          <a:p>
            <a:r>
              <a:rPr lang="en-US" dirty="0" smtClean="0"/>
              <a:t>This is a number less than 1 that gives some indication of the range of angles over which a particular cable will work. </a:t>
            </a:r>
          </a:p>
          <a:p>
            <a:r>
              <a:rPr lang="en-US" dirty="0" smtClean="0"/>
              <a:t>The NA can be calculated with the expression</a:t>
            </a:r>
          </a:p>
          <a:p>
            <a:pPr>
              <a:buNone/>
            </a:pPr>
            <a:r>
              <a:rPr lang="en-US" dirty="0" smtClean="0"/>
              <a:t>                                 </a:t>
            </a:r>
            <a:r>
              <a:rPr lang="en-US" b="1" dirty="0" smtClean="0"/>
              <a:t>NA = sin </a:t>
            </a:r>
            <a:r>
              <a:rPr lang="el-GR" b="1" dirty="0" smtClean="0"/>
              <a:t>θ</a:t>
            </a:r>
            <a:r>
              <a:rPr lang="en-US" b="1" baseline="-25000" dirty="0" smtClean="0"/>
              <a:t>C</a:t>
            </a:r>
          </a:p>
          <a:p>
            <a:pPr>
              <a:buNone/>
            </a:pPr>
            <a:endParaRPr lang="en-US" dirty="0" smtClean="0"/>
          </a:p>
          <a:p>
            <a:pPr>
              <a:buNone/>
            </a:pP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Fiber-Optic Cable Construction</a:t>
            </a:r>
            <a:endParaRPr lang="en-US" b="1" dirty="0">
              <a:solidFill>
                <a:srgbClr val="FF0000"/>
              </a:solidFill>
            </a:endParaRPr>
          </a:p>
        </p:txBody>
      </p:sp>
      <p:sp>
        <p:nvSpPr>
          <p:cNvPr id="3" name="Content Placeholder 2"/>
          <p:cNvSpPr>
            <a:spLocks noGrp="1"/>
          </p:cNvSpPr>
          <p:nvPr>
            <p:ph idx="1"/>
          </p:nvPr>
        </p:nvSpPr>
        <p:spPr/>
        <p:txBody>
          <a:bodyPr/>
          <a:lstStyle/>
          <a:p>
            <a:r>
              <a:rPr lang="en-US" dirty="0" smtClean="0"/>
              <a:t>Fiber-optic cables come in a variety of sizes, shapes, and types.</a:t>
            </a:r>
          </a:p>
          <a:p>
            <a:r>
              <a:rPr lang="en-US" dirty="0" smtClean="0"/>
              <a:t>The simplest cable contains a single strand of fiber; a complex cable is made up of multiple fibers with different layers and other elements.</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Fiber-Optic Cable Construction</a:t>
            </a:r>
            <a:endParaRPr lang="en-US" dirty="0"/>
          </a:p>
        </p:txBody>
      </p:sp>
      <p:pic>
        <p:nvPicPr>
          <p:cNvPr id="3074" name="Picture 2"/>
          <p:cNvPicPr>
            <a:picLocks noGrp="1" noChangeAspect="1" noChangeArrowheads="1"/>
          </p:cNvPicPr>
          <p:nvPr>
            <p:ph idx="1"/>
          </p:nvPr>
        </p:nvPicPr>
        <p:blipFill>
          <a:blip r:embed="rId2"/>
          <a:srcRect/>
          <a:stretch>
            <a:fillRect/>
          </a:stretch>
        </p:blipFill>
        <p:spPr bwMode="auto">
          <a:xfrm>
            <a:off x="457200" y="2057400"/>
            <a:ext cx="8458200" cy="2667000"/>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dirty="0" smtClean="0">
                <a:solidFill>
                  <a:srgbClr val="FF0000"/>
                </a:solidFill>
              </a:rPr>
              <a:t>CORE</a:t>
            </a:r>
            <a:endParaRPr lang="en-US" b="1" dirty="0">
              <a:solidFill>
                <a:srgbClr val="FF0000"/>
              </a:solidFill>
            </a:endParaRPr>
          </a:p>
        </p:txBody>
      </p:sp>
      <p:sp>
        <p:nvSpPr>
          <p:cNvPr id="3" name="Content Placeholder 2"/>
          <p:cNvSpPr>
            <a:spLocks noGrp="1"/>
          </p:cNvSpPr>
          <p:nvPr>
            <p:ph idx="1"/>
          </p:nvPr>
        </p:nvSpPr>
        <p:spPr>
          <a:xfrm>
            <a:off x="457200" y="1219200"/>
            <a:ext cx="8229600" cy="4906963"/>
          </a:xfrm>
        </p:spPr>
        <p:txBody>
          <a:bodyPr>
            <a:normAutofit fontScale="92500" lnSpcReduction="10000"/>
          </a:bodyPr>
          <a:lstStyle/>
          <a:p>
            <a:r>
              <a:rPr lang="en-US" dirty="0" smtClean="0"/>
              <a:t>The portion of a fiber-optic cable that carries the light is made from either glass or plastic. Another name for glass is silica. </a:t>
            </a:r>
          </a:p>
          <a:p>
            <a:r>
              <a:rPr lang="en-US" dirty="0" smtClean="0"/>
              <a:t>The optical characteristics of glass are superior to those of plastic. </a:t>
            </a:r>
          </a:p>
          <a:p>
            <a:r>
              <a:rPr lang="en-US" dirty="0" smtClean="0"/>
              <a:t>However, glass is far more expensive and more fragile than plastic. </a:t>
            </a:r>
          </a:p>
          <a:p>
            <a:r>
              <a:rPr lang="en-US" dirty="0" smtClean="0"/>
              <a:t>Although plastic is less expensive and more flexible, its attenuation of light is greater. For a given intensity, light will travel a farther distance in glass than in plastic.</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90600"/>
          </a:xfrm>
        </p:spPr>
        <p:txBody>
          <a:bodyPr/>
          <a:lstStyle/>
          <a:p>
            <a:r>
              <a:rPr lang="en-US" b="1" dirty="0" smtClean="0">
                <a:solidFill>
                  <a:srgbClr val="FF0000"/>
                </a:solidFill>
              </a:rPr>
              <a:t>Cladding </a:t>
            </a:r>
            <a:endParaRPr lang="en-US" b="1" dirty="0">
              <a:solidFill>
                <a:srgbClr val="FF0000"/>
              </a:solidFill>
            </a:endParaRPr>
          </a:p>
        </p:txBody>
      </p:sp>
      <p:sp>
        <p:nvSpPr>
          <p:cNvPr id="3" name="Content Placeholder 2"/>
          <p:cNvSpPr>
            <a:spLocks noGrp="1"/>
          </p:cNvSpPr>
          <p:nvPr>
            <p:ph idx="1"/>
          </p:nvPr>
        </p:nvSpPr>
        <p:spPr>
          <a:xfrm>
            <a:off x="457200" y="1066800"/>
            <a:ext cx="8229600" cy="5410200"/>
          </a:xfrm>
        </p:spPr>
        <p:txBody>
          <a:bodyPr>
            <a:normAutofit fontScale="92500" lnSpcReduction="20000"/>
          </a:bodyPr>
          <a:lstStyle/>
          <a:p>
            <a:r>
              <a:rPr lang="en-US" dirty="0" smtClean="0"/>
              <a:t>The fiber, which is called the core, is usually surrounded by a protective cladding. </a:t>
            </a:r>
          </a:p>
          <a:p>
            <a:r>
              <a:rPr lang="en-US" dirty="0" smtClean="0"/>
              <a:t>The cladding is also made of glass or plastic but has a lower index of refraction. </a:t>
            </a:r>
          </a:p>
          <a:p>
            <a:r>
              <a:rPr lang="en-US" dirty="0" smtClean="0"/>
              <a:t>This ensures that the proper interface is achieved so that the light waves remain within the core. </a:t>
            </a:r>
          </a:p>
          <a:p>
            <a:r>
              <a:rPr lang="en-US" dirty="0" smtClean="0"/>
              <a:t>In addition to protecting the fiber core from nicks and scratches, the cladding gives strength. </a:t>
            </a:r>
          </a:p>
          <a:p>
            <a:r>
              <a:rPr lang="en-US" dirty="0" smtClean="0"/>
              <a:t>Some fiber-optic cable has a glass core with a glass cladding. </a:t>
            </a:r>
          </a:p>
          <a:p>
            <a:r>
              <a:rPr lang="en-US" dirty="0" smtClean="0"/>
              <a:t>Other cables have a plastic core with a plastic cladding. Another arrangement, plastic-clad silica (PCS) cable, is a glass core with a plastic cladding.</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dirty="0" smtClean="0">
                <a:solidFill>
                  <a:srgbClr val="FF0000"/>
                </a:solidFill>
              </a:rPr>
              <a:t>Jacket</a:t>
            </a:r>
            <a:endParaRPr lang="en-US" b="1" dirty="0">
              <a:solidFill>
                <a:srgbClr val="FF0000"/>
              </a:solidFill>
            </a:endParaRPr>
          </a:p>
        </p:txBody>
      </p:sp>
      <p:sp>
        <p:nvSpPr>
          <p:cNvPr id="3" name="Content Placeholder 2"/>
          <p:cNvSpPr>
            <a:spLocks noGrp="1"/>
          </p:cNvSpPr>
          <p:nvPr>
            <p:ph idx="1"/>
          </p:nvPr>
        </p:nvSpPr>
        <p:spPr>
          <a:xfrm>
            <a:off x="457200" y="1219200"/>
            <a:ext cx="8229600" cy="5105400"/>
          </a:xfrm>
        </p:spPr>
        <p:txBody>
          <a:bodyPr>
            <a:normAutofit lnSpcReduction="10000"/>
          </a:bodyPr>
          <a:lstStyle/>
          <a:p>
            <a:r>
              <a:rPr lang="en-US" dirty="0" smtClean="0"/>
              <a:t>In addition to the core, its cladding, and a jacket, fiber-optic cable usually contains one or more elements to form a complete cable. The simplest cable is the core with its cladding surrounded by a protective jacket. </a:t>
            </a:r>
          </a:p>
          <a:p>
            <a:r>
              <a:rPr lang="en-US" dirty="0" smtClean="0"/>
              <a:t>This jacket is made of some type of plastic, typically polyethylene, polyurethane, or polyvinyl chloride (PVC).</a:t>
            </a:r>
          </a:p>
          <a:p>
            <a:r>
              <a:rPr lang="en-US" dirty="0" smtClean="0"/>
              <a:t>The main purpose of this outer jacket is to protect the core and cladding from damage. </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Multi-Core Cable</a:t>
            </a:r>
            <a:endParaRPr lang="en-US" b="1" dirty="0">
              <a:solidFill>
                <a:srgbClr val="FF0000"/>
              </a:solidFill>
            </a:endParaRPr>
          </a:p>
        </p:txBody>
      </p:sp>
      <p:sp>
        <p:nvSpPr>
          <p:cNvPr id="3" name="Content Placeholder 2"/>
          <p:cNvSpPr>
            <a:spLocks noGrp="1"/>
          </p:cNvSpPr>
          <p:nvPr>
            <p:ph idx="1"/>
          </p:nvPr>
        </p:nvSpPr>
        <p:spPr/>
        <p:txBody>
          <a:bodyPr/>
          <a:lstStyle/>
          <a:p>
            <a:r>
              <a:rPr lang="en-US" dirty="0" smtClean="0"/>
              <a:t>The more complex cables may contain two or more fiber-optic elements. Typical cables are available with 2, 6, 12, 18, and 24 optical fiber cores.</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Types of Fiber-Optic Cables</a:t>
            </a:r>
            <a:endParaRPr lang="en-US" b="1" dirty="0">
              <a:solidFill>
                <a:srgbClr val="FF0000"/>
              </a:solidFill>
            </a:endParaRPr>
          </a:p>
        </p:txBody>
      </p:sp>
      <p:sp>
        <p:nvSpPr>
          <p:cNvPr id="3" name="Content Placeholder 2"/>
          <p:cNvSpPr>
            <a:spLocks noGrp="1"/>
          </p:cNvSpPr>
          <p:nvPr>
            <p:ph idx="1"/>
          </p:nvPr>
        </p:nvSpPr>
        <p:spPr/>
        <p:txBody>
          <a:bodyPr>
            <a:normAutofit fontScale="92500"/>
          </a:bodyPr>
          <a:lstStyle/>
          <a:p>
            <a:r>
              <a:rPr lang="en-US" dirty="0" smtClean="0"/>
              <a:t>There are two basic ways of classifying fiber-optic cables: </a:t>
            </a:r>
          </a:p>
          <a:p>
            <a:r>
              <a:rPr lang="en-US" dirty="0" smtClean="0"/>
              <a:t>The first method is by the index of refraction, which varies across the cross section of the cable. </a:t>
            </a:r>
          </a:p>
          <a:p>
            <a:r>
              <a:rPr lang="en-US" dirty="0" smtClean="0"/>
              <a:t>The second method of classification is by mode, which refers to the various paths the light rays can take in passing through the fiber. Usually these two methods of classification are combined to define the types of cable.</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According to Index of Refraction</a:t>
            </a:r>
            <a:endParaRPr lang="en-US" b="1" dirty="0">
              <a:solidFill>
                <a:srgbClr val="FF0000"/>
              </a:solidFill>
            </a:endParaRPr>
          </a:p>
        </p:txBody>
      </p:sp>
      <p:sp>
        <p:nvSpPr>
          <p:cNvPr id="3" name="Content Placeholder 2"/>
          <p:cNvSpPr>
            <a:spLocks noGrp="1"/>
          </p:cNvSpPr>
          <p:nvPr>
            <p:ph idx="1"/>
          </p:nvPr>
        </p:nvSpPr>
        <p:spPr/>
        <p:txBody>
          <a:bodyPr/>
          <a:lstStyle/>
          <a:p>
            <a:r>
              <a:rPr lang="en-US" dirty="0" smtClean="0"/>
              <a:t>Step Index Cable</a:t>
            </a:r>
          </a:p>
          <a:p>
            <a:r>
              <a:rPr lang="en-US" dirty="0" smtClean="0"/>
              <a:t>Graded Index Cable.</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098" name="Picture 2"/>
          <p:cNvPicPr>
            <a:picLocks noGrp="1" noChangeAspect="1" noChangeArrowheads="1"/>
          </p:cNvPicPr>
          <p:nvPr>
            <p:ph idx="1"/>
          </p:nvPr>
        </p:nvPicPr>
        <p:blipFill>
          <a:blip r:embed="rId2"/>
          <a:srcRect/>
          <a:stretch>
            <a:fillRect/>
          </a:stretch>
        </p:blipFill>
        <p:spPr bwMode="auto">
          <a:xfrm>
            <a:off x="152400" y="304800"/>
            <a:ext cx="8686799" cy="6248400"/>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762000"/>
          </a:xfrm>
        </p:spPr>
        <p:txBody>
          <a:bodyPr/>
          <a:lstStyle/>
          <a:p>
            <a:r>
              <a:rPr lang="en-US" b="1" dirty="0" smtClean="0">
                <a:solidFill>
                  <a:srgbClr val="FF0000"/>
                </a:solidFill>
              </a:rPr>
              <a:t>Step Index Cable</a:t>
            </a:r>
            <a:endParaRPr lang="en-US" b="1" dirty="0">
              <a:solidFill>
                <a:srgbClr val="FF0000"/>
              </a:solidFill>
            </a:endParaRPr>
          </a:p>
        </p:txBody>
      </p:sp>
      <p:sp>
        <p:nvSpPr>
          <p:cNvPr id="3" name="Content Placeholder 2"/>
          <p:cNvSpPr>
            <a:spLocks noGrp="1"/>
          </p:cNvSpPr>
          <p:nvPr>
            <p:ph idx="1"/>
          </p:nvPr>
        </p:nvSpPr>
        <p:spPr>
          <a:xfrm>
            <a:off x="457200" y="838200"/>
            <a:ext cx="8229600" cy="6019800"/>
          </a:xfrm>
        </p:spPr>
        <p:txBody>
          <a:bodyPr>
            <a:normAutofit fontScale="92500" lnSpcReduction="10000"/>
          </a:bodyPr>
          <a:lstStyle/>
          <a:p>
            <a:r>
              <a:rPr lang="en-US" dirty="0" smtClean="0"/>
              <a:t>Step index refers to the fact that there is a sharply defined step in the index of refraction where the fiber core and the cladding interface. </a:t>
            </a:r>
          </a:p>
          <a:p>
            <a:r>
              <a:rPr lang="en-US" dirty="0" smtClean="0"/>
              <a:t>It means that the core has one constant index of refraction N</a:t>
            </a:r>
            <a:r>
              <a:rPr lang="en-US" baseline="-25000" dirty="0" smtClean="0"/>
              <a:t>1</a:t>
            </a:r>
            <a:r>
              <a:rPr lang="en-US" dirty="0" smtClean="0"/>
              <a:t> and the cladding has another constant index of refraction N</a:t>
            </a:r>
            <a:r>
              <a:rPr lang="en-US" baseline="-25000" dirty="0" smtClean="0"/>
              <a:t>2</a:t>
            </a:r>
            <a:r>
              <a:rPr lang="en-US" dirty="0" smtClean="0"/>
              <a:t>. </a:t>
            </a:r>
          </a:p>
          <a:p>
            <a:r>
              <a:rPr lang="en-US" dirty="0" smtClean="0"/>
              <a:t>If you were to plot a curve showing the index of refraction as it varies vertically from left to right across the cross section of the cable, you would see a sharp increase in the index of refraction as the core is encountered and then a sharp decline in the index of refraction as the cladding is encountered. </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Graded Index Cable</a:t>
            </a:r>
            <a:endParaRPr lang="en-US" b="1" dirty="0">
              <a:solidFill>
                <a:srgbClr val="FF0000"/>
              </a:solidFill>
            </a:endParaRPr>
          </a:p>
        </p:txBody>
      </p:sp>
      <p:sp>
        <p:nvSpPr>
          <p:cNvPr id="3" name="Content Placeholder 2"/>
          <p:cNvSpPr>
            <a:spLocks noGrp="1"/>
          </p:cNvSpPr>
          <p:nvPr>
            <p:ph idx="1"/>
          </p:nvPr>
        </p:nvSpPr>
        <p:spPr/>
        <p:txBody>
          <a:bodyPr>
            <a:normAutofit fontScale="92500"/>
          </a:bodyPr>
          <a:lstStyle/>
          <a:p>
            <a:r>
              <a:rPr lang="en-US" dirty="0" smtClean="0"/>
              <a:t>Here, the index of refraction of the core is not constant. Instead, it varies smoothly and continuously over the diameter of the core. </a:t>
            </a:r>
          </a:p>
          <a:p>
            <a:r>
              <a:rPr lang="en-US" dirty="0" smtClean="0"/>
              <a:t>As you get closer to the center of the core, the index of refraction gradually increases, reaching a peak at the center and then declining as the other outer edge of the core is reached. </a:t>
            </a:r>
          </a:p>
          <a:p>
            <a:r>
              <a:rPr lang="en-US" dirty="0" smtClean="0"/>
              <a:t>The index of refraction of the cladding is constant. </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14400"/>
          </a:xfrm>
        </p:spPr>
        <p:txBody>
          <a:bodyPr/>
          <a:lstStyle/>
          <a:p>
            <a:r>
              <a:rPr lang="en-US" b="1" dirty="0" smtClean="0">
                <a:solidFill>
                  <a:srgbClr val="FF0000"/>
                </a:solidFill>
              </a:rPr>
              <a:t>Cable Mode</a:t>
            </a:r>
            <a:endParaRPr lang="en-US" b="1" dirty="0">
              <a:solidFill>
                <a:srgbClr val="FF0000"/>
              </a:solidFill>
            </a:endParaRPr>
          </a:p>
        </p:txBody>
      </p:sp>
      <p:sp>
        <p:nvSpPr>
          <p:cNvPr id="3" name="Content Placeholder 2"/>
          <p:cNvSpPr>
            <a:spLocks noGrp="1"/>
          </p:cNvSpPr>
          <p:nvPr>
            <p:ph idx="1"/>
          </p:nvPr>
        </p:nvSpPr>
        <p:spPr>
          <a:xfrm>
            <a:off x="457200" y="990600"/>
            <a:ext cx="8229600" cy="5257800"/>
          </a:xfrm>
        </p:spPr>
        <p:txBody>
          <a:bodyPr>
            <a:normAutofit fontScale="85000" lnSpcReduction="20000"/>
          </a:bodyPr>
          <a:lstStyle/>
          <a:p>
            <a:r>
              <a:rPr lang="en-US" dirty="0" smtClean="0"/>
              <a:t>Mode refers to the number of paths for the light rays in the cable. </a:t>
            </a:r>
          </a:p>
          <a:p>
            <a:r>
              <a:rPr lang="en-US" dirty="0" smtClean="0"/>
              <a:t>There are two classifications: </a:t>
            </a:r>
          </a:p>
          <a:p>
            <a:r>
              <a:rPr lang="en-US" dirty="0" smtClean="0"/>
              <a:t>Single mode and multimode. </a:t>
            </a:r>
          </a:p>
          <a:p>
            <a:r>
              <a:rPr lang="en-US" dirty="0" smtClean="0"/>
              <a:t>In single mode, light follows a single path through the core; in multimode, the light takes many paths. </a:t>
            </a:r>
          </a:p>
          <a:p>
            <a:r>
              <a:rPr lang="en-US" dirty="0" smtClean="0"/>
              <a:t>Each type of fiber-optic cable uses one of these methods of rating the index or mode.</a:t>
            </a:r>
          </a:p>
          <a:p>
            <a:r>
              <a:rPr lang="en-US" dirty="0" smtClean="0"/>
              <a:t> In practice, there are three commonly used types of fiber-optic cable: </a:t>
            </a:r>
          </a:p>
          <a:p>
            <a:pPr>
              <a:buNone/>
            </a:pPr>
            <a:r>
              <a:rPr lang="en-US" b="1" dirty="0" smtClean="0"/>
              <a:t>Multimode step index </a:t>
            </a:r>
          </a:p>
          <a:p>
            <a:pPr>
              <a:buNone/>
            </a:pPr>
            <a:r>
              <a:rPr lang="en-US" b="1" dirty="0" smtClean="0"/>
              <a:t>Single-mode step index  </a:t>
            </a:r>
          </a:p>
          <a:p>
            <a:pPr>
              <a:buNone/>
            </a:pPr>
            <a:r>
              <a:rPr lang="en-US" b="1" dirty="0" smtClean="0"/>
              <a:t>Multimode graded index.</a:t>
            </a:r>
            <a:endParaRPr lang="en-US" b="1"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Multimode Step Index Cable</a:t>
            </a:r>
            <a:endParaRPr lang="en-US" b="1" dirty="0">
              <a:solidFill>
                <a:srgbClr val="FF0000"/>
              </a:solidFill>
            </a:endParaRPr>
          </a:p>
        </p:txBody>
      </p:sp>
      <p:sp>
        <p:nvSpPr>
          <p:cNvPr id="3" name="Content Placeholder 2"/>
          <p:cNvSpPr>
            <a:spLocks noGrp="1"/>
          </p:cNvSpPr>
          <p:nvPr>
            <p:ph idx="1"/>
          </p:nvPr>
        </p:nvSpPr>
        <p:spPr/>
        <p:txBody>
          <a:bodyPr>
            <a:normAutofit fontScale="92500" lnSpcReduction="10000"/>
          </a:bodyPr>
          <a:lstStyle/>
          <a:p>
            <a:r>
              <a:rPr lang="en-US" dirty="0" smtClean="0"/>
              <a:t>The most common and widely used type.</a:t>
            </a:r>
          </a:p>
          <a:p>
            <a:r>
              <a:rPr lang="en-US" dirty="0" smtClean="0"/>
              <a:t>Easiest to make and the least expensive. </a:t>
            </a:r>
          </a:p>
          <a:p>
            <a:r>
              <a:rPr lang="en-US" dirty="0" smtClean="0"/>
              <a:t>It is widely used for short to medium distances at relatively low pulse frequencies.</a:t>
            </a:r>
          </a:p>
          <a:p>
            <a:r>
              <a:rPr lang="en-US" dirty="0" smtClean="0"/>
              <a:t>The main advantage of a multimode stepped index fiber is its large size. </a:t>
            </a:r>
          </a:p>
          <a:p>
            <a:r>
              <a:rPr lang="en-US" dirty="0" smtClean="0"/>
              <a:t>Typical core diameters are in the 50- to 1000-μm range. Such large-diameter cores are excellent at gathering light and transmitting it efficiently. </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122" name="Picture 2"/>
          <p:cNvPicPr>
            <a:picLocks noGrp="1" noChangeAspect="1" noChangeArrowheads="1"/>
          </p:cNvPicPr>
          <p:nvPr>
            <p:ph idx="1"/>
          </p:nvPr>
        </p:nvPicPr>
        <p:blipFill>
          <a:blip r:embed="rId2"/>
          <a:srcRect/>
          <a:stretch>
            <a:fillRect/>
          </a:stretch>
        </p:blipFill>
        <p:spPr bwMode="auto">
          <a:xfrm>
            <a:off x="304800" y="304800"/>
            <a:ext cx="8382000" cy="5791200"/>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609600"/>
          </a:xfrm>
        </p:spPr>
        <p:txBody>
          <a:bodyPr>
            <a:normAutofit fontScale="90000"/>
          </a:bodyPr>
          <a:lstStyle/>
          <a:p>
            <a:r>
              <a:rPr lang="en-US" b="1" dirty="0" smtClean="0">
                <a:solidFill>
                  <a:srgbClr val="FF0000"/>
                </a:solidFill>
              </a:rPr>
              <a:t>Dispersion</a:t>
            </a:r>
            <a:endParaRPr lang="en-US" b="1" dirty="0">
              <a:solidFill>
                <a:srgbClr val="FF0000"/>
              </a:solidFill>
            </a:endParaRPr>
          </a:p>
        </p:txBody>
      </p:sp>
      <p:sp>
        <p:nvSpPr>
          <p:cNvPr id="3" name="Content Placeholder 2"/>
          <p:cNvSpPr>
            <a:spLocks noGrp="1"/>
          </p:cNvSpPr>
          <p:nvPr>
            <p:ph idx="1"/>
          </p:nvPr>
        </p:nvSpPr>
        <p:spPr>
          <a:xfrm>
            <a:off x="457200" y="609600"/>
            <a:ext cx="8229600" cy="6019800"/>
          </a:xfrm>
        </p:spPr>
        <p:txBody>
          <a:bodyPr>
            <a:normAutofit/>
          </a:bodyPr>
          <a:lstStyle/>
          <a:p>
            <a:r>
              <a:rPr lang="en-US" dirty="0" smtClean="0"/>
              <a:t>The light takes many hundreds or even thousands of paths through the core before exiting.</a:t>
            </a:r>
          </a:p>
          <a:p>
            <a:r>
              <a:rPr lang="en-US" dirty="0" smtClean="0"/>
              <a:t>Because of the different lengths of these paths, some of the light rays take longer to reach the other end of the cable than do others. The problem with this is that it stretches the light pulses. This is called dispersion.</a:t>
            </a:r>
          </a:p>
          <a:p>
            <a:r>
              <a:rPr lang="en-US" dirty="0" smtClean="0"/>
              <a:t>Dispersion is the distortion of the optical signal due to the characteristics of the cable.</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1143000"/>
          </a:xfrm>
        </p:spPr>
        <p:txBody>
          <a:bodyPr/>
          <a:lstStyle/>
          <a:p>
            <a:r>
              <a:rPr lang="en-US" b="1" dirty="0" smtClean="0">
                <a:solidFill>
                  <a:srgbClr val="FF0000"/>
                </a:solidFill>
              </a:rPr>
              <a:t>Single-Mode Step Index Cable</a:t>
            </a:r>
            <a:endParaRPr lang="en-US" b="1" dirty="0">
              <a:solidFill>
                <a:srgbClr val="FF0000"/>
              </a:solidFill>
            </a:endParaRPr>
          </a:p>
        </p:txBody>
      </p:sp>
      <p:sp>
        <p:nvSpPr>
          <p:cNvPr id="3" name="Content Placeholder 2"/>
          <p:cNvSpPr>
            <a:spLocks noGrp="1"/>
          </p:cNvSpPr>
          <p:nvPr>
            <p:ph idx="1"/>
          </p:nvPr>
        </p:nvSpPr>
        <p:spPr>
          <a:xfrm>
            <a:off x="457200" y="1371600"/>
            <a:ext cx="8229600" cy="4525963"/>
          </a:xfrm>
        </p:spPr>
        <p:txBody>
          <a:bodyPr>
            <a:normAutofit fontScale="92500"/>
          </a:bodyPr>
          <a:lstStyle/>
          <a:p>
            <a:r>
              <a:rPr lang="en-US" dirty="0" smtClean="0"/>
              <a:t>A single-mode or </a:t>
            </a:r>
            <a:r>
              <a:rPr lang="en-US" dirty="0" err="1" smtClean="0"/>
              <a:t>monomode</a:t>
            </a:r>
            <a:r>
              <a:rPr lang="en-US" dirty="0" smtClean="0"/>
              <a:t> step index fiber cable essentially eliminates modal dispersion by making the core so small that the total number of modes or paths through the core is minimized.</a:t>
            </a:r>
          </a:p>
          <a:p>
            <a:r>
              <a:rPr lang="en-US" dirty="0" smtClean="0"/>
              <a:t>Typical core sizes are 2 to 15 </a:t>
            </a:r>
            <a:r>
              <a:rPr lang="en-US" dirty="0" err="1" smtClean="0"/>
              <a:t>μm</a:t>
            </a:r>
            <a:r>
              <a:rPr lang="en-US" dirty="0" smtClean="0"/>
              <a:t>. The only path through the core is down the center. With minimum refraction, little pulse stretching occurs. The output pulse has essentially the same duration as the input pulse.</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146" name="Picture 2"/>
          <p:cNvPicPr>
            <a:picLocks noGrp="1" noChangeAspect="1" noChangeArrowheads="1"/>
          </p:cNvPicPr>
          <p:nvPr>
            <p:ph idx="1"/>
          </p:nvPr>
        </p:nvPicPr>
        <p:blipFill>
          <a:blip r:embed="rId2"/>
          <a:srcRect/>
          <a:stretch>
            <a:fillRect/>
          </a:stretch>
        </p:blipFill>
        <p:spPr bwMode="auto">
          <a:xfrm>
            <a:off x="0" y="304800"/>
            <a:ext cx="9144000" cy="5334000"/>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0000"/>
                </a:solidFill>
              </a:rPr>
              <a:t>Advantages of Single-Mode Step Index Cable</a:t>
            </a:r>
            <a:endParaRPr lang="en-US" dirty="0"/>
          </a:p>
        </p:txBody>
      </p:sp>
      <p:sp>
        <p:nvSpPr>
          <p:cNvPr id="3" name="Content Placeholder 2"/>
          <p:cNvSpPr>
            <a:spLocks noGrp="1"/>
          </p:cNvSpPr>
          <p:nvPr>
            <p:ph idx="1"/>
          </p:nvPr>
        </p:nvSpPr>
        <p:spPr/>
        <p:txBody>
          <a:bodyPr/>
          <a:lstStyle/>
          <a:p>
            <a:r>
              <a:rPr lang="en-US" dirty="0" smtClean="0"/>
              <a:t>Single-mode step index </a:t>
            </a:r>
            <a:r>
              <a:rPr lang="en-US" dirty="0" err="1" smtClean="0"/>
              <a:t>fi</a:t>
            </a:r>
            <a:r>
              <a:rPr lang="en-US" dirty="0" smtClean="0"/>
              <a:t> </a:t>
            </a:r>
            <a:r>
              <a:rPr lang="en-US" dirty="0" err="1" smtClean="0"/>
              <a:t>bers</a:t>
            </a:r>
            <a:r>
              <a:rPr lang="en-US" dirty="0" smtClean="0"/>
              <a:t> are by far the best because the pulse repetition rate can be high and the maximum amount of information can be carried. </a:t>
            </a:r>
          </a:p>
          <a:p>
            <a:r>
              <a:rPr lang="en-US" dirty="0" smtClean="0"/>
              <a:t>For very long distance transmission and maximum information content, single-mode step index fiber cables should be used.</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0000"/>
                </a:solidFill>
              </a:rPr>
              <a:t>Disadvantages of Single-Mode Step Index Cable</a:t>
            </a:r>
            <a:endParaRPr lang="en-US" dirty="0"/>
          </a:p>
        </p:txBody>
      </p:sp>
      <p:sp>
        <p:nvSpPr>
          <p:cNvPr id="3" name="Content Placeholder 2"/>
          <p:cNvSpPr>
            <a:spLocks noGrp="1"/>
          </p:cNvSpPr>
          <p:nvPr>
            <p:ph idx="1"/>
          </p:nvPr>
        </p:nvSpPr>
        <p:spPr/>
        <p:txBody>
          <a:bodyPr/>
          <a:lstStyle/>
          <a:p>
            <a:r>
              <a:rPr lang="en-US" dirty="0" smtClean="0"/>
              <a:t>The main problem with this type of cable is that it is extremely small, difficult to make, and therefore very expensive.</a:t>
            </a:r>
          </a:p>
          <a:p>
            <a:r>
              <a:rPr lang="en-US" dirty="0" smtClean="0"/>
              <a:t>It is also more difficult to handle.</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dirty="0" smtClean="0">
                <a:solidFill>
                  <a:srgbClr val="FF0000"/>
                </a:solidFill>
              </a:rPr>
              <a:t>Multimode Graded Index Cable</a:t>
            </a:r>
            <a:endParaRPr lang="en-US" b="1" dirty="0">
              <a:solidFill>
                <a:srgbClr val="FF0000"/>
              </a:solidFill>
            </a:endParaRPr>
          </a:p>
        </p:txBody>
      </p:sp>
      <p:sp>
        <p:nvSpPr>
          <p:cNvPr id="3" name="Content Placeholder 2"/>
          <p:cNvSpPr>
            <a:spLocks noGrp="1"/>
          </p:cNvSpPr>
          <p:nvPr>
            <p:ph idx="1"/>
          </p:nvPr>
        </p:nvSpPr>
        <p:spPr>
          <a:xfrm>
            <a:off x="457200" y="1219200"/>
            <a:ext cx="8229600" cy="5334000"/>
          </a:xfrm>
        </p:spPr>
        <p:txBody>
          <a:bodyPr>
            <a:normAutofit fontScale="85000" lnSpcReduction="20000"/>
          </a:bodyPr>
          <a:lstStyle/>
          <a:p>
            <a:r>
              <a:rPr lang="en-US" dirty="0" smtClean="0"/>
              <a:t>Multimode graded index fiber cables have several modes, or paths, of transmission through the cable, but they are much more orderly and predictable. </a:t>
            </a:r>
          </a:p>
          <a:p>
            <a:r>
              <a:rPr lang="en-US" dirty="0" smtClean="0"/>
              <a:t>Because of the continuously varying index of refraction across the core, the light rays are bent smoothly and repeatedly converge at points along the cable. </a:t>
            </a:r>
          </a:p>
          <a:p>
            <a:r>
              <a:rPr lang="en-US" dirty="0" smtClean="0"/>
              <a:t>The light rays near the edge of the core take a longer path but travel faster because the index of refraction is lower. </a:t>
            </a:r>
          </a:p>
          <a:p>
            <a:r>
              <a:rPr lang="en-US" dirty="0" smtClean="0"/>
              <a:t>All the modes or light paths tend to arrive at one point simultaneously. The result is less modal dispersion.</a:t>
            </a:r>
          </a:p>
          <a:p>
            <a:r>
              <a:rPr lang="en-US" dirty="0" smtClean="0"/>
              <a:t>As a result, this cable can be used at very high pulse rates, and therefore a considerable amount of information can be carried. </a:t>
            </a:r>
          </a:p>
          <a:p>
            <a:endParaRPr lang="en-US" dirty="0" smtClean="0"/>
          </a:p>
          <a:p>
            <a:endParaRPr lang="en-US" dirty="0" smtClean="0"/>
          </a:p>
          <a:p>
            <a:endParaRPr lang="en-US" dirty="0" smtClean="0"/>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7170" name="Picture 2"/>
          <p:cNvPicPr>
            <a:picLocks noGrp="1" noChangeAspect="1" noChangeArrowheads="1"/>
          </p:cNvPicPr>
          <p:nvPr>
            <p:ph idx="1"/>
          </p:nvPr>
        </p:nvPicPr>
        <p:blipFill>
          <a:blip r:embed="rId2"/>
          <a:srcRect/>
          <a:stretch>
            <a:fillRect/>
          </a:stretch>
        </p:blipFill>
        <p:spPr bwMode="auto">
          <a:xfrm>
            <a:off x="304800" y="0"/>
            <a:ext cx="8458200" cy="5410200"/>
          </a:xfrm>
          <a:prstGeom prst="rect">
            <a:avLst/>
          </a:prstGeom>
          <a:noFill/>
          <a:ln w="9525">
            <a:noFill/>
            <a:miter lim="800000"/>
            <a:headEnd/>
            <a:tailEnd/>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Multimode Graded Index Cable</a:t>
            </a:r>
            <a:endParaRPr lang="en-US" dirty="0"/>
          </a:p>
        </p:txBody>
      </p:sp>
      <p:sp>
        <p:nvSpPr>
          <p:cNvPr id="3" name="Content Placeholder 2"/>
          <p:cNvSpPr>
            <a:spLocks noGrp="1"/>
          </p:cNvSpPr>
          <p:nvPr>
            <p:ph idx="1"/>
          </p:nvPr>
        </p:nvSpPr>
        <p:spPr/>
        <p:txBody>
          <a:bodyPr>
            <a:normAutofit/>
          </a:bodyPr>
          <a:lstStyle/>
          <a:p>
            <a:r>
              <a:rPr lang="en-US" dirty="0" smtClean="0"/>
              <a:t>This type of cable is also much wider in diameter, with core sizes in the 50- to 100- </a:t>
            </a:r>
            <a:r>
              <a:rPr lang="en-US" dirty="0" err="1" smtClean="0"/>
              <a:t>μm</a:t>
            </a:r>
            <a:r>
              <a:rPr lang="en-US" dirty="0" smtClean="0"/>
              <a:t> range.</a:t>
            </a:r>
          </a:p>
          <a:p>
            <a:r>
              <a:rPr lang="en-US" dirty="0" smtClean="0"/>
              <a:t> Therefore, it is easier to splice and interconnect, and cheaper, less intense light sources can be used.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445</TotalTime>
  <Words>1776</Words>
  <Application>Microsoft Office PowerPoint</Application>
  <PresentationFormat>On-screen Show (4:3)</PresentationFormat>
  <Paragraphs>111</Paragraphs>
  <Slides>30</Slides>
  <Notes>0</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Office Theme</vt:lpstr>
      <vt:lpstr>Fiber-Optic Cables</vt:lpstr>
      <vt:lpstr>Fiber-Optic Cables</vt:lpstr>
      <vt:lpstr>Principles of Fiber-Optic Cable</vt:lpstr>
      <vt:lpstr>Principles of Fiber-Optic Cable</vt:lpstr>
      <vt:lpstr>Principles of Fiber-Optic Cable</vt:lpstr>
      <vt:lpstr>Principles of Fiber-Optic Cable</vt:lpstr>
      <vt:lpstr>Principles of Fiber-Optic Cable</vt:lpstr>
      <vt:lpstr>Numerical Aperture of Cable</vt:lpstr>
      <vt:lpstr>Fiber-Optic Cable Construction</vt:lpstr>
      <vt:lpstr>Fiber-Optic Cable Construction</vt:lpstr>
      <vt:lpstr>CORE</vt:lpstr>
      <vt:lpstr>Cladding </vt:lpstr>
      <vt:lpstr>Jacket</vt:lpstr>
      <vt:lpstr>Multi-Core Cable</vt:lpstr>
      <vt:lpstr>Types of Fiber-Optic Cables</vt:lpstr>
      <vt:lpstr>According to Index of Refraction</vt:lpstr>
      <vt:lpstr>Slide 17</vt:lpstr>
      <vt:lpstr>Step Index Cable</vt:lpstr>
      <vt:lpstr>Graded Index Cable</vt:lpstr>
      <vt:lpstr>Cable Mode</vt:lpstr>
      <vt:lpstr>Multimode Step Index Cable</vt:lpstr>
      <vt:lpstr>Slide 22</vt:lpstr>
      <vt:lpstr>Dispersion</vt:lpstr>
      <vt:lpstr>Single-Mode Step Index Cable</vt:lpstr>
      <vt:lpstr>Slide 25</vt:lpstr>
      <vt:lpstr>Advantages of Single-Mode Step Index Cable</vt:lpstr>
      <vt:lpstr>Disadvantages of Single-Mode Step Index Cable</vt:lpstr>
      <vt:lpstr>Multimode Graded Index Cable</vt:lpstr>
      <vt:lpstr>Slide 29</vt:lpstr>
      <vt:lpstr>Multimode Graded Index Cable</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Optical Communication</dc:title>
  <dc:creator>arya</dc:creator>
  <cp:lastModifiedBy>arya</cp:lastModifiedBy>
  <cp:revision>78</cp:revision>
  <dcterms:created xsi:type="dcterms:W3CDTF">2006-08-16T00:00:00Z</dcterms:created>
  <dcterms:modified xsi:type="dcterms:W3CDTF">2022-09-26T05:51:58Z</dcterms:modified>
</cp:coreProperties>
</file>