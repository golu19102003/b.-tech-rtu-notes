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6" r:id="rId7"/>
    <p:sldId id="267" r:id="rId8"/>
    <p:sldId id="265" r:id="rId9"/>
    <p:sldId id="268" r:id="rId10"/>
    <p:sldId id="269" r:id="rId11"/>
    <p:sldId id="270" r:id="rId12"/>
    <p:sldId id="271" r:id="rId13"/>
    <p:sldId id="272" r:id="rId14"/>
    <p:sldId id="273" r:id="rId15"/>
    <p:sldId id="274" r:id="rId16"/>
    <p:sldId id="275" r:id="rId17"/>
    <p:sldId id="276"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68" d="100"/>
          <a:sy n="68" d="100"/>
        </p:scale>
        <p:origin x="-576" y="-96"/>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8/23/2022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8/23/2022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8/23/2022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8/23/2022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8/23/2022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8/23/2022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smtClean="0">
                <a:solidFill>
                  <a:srgbClr val="FF0000"/>
                </a:solidFill>
              </a:rPr>
              <a:t>Telephone System</a:t>
            </a:r>
            <a:endParaRPr lang="en-US" b="1" dirty="0">
              <a:solidFill>
                <a:srgbClr val="FF0000"/>
              </a:solidFill>
            </a:endParaRPr>
          </a:p>
        </p:txBody>
      </p:sp>
      <p:sp>
        <p:nvSpPr>
          <p:cNvPr id="3" name="Subtitle 2"/>
          <p:cNvSpPr>
            <a:spLocks noGrp="1"/>
          </p:cNvSpPr>
          <p:nvPr>
            <p:ph type="subTitle" idx="1"/>
          </p:nvPr>
        </p:nvSpPr>
        <p:spPr>
          <a:xfrm>
            <a:off x="3505200" y="4267200"/>
            <a:ext cx="5105400" cy="1905000"/>
          </a:xfrm>
        </p:spPr>
        <p:txBody>
          <a:bodyPr>
            <a:normAutofit fontScale="77500" lnSpcReduction="20000"/>
          </a:bodyPr>
          <a:lstStyle/>
          <a:p>
            <a:r>
              <a:rPr lang="en-US" dirty="0" smtClean="0">
                <a:solidFill>
                  <a:schemeClr val="tx1"/>
                </a:solidFill>
                <a:latin typeface="+mj-lt"/>
              </a:rPr>
              <a:t>Prepared By: </a:t>
            </a:r>
            <a:r>
              <a:rPr lang="en-US" dirty="0" err="1" smtClean="0">
                <a:solidFill>
                  <a:schemeClr val="tx1"/>
                </a:solidFill>
                <a:latin typeface="+mj-lt"/>
              </a:rPr>
              <a:t>Er</a:t>
            </a:r>
            <a:r>
              <a:rPr lang="en-US" dirty="0" smtClean="0">
                <a:solidFill>
                  <a:schemeClr val="tx1"/>
                </a:solidFill>
                <a:latin typeface="+mj-lt"/>
              </a:rPr>
              <a:t>. </a:t>
            </a:r>
            <a:r>
              <a:rPr lang="en-US" dirty="0" err="1" smtClean="0">
                <a:solidFill>
                  <a:schemeClr val="tx1"/>
                </a:solidFill>
                <a:latin typeface="+mj-lt"/>
              </a:rPr>
              <a:t>Amit</a:t>
            </a:r>
            <a:r>
              <a:rPr lang="en-US" dirty="0" smtClean="0">
                <a:solidFill>
                  <a:schemeClr val="tx1"/>
                </a:solidFill>
                <a:latin typeface="+mj-lt"/>
              </a:rPr>
              <a:t> Kr. </a:t>
            </a:r>
            <a:r>
              <a:rPr lang="en-US" dirty="0" err="1" smtClean="0">
                <a:solidFill>
                  <a:schemeClr val="tx1"/>
                </a:solidFill>
                <a:latin typeface="+mj-lt"/>
              </a:rPr>
              <a:t>Tewari</a:t>
            </a:r>
            <a:endParaRPr lang="en-US" dirty="0" smtClean="0">
              <a:solidFill>
                <a:schemeClr val="tx1"/>
              </a:solidFill>
              <a:latin typeface="+mj-lt"/>
            </a:endParaRPr>
          </a:p>
          <a:p>
            <a:r>
              <a:rPr lang="en-US" dirty="0" smtClean="0">
                <a:solidFill>
                  <a:schemeClr val="tx1"/>
                </a:solidFill>
                <a:latin typeface="+mj-lt"/>
              </a:rPr>
              <a:t>                             Associate Professor</a:t>
            </a:r>
          </a:p>
          <a:p>
            <a:r>
              <a:rPr lang="en-US" dirty="0" smtClean="0">
                <a:solidFill>
                  <a:schemeClr val="tx1"/>
                </a:solidFill>
                <a:latin typeface="+mj-lt"/>
              </a:rPr>
              <a:t>         CS Dept.</a:t>
            </a:r>
          </a:p>
          <a:p>
            <a:r>
              <a:rPr lang="en-US" dirty="0" smtClean="0">
                <a:solidFill>
                  <a:schemeClr val="tx1"/>
                </a:solidFill>
                <a:latin typeface="+mj-lt"/>
              </a:rPr>
              <a:t>                 ACEIT, </a:t>
            </a:r>
            <a:r>
              <a:rPr lang="en-US" dirty="0" err="1" smtClean="0">
                <a:solidFill>
                  <a:schemeClr val="tx1"/>
                </a:solidFill>
                <a:latin typeface="+mj-lt"/>
              </a:rPr>
              <a:t>Jaipur</a:t>
            </a:r>
            <a:endParaRPr lang="en-US" dirty="0" smtClean="0">
              <a:solidFill>
                <a:schemeClr val="tx1"/>
              </a:solidFill>
              <a:latin typeface="+mj-lt"/>
            </a:endParaRPr>
          </a:p>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914400"/>
          </a:xfrm>
        </p:spPr>
        <p:txBody>
          <a:bodyPr/>
          <a:lstStyle/>
          <a:p>
            <a:r>
              <a:rPr lang="en-US" b="1" dirty="0" smtClean="0">
                <a:solidFill>
                  <a:srgbClr val="FF0000"/>
                </a:solidFill>
              </a:rPr>
              <a:t>Introduction</a:t>
            </a:r>
            <a:endParaRPr lang="en-US" b="1" dirty="0">
              <a:solidFill>
                <a:srgbClr val="FF0000"/>
              </a:solidFill>
            </a:endParaRPr>
          </a:p>
        </p:txBody>
      </p:sp>
      <p:sp>
        <p:nvSpPr>
          <p:cNvPr id="3" name="Content Placeholder 2"/>
          <p:cNvSpPr>
            <a:spLocks noGrp="1"/>
          </p:cNvSpPr>
          <p:nvPr>
            <p:ph idx="1"/>
          </p:nvPr>
        </p:nvSpPr>
        <p:spPr>
          <a:xfrm>
            <a:off x="457200" y="990600"/>
            <a:ext cx="8229600" cy="5867400"/>
          </a:xfrm>
        </p:spPr>
        <p:txBody>
          <a:bodyPr>
            <a:normAutofit fontScale="85000" lnSpcReduction="10000"/>
          </a:bodyPr>
          <a:lstStyle/>
          <a:p>
            <a:r>
              <a:rPr lang="en-US" dirty="0" smtClean="0"/>
              <a:t>The original telephone system was designed for full duplex analog communication of voice signals. </a:t>
            </a:r>
          </a:p>
          <a:p>
            <a:r>
              <a:rPr lang="en-US" dirty="0" smtClean="0"/>
              <a:t>Today, the telephone system is still primarily used for voice, but it employs mostly digital techniques, not only in signal transmission but also in control operations.</a:t>
            </a:r>
          </a:p>
          <a:p>
            <a:r>
              <a:rPr lang="en-US" dirty="0" smtClean="0"/>
              <a:t>The telephone system permits any telephone to connect with any other telephone in the world. </a:t>
            </a:r>
          </a:p>
          <a:p>
            <a:r>
              <a:rPr lang="en-US" dirty="0" smtClean="0"/>
              <a:t>This means that each telephone must have a unique identification code—the 10-digit telephone number assigned to each telephone. </a:t>
            </a:r>
          </a:p>
          <a:p>
            <a:r>
              <a:rPr lang="en-US" dirty="0" smtClean="0"/>
              <a:t>The telephone system provides a means of recognizing each individual number and provides switching systems that can connect any two telephones.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Basic Telephone System</a:t>
            </a:r>
            <a:endParaRPr lang="en-US" b="1" dirty="0">
              <a:solidFill>
                <a:srgbClr val="FF0000"/>
              </a:solidFill>
            </a:endParaRPr>
          </a:p>
        </p:txBody>
      </p:sp>
      <p:pic>
        <p:nvPicPr>
          <p:cNvPr id="1026" name="Picture 2"/>
          <p:cNvPicPr>
            <a:picLocks noGrp="1" noChangeAspect="1" noChangeArrowheads="1"/>
          </p:cNvPicPr>
          <p:nvPr>
            <p:ph idx="1"/>
          </p:nvPr>
        </p:nvPicPr>
        <p:blipFill>
          <a:blip r:embed="rId2"/>
          <a:srcRect/>
          <a:stretch>
            <a:fillRect/>
          </a:stretch>
        </p:blipFill>
        <p:spPr bwMode="auto">
          <a:xfrm>
            <a:off x="1447800" y="1905000"/>
            <a:ext cx="6477000" cy="4419600"/>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Telephone System Introduction</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When we refer to the telephone system, we are talking about the organizations and facilities involved in connecting your telephone to the called telephone regardless of where it might be in anywhere else in the world. </a:t>
            </a:r>
          </a:p>
          <a:p>
            <a:r>
              <a:rPr lang="en-US" dirty="0" smtClean="0"/>
              <a:t>The telephone system is called the Public Switched Telephone Network (PSTN). </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err="1" smtClean="0">
                <a:solidFill>
                  <a:srgbClr val="FF0000"/>
                </a:solidFill>
              </a:rPr>
              <a:t>Contd</a:t>
            </a:r>
            <a:r>
              <a:rPr lang="en-US" b="1" dirty="0" smtClean="0">
                <a:solidFill>
                  <a:srgbClr val="FF0000"/>
                </a:solidFill>
              </a:rPr>
              <a:t>…</a:t>
            </a:r>
            <a:endParaRPr lang="en-US" b="1" dirty="0">
              <a:solidFill>
                <a:srgbClr val="FF0000"/>
              </a:solidFill>
            </a:endParaRPr>
          </a:p>
        </p:txBody>
      </p:sp>
      <p:sp>
        <p:nvSpPr>
          <p:cNvPr id="3" name="Content Placeholder 2"/>
          <p:cNvSpPr>
            <a:spLocks noGrp="1"/>
          </p:cNvSpPr>
          <p:nvPr>
            <p:ph idx="1"/>
          </p:nvPr>
        </p:nvSpPr>
        <p:spPr>
          <a:xfrm>
            <a:off x="457200" y="914400"/>
            <a:ext cx="8229600" cy="5943600"/>
          </a:xfrm>
        </p:spPr>
        <p:txBody>
          <a:bodyPr>
            <a:normAutofit fontScale="77500" lnSpcReduction="20000"/>
          </a:bodyPr>
          <a:lstStyle/>
          <a:p>
            <a:r>
              <a:rPr lang="en-US" dirty="0" smtClean="0"/>
              <a:t>A number of different companies are involved in long-distance calls, although a single company is usually responsible for local calls in a given area. </a:t>
            </a:r>
          </a:p>
          <a:p>
            <a:r>
              <a:rPr lang="en-US" dirty="0" smtClean="0"/>
              <a:t>These companies make up the telephone system, and they design, build, maintain, and operate all the facilities and equipment used in providing universal telephone service. </a:t>
            </a:r>
          </a:p>
          <a:p>
            <a:r>
              <a:rPr lang="en-US" dirty="0" smtClean="0"/>
              <a:t>The telephone, a small but relatively complex entity, is nothing compared to the massive system that backs it up. </a:t>
            </a:r>
          </a:p>
          <a:p>
            <a:r>
              <a:rPr lang="en-US" dirty="0" smtClean="0"/>
              <a:t>The telephone system can connect any two telephones in the world, and most people can only speculate on the method by which this connection takes place.</a:t>
            </a:r>
          </a:p>
          <a:p>
            <a:r>
              <a:rPr lang="en-US" dirty="0" smtClean="0"/>
              <a:t> It takes place on many levels and involves an incredible array of systems and technology. </a:t>
            </a:r>
          </a:p>
          <a:p>
            <a:r>
              <a:rPr lang="en-US" dirty="0" smtClean="0"/>
              <a:t>Obviously, it is difficult to describe such a massive system here.</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Telephone system Subscriber Interface</a:t>
            </a:r>
            <a:endParaRPr lang="en-US" b="1" dirty="0">
              <a:solidFill>
                <a:srgbClr val="FF0000"/>
              </a:solidFill>
            </a:endParaRPr>
          </a:p>
        </p:txBody>
      </p:sp>
      <p:sp>
        <p:nvSpPr>
          <p:cNvPr id="3" name="Content Placeholder 2"/>
          <p:cNvSpPr>
            <a:spLocks noGrp="1"/>
          </p:cNvSpPr>
          <p:nvPr>
            <p:ph idx="1"/>
          </p:nvPr>
        </p:nvSpPr>
        <p:spPr/>
        <p:txBody>
          <a:bodyPr>
            <a:normAutofit fontScale="85000" lnSpcReduction="20000"/>
          </a:bodyPr>
          <a:lstStyle/>
          <a:p>
            <a:r>
              <a:rPr lang="en-US" dirty="0" smtClean="0"/>
              <a:t>Most telephones are connected to a local central office by way of the two-line, twisted-pair local loop cable. </a:t>
            </a:r>
          </a:p>
          <a:p>
            <a:r>
              <a:rPr lang="en-US" dirty="0" smtClean="0"/>
              <a:t>The central office contains all the equipment that operates the telephone and connects it to the telephone system that makes the connection to any other telephone.</a:t>
            </a:r>
          </a:p>
          <a:p>
            <a:r>
              <a:rPr lang="en-US" dirty="0" smtClean="0"/>
              <a:t>Most telephones are connected to a local central office by way of the two-line, twisted pair local loop cable.</a:t>
            </a:r>
          </a:p>
          <a:p>
            <a:r>
              <a:rPr lang="en-US" dirty="0" smtClean="0"/>
              <a:t> The central office contains all the equipment that operates the telephone and connects it to the telephone system that makes the connection to any other telephone</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Telephone system Subscriber Interface (</a:t>
            </a:r>
            <a:r>
              <a:rPr lang="en-US" b="1" dirty="0" err="1" smtClean="0">
                <a:solidFill>
                  <a:srgbClr val="FF0000"/>
                </a:solidFill>
              </a:rPr>
              <a:t>Cotnd</a:t>
            </a:r>
            <a:r>
              <a:rPr lang="en-US" b="1" dirty="0" smtClean="0">
                <a:solidFill>
                  <a:srgbClr val="FF0000"/>
                </a:solidFill>
              </a:rPr>
              <a:t>…)</a:t>
            </a:r>
            <a:endParaRPr lang="en-US" dirty="0"/>
          </a:p>
        </p:txBody>
      </p:sp>
      <p:sp>
        <p:nvSpPr>
          <p:cNvPr id="3" name="Content Placeholder 2"/>
          <p:cNvSpPr>
            <a:spLocks noGrp="1"/>
          </p:cNvSpPr>
          <p:nvPr>
            <p:ph idx="1"/>
          </p:nvPr>
        </p:nvSpPr>
        <p:spPr/>
        <p:txBody>
          <a:bodyPr/>
          <a:lstStyle/>
          <a:p>
            <a:r>
              <a:rPr lang="en-US" dirty="0" smtClean="0"/>
              <a:t>Each telephone connected to the central </a:t>
            </a:r>
            <a:r>
              <a:rPr lang="en-US" dirty="0" err="1" smtClean="0"/>
              <a:t>offi</a:t>
            </a:r>
            <a:r>
              <a:rPr lang="en-US" dirty="0" smtClean="0"/>
              <a:t> </a:t>
            </a:r>
            <a:r>
              <a:rPr lang="en-US" dirty="0" err="1" smtClean="0"/>
              <a:t>ce</a:t>
            </a:r>
            <a:r>
              <a:rPr lang="en-US" dirty="0" smtClean="0"/>
              <a:t> is provided with a group of basic circuits that power the telephone and provide all the basic functions, such as ringing, dial tone, and dialing supervision. </a:t>
            </a:r>
          </a:p>
          <a:p>
            <a:r>
              <a:rPr lang="en-US" dirty="0" smtClean="0"/>
              <a:t>These circuits are collectively referred to as the subscriber interface or the subscriber line interface circuit (SLIC). </a:t>
            </a:r>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t>Functions of Subscriber Line Interface Circuit (SLIC)</a:t>
            </a:r>
            <a:endParaRPr lang="en-US" b="1" dirty="0">
              <a:solidFill>
                <a:srgbClr val="FF0000"/>
              </a:solidFill>
            </a:endParaRPr>
          </a:p>
        </p:txBody>
      </p:sp>
      <p:sp>
        <p:nvSpPr>
          <p:cNvPr id="3" name="Content Placeholder 2"/>
          <p:cNvSpPr>
            <a:spLocks noGrp="1"/>
          </p:cNvSpPr>
          <p:nvPr>
            <p:ph idx="1"/>
          </p:nvPr>
        </p:nvSpPr>
        <p:spPr/>
        <p:txBody>
          <a:bodyPr>
            <a:normAutofit lnSpcReduction="10000"/>
          </a:bodyPr>
          <a:lstStyle/>
          <a:p>
            <a:r>
              <a:rPr lang="en-US" dirty="0" smtClean="0"/>
              <a:t>Battery</a:t>
            </a:r>
          </a:p>
          <a:p>
            <a:r>
              <a:rPr lang="en-US" dirty="0" smtClean="0"/>
              <a:t>Overvoltage Protection</a:t>
            </a:r>
          </a:p>
          <a:p>
            <a:r>
              <a:rPr lang="en-US" dirty="0" smtClean="0"/>
              <a:t>Ringing</a:t>
            </a:r>
          </a:p>
          <a:p>
            <a:r>
              <a:rPr lang="en-US" dirty="0" smtClean="0"/>
              <a:t>Supervision</a:t>
            </a:r>
          </a:p>
          <a:p>
            <a:r>
              <a:rPr lang="en-US" dirty="0" smtClean="0"/>
              <a:t>Coding</a:t>
            </a:r>
          </a:p>
          <a:p>
            <a:r>
              <a:rPr lang="en-US" dirty="0" smtClean="0"/>
              <a:t>Hybrid</a:t>
            </a:r>
          </a:p>
          <a:p>
            <a:r>
              <a:rPr lang="en-US" dirty="0" smtClean="0"/>
              <a:t>Test Signals</a:t>
            </a:r>
          </a:p>
          <a:p>
            <a:r>
              <a:rPr lang="en-US" dirty="0" smtClean="0"/>
              <a:t>BORSCHT Functions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smtClean="0">
                <a:solidFill>
                  <a:srgbClr val="FF0000"/>
                </a:solidFill>
              </a:rPr>
              <a:t>BORSCHT functions in the subscriber line interface at the central office</a:t>
            </a:r>
            <a:endParaRPr lang="en-US" b="1" dirty="0">
              <a:solidFill>
                <a:srgbClr val="FF0000"/>
              </a:solidFill>
            </a:endParaRPr>
          </a:p>
        </p:txBody>
      </p:sp>
      <p:pic>
        <p:nvPicPr>
          <p:cNvPr id="1026" name="Picture 2"/>
          <p:cNvPicPr>
            <a:picLocks noGrp="1" noChangeAspect="1" noChangeArrowheads="1"/>
          </p:cNvPicPr>
          <p:nvPr>
            <p:ph idx="1"/>
          </p:nvPr>
        </p:nvPicPr>
        <p:blipFill>
          <a:blip r:embed="rId2"/>
          <a:srcRect/>
          <a:stretch>
            <a:fillRect/>
          </a:stretch>
        </p:blipFill>
        <p:spPr bwMode="auto">
          <a:xfrm>
            <a:off x="838200" y="1828800"/>
            <a:ext cx="7620000" cy="403860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Battery</a:t>
            </a:r>
            <a:endParaRPr lang="en-US" b="1"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r>
              <a:rPr lang="en-US" dirty="0" smtClean="0"/>
              <a:t>The subscriber line interface at the central office must provide a dc voltage to the subscriber to operate the telephone. </a:t>
            </a:r>
          </a:p>
          <a:p>
            <a:r>
              <a:rPr lang="en-US" dirty="0" smtClean="0"/>
              <a:t>In the United States, this is typically 248 V dc with respect to ground. </a:t>
            </a:r>
          </a:p>
          <a:p>
            <a:r>
              <a:rPr lang="en-US" dirty="0" smtClean="0"/>
              <a:t>The actual voltage can be anything between approximately 220 and 280 V when the phone is on the hook, i.e., disconnected. </a:t>
            </a:r>
          </a:p>
          <a:p>
            <a:r>
              <a:rPr lang="en-US" dirty="0" smtClean="0"/>
              <a:t>The voltage at the telephone drops to approximately 6 V when the phone is taken off the hook.</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Overvoltage Protection</a:t>
            </a:r>
            <a:endParaRPr lang="en-US" b="1" dirty="0">
              <a:solidFill>
                <a:srgbClr val="FF0000"/>
              </a:solidFill>
            </a:endParaRPr>
          </a:p>
        </p:txBody>
      </p:sp>
      <p:sp>
        <p:nvSpPr>
          <p:cNvPr id="3" name="Content Placeholder 2"/>
          <p:cNvSpPr>
            <a:spLocks noGrp="1"/>
          </p:cNvSpPr>
          <p:nvPr>
            <p:ph idx="1"/>
          </p:nvPr>
        </p:nvSpPr>
        <p:spPr/>
        <p:txBody>
          <a:bodyPr>
            <a:normAutofit lnSpcReduction="10000"/>
          </a:bodyPr>
          <a:lstStyle/>
          <a:p>
            <a:r>
              <a:rPr lang="en-US" dirty="0" smtClean="0"/>
              <a:t>The circuits and components that protect the subscriber line interface circuits from electrical damage are referred to collectively as overvoltage protection. </a:t>
            </a:r>
          </a:p>
          <a:p>
            <a:r>
              <a:rPr lang="en-US" dirty="0" smtClean="0"/>
              <a:t>The phone lines are vulnerable to many types of electrical problems.</a:t>
            </a:r>
          </a:p>
          <a:p>
            <a:r>
              <a:rPr lang="en-US" dirty="0" smtClean="0"/>
              <a:t>Overvoltage protection ensures reliable telephone operation even under such conditions.</a:t>
            </a:r>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Ringing</a:t>
            </a:r>
            <a:endParaRPr lang="en-US" b="1" dirty="0">
              <a:solidFill>
                <a:srgbClr val="FF0000"/>
              </a:solidFill>
            </a:endParaRPr>
          </a:p>
        </p:txBody>
      </p:sp>
      <p:sp>
        <p:nvSpPr>
          <p:cNvPr id="3" name="Content Placeholder 2"/>
          <p:cNvSpPr>
            <a:spLocks noGrp="1"/>
          </p:cNvSpPr>
          <p:nvPr>
            <p:ph idx="1"/>
          </p:nvPr>
        </p:nvSpPr>
        <p:spPr/>
        <p:txBody>
          <a:bodyPr/>
          <a:lstStyle/>
          <a:p>
            <a:r>
              <a:rPr lang="en-US" dirty="0" smtClean="0"/>
              <a:t>When a specific telephone is receiving a call, the telephone local office must provide a ringing signal. </a:t>
            </a:r>
          </a:p>
          <a:p>
            <a:r>
              <a:rPr lang="en-US" dirty="0" smtClean="0"/>
              <a:t>As indicated earlier, this is commonly a 90-Vrms ac signal at approximately 20 Hz. </a:t>
            </a:r>
          </a:p>
          <a:p>
            <a:r>
              <a:rPr lang="en-US" dirty="0" smtClean="0"/>
              <a:t>The SLIC must connect the ringing signal to the local loop when a call is received.</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b="1" dirty="0" smtClean="0">
                <a:solidFill>
                  <a:srgbClr val="FF0000"/>
                </a:solidFill>
              </a:rPr>
              <a:t>Supervision</a:t>
            </a:r>
            <a:endParaRPr lang="en-US" b="1" dirty="0">
              <a:solidFill>
                <a:srgbClr val="FF0000"/>
              </a:solidFill>
            </a:endParaRPr>
          </a:p>
        </p:txBody>
      </p:sp>
      <p:sp>
        <p:nvSpPr>
          <p:cNvPr id="3" name="Content Placeholder 2"/>
          <p:cNvSpPr>
            <a:spLocks noGrp="1"/>
          </p:cNvSpPr>
          <p:nvPr>
            <p:ph idx="1"/>
          </p:nvPr>
        </p:nvSpPr>
        <p:spPr>
          <a:xfrm>
            <a:off x="457200" y="1066800"/>
            <a:ext cx="8229600" cy="5791200"/>
          </a:xfrm>
        </p:spPr>
        <p:txBody>
          <a:bodyPr>
            <a:normAutofit fontScale="85000" lnSpcReduction="10000"/>
          </a:bodyPr>
          <a:lstStyle/>
          <a:p>
            <a:r>
              <a:rPr lang="en-US" dirty="0" smtClean="0"/>
              <a:t>Supervision refers to a group of functions within the subscriber line interface that monitor local loop conditions and provide various services. </a:t>
            </a:r>
          </a:p>
          <a:p>
            <a:r>
              <a:rPr lang="en-US" dirty="0" smtClean="0"/>
              <a:t>For example, the supervision circuits in the SLIC detect when a telephone is picked up to initiate a new call. </a:t>
            </a:r>
          </a:p>
          <a:p>
            <a:r>
              <a:rPr lang="en-US" dirty="0" smtClean="0"/>
              <a:t>A sensing circuit recognizes the off-hook condition and signals circuits within the SLIC to connect a dial tone. </a:t>
            </a:r>
          </a:p>
          <a:p>
            <a:r>
              <a:rPr lang="en-US" dirty="0" smtClean="0"/>
              <a:t>The caller then dials the desired number, which causes interconnection through the telephone system. </a:t>
            </a:r>
          </a:p>
          <a:p>
            <a:r>
              <a:rPr lang="en-US" dirty="0" smtClean="0"/>
              <a:t>The supervision circuits continuously monitor the line during the telephone call. </a:t>
            </a:r>
          </a:p>
          <a:p>
            <a:r>
              <a:rPr lang="en-US" dirty="0" smtClean="0"/>
              <a:t>The circuits sense when the call is terminated and provide the connection of a busy signal if the called number is not available.</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Coding</a:t>
            </a:r>
            <a:endParaRPr lang="en-US" b="1" dirty="0">
              <a:solidFill>
                <a:srgbClr val="FF0000"/>
              </a:solidFill>
            </a:endParaRPr>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r>
              <a:rPr lang="en-US" dirty="0" smtClean="0"/>
              <a:t>Coding is another name for A/D conversion and D/A conversion. Today, many telephone transmissions are made by way of serial digital data methods.</a:t>
            </a:r>
          </a:p>
          <a:p>
            <a:r>
              <a:rPr lang="en-US" dirty="0" smtClean="0"/>
              <a:t>The SLIC may contain codec that converts the analog voice signals to serial PCM format or converts received digital calls back to analog signals to be placed on the local loop. </a:t>
            </a:r>
          </a:p>
          <a:p>
            <a:r>
              <a:rPr lang="en-US" dirty="0" smtClean="0"/>
              <a:t>Transmission over trunk lines to other central offices or toll offices or for use in long-distance transmission is typically by digital PCM signals in modern systems.</a:t>
            </a:r>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Hybrid</a:t>
            </a:r>
            <a:endParaRPr lang="en-US" b="1" dirty="0">
              <a:solidFill>
                <a:srgbClr val="FF0000"/>
              </a:solidFill>
            </a:endParaRPr>
          </a:p>
        </p:txBody>
      </p:sp>
      <p:sp>
        <p:nvSpPr>
          <p:cNvPr id="3" name="Content Placeholder 2"/>
          <p:cNvSpPr>
            <a:spLocks noGrp="1"/>
          </p:cNvSpPr>
          <p:nvPr>
            <p:ph idx="1"/>
          </p:nvPr>
        </p:nvSpPr>
        <p:spPr/>
        <p:txBody>
          <a:bodyPr>
            <a:normAutofit fontScale="92500" lnSpcReduction="20000"/>
          </a:bodyPr>
          <a:lstStyle/>
          <a:p>
            <a:r>
              <a:rPr lang="en-US" dirty="0" smtClean="0"/>
              <a:t>The hybrid combines the signal from the telephone transmitter with the received signal to the receiver on the single twisted-pair cable. </a:t>
            </a:r>
          </a:p>
          <a:p>
            <a:r>
              <a:rPr lang="en-US" dirty="0" smtClean="0"/>
              <a:t>It keeps the signals separate within the telephone. </a:t>
            </a:r>
          </a:p>
          <a:p>
            <a:r>
              <a:rPr lang="en-US" dirty="0" smtClean="0"/>
              <a:t>A hybrid is also used at the central office. </a:t>
            </a:r>
          </a:p>
          <a:p>
            <a:r>
              <a:rPr lang="en-US" dirty="0" smtClean="0"/>
              <a:t>It effectively translates the two-wire line to the subscriber back into four lines, two each for the transmitted and received signals. </a:t>
            </a:r>
          </a:p>
          <a:p>
            <a:r>
              <a:rPr lang="en-US" dirty="0" smtClean="0"/>
              <a:t>The hybrid provides separate transmit and receive signals.</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Test Signals</a:t>
            </a:r>
            <a:endParaRPr lang="en-US" b="1" dirty="0">
              <a:solidFill>
                <a:srgbClr val="FF0000"/>
              </a:solidFill>
            </a:endParaRPr>
          </a:p>
        </p:txBody>
      </p:sp>
      <p:sp>
        <p:nvSpPr>
          <p:cNvPr id="3" name="Content Placeholder 2"/>
          <p:cNvSpPr>
            <a:spLocks noGrp="1"/>
          </p:cNvSpPr>
          <p:nvPr>
            <p:ph idx="1"/>
          </p:nvPr>
        </p:nvSpPr>
        <p:spPr/>
        <p:txBody>
          <a:bodyPr>
            <a:normAutofit lnSpcReduction="10000"/>
          </a:bodyPr>
          <a:lstStyle/>
          <a:p>
            <a:r>
              <a:rPr lang="en-US" dirty="0" smtClean="0"/>
              <a:t>To check the status and quality of subscriber lines, the phone company often puts special test tones on the local loop and receives resulting tones in return. </a:t>
            </a:r>
          </a:p>
          <a:p>
            <a:r>
              <a:rPr lang="en-US" dirty="0" smtClean="0"/>
              <a:t>These can give information about the overall performance of the local loop. </a:t>
            </a:r>
          </a:p>
          <a:p>
            <a:r>
              <a:rPr lang="en-US" dirty="0" smtClean="0"/>
              <a:t>The SLIC provides a way to connect the test signals to the local loop and to receive the resulting signals for measurement.</a:t>
            </a:r>
            <a:endParaRPr lang="en-US"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FF0000"/>
                </a:solidFill>
              </a:rPr>
              <a:t>BORSCHT Functions</a:t>
            </a:r>
            <a:endParaRPr lang="en-US" b="1" dirty="0">
              <a:solidFill>
                <a:srgbClr val="FF0000"/>
              </a:solidFill>
            </a:endParaRPr>
          </a:p>
        </p:txBody>
      </p:sp>
      <p:sp>
        <p:nvSpPr>
          <p:cNvPr id="3" name="Content Placeholder 2"/>
          <p:cNvSpPr>
            <a:spLocks noGrp="1"/>
          </p:cNvSpPr>
          <p:nvPr>
            <p:ph idx="1"/>
          </p:nvPr>
        </p:nvSpPr>
        <p:spPr/>
        <p:txBody>
          <a:bodyPr>
            <a:normAutofit fontScale="92500"/>
          </a:bodyPr>
          <a:lstStyle/>
          <a:p>
            <a:r>
              <a:rPr lang="en-US" dirty="0" smtClean="0"/>
              <a:t>The basic BORSCHT functions are usually divided into two groups, high voltage and low voltage. </a:t>
            </a:r>
          </a:p>
          <a:p>
            <a:r>
              <a:rPr lang="en-US" dirty="0" smtClean="0"/>
              <a:t>The high-voltage parts of the system are the battery feed, overvoltage protection, ringing circuits, and test circuits. The low-voltage group includes the supervision, coding, and hybrid functions.</a:t>
            </a:r>
          </a:p>
          <a:p>
            <a:r>
              <a:rPr lang="en-US" smtClean="0"/>
              <a:t>Single-chip SLIC BORSCHT ICs are now available.</a:t>
            </a:r>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5595</TotalTime>
  <Words>1049</Words>
  <Application>Microsoft Office PowerPoint</Application>
  <PresentationFormat>On-screen Show (4:3)</PresentationFormat>
  <Paragraphs>78</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Telephone System</vt:lpstr>
      <vt:lpstr>Introduction</vt:lpstr>
      <vt:lpstr>Basic Telephone System</vt:lpstr>
      <vt:lpstr>Telephone System Introduction</vt:lpstr>
      <vt:lpstr>Contd…</vt:lpstr>
      <vt:lpstr>Telephone system Subscriber Interface</vt:lpstr>
      <vt:lpstr>Telephone system Subscriber Interface (Cotnd…)</vt:lpstr>
      <vt:lpstr>Functions of Subscriber Line Interface Circuit (SLIC)</vt:lpstr>
      <vt:lpstr>BORSCHT functions in the subscriber line interface at the central office</vt:lpstr>
      <vt:lpstr>Battery</vt:lpstr>
      <vt:lpstr>Overvoltage Protection</vt:lpstr>
      <vt:lpstr>Ringing</vt:lpstr>
      <vt:lpstr>Supervision</vt:lpstr>
      <vt:lpstr>Coding</vt:lpstr>
      <vt:lpstr>Hybrid</vt:lpstr>
      <vt:lpstr>Test Signals</vt:lpstr>
      <vt:lpstr>BORSCHT Functions</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Optical Communication</dc:title>
  <dc:creator>arya</dc:creator>
  <cp:lastModifiedBy>arya</cp:lastModifiedBy>
  <cp:revision>331</cp:revision>
  <dcterms:created xsi:type="dcterms:W3CDTF">2006-08-16T00:00:00Z</dcterms:created>
  <dcterms:modified xsi:type="dcterms:W3CDTF">2022-08-23T06:46:36Z</dcterms:modified>
</cp:coreProperties>
</file>