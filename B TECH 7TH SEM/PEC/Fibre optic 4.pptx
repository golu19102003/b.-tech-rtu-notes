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9/26/2022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00"/>
                </a:solidFill>
              </a:rPr>
              <a:t>Wavelength-Division Multiplexing</a:t>
            </a:r>
            <a:endParaRPr lang="en-US" b="1" dirty="0">
              <a:solidFill>
                <a:srgbClr val="FF0000"/>
              </a:solidFill>
            </a:endParaRPr>
          </a:p>
        </p:txBody>
      </p:sp>
      <p:sp>
        <p:nvSpPr>
          <p:cNvPr id="3" name="Subtitle 2"/>
          <p:cNvSpPr>
            <a:spLocks noGrp="1"/>
          </p:cNvSpPr>
          <p:nvPr>
            <p:ph type="subTitle" idx="1"/>
          </p:nvPr>
        </p:nvSpPr>
        <p:spPr>
          <a:xfrm>
            <a:off x="3505200" y="4267200"/>
            <a:ext cx="5105400" cy="1905000"/>
          </a:xfrm>
        </p:spPr>
        <p:txBody>
          <a:bodyPr>
            <a:normAutofit fontScale="77500" lnSpcReduction="20000"/>
          </a:bodyPr>
          <a:lstStyle/>
          <a:p>
            <a:r>
              <a:rPr lang="en-US" dirty="0" smtClean="0">
                <a:solidFill>
                  <a:schemeClr val="tx1"/>
                </a:solidFill>
                <a:latin typeface="+mj-lt"/>
              </a:rPr>
              <a:t>Prepared By: </a:t>
            </a:r>
            <a:r>
              <a:rPr lang="en-US" dirty="0" err="1" smtClean="0">
                <a:solidFill>
                  <a:schemeClr val="tx1"/>
                </a:solidFill>
                <a:latin typeface="+mj-lt"/>
              </a:rPr>
              <a:t>Er</a:t>
            </a:r>
            <a:r>
              <a:rPr lang="en-US" dirty="0" smtClean="0">
                <a:solidFill>
                  <a:schemeClr val="tx1"/>
                </a:solidFill>
                <a:latin typeface="+mj-lt"/>
              </a:rPr>
              <a:t>. </a:t>
            </a:r>
            <a:r>
              <a:rPr lang="en-US" dirty="0" err="1" smtClean="0">
                <a:solidFill>
                  <a:schemeClr val="tx1"/>
                </a:solidFill>
                <a:latin typeface="+mj-lt"/>
              </a:rPr>
              <a:t>Amit</a:t>
            </a:r>
            <a:r>
              <a:rPr lang="en-US" dirty="0" smtClean="0">
                <a:solidFill>
                  <a:schemeClr val="tx1"/>
                </a:solidFill>
                <a:latin typeface="+mj-lt"/>
              </a:rPr>
              <a:t> </a:t>
            </a:r>
            <a:r>
              <a:rPr lang="en-US" dirty="0" err="1" smtClean="0">
                <a:solidFill>
                  <a:schemeClr val="tx1"/>
                </a:solidFill>
                <a:latin typeface="+mj-lt"/>
              </a:rPr>
              <a:t>KrTewari</a:t>
            </a:r>
            <a:endParaRPr lang="en-US" dirty="0" smtClean="0">
              <a:solidFill>
                <a:schemeClr val="tx1"/>
              </a:solidFill>
              <a:latin typeface="+mj-lt"/>
            </a:endParaRPr>
          </a:p>
          <a:p>
            <a:r>
              <a:rPr lang="en-US" dirty="0" smtClean="0">
                <a:solidFill>
                  <a:schemeClr val="tx1"/>
                </a:solidFill>
                <a:latin typeface="+mj-lt"/>
              </a:rPr>
              <a:t>                             Associate Professor</a:t>
            </a:r>
          </a:p>
          <a:p>
            <a:r>
              <a:rPr lang="en-US" dirty="0" smtClean="0">
                <a:solidFill>
                  <a:schemeClr val="tx1"/>
                </a:solidFill>
                <a:latin typeface="+mj-lt"/>
              </a:rPr>
              <a:t>         CS Dept.</a:t>
            </a:r>
          </a:p>
          <a:p>
            <a:r>
              <a:rPr lang="en-US" dirty="0" smtClean="0">
                <a:solidFill>
                  <a:schemeClr val="tx1"/>
                </a:solidFill>
                <a:latin typeface="+mj-lt"/>
              </a:rPr>
              <a:t>                 ACEIT, </a:t>
            </a:r>
            <a:r>
              <a:rPr lang="en-US" dirty="0" err="1" smtClean="0">
                <a:solidFill>
                  <a:schemeClr val="tx1"/>
                </a:solidFill>
                <a:latin typeface="+mj-lt"/>
              </a:rPr>
              <a:t>Jaipur</a:t>
            </a:r>
            <a:endParaRPr lang="en-US" dirty="0" smtClean="0">
              <a:solidFill>
                <a:schemeClr val="tx1"/>
              </a:solidFill>
              <a:latin typeface="+mj-lt"/>
            </a:endParaRPr>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Wavelength-Division Multiplexing</a:t>
            </a:r>
            <a:endParaRPr lang="en-US" dirty="0"/>
          </a:p>
        </p:txBody>
      </p:sp>
      <p:sp>
        <p:nvSpPr>
          <p:cNvPr id="3" name="Content Placeholder 2"/>
          <p:cNvSpPr>
            <a:spLocks noGrp="1"/>
          </p:cNvSpPr>
          <p:nvPr>
            <p:ph idx="1"/>
          </p:nvPr>
        </p:nvSpPr>
        <p:spPr/>
        <p:txBody>
          <a:bodyPr/>
          <a:lstStyle/>
          <a:p>
            <a:r>
              <a:rPr lang="en-US" dirty="0" smtClean="0"/>
              <a:t>Wavelength-division multiplexing, another name for frequency-division multiplexing, has been widely used in radio, TV, and telephone systems.</a:t>
            </a:r>
          </a:p>
          <a:p>
            <a:r>
              <a:rPr lang="en-US" dirty="0" smtClean="0"/>
              <a:t>The best example today is the multiplexing of dozens of TV signals on a common coaxial cable coming into the home.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Wavelength-Division Multiplexing</a:t>
            </a:r>
            <a:endParaRPr lang="en-US" dirty="0"/>
          </a:p>
        </p:txBody>
      </p:sp>
      <p:sp>
        <p:nvSpPr>
          <p:cNvPr id="3" name="Content Placeholder 2"/>
          <p:cNvSpPr>
            <a:spLocks noGrp="1"/>
          </p:cNvSpPr>
          <p:nvPr>
            <p:ph idx="1"/>
          </p:nvPr>
        </p:nvSpPr>
        <p:spPr/>
        <p:txBody>
          <a:bodyPr>
            <a:normAutofit lnSpcReduction="10000"/>
          </a:bodyPr>
          <a:lstStyle/>
          <a:p>
            <a:r>
              <a:rPr lang="en-US" dirty="0" smtClean="0"/>
              <a:t>In WDM, different frequencies or “colors’’ of infrared light are employed to carry individual data streams. These are combined and carried on a single fiber. </a:t>
            </a:r>
          </a:p>
          <a:p>
            <a:r>
              <a:rPr lang="en-US" dirty="0" smtClean="0"/>
              <a:t>Although frequency as a parameter is more widely used to distinguish the location of wireless signals below 300 GHz, at light frequencies the wavelength parameter is the preferred measure.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fontScale="90000"/>
          </a:bodyPr>
          <a:lstStyle/>
          <a:p>
            <a:r>
              <a:rPr lang="en-US" b="1" dirty="0" smtClean="0">
                <a:solidFill>
                  <a:srgbClr val="FF0000"/>
                </a:solidFill>
              </a:rPr>
              <a:t>Coarse Wavelength-Division Multiplexing</a:t>
            </a:r>
            <a:endParaRPr lang="en-US" b="1" dirty="0">
              <a:solidFill>
                <a:srgbClr val="FF0000"/>
              </a:solidFill>
            </a:endParaRPr>
          </a:p>
        </p:txBody>
      </p:sp>
      <p:sp>
        <p:nvSpPr>
          <p:cNvPr id="3" name="Content Placeholder 2"/>
          <p:cNvSpPr>
            <a:spLocks noGrp="1"/>
          </p:cNvSpPr>
          <p:nvPr>
            <p:ph idx="1"/>
          </p:nvPr>
        </p:nvSpPr>
        <p:spPr>
          <a:xfrm>
            <a:off x="533400" y="1219200"/>
            <a:ext cx="8229600" cy="5638800"/>
          </a:xfrm>
        </p:spPr>
        <p:txBody>
          <a:bodyPr>
            <a:normAutofit fontScale="70000" lnSpcReduction="20000"/>
          </a:bodyPr>
          <a:lstStyle/>
          <a:p>
            <a:r>
              <a:rPr lang="en-US" dirty="0" smtClean="0"/>
              <a:t>The first coarse WDM (CWDM) systems used two channels operating on 1310 and 1550 nm. Later, four channels of data were multiplexed.</a:t>
            </a:r>
          </a:p>
          <a:p>
            <a:endParaRPr lang="en-US" dirty="0" smtClean="0"/>
          </a:p>
          <a:p>
            <a:r>
              <a:rPr lang="en-US" dirty="0" smtClean="0"/>
              <a:t>The data source may be a single data source or a multiple TDM source. Current systems use light in the 1550-nm range. </a:t>
            </a:r>
          </a:p>
          <a:p>
            <a:r>
              <a:rPr lang="en-US" dirty="0" smtClean="0"/>
              <a:t>A typical four channel system uses laser wavelengths of 1534, 1543, 1550, and 1557.4 nm.</a:t>
            </a:r>
          </a:p>
          <a:p>
            <a:endParaRPr lang="en-US" dirty="0" smtClean="0"/>
          </a:p>
          <a:p>
            <a:r>
              <a:rPr lang="en-US" dirty="0" smtClean="0"/>
              <a:t>The laser beams are then optically combined and transmitted over a single-fiber cable.</a:t>
            </a:r>
          </a:p>
          <a:p>
            <a:endParaRPr lang="en-US" dirty="0" smtClean="0"/>
          </a:p>
          <a:p>
            <a:r>
              <a:rPr lang="en-US" dirty="0" smtClean="0"/>
              <a:t> At the receiving end of the cable, special optical filters are used to separate the light beams into individual channels. Each light beam is detected with an optical sensor and then filtered into the four data streams.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CWDM Fiber-Optic System</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228600" y="1524000"/>
            <a:ext cx="8763000" cy="44196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Dense Wavelength-Division Multiplexing</a:t>
            </a:r>
            <a:endParaRPr lang="en-US" b="1" dirty="0">
              <a:solidFill>
                <a:srgbClr val="FF0000"/>
              </a:solidFill>
            </a:endParaRPr>
          </a:p>
        </p:txBody>
      </p:sp>
      <p:sp>
        <p:nvSpPr>
          <p:cNvPr id="3" name="Content Placeholder 2"/>
          <p:cNvSpPr>
            <a:spLocks noGrp="1"/>
          </p:cNvSpPr>
          <p:nvPr>
            <p:ph idx="1"/>
          </p:nvPr>
        </p:nvSpPr>
        <p:spPr>
          <a:xfrm>
            <a:off x="152400" y="1600200"/>
            <a:ext cx="8991600" cy="4525963"/>
          </a:xfrm>
        </p:spPr>
        <p:txBody>
          <a:bodyPr>
            <a:normAutofit fontScale="77500" lnSpcReduction="20000"/>
          </a:bodyPr>
          <a:lstStyle/>
          <a:p>
            <a:r>
              <a:rPr lang="en-US" dirty="0" smtClean="0"/>
              <a:t>Dense wavelength-division multiplexing (DWDM) refers to the use of 8, 16, 32, 64, or more data channels on a single fiber.</a:t>
            </a:r>
          </a:p>
          <a:p>
            <a:r>
              <a:rPr lang="en-US" dirty="0" smtClean="0"/>
              <a:t>Standard channel wavelengths have been defined by the International Telecommunications Union (ITU) as between 1525 and 1565 nm with a 100-GHz (approximately 0.8-nm) channel spacing.</a:t>
            </a:r>
          </a:p>
          <a:p>
            <a:r>
              <a:rPr lang="en-US" dirty="0" smtClean="0"/>
              <a:t>The block of channels between about 1525 and 1565 nm is called the C or conventional band.</a:t>
            </a:r>
          </a:p>
          <a:p>
            <a:r>
              <a:rPr lang="en-US" dirty="0" smtClean="0"/>
              <a:t>Most DWDM activity currently occurs in the C band. Another block of wavelengths from 1570 to 1610 nm is referred to as the long-wavelength band, or L band. </a:t>
            </a:r>
          </a:p>
          <a:p>
            <a:r>
              <a:rPr lang="en-US" dirty="0" smtClean="0"/>
              <a:t>Wavelengths in the 1525- to 1538-nm range make up the S band.</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Dense Wavelength-Division Multiplexing</a:t>
            </a:r>
            <a:endParaRPr lang="en-US" dirty="0"/>
          </a:p>
        </p:txBody>
      </p:sp>
      <p:sp>
        <p:nvSpPr>
          <p:cNvPr id="3" name="Content Placeholder 2"/>
          <p:cNvSpPr>
            <a:spLocks noGrp="1"/>
          </p:cNvSpPr>
          <p:nvPr>
            <p:ph idx="1"/>
          </p:nvPr>
        </p:nvSpPr>
        <p:spPr/>
        <p:txBody>
          <a:bodyPr/>
          <a:lstStyle/>
          <a:p>
            <a:r>
              <a:rPr lang="en-US" dirty="0" smtClean="0"/>
              <a:t>Current DWDM systems allow more than 160 individual data channels to be carried simultaneously on a single fiber at data rates up to 40 </a:t>
            </a:r>
            <a:r>
              <a:rPr lang="en-US" dirty="0" err="1" smtClean="0"/>
              <a:t>Gbps</a:t>
            </a:r>
            <a:r>
              <a:rPr lang="en-US" dirty="0" smtClean="0"/>
              <a:t>, giving an overall capacity of 160 3 40, or 6400, </a:t>
            </a:r>
            <a:r>
              <a:rPr lang="en-US" dirty="0" err="1" smtClean="0"/>
              <a:t>Gbps</a:t>
            </a:r>
            <a:r>
              <a:rPr lang="en-US" dirty="0" smtClean="0"/>
              <a:t> (6.4 </a:t>
            </a:r>
            <a:r>
              <a:rPr lang="en-US" dirty="0" err="1" smtClean="0"/>
              <a:t>Tbps</a:t>
            </a:r>
            <a:r>
              <a:rPr lang="en-US" dirty="0" smtClean="0"/>
              <a: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smtClean="0">
                <a:solidFill>
                  <a:srgbClr val="FF0000"/>
                </a:solidFill>
              </a:rPr>
              <a:t>Arrayed Waveguide Grating (AWG)</a:t>
            </a:r>
            <a:endParaRPr lang="en-US" b="1" dirty="0">
              <a:solidFill>
                <a:srgbClr val="FF0000"/>
              </a:solidFill>
            </a:endParaRPr>
          </a:p>
        </p:txBody>
      </p:sp>
      <p:sp>
        <p:nvSpPr>
          <p:cNvPr id="3" name="Content Placeholder 2"/>
          <p:cNvSpPr>
            <a:spLocks noGrp="1"/>
          </p:cNvSpPr>
          <p:nvPr>
            <p:ph idx="1"/>
          </p:nvPr>
        </p:nvSpPr>
        <p:spPr>
          <a:xfrm>
            <a:off x="0" y="1066800"/>
            <a:ext cx="9144000" cy="5486400"/>
          </a:xfrm>
        </p:spPr>
        <p:txBody>
          <a:bodyPr>
            <a:normAutofit fontScale="92500"/>
          </a:bodyPr>
          <a:lstStyle/>
          <a:p>
            <a:r>
              <a:rPr lang="en-US" dirty="0" smtClean="0"/>
              <a:t>Numerous methods have been developed over the years to add and separate optical signals.</a:t>
            </a:r>
          </a:p>
          <a:p>
            <a:r>
              <a:rPr lang="en-US" dirty="0" smtClean="0"/>
              <a:t> Optical couplers can be used for multiplexing, and optical filters such as fiber Bragg gratings or thin films can be implemented for </a:t>
            </a:r>
            <a:r>
              <a:rPr lang="en-US" dirty="0" err="1" smtClean="0"/>
              <a:t>demultiplexing</a:t>
            </a:r>
            <a:r>
              <a:rPr lang="en-US" dirty="0" smtClean="0"/>
              <a:t>. </a:t>
            </a:r>
          </a:p>
          <a:p>
            <a:r>
              <a:rPr lang="en-US" dirty="0" smtClean="0"/>
              <a:t>But the one method that appears to be emerging as the most popular is the arrayed waveguide grating (AWG). </a:t>
            </a:r>
          </a:p>
          <a:p>
            <a:r>
              <a:rPr lang="en-US" dirty="0" smtClean="0"/>
              <a:t>This device is an array of optical waveguides of different lengths made with silica (SiO2) on a silicon chip, and it can be used for both multiplexing and </a:t>
            </a:r>
            <a:r>
              <a:rPr lang="en-US" dirty="0" err="1" smtClean="0"/>
              <a:t>demultiplexing</a:t>
            </a:r>
            <a:r>
              <a:rPr lang="en-US" dirty="0" smtClean="0"/>
              <a: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solidFill>
                  <a:srgbClr val="FF0000"/>
                </a:solidFill>
              </a:rPr>
              <a:t>Arrayed Waveguide Grating (AWG)</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914400" y="1676400"/>
            <a:ext cx="7391400" cy="45720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555</TotalTime>
  <Words>536</Words>
  <Application>Microsoft Office PowerPoint</Application>
  <PresentationFormat>On-screen Show (4:3)</PresentationFormat>
  <Paragraphs>35</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Wavelength-Division Multiplexing</vt:lpstr>
      <vt:lpstr>Wavelength-Division Multiplexing</vt:lpstr>
      <vt:lpstr>Wavelength-Division Multiplexing</vt:lpstr>
      <vt:lpstr>Coarse Wavelength-Division Multiplexing</vt:lpstr>
      <vt:lpstr>CWDM Fiber-Optic System</vt:lpstr>
      <vt:lpstr>Dense Wavelength-Division Multiplexing</vt:lpstr>
      <vt:lpstr>Dense Wavelength-Division Multiplexing</vt:lpstr>
      <vt:lpstr>Arrayed Waveguide Grating (AWG)</vt:lpstr>
      <vt:lpstr>Arrayed Waveguide Grating (AWG)</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Optical Communication</dc:title>
  <dc:creator>arya</dc:creator>
  <cp:lastModifiedBy>arya</cp:lastModifiedBy>
  <cp:revision>124</cp:revision>
  <dcterms:created xsi:type="dcterms:W3CDTF">2006-08-16T00:00:00Z</dcterms:created>
  <dcterms:modified xsi:type="dcterms:W3CDTF">2022-09-26T05:53:38Z</dcterms:modified>
</cp:coreProperties>
</file>