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75" r:id="rId8"/>
    <p:sldId id="261" r:id="rId9"/>
    <p:sldId id="262" r:id="rId10"/>
    <p:sldId id="263" r:id="rId11"/>
    <p:sldId id="276" r:id="rId12"/>
    <p:sldId id="277" r:id="rId13"/>
    <p:sldId id="278" r:id="rId14"/>
    <p:sldId id="279" r:id="rId15"/>
    <p:sldId id="280" r:id="rId16"/>
    <p:sldId id="281" r:id="rId17"/>
    <p:sldId id="264" r:id="rId18"/>
    <p:sldId id="265" r:id="rId19"/>
    <p:sldId id="266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Wireless Technologies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5200" y="4267200"/>
            <a:ext cx="5105400" cy="1905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Prepared By: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Er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Amit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kr.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tewari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            Associate Professor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CS Dept.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ACEIT,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Jaipur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Wireless LAN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60960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Wireless LANs are more commonly referred to by their trade name Wi-Fi. </a:t>
            </a:r>
          </a:p>
          <a:p>
            <a:r>
              <a:rPr lang="en-US" dirty="0" smtClean="0"/>
              <a:t>Wi-Fi, WLAN, and 802.11 are the common names.</a:t>
            </a:r>
          </a:p>
          <a:p>
            <a:r>
              <a:rPr lang="en-US" dirty="0" smtClean="0"/>
              <a:t>LANs within a company, government agency, hospital, or other organization typically use unshielded twisted pair as the transport medium. </a:t>
            </a:r>
          </a:p>
          <a:p>
            <a:r>
              <a:rPr lang="en-US" dirty="0" smtClean="0"/>
              <a:t>However, more and more, wireless extensions to these LANs are becoming popular as are entirely wireless LANs.</a:t>
            </a:r>
          </a:p>
          <a:p>
            <a:r>
              <a:rPr lang="en-US" dirty="0" smtClean="0"/>
              <a:t>Low-cost wireless modems installed in personal computers and laptops make this possible.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Wireless LANs Configurations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pPr>
              <a:buNone/>
            </a:pPr>
            <a:r>
              <a:rPr lang="en-US" smtClean="0"/>
              <a:t>   Three </a:t>
            </a:r>
            <a:r>
              <a:rPr lang="en-US" dirty="0" smtClean="0"/>
              <a:t>common configurations are used for Wireless LANs: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b="1" dirty="0" smtClean="0"/>
              <a:t>1. Wireless Access Point (AP) is connected to an existing wired LAN</a:t>
            </a:r>
          </a:p>
          <a:p>
            <a:pPr>
              <a:buNone/>
            </a:pPr>
            <a:r>
              <a:rPr lang="en-US" b="1" dirty="0" smtClean="0"/>
              <a:t>    2. AP is connected to the main LAN or more commonly to an Internet service provider (ISP)</a:t>
            </a:r>
          </a:p>
          <a:p>
            <a:pPr>
              <a:buNone/>
            </a:pPr>
            <a:r>
              <a:rPr lang="en-US" b="1" dirty="0" smtClean="0"/>
              <a:t>    3. Implementation of Home Networks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990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Hardware of Wireless LANs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943600"/>
          </a:xfrm>
        </p:spPr>
        <p:txBody>
          <a:bodyPr/>
          <a:lstStyle/>
          <a:p>
            <a:r>
              <a:rPr lang="en-US" dirty="0" smtClean="0"/>
              <a:t>The hardware devices in a wireless LAN are the access point or the gateway/router and the radio modems in the PCs.</a:t>
            </a:r>
          </a:p>
          <a:p>
            <a:r>
              <a:rPr lang="en-US" dirty="0" smtClean="0"/>
              <a:t>The access point is just a box containing a transceiver that interfaces to an existing LAN by way of CAT5/6 wiring.</a:t>
            </a:r>
          </a:p>
          <a:p>
            <a:r>
              <a:rPr lang="en-US" dirty="0" smtClean="0"/>
              <a:t>It typically gets its dc operating power via the twisted-pair cabling.</a:t>
            </a:r>
          </a:p>
          <a:p>
            <a:r>
              <a:rPr lang="en-US" dirty="0" smtClean="0"/>
              <a:t>The IEEE 802.3af standard related to furnishing dc power over the network cable is referred to as Power over Ethernet (</a:t>
            </a:r>
            <a:r>
              <a:rPr lang="en-US" dirty="0" err="1" smtClean="0"/>
              <a:t>PoE</a:t>
            </a:r>
            <a:r>
              <a:rPr lang="en-US" smtClean="0"/>
              <a:t>).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Hardware of Wireless LANs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AP is usually mounted high on a wall or ceiling to give good coverage to a specific area. </a:t>
            </a:r>
          </a:p>
          <a:p>
            <a:r>
              <a:rPr lang="en-US" dirty="0" smtClean="0"/>
              <a:t>The antenna may be built into the box or may be a separate array that gives directionality to the AP to ensure coverage of a desired area and minimum interference to other nearby WLANs.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Wireless LAN Standards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 the years, a number of wireless LAN methods have been developed, tested, and abandoned. One standard has emerged as the most flexible, affordable, and reliable. </a:t>
            </a:r>
          </a:p>
          <a:p>
            <a:r>
              <a:rPr lang="en-US" dirty="0" smtClean="0"/>
              <a:t>Known as the IEEE 802.11 standard, it is available in multiple forms for different needs. The table shows the different versions of the standard and some technical details.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Wireless LAN Standards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76400"/>
            <a:ext cx="7772400" cy="3581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IEEE 802.11 Architecture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components of an IEEE 802.11 architecture are as follows:</a:t>
            </a:r>
          </a:p>
          <a:p>
            <a:pPr>
              <a:buNone/>
            </a:pPr>
            <a:r>
              <a:rPr lang="en-US" b="1" dirty="0" smtClean="0"/>
              <a:t>Stations (STA)</a:t>
            </a:r>
          </a:p>
          <a:p>
            <a:pPr>
              <a:buNone/>
            </a:pPr>
            <a:r>
              <a:rPr lang="en-US" b="1" dirty="0" smtClean="0"/>
              <a:t>Basic Service Set (BSS)</a:t>
            </a:r>
          </a:p>
          <a:p>
            <a:pPr>
              <a:buNone/>
            </a:pPr>
            <a:r>
              <a:rPr lang="en-US" b="1" dirty="0" smtClean="0"/>
              <a:t>Extended Service Set (ESS)</a:t>
            </a:r>
          </a:p>
          <a:p>
            <a:pPr>
              <a:buNone/>
            </a:pPr>
            <a:r>
              <a:rPr lang="en-US" b="1" dirty="0" smtClean="0"/>
              <a:t>Distribution System (DS)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Stations (STA)</a:t>
            </a:r>
            <a:r>
              <a:rPr lang="en-US" dirty="0" smtClean="0"/>
              <a:t>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Stations comprises of all devices and equipment that are connected to the wireless LAN. A station can be of two types−</a:t>
            </a:r>
          </a:p>
          <a:p>
            <a:r>
              <a:rPr lang="en-US" dirty="0" smtClean="0"/>
              <a:t>Wireless Access Point (WAP) − WAPs or simply access points (AP) are generally wireless routers that form the base stations or access.</a:t>
            </a:r>
          </a:p>
          <a:p>
            <a:r>
              <a:rPr lang="en-US" dirty="0" smtClean="0"/>
              <a:t>Client- Clients are workstations, computers, laptops, printers, </a:t>
            </a:r>
            <a:r>
              <a:rPr lang="en-US" dirty="0" err="1" smtClean="0"/>
              <a:t>smartphones</a:t>
            </a:r>
            <a:r>
              <a:rPr lang="en-US" dirty="0" smtClean="0"/>
              <a:t>, etc.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Basic Service Set (BSS)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 A basic service set is a group of stations communicating at the physical layer level. BSS can be of two categories depending upon the mode of operation−</a:t>
            </a:r>
          </a:p>
          <a:p>
            <a:r>
              <a:rPr lang="en-US" dirty="0" smtClean="0"/>
              <a:t>Infrastructure BSS − Here, the devices communicate with other devices through access points.</a:t>
            </a:r>
          </a:p>
          <a:p>
            <a:r>
              <a:rPr lang="en-US" dirty="0" smtClean="0"/>
              <a:t>Independent BSS − Here, the devices communicate in a peer-to-peer basis in an ad hoc manner.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Extended Service Set (ESS)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a set of all connected BSS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Distribution System (DS)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connects access points in ESS.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PANs and Bluetooth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personal-area network (PAN) is a very small wireless network that is created informally or on an ad hoc basis. </a:t>
            </a:r>
          </a:p>
          <a:p>
            <a:r>
              <a:rPr lang="en-US" dirty="0" smtClean="0"/>
              <a:t>It typically involves only two or three nodes, but some systems permit many nodes to be connected in a small area.</a:t>
            </a:r>
          </a:p>
          <a:p>
            <a:r>
              <a:rPr lang="en-US" dirty="0" smtClean="0"/>
              <a:t>The most popular wireless PAN system is Bluetooth, a standard developed by the cell phone company Ericsson for use as a cable replacement. </a:t>
            </a:r>
          </a:p>
          <a:p>
            <a:r>
              <a:rPr lang="en-US" dirty="0" smtClean="0"/>
              <a:t>The objective was to provide hands-free cell phone operation by eliminating the cable connecting a cell phone to a headset. 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Bluetooth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Bluetooth is a digital radio standard that uses frequency-hopping spread spectrum (FHSS) in the unlicensed 2.4-GHz ISM band. </a:t>
            </a:r>
          </a:p>
          <a:p>
            <a:r>
              <a:rPr lang="en-US" dirty="0" smtClean="0"/>
              <a:t>It hops over 79 frequencies spaced 1 MHz apart from 2.402 to 2.480 GHz.</a:t>
            </a:r>
          </a:p>
          <a:p>
            <a:r>
              <a:rPr lang="en-US" dirty="0" smtClean="0"/>
              <a:t>The hop rate is 1600 hops per second. The dwell time on each frequency, therefore, is 1/1600 = 625 µs.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Bluetooth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During this time, digital data is transmitted. The total data rate is 1 Mbps, but some of that is overhead (headers, error detection and correction, etc.)</a:t>
            </a:r>
          </a:p>
          <a:p>
            <a:r>
              <a:rPr lang="en-US" dirty="0" smtClean="0"/>
              <a:t>The actual data rate is 723.2 kbps simplex or 433.9 kbps duplex.</a:t>
            </a:r>
          </a:p>
          <a:p>
            <a:r>
              <a:rPr lang="en-US" dirty="0" smtClean="0"/>
              <a:t>The data, which may be voice or any other digitized information, is put into packets and transmitted sequentially in as many as five time slots. </a:t>
            </a:r>
          </a:p>
          <a:p>
            <a:r>
              <a:rPr lang="en-US" dirty="0" smtClean="0"/>
              <a:t>The serial data signal is Gaussian-filtered, and then FSK is used for modulation.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Bluetooth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Three levels of transmission power have been defined, depending upon the application. For short distances up to 10 m, class 3 power at           0 </a:t>
            </a:r>
            <a:r>
              <a:rPr lang="en-US" dirty="0" err="1" smtClean="0"/>
              <a:t>dBm</a:t>
            </a:r>
            <a:r>
              <a:rPr lang="en-US" dirty="0" smtClean="0"/>
              <a:t> (1 </a:t>
            </a:r>
            <a:r>
              <a:rPr lang="en-US" dirty="0" err="1" smtClean="0"/>
              <a:t>mW</a:t>
            </a:r>
            <a:r>
              <a:rPr lang="en-US" dirty="0" smtClean="0"/>
              <a:t>) is used. </a:t>
            </a:r>
          </a:p>
          <a:p>
            <a:r>
              <a:rPr lang="en-US" dirty="0" smtClean="0"/>
              <a:t>For longer distances or more robust operation in an environment with obstacles and noise, the higher-power class 2 can be used with 4 </a:t>
            </a:r>
            <a:r>
              <a:rPr lang="en-US" dirty="0" err="1" smtClean="0"/>
              <a:t>dBm</a:t>
            </a:r>
            <a:r>
              <a:rPr lang="en-US" dirty="0" smtClean="0"/>
              <a:t> or 2.5 </a:t>
            </a:r>
            <a:r>
              <a:rPr lang="en-US" dirty="0" err="1" smtClean="0"/>
              <a:t>mW</a:t>
            </a:r>
            <a:r>
              <a:rPr lang="en-US" dirty="0" smtClean="0"/>
              <a:t>. </a:t>
            </a:r>
          </a:p>
          <a:p>
            <a:r>
              <a:rPr lang="en-US" dirty="0" smtClean="0"/>
              <a:t>Maximum Bluetooth range is about 100 m and is achieved with class 1 power of 20 </a:t>
            </a:r>
            <a:r>
              <a:rPr lang="en-US" dirty="0" err="1" smtClean="0"/>
              <a:t>dBm</a:t>
            </a:r>
            <a:r>
              <a:rPr lang="en-US" dirty="0" smtClean="0"/>
              <a:t> or 100 </a:t>
            </a:r>
            <a:r>
              <a:rPr lang="en-US" dirty="0" err="1" smtClean="0"/>
              <a:t>mW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Bluetooth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Bluetooth transceivers are available as single-chip transceivers that interface to the device to be part of a PAN. </a:t>
            </a:r>
          </a:p>
          <a:p>
            <a:r>
              <a:rPr lang="en-US" dirty="0" smtClean="0"/>
              <a:t>These devices invariably contain some kind of embedded controller that handles the application. If voice is used, a </a:t>
            </a:r>
            <a:r>
              <a:rPr lang="en-US" dirty="0" err="1" smtClean="0"/>
              <a:t>vocoder</a:t>
            </a:r>
            <a:r>
              <a:rPr lang="en-US" dirty="0" smtClean="0"/>
              <a:t> is needed.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Bluetooth Establishment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7912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Bluetooth is set up so that the wireless transceiver constantly sends out a search signal and then listens for other nearby, similarly equipped Bluetooth devices. </a:t>
            </a:r>
          </a:p>
          <a:p>
            <a:r>
              <a:rPr lang="en-US" dirty="0" smtClean="0"/>
              <a:t>If another device comes into range, the two Bluetooth devices automatically interconnect and exchange data.</a:t>
            </a:r>
          </a:p>
          <a:p>
            <a:r>
              <a:rPr lang="en-US" dirty="0" smtClean="0"/>
              <a:t> These devices form what is called a </a:t>
            </a:r>
            <a:r>
              <a:rPr lang="en-US" dirty="0" err="1" smtClean="0"/>
              <a:t>piconet</a:t>
            </a:r>
            <a:r>
              <a:rPr lang="en-US" dirty="0" smtClean="0"/>
              <a:t>, the linking of one Bluetooth device that serves as a master controller to up to seven other Bluetooth slave devices.</a:t>
            </a:r>
          </a:p>
          <a:p>
            <a:r>
              <a:rPr lang="en-US" dirty="0" smtClean="0"/>
              <a:t> Once the PAN has been established, the nodes can exchange information with one another. Bluetooth devices can also link to other </a:t>
            </a:r>
            <a:r>
              <a:rPr lang="en-US" dirty="0" err="1" smtClean="0"/>
              <a:t>piconets</a:t>
            </a:r>
            <a:r>
              <a:rPr lang="en-US" dirty="0" smtClean="0"/>
              <a:t> to establish larger </a:t>
            </a:r>
            <a:r>
              <a:rPr lang="en-US" dirty="0" err="1" smtClean="0"/>
              <a:t>scatternets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Bluetooth version 2.0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Another version 2.0 of Bluetooth is called Enhanced Data Rate (EDR). It has all the features described earlier but increases the overall data rate to 3 Mbps. </a:t>
            </a:r>
          </a:p>
          <a:p>
            <a:r>
              <a:rPr lang="en-US" dirty="0" smtClean="0"/>
              <a:t>The 3-Mbps rate includes all the headers and other overhead. The raw data rate is three times the 723 kbps rate mentioned earlier for a net rate of more than 2.1 Mbps.</a:t>
            </a:r>
          </a:p>
          <a:p>
            <a:r>
              <a:rPr lang="en-US" dirty="0" smtClean="0"/>
              <a:t>The new protocol still transmits at 1 Mbps using GFSK for accessing and recognizing inputs to establish a link.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5270</TotalTime>
  <Words>1053</Words>
  <Application>Microsoft Office PowerPoint</Application>
  <PresentationFormat>On-screen Show (4:3)</PresentationFormat>
  <Paragraphs>76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Wireless Technologies</vt:lpstr>
      <vt:lpstr>Wireless LAN</vt:lpstr>
      <vt:lpstr>Wireless LANs Configurations</vt:lpstr>
      <vt:lpstr>Slide 4</vt:lpstr>
      <vt:lpstr>Slide 5</vt:lpstr>
      <vt:lpstr>Hardware of Wireless LANs</vt:lpstr>
      <vt:lpstr>Slide 7</vt:lpstr>
      <vt:lpstr>Hardware of Wireless LANs</vt:lpstr>
      <vt:lpstr>Wireless LAN Standards</vt:lpstr>
      <vt:lpstr>Wireless LAN Standards</vt:lpstr>
      <vt:lpstr>IEEE 802.11 Architecture</vt:lpstr>
      <vt:lpstr>Slide 12</vt:lpstr>
      <vt:lpstr>Stations (STA) </vt:lpstr>
      <vt:lpstr>Basic Service Set (BSS)</vt:lpstr>
      <vt:lpstr>Extended Service Set (ESS)</vt:lpstr>
      <vt:lpstr>Distribution System (DS)</vt:lpstr>
      <vt:lpstr>PANs and Bluetooth</vt:lpstr>
      <vt:lpstr>Bluetooth</vt:lpstr>
      <vt:lpstr>Bluetooth</vt:lpstr>
      <vt:lpstr>Bluetooth</vt:lpstr>
      <vt:lpstr>Bluetooth</vt:lpstr>
      <vt:lpstr>Bluetooth Establishment</vt:lpstr>
      <vt:lpstr>Slide 23</vt:lpstr>
      <vt:lpstr>Bluetooth version 2.0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Communication</dc:title>
  <dc:creator>arya</dc:creator>
  <cp:lastModifiedBy>arya</cp:lastModifiedBy>
  <cp:revision>215</cp:revision>
  <dcterms:created xsi:type="dcterms:W3CDTF">2006-08-16T00:00:00Z</dcterms:created>
  <dcterms:modified xsi:type="dcterms:W3CDTF">2022-08-23T06:43:52Z</dcterms:modified>
</cp:coreProperties>
</file>