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8/23/2022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Private Telephone System</a:t>
            </a:r>
            <a:br>
              <a:rPr lang="en-US" b="1" dirty="0" smtClean="0">
                <a:solidFill>
                  <a:srgbClr val="FF0000"/>
                </a:solidFill>
              </a:rPr>
            </a:br>
            <a:r>
              <a:rPr lang="en-US" b="1" dirty="0" smtClean="0">
                <a:solidFill>
                  <a:srgbClr val="FF0000"/>
                </a:solidFill>
              </a:rPr>
              <a:t>(PBX)</a:t>
            </a:r>
            <a:endParaRPr lang="en-US" b="1" dirty="0">
              <a:solidFill>
                <a:srgbClr val="FF0000"/>
              </a:solidFill>
            </a:endParaRPr>
          </a:p>
        </p:txBody>
      </p:sp>
      <p:sp>
        <p:nvSpPr>
          <p:cNvPr id="3" name="Subtitle 2"/>
          <p:cNvSpPr>
            <a:spLocks noGrp="1"/>
          </p:cNvSpPr>
          <p:nvPr>
            <p:ph type="subTitle" idx="1"/>
          </p:nvPr>
        </p:nvSpPr>
        <p:spPr>
          <a:xfrm>
            <a:off x="3505200" y="4267200"/>
            <a:ext cx="5105400" cy="1905000"/>
          </a:xfrm>
        </p:spPr>
        <p:txBody>
          <a:bodyPr>
            <a:normAutofit fontScale="77500" lnSpcReduction="20000"/>
          </a:bodyPr>
          <a:lstStyle/>
          <a:p>
            <a:r>
              <a:rPr lang="en-US" dirty="0" smtClean="0">
                <a:solidFill>
                  <a:schemeClr val="tx1"/>
                </a:solidFill>
                <a:latin typeface="+mj-lt"/>
              </a:rPr>
              <a:t>Prepared By: </a:t>
            </a:r>
            <a:r>
              <a:rPr lang="en-US" dirty="0" err="1" smtClean="0">
                <a:solidFill>
                  <a:schemeClr val="tx1"/>
                </a:solidFill>
                <a:latin typeface="+mj-lt"/>
              </a:rPr>
              <a:t>Er</a:t>
            </a:r>
            <a:r>
              <a:rPr lang="en-US" dirty="0" smtClean="0">
                <a:solidFill>
                  <a:schemeClr val="tx1"/>
                </a:solidFill>
                <a:latin typeface="+mj-lt"/>
              </a:rPr>
              <a:t>. </a:t>
            </a:r>
            <a:r>
              <a:rPr lang="en-US" dirty="0" err="1" smtClean="0">
                <a:solidFill>
                  <a:schemeClr val="tx1"/>
                </a:solidFill>
                <a:latin typeface="+mj-lt"/>
              </a:rPr>
              <a:t>Amit</a:t>
            </a:r>
            <a:r>
              <a:rPr lang="en-US" dirty="0" smtClean="0">
                <a:solidFill>
                  <a:schemeClr val="tx1"/>
                </a:solidFill>
                <a:latin typeface="+mj-lt"/>
              </a:rPr>
              <a:t> Kr. </a:t>
            </a:r>
            <a:r>
              <a:rPr lang="en-US" dirty="0" err="1" smtClean="0">
                <a:solidFill>
                  <a:schemeClr val="tx1"/>
                </a:solidFill>
                <a:latin typeface="+mj-lt"/>
              </a:rPr>
              <a:t>Tewari</a:t>
            </a:r>
            <a:endParaRPr lang="en-US" dirty="0" smtClean="0">
              <a:solidFill>
                <a:schemeClr val="tx1"/>
              </a:solidFill>
              <a:latin typeface="+mj-lt"/>
            </a:endParaRPr>
          </a:p>
          <a:p>
            <a:r>
              <a:rPr lang="en-US" dirty="0" smtClean="0">
                <a:solidFill>
                  <a:schemeClr val="tx1"/>
                </a:solidFill>
                <a:latin typeface="+mj-lt"/>
              </a:rPr>
              <a:t>                             Associate Professor</a:t>
            </a:r>
          </a:p>
          <a:p>
            <a:r>
              <a:rPr lang="en-US" dirty="0" smtClean="0">
                <a:solidFill>
                  <a:schemeClr val="tx1"/>
                </a:solidFill>
                <a:latin typeface="+mj-lt"/>
              </a:rPr>
              <a:t>         CS Dept.</a:t>
            </a:r>
          </a:p>
          <a:p>
            <a:r>
              <a:rPr lang="en-US" dirty="0" smtClean="0">
                <a:solidFill>
                  <a:schemeClr val="tx1"/>
                </a:solidFill>
                <a:latin typeface="+mj-lt"/>
              </a:rPr>
              <a:t>                 ACEIT, </a:t>
            </a:r>
            <a:r>
              <a:rPr lang="en-US" dirty="0" err="1" smtClean="0">
                <a:solidFill>
                  <a:schemeClr val="tx1"/>
                </a:solidFill>
                <a:latin typeface="+mj-lt"/>
              </a:rPr>
              <a:t>Jaipur</a:t>
            </a:r>
            <a:endParaRPr lang="en-US" dirty="0" smtClean="0">
              <a:solidFill>
                <a:schemeClr val="tx1"/>
              </a:solidFill>
              <a:latin typeface="+mj-lt"/>
            </a:endParaRP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Introduction</a:t>
            </a:r>
            <a:endParaRPr lang="en-US" dirty="0">
              <a:solidFill>
                <a:srgbClr val="FF0000"/>
              </a:solidFill>
            </a:endParaRPr>
          </a:p>
        </p:txBody>
      </p:sp>
      <p:sp>
        <p:nvSpPr>
          <p:cNvPr id="3" name="Content Placeholder 2"/>
          <p:cNvSpPr>
            <a:spLocks noGrp="1"/>
          </p:cNvSpPr>
          <p:nvPr>
            <p:ph idx="1"/>
          </p:nvPr>
        </p:nvSpPr>
        <p:spPr>
          <a:xfrm>
            <a:off x="457200" y="1600200"/>
            <a:ext cx="8229600" cy="5105400"/>
          </a:xfrm>
        </p:spPr>
        <p:txBody>
          <a:bodyPr>
            <a:normAutofit fontScale="85000" lnSpcReduction="20000"/>
          </a:bodyPr>
          <a:lstStyle/>
          <a:p>
            <a:r>
              <a:rPr lang="en-US" dirty="0" smtClean="0"/>
              <a:t>Telephone service provided to companies or large organizations with many employees and many telephones is considerably different from basic local loop service provided for individuals. </a:t>
            </a:r>
          </a:p>
          <a:p>
            <a:r>
              <a:rPr lang="en-US" dirty="0" smtClean="0"/>
              <a:t>Depending upon the size of the organization, there may be dozens, hundreds, or even thousands of telephones required. </a:t>
            </a:r>
          </a:p>
          <a:p>
            <a:r>
              <a:rPr lang="en-US" dirty="0" smtClean="0"/>
              <a:t>It is simply not economical to provide each telephone in the organization with its own separate local loop connection to the central office. </a:t>
            </a:r>
          </a:p>
          <a:p>
            <a:r>
              <a:rPr lang="en-US" dirty="0" smtClean="0"/>
              <a:t>It is also an inefficient use of expensive facilities to use a remote central office for intercompany communication.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FF0000"/>
                </a:solidFill>
              </a:rPr>
              <a:t>Contd</a:t>
            </a:r>
            <a:r>
              <a:rPr lang="en-US" b="1" dirty="0" smtClean="0">
                <a:solidFill>
                  <a:srgbClr val="FF0000"/>
                </a:solidFill>
              </a:rPr>
              <a:t>…</a:t>
            </a:r>
            <a:endParaRPr lang="en-US" b="1" dirty="0">
              <a:solidFill>
                <a:srgbClr val="FF0000"/>
              </a:solidFill>
            </a:endParaRPr>
          </a:p>
        </p:txBody>
      </p:sp>
      <p:sp>
        <p:nvSpPr>
          <p:cNvPr id="3" name="Content Placeholder 2"/>
          <p:cNvSpPr>
            <a:spLocks noGrp="1"/>
          </p:cNvSpPr>
          <p:nvPr>
            <p:ph idx="1"/>
          </p:nvPr>
        </p:nvSpPr>
        <p:spPr>
          <a:xfrm>
            <a:off x="457200" y="1600200"/>
            <a:ext cx="8229600" cy="4953000"/>
          </a:xfrm>
        </p:spPr>
        <p:txBody>
          <a:bodyPr>
            <a:normAutofit lnSpcReduction="10000"/>
          </a:bodyPr>
          <a:lstStyle/>
          <a:p>
            <a:r>
              <a:rPr lang="en-US" dirty="0" smtClean="0"/>
              <a:t>This problem is solved by the use of private telephone systems within a company or organization. </a:t>
            </a:r>
          </a:p>
          <a:p>
            <a:r>
              <a:rPr lang="en-US" dirty="0" smtClean="0"/>
              <a:t>Private telephone systems implement telephone service among the telephones in the organization and provide one or more local loop connections to the central office. </a:t>
            </a:r>
          </a:p>
          <a:p>
            <a:r>
              <a:rPr lang="en-US" dirty="0" smtClean="0"/>
              <a:t>The two basic types of private telephone systems are known as </a:t>
            </a:r>
            <a:r>
              <a:rPr lang="en-US" b="1" dirty="0" smtClean="0"/>
              <a:t>key systems </a:t>
            </a:r>
            <a:r>
              <a:rPr lang="en-US" dirty="0" smtClean="0"/>
              <a:t>and </a:t>
            </a:r>
            <a:r>
              <a:rPr lang="en-US" b="1" dirty="0" smtClean="0"/>
              <a:t>private branch exchanges.</a:t>
            </a:r>
            <a:endParaRPr 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US" b="1" dirty="0" smtClean="0">
                <a:solidFill>
                  <a:srgbClr val="FF0000"/>
                </a:solidFill>
              </a:rPr>
              <a:t>Key Systems</a:t>
            </a:r>
            <a:endParaRPr lang="en-US" b="1" dirty="0">
              <a:solidFill>
                <a:srgbClr val="FF0000"/>
              </a:solidFill>
            </a:endParaRPr>
          </a:p>
        </p:txBody>
      </p:sp>
      <p:sp>
        <p:nvSpPr>
          <p:cNvPr id="3" name="Content Placeholder 2"/>
          <p:cNvSpPr>
            <a:spLocks noGrp="1"/>
          </p:cNvSpPr>
          <p:nvPr>
            <p:ph idx="1"/>
          </p:nvPr>
        </p:nvSpPr>
        <p:spPr>
          <a:xfrm>
            <a:off x="457200" y="1219200"/>
            <a:ext cx="8229600" cy="5638800"/>
          </a:xfrm>
        </p:spPr>
        <p:txBody>
          <a:bodyPr>
            <a:normAutofit fontScale="77500" lnSpcReduction="20000"/>
          </a:bodyPr>
          <a:lstStyle/>
          <a:p>
            <a:r>
              <a:rPr lang="en-US" dirty="0" smtClean="0"/>
              <a:t>Key systems are small telephone systems designed to serve from 2 to 50 user telephones within an organization. </a:t>
            </a:r>
          </a:p>
          <a:p>
            <a:r>
              <a:rPr lang="en-US" dirty="0" smtClean="0"/>
              <a:t>Commercially available systems usually have provisions for 6, 10, 12, or 50 telephones. </a:t>
            </a:r>
          </a:p>
          <a:p>
            <a:r>
              <a:rPr lang="en-US" dirty="0" smtClean="0"/>
              <a:t>Simple key telephone systems are made up of the individual telephone units generally referred to as stations, all of which are connected to a central answering station.</a:t>
            </a:r>
          </a:p>
          <a:p>
            <a:r>
              <a:rPr lang="en-US" dirty="0" smtClean="0"/>
              <a:t>The central answering station is connected to one or more local loop lines known as trunks back to the local exchange.</a:t>
            </a:r>
          </a:p>
          <a:p>
            <a:r>
              <a:rPr lang="en-US" dirty="0" smtClean="0"/>
              <a:t>Most systems also contain a central electronic switching unit that makes all the internal and external connections.</a:t>
            </a:r>
          </a:p>
          <a:p>
            <a:r>
              <a:rPr lang="en-US" dirty="0" smtClean="0"/>
              <a:t>The telephone sets in a key system typically have a group of pushbuttons that allow each telephone to select two or more outgoing </a:t>
            </a:r>
            <a:r>
              <a:rPr lang="en-US" dirty="0" err="1" smtClean="0"/>
              <a:t>trunking</a:t>
            </a:r>
            <a:r>
              <a:rPr lang="en-US" dirty="0" smtClean="0"/>
              <a:t> lines. Phone calls are made in the usual way.</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Private Branch Exchange</a:t>
            </a:r>
            <a:br>
              <a:rPr lang="en-US" b="1" dirty="0" smtClean="0">
                <a:solidFill>
                  <a:srgbClr val="FF0000"/>
                </a:solidFill>
              </a:rPr>
            </a:br>
            <a:r>
              <a:rPr lang="en-US" b="1" dirty="0" smtClean="0">
                <a:solidFill>
                  <a:srgbClr val="FF0000"/>
                </a:solidFill>
              </a:rPr>
              <a:t>(Introduction)</a:t>
            </a:r>
            <a:endParaRPr lang="en-US" b="1" dirty="0">
              <a:solidFill>
                <a:srgbClr val="FF0000"/>
              </a:solidFill>
            </a:endParaRPr>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r>
              <a:rPr lang="en-US" dirty="0" smtClean="0"/>
              <a:t>A private branch exchange, or PBX, as it is known, is a private telephone system for larger organizations. </a:t>
            </a:r>
          </a:p>
          <a:p>
            <a:r>
              <a:rPr lang="en-US" dirty="0" smtClean="0"/>
              <a:t>Most PBXs are set up to handle 50 or more telephone interconnections. </a:t>
            </a:r>
          </a:p>
          <a:p>
            <a:r>
              <a:rPr lang="en-US" dirty="0" smtClean="0"/>
              <a:t>They can handle thousands of individual telephones within an organization. </a:t>
            </a:r>
          </a:p>
          <a:p>
            <a:r>
              <a:rPr lang="en-US" dirty="0" smtClean="0"/>
              <a:t>These systems may also be referred to as private automatic branch exchanges (PABXs) or computer branch exchanges (CPXs). </a:t>
            </a:r>
          </a:p>
          <a:p>
            <a:r>
              <a:rPr lang="en-US" dirty="0" smtClean="0"/>
              <a:t>Of the three terms, the expression PBX is the most widely known and used.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381000" y="304800"/>
            <a:ext cx="8382000" cy="6019799"/>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Private Branch Exchange</a:t>
            </a:r>
            <a:br>
              <a:rPr lang="en-US" b="1" dirty="0" smtClean="0">
                <a:solidFill>
                  <a:srgbClr val="FF0000"/>
                </a:solidFill>
              </a:rPr>
            </a:br>
            <a:r>
              <a:rPr lang="en-US" b="1" dirty="0" smtClean="0">
                <a:solidFill>
                  <a:srgbClr val="FF0000"/>
                </a:solidFill>
              </a:rPr>
              <a:t>(Working)</a:t>
            </a:r>
            <a:endParaRPr lang="en-US" dirty="0"/>
          </a:p>
        </p:txBody>
      </p:sp>
      <p:sp>
        <p:nvSpPr>
          <p:cNvPr id="3" name="Content Placeholder 2"/>
          <p:cNvSpPr>
            <a:spLocks noGrp="1"/>
          </p:cNvSpPr>
          <p:nvPr>
            <p:ph idx="1"/>
          </p:nvPr>
        </p:nvSpPr>
        <p:spPr/>
        <p:txBody>
          <a:bodyPr/>
          <a:lstStyle/>
          <a:p>
            <a:r>
              <a:rPr lang="en-US" dirty="0" smtClean="0"/>
              <a:t>A PBX is, in effect, a miniature complete telephone system. </a:t>
            </a:r>
          </a:p>
          <a:p>
            <a:r>
              <a:rPr lang="en-US" dirty="0" smtClean="0"/>
              <a:t>It provides baseband interconnections to all the telephones in an organization. </a:t>
            </a:r>
          </a:p>
          <a:p>
            <a:r>
              <a:rPr lang="en-US" dirty="0" smtClean="0"/>
              <a:t>All the telephones connect to a central switching system that makes intercompany connections as well as external connections to multiple trunk lines to the central office.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Private Branch Exchange</a:t>
            </a:r>
            <a:br>
              <a:rPr lang="en-US" b="1" dirty="0" smtClean="0">
                <a:solidFill>
                  <a:srgbClr val="FF0000"/>
                </a:solidFill>
              </a:rPr>
            </a:br>
            <a:r>
              <a:rPr lang="en-US" b="1" dirty="0" smtClean="0">
                <a:solidFill>
                  <a:srgbClr val="FF0000"/>
                </a:solidFill>
              </a:rPr>
              <a:t>(Working)</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modern PBX is usually fully automated by computer control. </a:t>
            </a:r>
          </a:p>
          <a:p>
            <a:r>
              <a:rPr lang="en-US" dirty="0" smtClean="0"/>
              <a:t>Although no operator is required, most large organizations have one or more operators who answer incoming telephone calls and route them appropriately with a control console. </a:t>
            </a:r>
          </a:p>
          <a:p>
            <a:r>
              <a:rPr lang="en-US" dirty="0" smtClean="0"/>
              <a:t>However, some PBXs are automated so that the individual user’s telephone whose extension is the last four digits of the telephone number can be called directly from outside.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Private Branch Exchange</a:t>
            </a:r>
            <a:br>
              <a:rPr lang="en-US" b="1" dirty="0" smtClean="0">
                <a:solidFill>
                  <a:srgbClr val="FF0000"/>
                </a:solidFill>
              </a:rPr>
            </a:br>
            <a:r>
              <a:rPr lang="en-US" b="1" dirty="0" smtClean="0">
                <a:solidFill>
                  <a:srgbClr val="FF0000"/>
                </a:solidFill>
              </a:rPr>
              <a:t>(Working)</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PBX is made up of line circuits that are similar to the subscriber line interface circuits discussed earlier. </a:t>
            </a:r>
          </a:p>
          <a:p>
            <a:r>
              <a:rPr lang="en-US" dirty="0" smtClean="0"/>
              <a:t>The matrix is the electronic switch that connects any phone to any other phone in the system. </a:t>
            </a:r>
          </a:p>
          <a:p>
            <a:r>
              <a:rPr lang="en-US" dirty="0" smtClean="0"/>
              <a:t>It also permits conference calls. </a:t>
            </a:r>
          </a:p>
          <a:p>
            <a:r>
              <a:rPr lang="en-US" dirty="0" smtClean="0"/>
              <a:t>The trunk circuits interface to the local loop lines to the central office. All the circuits are under the control of a central computer dedicated to the operation of the PBX.</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Advantages &amp; Disadvantages</a:t>
            </a:r>
            <a:endParaRPr lang="en-US" b="1" dirty="0">
              <a:solidFill>
                <a:srgbClr val="FF0000"/>
              </a:solidFill>
            </a:endParaRPr>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dirty="0" smtClean="0"/>
              <a:t>Like the key system, the PBX offers the advantages of efficiency and cost reduction when many telephones are required. </a:t>
            </a:r>
          </a:p>
          <a:p>
            <a:r>
              <a:rPr lang="en-US" dirty="0" smtClean="0"/>
              <a:t>Interoffice calls can be completed by the PBX system without accessing the local exchange. </a:t>
            </a:r>
          </a:p>
          <a:p>
            <a:r>
              <a:rPr lang="en-US" dirty="0" smtClean="0"/>
              <a:t>Furthermore, it is more economical to limit the number of trunk lines to the central office, for not all telephones in the organization will be attempting to access an outside line at one time.</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5670</TotalTime>
  <Words>689</Words>
  <Application>Microsoft Office PowerPoint</Application>
  <PresentationFormat>On-screen Show (4:3)</PresentationFormat>
  <Paragraphs>44</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Private Telephone System (PBX)</vt:lpstr>
      <vt:lpstr>Introduction</vt:lpstr>
      <vt:lpstr>Contd…</vt:lpstr>
      <vt:lpstr>Key Systems</vt:lpstr>
      <vt:lpstr>Private Branch Exchange (Introduction)</vt:lpstr>
      <vt:lpstr>Slide 6</vt:lpstr>
      <vt:lpstr>Private Branch Exchange (Working)</vt:lpstr>
      <vt:lpstr>Private Branch Exchange (Working)</vt:lpstr>
      <vt:lpstr>Private Branch Exchange (Working)</vt:lpstr>
      <vt:lpstr>Advantages &amp; Disadvantages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Optical Communication</dc:title>
  <dc:creator>arya</dc:creator>
  <cp:lastModifiedBy>arya</cp:lastModifiedBy>
  <cp:revision>359</cp:revision>
  <dcterms:created xsi:type="dcterms:W3CDTF">2006-08-16T00:00:00Z</dcterms:created>
  <dcterms:modified xsi:type="dcterms:W3CDTF">2022-08-23T06:47:11Z</dcterms:modified>
</cp:coreProperties>
</file>